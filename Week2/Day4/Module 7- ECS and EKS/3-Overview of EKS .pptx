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8" r:id="rId3"/>
    <p:sldId id="273" r:id="rId4"/>
    <p:sldId id="274" r:id="rId5"/>
    <p:sldId id="269" r:id="rId6"/>
    <p:sldId id="1053" r:id="rId7"/>
    <p:sldId id="275" r:id="rId8"/>
    <p:sldId id="1045" r:id="rId9"/>
    <p:sldId id="1050" r:id="rId10"/>
    <p:sldId id="1055" r:id="rId11"/>
    <p:sldId id="276" r:id="rId12"/>
    <p:sldId id="27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GKEWyM+R/MZARXjP4NMpng==" hashData="ysBpjl9GuWEcHUTCFayPc3n7k1f4J9yS0Xyt8CYXFtxXbvG9sZOyMeQsbCBOYTDbNgkdRW7ZZZNqWCmga5B+Z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AC10-E953-4564-9195-CE468B673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5F304-B407-471F-8B84-F98E254F8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C8BC-C72A-4410-8624-152A2189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7DFF-8AD8-4020-AA7C-CDB25507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FD86B-E600-4CEB-BBA5-9F87530D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45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19B4-7294-442E-84BA-F067B84D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C6CD4-DA1D-49EF-B076-DA0AFE9B1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576C-CB83-4BFB-B3E6-EE181D37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AD86-EDD2-441E-8456-B9535262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4BFF1-325C-4BB1-9C57-723D6761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4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8305-5F3D-497F-A72D-05DA5731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B125D-D19F-463E-B057-C4BA5E74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DE36C-636E-4B4F-A524-AAB20FE3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C12C-1305-441A-A48F-B904F3F8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88A7-D9FC-4013-B376-42E4527F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42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177F-2DFA-4223-B5E5-CB6C26A2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7250-3467-4FEE-A8F5-157485169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8DC5-1FD3-4680-9329-7A1654F0A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8CF32-F658-423B-9DEE-8948E285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72B2C-6A83-4469-A765-84AEB51C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4A2C1-8B72-45A4-A988-61BDB408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5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22CE-96FA-4FF1-BCE0-98110993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44DD-9983-4237-8558-1EBB2090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6757A-8170-4333-838D-0D0416C8B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9EF02-5F4F-4E70-9289-92F590F78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54643-219C-4259-A42E-007DC16E5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55E7B-298D-4ADB-B5C2-9C01D4DE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23204-5528-4581-8898-28BA2B02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672A5-3207-4F99-93F7-1917903C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3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BD8C-7C54-4069-979F-DA207538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53636-9FBC-47A1-B3FC-DA9118E6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209F-E7EF-4C7D-9284-BD46EBF3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75D26-B6A8-4CF0-B932-D57AA0AE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50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F2A75-E904-44BC-9D12-A33275A9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3A8BD-97C3-40C5-9277-E9013D2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CB73-1DBC-4D17-9D34-62276E51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5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1280-9242-4000-918D-665067029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9FA92-EEB8-495F-B78F-4DE5C60D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048D8-F38E-4950-9786-E775DA377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FACA1-4F5E-48D9-9418-4DD6F821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E85B5-D57E-4E67-9441-B6A5421E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CE1A8-0E20-4272-8D94-35A1C397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2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8334-3AEE-42A6-9CA1-CF099BEA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4C2F1-17FF-412D-876C-841012304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6376D-4EB1-4874-8462-0BFB5C4B2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391C-542F-4C70-8508-9EF199C5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FA582-7B5D-4087-9FBE-307ED722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ADFB-43C1-449B-8C37-216224C7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5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B7FD-CAD2-4907-9A53-B655F45B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47822-0D3E-4690-8836-D6D4AFC19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9FB4-FD72-4558-83E5-199141A2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12AA-F1A9-446F-B72B-0A6558B7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A239C-7F54-4C51-9E85-1495B734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6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FADE8-C66E-4EED-94A1-C75F267FD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9C40F-8665-499A-A45E-BB492CA96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FAC69-9D6D-4D3A-AC45-C00A6690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90120-2C0B-4093-A15C-2D80A263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0CCB-EF3E-4F64-B18C-0C375E88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44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451006"/>
            <a:ext cx="4114800" cy="365125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61"/>
            <a:ext cx="10515600" cy="46591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99070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0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885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FCB10-3DB8-40B1-915C-1434BB58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0C131-B1D2-48BF-A462-E289AC752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1308-FA5C-4852-AB37-DCDAE61B2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9E78A-D176-4927-B9A3-557E36F51E1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18504-9BC5-40BD-B398-0F4CFE7E5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3CEDF-DEC3-4892-83AD-A250538E9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0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F11D-ECF8-4482-AA2D-516F72C8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159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 Overview of AWS EKS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DCAAC-3B8D-4ED0-8C43-BFF090C2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3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411" y="31735"/>
            <a:ext cx="6210266" cy="1094395"/>
          </a:xfrm>
          <a:prstGeom prst="rect">
            <a:avLst/>
          </a:prstGeom>
        </p:spPr>
        <p:txBody>
          <a:bodyPr vert="horz" wrap="square" lIns="0" tIns="86797" rIns="0" bIns="0" rtlCol="0" anchor="ctr">
            <a:spAutoFit/>
          </a:bodyPr>
          <a:lstStyle/>
          <a:p>
            <a:pPr marR="89654" algn="ctr">
              <a:lnSpc>
                <a:spcPct val="100000"/>
              </a:lnSpc>
              <a:spcBef>
                <a:spcPts val="683"/>
              </a:spcBef>
            </a:pPr>
            <a:r>
              <a:rPr spc="-3" dirty="0"/>
              <a:t>Overview </a:t>
            </a:r>
            <a:r>
              <a:rPr spc="-6" dirty="0"/>
              <a:t>of </a:t>
            </a:r>
            <a:r>
              <a:rPr spc="-3" dirty="0"/>
              <a:t>Amazon</a:t>
            </a:r>
            <a:r>
              <a:rPr spc="-8" dirty="0"/>
              <a:t> </a:t>
            </a:r>
            <a:r>
              <a:rPr spc="-3" dirty="0"/>
              <a:t>EKS</a:t>
            </a:r>
          </a:p>
          <a:p>
            <a:pPr marL="199668" marR="2858" indent="-192881">
              <a:lnSpc>
                <a:spcPct val="80000"/>
              </a:lnSpc>
              <a:spcBef>
                <a:spcPts val="540"/>
              </a:spcBef>
              <a:tabLst>
                <a:tab pos="199668" algn="l"/>
              </a:tabLst>
            </a:pPr>
            <a:r>
              <a:rPr sz="844" spc="160" dirty="0">
                <a:solidFill>
                  <a:srgbClr val="89D0D5"/>
                </a:solidFill>
                <a:cs typeface="Arial"/>
              </a:rPr>
              <a:t>	</a:t>
            </a:r>
            <a:r>
              <a:rPr sz="1069" spc="-3" dirty="0">
                <a:solidFill>
                  <a:srgbClr val="FFFFFF"/>
                </a:solidFill>
              </a:rPr>
              <a:t>Amazon Elastic Container </a:t>
            </a:r>
            <a:r>
              <a:rPr sz="1069" dirty="0">
                <a:solidFill>
                  <a:srgbClr val="FFFFFF"/>
                </a:solidFill>
              </a:rPr>
              <a:t>Service </a:t>
            </a:r>
            <a:r>
              <a:rPr sz="1069" spc="-3" dirty="0">
                <a:solidFill>
                  <a:srgbClr val="FFFFFF"/>
                </a:solidFill>
              </a:rPr>
              <a:t>for Kubernetes </a:t>
            </a:r>
            <a:r>
              <a:rPr sz="1069" spc="-6" dirty="0">
                <a:solidFill>
                  <a:srgbClr val="FFFFFF"/>
                </a:solidFill>
              </a:rPr>
              <a:t>(Amazon EKS) </a:t>
            </a:r>
            <a:r>
              <a:rPr sz="1069" dirty="0">
                <a:solidFill>
                  <a:srgbClr val="FFFFFF"/>
                </a:solidFill>
              </a:rPr>
              <a:t>is </a:t>
            </a:r>
            <a:r>
              <a:rPr sz="1069" spc="-3" dirty="0">
                <a:solidFill>
                  <a:srgbClr val="FFFFFF"/>
                </a:solidFill>
              </a:rPr>
              <a:t>a  </a:t>
            </a:r>
            <a:r>
              <a:rPr sz="1069" spc="-6" dirty="0">
                <a:solidFill>
                  <a:srgbClr val="FFFFFF"/>
                </a:solidFill>
              </a:rPr>
              <a:t>managed </a:t>
            </a:r>
            <a:r>
              <a:rPr sz="1069" dirty="0">
                <a:solidFill>
                  <a:srgbClr val="FFFFFF"/>
                </a:solidFill>
              </a:rPr>
              <a:t>service </a:t>
            </a:r>
            <a:r>
              <a:rPr sz="1069" spc="-3" dirty="0">
                <a:solidFill>
                  <a:srgbClr val="FFFFFF"/>
                </a:solidFill>
              </a:rPr>
              <a:t>that makes </a:t>
            </a:r>
            <a:r>
              <a:rPr sz="1069" dirty="0">
                <a:solidFill>
                  <a:srgbClr val="FFFFFF"/>
                </a:solidFill>
              </a:rPr>
              <a:t>it </a:t>
            </a:r>
            <a:r>
              <a:rPr sz="1069" spc="-3" dirty="0">
                <a:solidFill>
                  <a:srgbClr val="FFFFFF"/>
                </a:solidFill>
              </a:rPr>
              <a:t>easy for </a:t>
            </a:r>
            <a:r>
              <a:rPr sz="1069" spc="-6" dirty="0">
                <a:solidFill>
                  <a:srgbClr val="FFFFFF"/>
                </a:solidFill>
              </a:rPr>
              <a:t>you </a:t>
            </a:r>
            <a:r>
              <a:rPr sz="1069" spc="-3" dirty="0">
                <a:solidFill>
                  <a:srgbClr val="FFFFFF"/>
                </a:solidFill>
              </a:rPr>
              <a:t>to run Kubernetes </a:t>
            </a:r>
            <a:r>
              <a:rPr sz="1069" spc="-6" dirty="0">
                <a:solidFill>
                  <a:srgbClr val="FFFFFF"/>
                </a:solidFill>
              </a:rPr>
              <a:t>on AWS  </a:t>
            </a:r>
            <a:r>
              <a:rPr sz="1069" spc="-3" dirty="0">
                <a:solidFill>
                  <a:srgbClr val="FFFFFF"/>
                </a:solidFill>
              </a:rPr>
              <a:t>without needing to </a:t>
            </a:r>
            <a:r>
              <a:rPr sz="1069" spc="-6" dirty="0">
                <a:solidFill>
                  <a:srgbClr val="FFFFFF"/>
                </a:solidFill>
              </a:rPr>
              <a:t>stand </a:t>
            </a:r>
            <a:r>
              <a:rPr sz="1069" spc="-3" dirty="0">
                <a:solidFill>
                  <a:srgbClr val="FFFFFF"/>
                </a:solidFill>
              </a:rPr>
              <a:t>up or </a:t>
            </a:r>
            <a:r>
              <a:rPr sz="1069" dirty="0">
                <a:solidFill>
                  <a:srgbClr val="FFFFFF"/>
                </a:solidFill>
              </a:rPr>
              <a:t>maintain </a:t>
            </a:r>
            <a:r>
              <a:rPr sz="1069" spc="-6" dirty="0">
                <a:solidFill>
                  <a:srgbClr val="FFFFFF"/>
                </a:solidFill>
              </a:rPr>
              <a:t>your own </a:t>
            </a:r>
            <a:r>
              <a:rPr sz="1069" spc="-3" dirty="0">
                <a:solidFill>
                  <a:srgbClr val="FFFFFF"/>
                </a:solidFill>
              </a:rPr>
              <a:t>Kubernetes control  </a:t>
            </a:r>
            <a:r>
              <a:rPr sz="1069" spc="-6" dirty="0">
                <a:solidFill>
                  <a:srgbClr val="FFFFFF"/>
                </a:solidFill>
              </a:rPr>
              <a:t>plane.</a:t>
            </a:r>
            <a:endParaRPr sz="1069" dirty="0"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12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94D20-3D6F-4011-A654-837DA63BA3F8}"/>
              </a:ext>
            </a:extLst>
          </p:cNvPr>
          <p:cNvSpPr txBox="1"/>
          <p:nvPr/>
        </p:nvSpPr>
        <p:spPr>
          <a:xfrm>
            <a:off x="384560" y="1126130"/>
            <a:ext cx="1101686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runs Kubernetes control plane instances across multiple Availability Zones to ensure high availability.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automatically detects and replaces unhealthy control plane  instances, and it provides automated version upgrades and patching for them.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is also integrated with many AWS services to provide scalability  and security for your applications, including the following: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Elastic Load Balancing for load distribution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IAM for authentication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Amazon VPC for isolation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41B9410-818C-4B7C-A400-E61D2EA1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379D-E42C-42E0-8760-4341515F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136525"/>
            <a:ext cx="10515600" cy="1325563"/>
          </a:xfrm>
        </p:spPr>
        <p:txBody>
          <a:bodyPr/>
          <a:lstStyle/>
          <a:p>
            <a:r>
              <a:rPr lang="en-IN" dirty="0"/>
              <a:t>     EKS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3E5D-9895-40A2-9333-A6F4CC1A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High Availability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EKS supports </a:t>
            </a:r>
            <a:r>
              <a:rPr lang="en-US" sz="2400" dirty="0" err="1">
                <a:latin typeface="+mj-lt"/>
              </a:rPr>
              <a:t>Fargate</a:t>
            </a:r>
            <a:r>
              <a:rPr lang="en-US" sz="2400" dirty="0">
                <a:latin typeface="+mj-lt"/>
              </a:rPr>
              <a:t> -serverless compute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Very Secure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Built with the Community</a:t>
            </a:r>
            <a:endParaRPr lang="en-IN" sz="24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74396-FB21-45FC-BF43-9EC6BA5B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6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AAA3-08CC-4361-B73B-612B8DD9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36525"/>
            <a:ext cx="10515600" cy="1325563"/>
          </a:xfrm>
        </p:spPr>
        <p:txBody>
          <a:bodyPr/>
          <a:lstStyle/>
          <a:p>
            <a:r>
              <a:rPr lang="en-IN" dirty="0"/>
              <a:t> Use Cases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08361-3D83-4F93-A2CF-29550162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CB1C0-B672-4800-B383-8070411413FB}"/>
              </a:ext>
            </a:extLst>
          </p:cNvPr>
          <p:cNvSpPr txBox="1"/>
          <p:nvPr/>
        </p:nvSpPr>
        <p:spPr>
          <a:xfrm>
            <a:off x="838200" y="1619250"/>
            <a:ext cx="10515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Hybrid Deployment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Kubeflow with EKS for machine learning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Run sequential or parallel batch workloads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Easily build applications</a:t>
            </a:r>
            <a:endParaRPr lang="en-IN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868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129" y="570410"/>
            <a:ext cx="5534025" cy="684322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pc="-3" dirty="0"/>
              <a:t>Working of</a:t>
            </a:r>
            <a:r>
              <a:rPr spc="-37" dirty="0"/>
              <a:t> </a:t>
            </a:r>
            <a:r>
              <a:rPr dirty="0"/>
              <a:t>EKS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72422" y="1743075"/>
            <a:ext cx="68260" cy="2992914"/>
            <a:chOff x="10802746" y="1548638"/>
            <a:chExt cx="107928" cy="3630930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13</a:t>
            </a:r>
            <a:endParaRPr sz="1575">
              <a:latin typeface="Gothic Uralic"/>
              <a:cs typeface="Gothic Uralic"/>
            </a:endParaRPr>
          </a:p>
        </p:txBody>
      </p:sp>
      <p:pic>
        <p:nvPicPr>
          <p:cNvPr id="1026" name="Picture 2" descr="How Amazon EKS works">
            <a:extLst>
              <a:ext uri="{FF2B5EF4-FFF2-40B4-BE49-F238E27FC236}">
                <a16:creationId xmlns:a16="http://schemas.microsoft.com/office/drawing/2014/main" id="{17714C67-7C19-45C2-BE23-7568DBD5F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67" y="1844246"/>
            <a:ext cx="9618666" cy="436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65D8DF7-4CDC-45CB-9CA1-1771A31B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90" y="-63136"/>
            <a:ext cx="10515600" cy="99070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</a:rPr>
              <a:t>EKS Kubernetes -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7B9A3-8C9D-F443-9D30-3B7B4D7EB925}"/>
              </a:ext>
            </a:extLst>
          </p:cNvPr>
          <p:cNvSpPr/>
          <p:nvPr/>
        </p:nvSpPr>
        <p:spPr>
          <a:xfrm>
            <a:off x="813920" y="917465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9EEECC-AD26-DE49-9CC3-872C6BA3F7E7}"/>
              </a:ext>
            </a:extLst>
          </p:cNvPr>
          <p:cNvSpPr/>
          <p:nvPr/>
        </p:nvSpPr>
        <p:spPr>
          <a:xfrm>
            <a:off x="6492433" y="850712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2E40B-A5D9-DC46-A820-B813911D9EC7}"/>
              </a:ext>
            </a:extLst>
          </p:cNvPr>
          <p:cNvSpPr/>
          <p:nvPr/>
        </p:nvSpPr>
        <p:spPr>
          <a:xfrm>
            <a:off x="1077310" y="939850"/>
            <a:ext cx="3967656" cy="4789619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A478F3-DB6F-2043-8433-170725B58D13}"/>
              </a:ext>
            </a:extLst>
          </p:cNvPr>
          <p:cNvSpPr/>
          <p:nvPr/>
        </p:nvSpPr>
        <p:spPr>
          <a:xfrm>
            <a:off x="1340734" y="1537314"/>
            <a:ext cx="1224988" cy="86810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EKS Controller Manager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942F56-26FA-E94A-8D6C-ACBF532B1540}"/>
              </a:ext>
            </a:extLst>
          </p:cNvPr>
          <p:cNvSpPr/>
          <p:nvPr/>
        </p:nvSpPr>
        <p:spPr>
          <a:xfrm>
            <a:off x="3590979" y="1540540"/>
            <a:ext cx="1224988" cy="8681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Fargate</a:t>
            </a:r>
            <a:r>
              <a:rPr lang="en-IN" sz="1500" dirty="0"/>
              <a:t> Controller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E46EA1-9585-8241-8475-E5D5D128AF6E}"/>
              </a:ext>
            </a:extLst>
          </p:cNvPr>
          <p:cNvSpPr/>
          <p:nvPr/>
        </p:nvSpPr>
        <p:spPr>
          <a:xfrm>
            <a:off x="1340734" y="2915915"/>
            <a:ext cx="3475233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kube-apiserver</a:t>
            </a:r>
            <a:endParaRPr lang="en-IN" sz="15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356AA-E201-6F44-8F7F-07E27CC1071D}"/>
              </a:ext>
            </a:extLst>
          </p:cNvPr>
          <p:cNvSpPr/>
          <p:nvPr/>
        </p:nvSpPr>
        <p:spPr>
          <a:xfrm>
            <a:off x="3603214" y="3989582"/>
            <a:ext cx="1224988" cy="8681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-scheduler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1BC6E-89AB-DC46-BA52-4517BE0BDCD8}"/>
              </a:ext>
            </a:extLst>
          </p:cNvPr>
          <p:cNvSpPr/>
          <p:nvPr/>
        </p:nvSpPr>
        <p:spPr>
          <a:xfrm>
            <a:off x="1352969" y="3989582"/>
            <a:ext cx="1224988" cy="8681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etcd</a:t>
            </a:r>
            <a:endParaRPr lang="en-IN" sz="15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993192-9A2D-3A4B-A9C0-E6373AEE1109}"/>
              </a:ext>
            </a:extLst>
          </p:cNvPr>
          <p:cNvSpPr/>
          <p:nvPr/>
        </p:nvSpPr>
        <p:spPr>
          <a:xfrm>
            <a:off x="1258121" y="5176044"/>
            <a:ext cx="3683829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C918F5-2DF0-CC44-B562-79BF604760B1}"/>
              </a:ext>
            </a:extLst>
          </p:cNvPr>
          <p:cNvSpPr txBox="1"/>
          <p:nvPr/>
        </p:nvSpPr>
        <p:spPr>
          <a:xfrm>
            <a:off x="2565721" y="939849"/>
            <a:ext cx="124476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Master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225004-E4DA-5943-9A03-B6D048267B28}"/>
              </a:ext>
            </a:extLst>
          </p:cNvPr>
          <p:cNvSpPr/>
          <p:nvPr/>
        </p:nvSpPr>
        <p:spPr>
          <a:xfrm>
            <a:off x="6707545" y="939850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90E542-359E-DB4E-9C24-C0DD54BCFDF2}"/>
              </a:ext>
            </a:extLst>
          </p:cNvPr>
          <p:cNvSpPr/>
          <p:nvPr/>
        </p:nvSpPr>
        <p:spPr>
          <a:xfrm>
            <a:off x="9129142" y="1640149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AD79D6-B153-F648-B491-BEC124FCB2E9}"/>
              </a:ext>
            </a:extLst>
          </p:cNvPr>
          <p:cNvSpPr txBox="1"/>
          <p:nvPr/>
        </p:nvSpPr>
        <p:spPr>
          <a:xfrm>
            <a:off x="7527234" y="918716"/>
            <a:ext cx="239065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D218DB-E91E-3946-95B0-DD99AA63021E}"/>
              </a:ext>
            </a:extLst>
          </p:cNvPr>
          <p:cNvSpPr/>
          <p:nvPr/>
        </p:nvSpPr>
        <p:spPr>
          <a:xfrm>
            <a:off x="3477478" y="1446824"/>
            <a:ext cx="1428017" cy="1061013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6DB6E3-1E40-D44F-ACF2-0638BA73F828}"/>
              </a:ext>
            </a:extLst>
          </p:cNvPr>
          <p:cNvSpPr/>
          <p:nvPr/>
        </p:nvSpPr>
        <p:spPr>
          <a:xfrm>
            <a:off x="9015864" y="1542380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DC0761-FC20-9449-A220-CBB93B133235}"/>
              </a:ext>
            </a:extLst>
          </p:cNvPr>
          <p:cNvSpPr/>
          <p:nvPr/>
        </p:nvSpPr>
        <p:spPr>
          <a:xfrm>
            <a:off x="7078985" y="1640848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7F46B3-ECE8-664F-98BC-3DFDF9BEAB24}"/>
              </a:ext>
            </a:extLst>
          </p:cNvPr>
          <p:cNvSpPr/>
          <p:nvPr/>
        </p:nvSpPr>
        <p:spPr>
          <a:xfrm>
            <a:off x="6975353" y="1543079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C65B8-12A2-834E-A46C-2504FD1887C5}"/>
              </a:ext>
            </a:extLst>
          </p:cNvPr>
          <p:cNvSpPr/>
          <p:nvPr/>
        </p:nvSpPr>
        <p:spPr>
          <a:xfrm>
            <a:off x="1245886" y="1438798"/>
            <a:ext cx="1428017" cy="1061013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20DFCB-219A-BD46-9CD7-5EAB1174B6FC}"/>
              </a:ext>
            </a:extLst>
          </p:cNvPr>
          <p:cNvSpPr/>
          <p:nvPr/>
        </p:nvSpPr>
        <p:spPr>
          <a:xfrm>
            <a:off x="1255766" y="2789947"/>
            <a:ext cx="3640083" cy="745791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9AB472-09A8-544E-AD13-3FF514A741AD}"/>
              </a:ext>
            </a:extLst>
          </p:cNvPr>
          <p:cNvSpPr/>
          <p:nvPr/>
        </p:nvSpPr>
        <p:spPr>
          <a:xfrm>
            <a:off x="1258121" y="3889545"/>
            <a:ext cx="1428017" cy="1061013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23839B-DA2B-BC42-8DEA-19E50C88457D}"/>
              </a:ext>
            </a:extLst>
          </p:cNvPr>
          <p:cNvSpPr/>
          <p:nvPr/>
        </p:nvSpPr>
        <p:spPr>
          <a:xfrm>
            <a:off x="3501698" y="3889545"/>
            <a:ext cx="1428017" cy="1061013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EBE187-B60B-2841-A0F6-922405398D55}"/>
              </a:ext>
            </a:extLst>
          </p:cNvPr>
          <p:cNvSpPr/>
          <p:nvPr/>
        </p:nvSpPr>
        <p:spPr>
          <a:xfrm>
            <a:off x="6975354" y="2499810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7BDF4C-8A34-9A49-84BF-6B9A7562DA3B}"/>
              </a:ext>
            </a:extLst>
          </p:cNvPr>
          <p:cNvSpPr/>
          <p:nvPr/>
        </p:nvSpPr>
        <p:spPr>
          <a:xfrm>
            <a:off x="6707545" y="3654761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E1589C-38B7-814C-A89F-701D410AED4F}"/>
              </a:ext>
            </a:extLst>
          </p:cNvPr>
          <p:cNvSpPr/>
          <p:nvPr/>
        </p:nvSpPr>
        <p:spPr>
          <a:xfrm>
            <a:off x="9129142" y="4355060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0D4B-57A9-6340-98AD-F4F5BC2BE955}"/>
              </a:ext>
            </a:extLst>
          </p:cNvPr>
          <p:cNvSpPr txBox="1"/>
          <p:nvPr/>
        </p:nvSpPr>
        <p:spPr>
          <a:xfrm>
            <a:off x="7535904" y="3633871"/>
            <a:ext cx="24675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- 2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05C23A-56D3-4649-966A-5BFEDBAA270B}"/>
              </a:ext>
            </a:extLst>
          </p:cNvPr>
          <p:cNvSpPr/>
          <p:nvPr/>
        </p:nvSpPr>
        <p:spPr>
          <a:xfrm>
            <a:off x="9015864" y="4257291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061273-209E-5C41-8D6F-50EDD143357C}"/>
              </a:ext>
            </a:extLst>
          </p:cNvPr>
          <p:cNvSpPr/>
          <p:nvPr/>
        </p:nvSpPr>
        <p:spPr>
          <a:xfrm>
            <a:off x="7078985" y="4355759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4EE610-527E-C04C-ABE2-1F147F182D90}"/>
              </a:ext>
            </a:extLst>
          </p:cNvPr>
          <p:cNvSpPr/>
          <p:nvPr/>
        </p:nvSpPr>
        <p:spPr>
          <a:xfrm>
            <a:off x="6975353" y="4257990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DA53D9-2777-3E4F-9181-718A05F66738}"/>
              </a:ext>
            </a:extLst>
          </p:cNvPr>
          <p:cNvSpPr/>
          <p:nvPr/>
        </p:nvSpPr>
        <p:spPr>
          <a:xfrm>
            <a:off x="6975354" y="5214721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DD0E9-1E37-0442-B10C-A0715598A0E7}"/>
              </a:ext>
            </a:extLst>
          </p:cNvPr>
          <p:cNvSpPr txBox="1"/>
          <p:nvPr/>
        </p:nvSpPr>
        <p:spPr>
          <a:xfrm>
            <a:off x="2057401" y="5812186"/>
            <a:ext cx="15961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Control Plane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DB3723-4A47-4842-A7D0-08C8BECDF70D}"/>
              </a:ext>
            </a:extLst>
          </p:cNvPr>
          <p:cNvSpPr txBox="1"/>
          <p:nvPr/>
        </p:nvSpPr>
        <p:spPr>
          <a:xfrm>
            <a:off x="7817227" y="5797571"/>
            <a:ext cx="1488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Node Group</a:t>
            </a:r>
          </a:p>
        </p:txBody>
      </p:sp>
    </p:spTree>
    <p:extLst>
      <p:ext uri="{BB962C8B-B14F-4D97-AF65-F5344CB8AC3E}">
        <p14:creationId xmlns:p14="http://schemas.microsoft.com/office/powerpoint/2010/main" val="193298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 animBg="1"/>
      <p:bldP spid="41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72" grpId="0" animBg="1"/>
      <p:bldP spid="73" grpId="0" animBg="1"/>
      <p:bldP spid="74" grpId="0" animBg="1"/>
      <p:bldP spid="75" grpId="0" animBg="1"/>
      <p:bldP spid="13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CF87-70F5-4F6C-81D0-297F3EF3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983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 Managed Kubernetes Clusters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510B6-8A38-4747-A5E6-12DD5E68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56458-36FC-4745-9B01-F275C9FBA2BD}"/>
              </a:ext>
            </a:extLst>
          </p:cNvPr>
          <p:cNvSpPr txBox="1"/>
          <p:nvPr/>
        </p:nvSpPr>
        <p:spPr>
          <a:xfrm>
            <a:off x="571501" y="1533525"/>
            <a:ext cx="107823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Managed Control Plane: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The Amazon EKS service automatically manages the availability and scalability of the Kubernetes API servers and the </a:t>
            </a:r>
            <a:r>
              <a:rPr lang="en-US" dirty="0" err="1">
                <a:latin typeface="+mj-lt"/>
              </a:rPr>
              <a:t>etcd</a:t>
            </a:r>
            <a:r>
              <a:rPr lang="en-US" dirty="0">
                <a:latin typeface="+mj-lt"/>
              </a:rPr>
              <a:t> persistence layer for each cluster.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Amazon EKS runs the Kubernetes control plane across three Availability Zones in order to ensure high availability, and it automatically detects and replaces unhealthy masters.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Managed Worker Nodes:</a:t>
            </a:r>
          </a:p>
          <a:p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Create, Update, or Terminate worker nodes for your cluster with a single command.</a:t>
            </a:r>
          </a:p>
          <a:p>
            <a:r>
              <a:rPr lang="en-US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Managed node groups run nodes uses the latest EKS-optimized AMIs to ensure applications are highly available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466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8416B0-90F1-C64C-8EA8-809BA828CBD0}"/>
              </a:ext>
            </a:extLst>
          </p:cNvPr>
          <p:cNvSpPr/>
          <p:nvPr/>
        </p:nvSpPr>
        <p:spPr>
          <a:xfrm>
            <a:off x="185234" y="1027136"/>
            <a:ext cx="1709853" cy="209109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EKS Control Plane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49375E-277D-D341-B923-394DD65F5203}"/>
              </a:ext>
            </a:extLst>
          </p:cNvPr>
          <p:cNvSpPr/>
          <p:nvPr/>
        </p:nvSpPr>
        <p:spPr>
          <a:xfrm>
            <a:off x="2090854" y="1027136"/>
            <a:ext cx="9915913" cy="20910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runs a single tenant Kubernetes control plane for each cluster, and control plane infrastructure is not shared across clusters or AWS accounts.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This control plane consists of at least two API server nodes and three </a:t>
            </a:r>
            <a:r>
              <a:rPr lang="en-IN" sz="1500" dirty="0" err="1">
                <a:solidFill>
                  <a:schemeClr val="tx1"/>
                </a:solidFill>
              </a:rPr>
              <a:t>etcd</a:t>
            </a:r>
            <a:r>
              <a:rPr lang="en-IN" sz="1500" dirty="0">
                <a:solidFill>
                  <a:schemeClr val="tx1"/>
                </a:solidFill>
              </a:rPr>
              <a:t> nodes that run across three Availability Zones within a Region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automatically detects and replaces unhealthy control plane instances, restarting them across the Availability Zones within the Region as needed.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C3A327-AB2B-D44F-971E-5C2EA1E6829C}"/>
              </a:ext>
            </a:extLst>
          </p:cNvPr>
          <p:cNvSpPr/>
          <p:nvPr/>
        </p:nvSpPr>
        <p:spPr>
          <a:xfrm>
            <a:off x="185234" y="3408220"/>
            <a:ext cx="1709853" cy="275279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Worker Nodes</a:t>
            </a:r>
          </a:p>
          <a:p>
            <a:pPr algn="ctr"/>
            <a:r>
              <a:rPr lang="en-US" sz="1500" dirty="0"/>
              <a:t>&amp;</a:t>
            </a:r>
          </a:p>
          <a:p>
            <a:pPr algn="ctr"/>
            <a:r>
              <a:rPr lang="en-US" sz="1500" dirty="0"/>
              <a:t>Node Groups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5681A-2638-754C-8F13-F7392D19FB56}"/>
              </a:ext>
            </a:extLst>
          </p:cNvPr>
          <p:cNvSpPr/>
          <p:nvPr/>
        </p:nvSpPr>
        <p:spPr>
          <a:xfrm>
            <a:off x="2090854" y="3429000"/>
            <a:ext cx="9915913" cy="2752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Worker machines in Kubernetes are called nodes.  These are EC2 Instances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worker nodes run in our AWS account and connect to our cluster's control plane via the cluster API server endpoint.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 node group is one or more EC2 instances that are deployed in an EC2 Autoscaling group.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All instances in a node group must 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Be the same instance type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Be running the same AMI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Use the same EKS worker node IAM role</a:t>
            </a:r>
          </a:p>
        </p:txBody>
      </p:sp>
      <p:sp>
        <p:nvSpPr>
          <p:cNvPr id="47" name="Title 3">
            <a:extLst>
              <a:ext uri="{FF2B5EF4-FFF2-40B4-BE49-F238E27FC236}">
                <a16:creationId xmlns:a16="http://schemas.microsoft.com/office/drawing/2014/main" id="{5C74761B-8F6F-B946-9F3D-31C6E89B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34" y="-98180"/>
            <a:ext cx="10515600" cy="99070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EKS Cluster – Components</a:t>
            </a:r>
          </a:p>
        </p:txBody>
      </p:sp>
    </p:spTree>
    <p:extLst>
      <p:ext uri="{BB962C8B-B14F-4D97-AF65-F5344CB8AC3E}">
        <p14:creationId xmlns:p14="http://schemas.microsoft.com/office/powerpoint/2010/main" val="372379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18F6956-4955-FF4C-B155-7722E6825080}"/>
              </a:ext>
            </a:extLst>
          </p:cNvPr>
          <p:cNvSpPr/>
          <p:nvPr/>
        </p:nvSpPr>
        <p:spPr>
          <a:xfrm>
            <a:off x="180898" y="904790"/>
            <a:ext cx="1709853" cy="2524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Fargate Profiles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DE3CDC-51B3-CF40-AC02-96E467FFC3B4}"/>
              </a:ext>
            </a:extLst>
          </p:cNvPr>
          <p:cNvSpPr/>
          <p:nvPr/>
        </p:nvSpPr>
        <p:spPr>
          <a:xfrm>
            <a:off x="2057399" y="904790"/>
            <a:ext cx="10018132" cy="2524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AWS </a:t>
            </a:r>
            <a:r>
              <a:rPr lang="en-IN" sz="1500" dirty="0" err="1">
                <a:solidFill>
                  <a:schemeClr val="tx1"/>
                </a:solidFill>
              </a:rPr>
              <a:t>Fargate</a:t>
            </a:r>
            <a:r>
              <a:rPr lang="en-IN" sz="1500" dirty="0">
                <a:solidFill>
                  <a:schemeClr val="tx1"/>
                </a:solidFill>
              </a:rPr>
              <a:t> is a technology that provides on-demand, right-sized compute capacity for containers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With Fargate, we no longer have to provision, configure, or scale groups of virtual machines to run containers. 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Each pod running on Fargate has its own isolation boundary and does not share the underlying kernel, CPU resources, memory resources, or elastic network interface with another pod.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AWS specially built Fargate controllers that recognizes the pods belonging to </a:t>
            </a:r>
            <a:r>
              <a:rPr lang="en-US" sz="1500" dirty="0" err="1">
                <a:solidFill>
                  <a:schemeClr val="tx1"/>
                </a:solidFill>
              </a:rPr>
              <a:t>fargate</a:t>
            </a:r>
            <a:r>
              <a:rPr lang="en-US" sz="1500" dirty="0">
                <a:solidFill>
                  <a:schemeClr val="tx1"/>
                </a:solidFill>
              </a:rPr>
              <a:t> and schedules them on Fargate profiles.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2BFEE2-574E-494C-ABD2-5EBBC09F3048}"/>
              </a:ext>
            </a:extLst>
          </p:cNvPr>
          <p:cNvSpPr/>
          <p:nvPr/>
        </p:nvSpPr>
        <p:spPr>
          <a:xfrm>
            <a:off x="180898" y="3998673"/>
            <a:ext cx="1709853" cy="19087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VPC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39D25A-AB40-824E-A119-F06842183C96}"/>
              </a:ext>
            </a:extLst>
          </p:cNvPr>
          <p:cNvSpPr/>
          <p:nvPr/>
        </p:nvSpPr>
        <p:spPr>
          <a:xfrm>
            <a:off x="2085898" y="3998673"/>
            <a:ext cx="10018131" cy="19087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uses AWS VPC network policies to restrict traffic between control plane components to within a single cluster.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Control plane components for a EKS cluster cannot view or receive communication from other clusters or other AWS accounts, except as authorized with Kubernetes RBAC policies.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This secure and highly-available configuration makes EKS reliable and recommended for production workloads.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5FBD4DF6-C27B-874F-B296-13417DAF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5145"/>
            <a:ext cx="10515600" cy="9907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EKS Cluster – Core Objects Detailed</a:t>
            </a:r>
          </a:p>
        </p:txBody>
      </p:sp>
    </p:spTree>
    <p:extLst>
      <p:ext uri="{BB962C8B-B14F-4D97-AF65-F5344CB8AC3E}">
        <p14:creationId xmlns:p14="http://schemas.microsoft.com/office/powerpoint/2010/main" val="18272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43" y="-216144"/>
            <a:ext cx="10515600" cy="99070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EKS Kubernetes -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7B9A3-8C9D-F443-9D30-3B7B4D7EB925}"/>
              </a:ext>
            </a:extLst>
          </p:cNvPr>
          <p:cNvSpPr/>
          <p:nvPr/>
        </p:nvSpPr>
        <p:spPr>
          <a:xfrm>
            <a:off x="773057" y="687659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9EEECC-AD26-DE49-9CC3-872C6BA3F7E7}"/>
              </a:ext>
            </a:extLst>
          </p:cNvPr>
          <p:cNvSpPr/>
          <p:nvPr/>
        </p:nvSpPr>
        <p:spPr>
          <a:xfrm>
            <a:off x="6412137" y="687659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2E40B-A5D9-DC46-A820-B813911D9EC7}"/>
              </a:ext>
            </a:extLst>
          </p:cNvPr>
          <p:cNvSpPr/>
          <p:nvPr/>
        </p:nvSpPr>
        <p:spPr>
          <a:xfrm>
            <a:off x="1077310" y="939850"/>
            <a:ext cx="3967656" cy="4789619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A478F3-DB6F-2043-8433-170725B58D13}"/>
              </a:ext>
            </a:extLst>
          </p:cNvPr>
          <p:cNvSpPr/>
          <p:nvPr/>
        </p:nvSpPr>
        <p:spPr>
          <a:xfrm>
            <a:off x="1340734" y="1537314"/>
            <a:ext cx="1224988" cy="86810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EKS Controller Manager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942F56-26FA-E94A-8D6C-ACBF532B1540}"/>
              </a:ext>
            </a:extLst>
          </p:cNvPr>
          <p:cNvSpPr/>
          <p:nvPr/>
        </p:nvSpPr>
        <p:spPr>
          <a:xfrm>
            <a:off x="3590979" y="1540540"/>
            <a:ext cx="1224988" cy="8681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Fargate</a:t>
            </a:r>
            <a:r>
              <a:rPr lang="en-IN" sz="1500" dirty="0"/>
              <a:t> Controller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E46EA1-9585-8241-8475-E5D5D128AF6E}"/>
              </a:ext>
            </a:extLst>
          </p:cNvPr>
          <p:cNvSpPr/>
          <p:nvPr/>
        </p:nvSpPr>
        <p:spPr>
          <a:xfrm>
            <a:off x="1340734" y="2915915"/>
            <a:ext cx="3475233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kube-apiserver</a:t>
            </a:r>
            <a:endParaRPr lang="en-IN" sz="15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356AA-E201-6F44-8F7F-07E27CC1071D}"/>
              </a:ext>
            </a:extLst>
          </p:cNvPr>
          <p:cNvSpPr/>
          <p:nvPr/>
        </p:nvSpPr>
        <p:spPr>
          <a:xfrm>
            <a:off x="3603214" y="3989582"/>
            <a:ext cx="1224988" cy="8681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-scheduler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1BC6E-89AB-DC46-BA52-4517BE0BDCD8}"/>
              </a:ext>
            </a:extLst>
          </p:cNvPr>
          <p:cNvSpPr/>
          <p:nvPr/>
        </p:nvSpPr>
        <p:spPr>
          <a:xfrm>
            <a:off x="1352969" y="3989582"/>
            <a:ext cx="1224988" cy="8681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etcd</a:t>
            </a:r>
            <a:endParaRPr lang="en-IN" sz="15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993192-9A2D-3A4B-A9C0-E6373AEE1109}"/>
              </a:ext>
            </a:extLst>
          </p:cNvPr>
          <p:cNvSpPr/>
          <p:nvPr/>
        </p:nvSpPr>
        <p:spPr>
          <a:xfrm>
            <a:off x="1258121" y="5176044"/>
            <a:ext cx="3683829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C918F5-2DF0-CC44-B562-79BF604760B1}"/>
              </a:ext>
            </a:extLst>
          </p:cNvPr>
          <p:cNvSpPr txBox="1"/>
          <p:nvPr/>
        </p:nvSpPr>
        <p:spPr>
          <a:xfrm>
            <a:off x="2565721" y="939849"/>
            <a:ext cx="124476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Master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225004-E4DA-5943-9A03-B6D048267B28}"/>
              </a:ext>
            </a:extLst>
          </p:cNvPr>
          <p:cNvSpPr/>
          <p:nvPr/>
        </p:nvSpPr>
        <p:spPr>
          <a:xfrm>
            <a:off x="6707545" y="939850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90E542-359E-DB4E-9C24-C0DD54BCFDF2}"/>
              </a:ext>
            </a:extLst>
          </p:cNvPr>
          <p:cNvSpPr/>
          <p:nvPr/>
        </p:nvSpPr>
        <p:spPr>
          <a:xfrm>
            <a:off x="9129142" y="1640149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AD79D6-B153-F648-B491-BEC124FCB2E9}"/>
              </a:ext>
            </a:extLst>
          </p:cNvPr>
          <p:cNvSpPr txBox="1"/>
          <p:nvPr/>
        </p:nvSpPr>
        <p:spPr>
          <a:xfrm>
            <a:off x="7527234" y="918716"/>
            <a:ext cx="239065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D218DB-E91E-3946-95B0-DD99AA63021E}"/>
              </a:ext>
            </a:extLst>
          </p:cNvPr>
          <p:cNvSpPr/>
          <p:nvPr/>
        </p:nvSpPr>
        <p:spPr>
          <a:xfrm>
            <a:off x="3477478" y="1446824"/>
            <a:ext cx="1428017" cy="1061013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6DB6E3-1E40-D44F-ACF2-0638BA73F828}"/>
              </a:ext>
            </a:extLst>
          </p:cNvPr>
          <p:cNvSpPr/>
          <p:nvPr/>
        </p:nvSpPr>
        <p:spPr>
          <a:xfrm>
            <a:off x="9015864" y="1542380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DC0761-FC20-9449-A220-CBB93B133235}"/>
              </a:ext>
            </a:extLst>
          </p:cNvPr>
          <p:cNvSpPr/>
          <p:nvPr/>
        </p:nvSpPr>
        <p:spPr>
          <a:xfrm>
            <a:off x="7078985" y="1640848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7F46B3-ECE8-664F-98BC-3DFDF9BEAB24}"/>
              </a:ext>
            </a:extLst>
          </p:cNvPr>
          <p:cNvSpPr/>
          <p:nvPr/>
        </p:nvSpPr>
        <p:spPr>
          <a:xfrm>
            <a:off x="6975353" y="1543079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C65B8-12A2-834E-A46C-2504FD1887C5}"/>
              </a:ext>
            </a:extLst>
          </p:cNvPr>
          <p:cNvSpPr/>
          <p:nvPr/>
        </p:nvSpPr>
        <p:spPr>
          <a:xfrm>
            <a:off x="1245886" y="1438798"/>
            <a:ext cx="1428017" cy="1061013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20DFCB-219A-BD46-9CD7-5EAB1174B6FC}"/>
              </a:ext>
            </a:extLst>
          </p:cNvPr>
          <p:cNvSpPr/>
          <p:nvPr/>
        </p:nvSpPr>
        <p:spPr>
          <a:xfrm>
            <a:off x="1255766" y="2789947"/>
            <a:ext cx="3640083" cy="745791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9AB472-09A8-544E-AD13-3FF514A741AD}"/>
              </a:ext>
            </a:extLst>
          </p:cNvPr>
          <p:cNvSpPr/>
          <p:nvPr/>
        </p:nvSpPr>
        <p:spPr>
          <a:xfrm>
            <a:off x="1258121" y="3889545"/>
            <a:ext cx="1428017" cy="1061013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23839B-DA2B-BC42-8DEA-19E50C88457D}"/>
              </a:ext>
            </a:extLst>
          </p:cNvPr>
          <p:cNvSpPr/>
          <p:nvPr/>
        </p:nvSpPr>
        <p:spPr>
          <a:xfrm>
            <a:off x="3501698" y="3889545"/>
            <a:ext cx="1428017" cy="1061013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EBE187-B60B-2841-A0F6-922405398D55}"/>
              </a:ext>
            </a:extLst>
          </p:cNvPr>
          <p:cNvSpPr/>
          <p:nvPr/>
        </p:nvSpPr>
        <p:spPr>
          <a:xfrm>
            <a:off x="6975354" y="2499810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7BDF4C-8A34-9A49-84BF-6B9A7562DA3B}"/>
              </a:ext>
            </a:extLst>
          </p:cNvPr>
          <p:cNvSpPr/>
          <p:nvPr/>
        </p:nvSpPr>
        <p:spPr>
          <a:xfrm>
            <a:off x="6707545" y="3654761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E1589C-38B7-814C-A89F-701D410AED4F}"/>
              </a:ext>
            </a:extLst>
          </p:cNvPr>
          <p:cNvSpPr/>
          <p:nvPr/>
        </p:nvSpPr>
        <p:spPr>
          <a:xfrm>
            <a:off x="9129142" y="4355060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0D4B-57A9-6340-98AD-F4F5BC2BE955}"/>
              </a:ext>
            </a:extLst>
          </p:cNvPr>
          <p:cNvSpPr txBox="1"/>
          <p:nvPr/>
        </p:nvSpPr>
        <p:spPr>
          <a:xfrm>
            <a:off x="7535904" y="3633871"/>
            <a:ext cx="24675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- 2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05C23A-56D3-4649-966A-5BFEDBAA270B}"/>
              </a:ext>
            </a:extLst>
          </p:cNvPr>
          <p:cNvSpPr/>
          <p:nvPr/>
        </p:nvSpPr>
        <p:spPr>
          <a:xfrm>
            <a:off x="9015864" y="4257291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061273-209E-5C41-8D6F-50EDD143357C}"/>
              </a:ext>
            </a:extLst>
          </p:cNvPr>
          <p:cNvSpPr/>
          <p:nvPr/>
        </p:nvSpPr>
        <p:spPr>
          <a:xfrm>
            <a:off x="7078985" y="4355759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4EE610-527E-C04C-ABE2-1F147F182D90}"/>
              </a:ext>
            </a:extLst>
          </p:cNvPr>
          <p:cNvSpPr/>
          <p:nvPr/>
        </p:nvSpPr>
        <p:spPr>
          <a:xfrm>
            <a:off x="6975353" y="4257990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DA53D9-2777-3E4F-9181-718A05F66738}"/>
              </a:ext>
            </a:extLst>
          </p:cNvPr>
          <p:cNvSpPr/>
          <p:nvPr/>
        </p:nvSpPr>
        <p:spPr>
          <a:xfrm>
            <a:off x="6975354" y="5214721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DD0E9-1E37-0442-B10C-A0715598A0E7}"/>
              </a:ext>
            </a:extLst>
          </p:cNvPr>
          <p:cNvSpPr txBox="1"/>
          <p:nvPr/>
        </p:nvSpPr>
        <p:spPr>
          <a:xfrm>
            <a:off x="2057401" y="5812186"/>
            <a:ext cx="15961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Control Plane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DB3723-4A47-4842-A7D0-08C8BECDF70D}"/>
              </a:ext>
            </a:extLst>
          </p:cNvPr>
          <p:cNvSpPr txBox="1"/>
          <p:nvPr/>
        </p:nvSpPr>
        <p:spPr>
          <a:xfrm>
            <a:off x="7817227" y="5797571"/>
            <a:ext cx="1488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Node Group</a:t>
            </a:r>
          </a:p>
        </p:txBody>
      </p:sp>
    </p:spTree>
    <p:extLst>
      <p:ext uri="{BB962C8B-B14F-4D97-AF65-F5344CB8AC3E}">
        <p14:creationId xmlns:p14="http://schemas.microsoft.com/office/powerpoint/2010/main" val="23955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 animBg="1"/>
      <p:bldP spid="41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72" grpId="0" animBg="1"/>
      <p:bldP spid="73" grpId="0" animBg="1"/>
      <p:bldP spid="74" grpId="0" animBg="1"/>
      <p:bldP spid="75" grpId="0" animBg="1"/>
      <p:bldP spid="13" grpId="0"/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EF20C-0C42-4B58-9A62-778BEAE3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745BEC-B00A-41DE-87A8-813DA7EE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EKS using ec2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CE9BE1B5-73B8-C19B-31F8-E119C3C1E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89" y="1759552"/>
            <a:ext cx="10229636" cy="439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31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2606-929F-4FD1-8A73-5FAC4E27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EKS </a:t>
            </a:r>
            <a:r>
              <a:rPr lang="en-IN" dirty="0" err="1"/>
              <a:t>Fargate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8ADB-1948-4653-821C-C358722E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775B5-9706-41F9-A2E4-88329824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704975"/>
            <a:ext cx="6534150" cy="40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4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9252" y="2896804"/>
            <a:ext cx="380873" cy="1764863"/>
          </a:xfrm>
          <a:prstGeom prst="rect">
            <a:avLst/>
          </a:prstGeom>
        </p:spPr>
        <p:txBody>
          <a:bodyPr vert="vert270" wrap="square" lIns="0" tIns="9287" rIns="0" bIns="0" rtlCol="0">
            <a:spAutoFit/>
          </a:bodyPr>
          <a:lstStyle/>
          <a:p>
            <a:pPr marL="7144">
              <a:spcBef>
                <a:spcPts val="73"/>
              </a:spcBef>
            </a:pPr>
            <a:r>
              <a:rPr sz="2475" spc="-3" dirty="0">
                <a:solidFill>
                  <a:srgbClr val="FFFFFF"/>
                </a:solidFill>
                <a:latin typeface="Gothic Uralic"/>
                <a:cs typeface="Gothic Uralic"/>
              </a:rPr>
              <a:t>THANK</a:t>
            </a:r>
            <a:r>
              <a:rPr sz="2475" spc="-5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2475" dirty="0">
                <a:solidFill>
                  <a:srgbClr val="FFFFFF"/>
                </a:solidFill>
                <a:latin typeface="Gothic Uralic"/>
                <a:cs typeface="Gothic Uralic"/>
              </a:rPr>
              <a:t>YOU</a:t>
            </a:r>
            <a:endParaRPr sz="2475">
              <a:latin typeface="Gothic Uralic"/>
              <a:cs typeface="Gothic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51" y="718947"/>
            <a:ext cx="2066330" cy="10249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@2018-CHAITANYA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GAAJULA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-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ALL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RIGHTS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RESERVED</a:t>
            </a:r>
            <a:endParaRPr sz="619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2730" y="556212"/>
            <a:ext cx="242374" cy="235744"/>
          </a:xfrm>
          <a:prstGeom prst="rect">
            <a:avLst/>
          </a:prstGeom>
        </p:spPr>
        <p:txBody>
          <a:bodyPr vert="vert270" wrap="square" lIns="0" tIns="7858" rIns="0" bIns="0" rtlCol="0">
            <a:spAutoFit/>
          </a:bodyPr>
          <a:lstStyle/>
          <a:p>
            <a:pPr marL="7144">
              <a:spcBef>
                <a:spcPts val="62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14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263D0-E7FB-4F81-8D83-4637292FE0BA}"/>
              </a:ext>
            </a:extLst>
          </p:cNvPr>
          <p:cNvSpPr txBox="1"/>
          <p:nvPr/>
        </p:nvSpPr>
        <p:spPr>
          <a:xfrm>
            <a:off x="2809875" y="2476500"/>
            <a:ext cx="632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b="1" dirty="0">
              <a:latin typeface="+mj-lt"/>
            </a:endParaRPr>
          </a:p>
          <a:p>
            <a:r>
              <a:rPr lang="en-IN" sz="4400" b="1" dirty="0">
                <a:latin typeface="+mj-lt"/>
              </a:rPr>
              <a:t>		THANK YOU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82512-8959-4AC4-A530-712F1C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760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Gothic Uralic</vt:lpstr>
      <vt:lpstr>Wingdings</vt:lpstr>
      <vt:lpstr>Office Theme</vt:lpstr>
      <vt:lpstr>PowerPoint Presentation</vt:lpstr>
      <vt:lpstr>Overview of Amazon EKS  Amazon Elastic Container Service for Kubernetes (Amazon EKS) is a  managed service that makes it easy for you to run Kubernetes on AWS  without needing to stand up or maintain your own Kubernetes control  plane.</vt:lpstr>
      <vt:lpstr>     EKS Benefits</vt:lpstr>
      <vt:lpstr> Use Cases</vt:lpstr>
      <vt:lpstr>Working of EKS</vt:lpstr>
      <vt:lpstr>EKS Kubernetes - Architecture</vt:lpstr>
      <vt:lpstr> Managed Kubernetes Clusters</vt:lpstr>
      <vt:lpstr>EKS Cluster – Components</vt:lpstr>
      <vt:lpstr>EKS Cluster – Core Objects Detailed</vt:lpstr>
      <vt:lpstr>EKS Kubernetes - Architecture</vt:lpstr>
      <vt:lpstr>EKS using ec2</vt:lpstr>
      <vt:lpstr> EKS Fargate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11</cp:revision>
  <dcterms:created xsi:type="dcterms:W3CDTF">2021-06-12T18:37:26Z</dcterms:created>
  <dcterms:modified xsi:type="dcterms:W3CDTF">2026-08-26T15:42:32Z</dcterms:modified>
</cp:coreProperties>
</file>