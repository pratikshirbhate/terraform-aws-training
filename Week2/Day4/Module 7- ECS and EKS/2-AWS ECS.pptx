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58" r:id="rId3"/>
    <p:sldId id="267" r:id="rId4"/>
    <p:sldId id="272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mnMTunSdz4rF9RS6Fd2UGg==" hashData="IkdWXoWQqGpeOZnzcp7iBV+/atquVQ7QhNXdeE62yYGFaYo68MhtLplkhnxMwUgUBtHxpjpvAS2xd5A01uji7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EA61A-908D-4CA9-AE4D-28378B1279A5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71A8-2724-45F7-9BAD-5B612ED70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788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7DD4-5EC4-43BF-93E1-A67CB39CF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B6A6E-E5E0-49E5-BE7A-71F39ACF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FFF8A-7C07-4325-814C-B6162729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992A-13DF-4FF2-AF3E-89B615EE5927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82E5F-CBF5-45C6-8F26-224A4CA7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F06F-48F5-4500-A569-9B9C1C59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4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BB5C-6438-4E4A-8B71-DC10C6BA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59A2-EBAC-4253-84C1-8FCE242A3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867B2-B93F-4D78-B845-34E0FD38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96D6-556A-4666-92F8-6F1CB973DC7D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E6BA9-FA6F-4E3C-9A85-60953B11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940C-4682-41C9-8A41-1992A2E7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5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1906-3058-4C49-ADA4-F7CCE8C3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1BCC-9A79-4486-A1A2-A7FD0605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DC4A-4613-4A42-B3F7-E91A665B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60B5-07FD-4CDE-AE4C-FE957802518C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BA2-3C43-4F12-B831-555DE7FA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069D-BB0F-409A-8AE9-36FD774B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65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835D-6F0F-4A55-B988-1E3558F13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11575-F2F6-45F5-8E3D-470998660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4724D-65E3-4B62-828F-5F1EAF8D9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C6E4C-0309-458C-984A-A58111D5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742BA-3842-474A-87CF-1B4D510F0D15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AE1E5-8717-4FD0-A054-C22DA2E9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50E81-2236-4281-8D0C-DA9753FC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69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ECB2-B8F3-4094-949E-8F1897B3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BF12F-2A19-49C8-9EE3-74A935026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734EA-EA30-46B2-9266-7CC405370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12279-FEB1-4156-94E5-DC33A50E4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57C18-990D-4916-ADAC-10F49B5DA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8A22B-5022-41FB-A602-88B027E3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167A-5BF4-42CA-9015-FB069F9BD198}" type="datetime1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02D82-3181-4DB5-9C08-C6C48514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250AA-FE58-4BBD-8052-B9524F78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F63B-D481-4207-A0CF-6AD86538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FFBC4-3C2B-4B60-8DEB-CDCAC0A3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2B791-665B-41FF-BAAF-A57D7C110CFC}" type="datetime1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EA927-6C03-4DA2-AAD0-08AF3E73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AD2E0-0C2E-405E-98C9-17C50F44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9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28323-E661-4F42-9090-FC868EBB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58387-3479-40D6-82D0-176D4D4E0BBC}" type="datetime1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6E307-23B0-4336-86E3-4ACF55B3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68AE5-DD40-4D1F-877D-E065FE86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03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5FE1-F8AE-4109-A756-51CD2151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E3D2-A807-4366-8179-7EF74EF0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42A95-F94D-43E2-AFE9-3A5E26DA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5830B-379C-4D90-ADD0-844AC449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451B-BF71-42B6-8225-30A348F1C028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A39C8-D69A-496B-8198-E1FC89CD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3F02-BD18-45B6-B86D-2B355C80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4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4DAD-1F60-453B-B26C-9148CF18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2C8B5-692F-4BD9-AF30-2713D33C6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803BB-49E4-4B15-B09E-F14092F58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50F14-303C-47E5-9064-1BBE0947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ECD64-4665-4833-B4D5-C941EFED31A3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829AE-F467-4DCD-B79E-C3EE3A1A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C6E8-FD6F-4887-A969-431B13E3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5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AEF5-AE1F-40D7-BF83-9EE41866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E60A8-8042-4EF4-86DF-D8B2F682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D5A2-5673-42FB-A965-76C10534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FCCE-DFAF-4231-B345-2781184FAD0F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5FDC-E1BB-49E3-8E84-A6DDCCED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30796-128E-47E9-A32E-A6D913C5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86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31604-118D-4D1A-8E40-303545D35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68122-3FA8-4C70-98B9-70CBB4FB1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1B9A-7BE5-4F5F-965C-DB1879B2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6764-46DF-445A-80D4-9CABA7F2C462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D1B17-5CBC-47BE-B037-BAC3F97D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E192B-EA55-4FD7-A640-95A087D6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25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2A680C-8DCD-42FC-B0AF-6DCEF374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A3960-296E-4A8F-93BF-BC3954364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D906-29CC-46F4-ABE4-551BCEE29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89913-4B57-457C-9E48-60CEBD704566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349DD-FD2D-4400-82A4-6516E2CC3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R GAAJULA - ALL COPYRIGHTS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A30EB-1391-467D-8E64-77D43E3FA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1A825-BEF9-4B55-9F56-EDE22C2E1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8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F11D-ECF8-4482-AA2D-516F72C8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92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IN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IN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				AWS ECS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DCAAC-3B8D-4ED0-8C43-BFF090C2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  <p:pic>
        <p:nvPicPr>
          <p:cNvPr id="1026" name="Picture 2" descr="Amazon ECS | Digital.ai">
            <a:extLst>
              <a:ext uri="{FF2B5EF4-FFF2-40B4-BE49-F238E27FC236}">
                <a16:creationId xmlns:a16="http://schemas.microsoft.com/office/drawing/2014/main" id="{300CD0A1-0F13-4E28-9263-6CB6D0A9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688" y="223361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3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984" y="1074335"/>
            <a:ext cx="10315576" cy="194620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349686" marR="90011" indent="-342900">
              <a:spcBef>
                <a:spcPts val="56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Amazon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Elastic Container </a:t>
            </a:r>
            <a:r>
              <a:rPr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(Amazon ECS)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 highly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scalable,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fast,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container management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that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makes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it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easy 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run,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stop, and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manage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Docker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containers on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spc="17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cluster.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9686" marR="22146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Host your cluster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on a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serverless infrastructure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that </a:t>
            </a:r>
            <a:r>
              <a:rPr spc="6" dirty="0">
                <a:latin typeface="Calibri Light" panose="020F0302020204030204" pitchFamily="34" charset="0"/>
                <a:cs typeface="Calibri Light" panose="020F0302020204030204" pitchFamily="34" charset="0"/>
              </a:rPr>
              <a:t>is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managed by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Amazon 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ECS by launching your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services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or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tasks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using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Fargate or EC2 launch 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type.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9686" indent="-342900">
              <a:spcBef>
                <a:spcPts val="3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Launch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Stop containers </a:t>
            </a:r>
            <a:r>
              <a:rPr dirty="0">
                <a:latin typeface="Calibri Light" panose="020F0302020204030204" pitchFamily="34" charset="0"/>
                <a:cs typeface="Calibri Light" panose="020F0302020204030204" pitchFamily="34" charset="0"/>
              </a:rPr>
              <a:t>easily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, allows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get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state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of cluster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and</a:t>
            </a:r>
            <a:r>
              <a:rPr spc="10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gives</a:t>
            </a:r>
            <a:r>
              <a:rPr lang="en-IN" spc="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access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to </a:t>
            </a:r>
            <a:r>
              <a:rPr spc="-3" dirty="0">
                <a:latin typeface="Calibri Light" panose="020F0302020204030204" pitchFamily="34" charset="0"/>
                <a:cs typeface="Calibri Light" panose="020F0302020204030204" pitchFamily="34" charset="0"/>
              </a:rPr>
              <a:t>many EC2</a:t>
            </a:r>
            <a:r>
              <a:rPr spc="14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pc="-6" dirty="0">
                <a:latin typeface="Calibri Light" panose="020F0302020204030204" pitchFamily="34" charset="0"/>
                <a:cs typeface="Calibri Light" panose="020F0302020204030204" pitchFamily="34" charset="0"/>
              </a:rPr>
              <a:t>features.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8775" y="1522191"/>
            <a:ext cx="8258175" cy="4821459"/>
            <a:chOff x="1725167" y="1537716"/>
            <a:chExt cx="9185910" cy="5222875"/>
          </a:xfrm>
        </p:grpSpPr>
        <p:sp>
          <p:nvSpPr>
            <p:cNvPr id="4" name="object 4"/>
            <p:cNvSpPr/>
            <p:nvPr/>
          </p:nvSpPr>
          <p:spPr>
            <a:xfrm>
              <a:off x="10802111" y="1537716"/>
              <a:ext cx="108203" cy="19751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38687" y="3563052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590" y="0"/>
                  </a:moveTo>
                  <a:lnTo>
                    <a:pt x="0" y="0"/>
                  </a:lnTo>
                  <a:lnTo>
                    <a:pt x="0" y="37651"/>
                  </a:lnTo>
                  <a:lnTo>
                    <a:pt x="8590" y="37651"/>
                  </a:lnTo>
                  <a:lnTo>
                    <a:pt x="859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02111" y="3645408"/>
              <a:ext cx="106679" cy="14264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725167" y="4116322"/>
              <a:ext cx="7615428" cy="26441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8" name="object 8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9" name="object 9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628775" y="167219"/>
            <a:ext cx="8550228" cy="622406"/>
          </a:xfrm>
          <a:prstGeom prst="rect">
            <a:avLst/>
          </a:prstGeom>
        </p:spPr>
        <p:txBody>
          <a:bodyPr vert="horz" wrap="square" lIns="0" tIns="6787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3"/>
              </a:spcBef>
            </a:pPr>
            <a:r>
              <a:rPr sz="4000" spc="-11" dirty="0"/>
              <a:t>What </a:t>
            </a:r>
            <a:r>
              <a:rPr sz="4000" dirty="0"/>
              <a:t>is </a:t>
            </a:r>
            <a:r>
              <a:rPr sz="4000" spc="-6" dirty="0"/>
              <a:t>ECS </a:t>
            </a:r>
            <a:r>
              <a:rPr sz="4000" spc="-3" dirty="0"/>
              <a:t>(Elastic Container</a:t>
            </a:r>
            <a:r>
              <a:rPr sz="4000" spc="39" dirty="0"/>
              <a:t> </a:t>
            </a:r>
            <a:r>
              <a:rPr sz="4000" spc="-3" dirty="0"/>
              <a:t>Services</a:t>
            </a:r>
            <a:r>
              <a:rPr lang="en-IN" sz="4000" spc="-3" dirty="0"/>
              <a:t>)</a:t>
            </a:r>
            <a:endParaRPr sz="1575" dirty="0"/>
          </a:p>
        </p:txBody>
      </p:sp>
      <p:sp>
        <p:nvSpPr>
          <p:cNvPr id="12" name="object 12"/>
          <p:cNvSpPr txBox="1"/>
          <p:nvPr/>
        </p:nvSpPr>
        <p:spPr>
          <a:xfrm>
            <a:off x="8664179" y="321183"/>
            <a:ext cx="141803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872" dirty="0">
                <a:solidFill>
                  <a:srgbClr val="FFFFFF"/>
                </a:solidFill>
                <a:latin typeface="Gothic Uralic"/>
                <a:cs typeface="Gothic Uralic"/>
              </a:rPr>
              <a:t>2</a:t>
            </a:r>
            <a:r>
              <a:rPr sz="1575" spc="-3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575">
              <a:latin typeface="Verdana"/>
              <a:cs typeface="Verdana"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4DFC0DF-5697-48E5-8CDD-38EA1BC0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795" y="815127"/>
            <a:ext cx="5904406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Accessing AWS</a:t>
            </a:r>
            <a:r>
              <a:rPr sz="4000" spc="-39" dirty="0"/>
              <a:t> </a:t>
            </a:r>
            <a:r>
              <a:rPr sz="4000" dirty="0"/>
              <a:t>ECS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5643" y="2337382"/>
            <a:ext cx="7308558" cy="2723702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 </a:t>
            </a:r>
            <a:r>
              <a:rPr sz="2200" dirty="0">
                <a:latin typeface="+mj-lt"/>
                <a:cs typeface="Gothic Uralic"/>
              </a:rPr>
              <a:t>Management</a:t>
            </a:r>
            <a:r>
              <a:rPr sz="2200" spc="-14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Console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 </a:t>
            </a:r>
            <a:r>
              <a:rPr sz="2200" dirty="0">
                <a:latin typeface="+mj-lt"/>
                <a:cs typeface="Gothic Uralic"/>
              </a:rPr>
              <a:t>Command line</a:t>
            </a:r>
            <a:r>
              <a:rPr sz="2200" spc="-8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tools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78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Amazon ECS</a:t>
            </a:r>
            <a:r>
              <a:rPr sz="2200" spc="-25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CLI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11" dirty="0">
                <a:latin typeface="+mj-lt"/>
                <a:cs typeface="Gothic Uralic"/>
              </a:rPr>
              <a:t>AWS</a:t>
            </a:r>
            <a:r>
              <a:rPr sz="2200" spc="20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SDKs</a:t>
            </a:r>
            <a:endParaRPr sz="2200"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11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21A937E-A009-4568-B039-87606E11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91AF-46C8-4B7A-8BB9-6DB409F2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     ECS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A8927-D619-4308-9FA4-73E907B7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Scalable Performance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Very Secure as containers are launched within VPC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Works on highly reliable global infrastructure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Serverless - </a:t>
            </a:r>
            <a:r>
              <a:rPr lang="en-US" dirty="0" err="1">
                <a:latin typeface="+mj-lt"/>
              </a:rPr>
              <a:t>Fargate</a:t>
            </a:r>
            <a:r>
              <a:rPr lang="en-US" dirty="0">
                <a:latin typeface="+mj-lt"/>
              </a:rPr>
              <a:t> provides serverless compute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Optimized for cost</a:t>
            </a:r>
            <a:endParaRPr lang="en-IN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178E5-F206-444C-AE8F-F1472008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7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6371" y="259026"/>
            <a:ext cx="4149804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EC2 Launch</a:t>
            </a:r>
            <a:r>
              <a:rPr sz="4000" spc="-37" dirty="0"/>
              <a:t> </a:t>
            </a:r>
            <a:r>
              <a:rPr sz="4000" dirty="0"/>
              <a:t>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78352" y="1083832"/>
            <a:ext cx="7035296" cy="5449825"/>
            <a:chOff x="3057144" y="1475232"/>
            <a:chExt cx="7853680" cy="5058410"/>
          </a:xfrm>
        </p:grpSpPr>
        <p:sp>
          <p:nvSpPr>
            <p:cNvPr id="4" name="object 4"/>
            <p:cNvSpPr/>
            <p:nvPr/>
          </p:nvSpPr>
          <p:spPr>
            <a:xfrm>
              <a:off x="3057144" y="1475232"/>
              <a:ext cx="6140196" cy="5058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5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F0E242-4BD1-40C4-8D91-AAD9EB99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731" y="321183"/>
            <a:ext cx="4734068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Fargate Launch</a:t>
            </a:r>
            <a:r>
              <a:rPr sz="4000" spc="-8" dirty="0"/>
              <a:t> </a:t>
            </a:r>
            <a:r>
              <a:rPr sz="4000" dirty="0"/>
              <a:t>Type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86000" y="985629"/>
            <a:ext cx="7410449" cy="5551188"/>
            <a:chOff x="2767583" y="1156716"/>
            <a:chExt cx="8143240" cy="5407660"/>
          </a:xfrm>
        </p:grpSpPr>
        <p:sp>
          <p:nvSpPr>
            <p:cNvPr id="4" name="object 4"/>
            <p:cNvSpPr/>
            <p:nvPr/>
          </p:nvSpPr>
          <p:spPr>
            <a:xfrm>
              <a:off x="2767583" y="1156716"/>
              <a:ext cx="6656832" cy="5407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3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E4F613-E00E-4C00-A9C2-272794D2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693" y="939741"/>
            <a:ext cx="7135047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spc="-3" dirty="0"/>
              <a:t>Containers and</a:t>
            </a:r>
            <a:r>
              <a:rPr sz="4000" spc="-39" dirty="0"/>
              <a:t> </a:t>
            </a:r>
            <a:r>
              <a:rPr sz="4000" spc="-3" dirty="0"/>
              <a:t>Images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7001" y="2452258"/>
            <a:ext cx="6384918" cy="3148441"/>
            <a:chOff x="1063752" y="1548638"/>
            <a:chExt cx="9846945" cy="4321810"/>
          </a:xfrm>
        </p:grpSpPr>
        <p:sp>
          <p:nvSpPr>
            <p:cNvPr id="4" name="object 4"/>
            <p:cNvSpPr/>
            <p:nvPr/>
          </p:nvSpPr>
          <p:spPr>
            <a:xfrm>
              <a:off x="1063752" y="1767840"/>
              <a:ext cx="8987028" cy="41026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5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EC021B-2C84-44DA-BDA9-5BC5AB28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017" y="321183"/>
            <a:ext cx="4994958" cy="622767"/>
          </a:xfrm>
          <a:prstGeom prst="rect">
            <a:avLst/>
          </a:prstGeom>
        </p:spPr>
        <p:txBody>
          <a:bodyPr vert="horz" wrap="square" lIns="0" tIns="7144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6"/>
              </a:spcBef>
            </a:pPr>
            <a:r>
              <a:rPr sz="4000" dirty="0"/>
              <a:t>Task</a:t>
            </a:r>
            <a:r>
              <a:rPr sz="4000" spc="-39" dirty="0"/>
              <a:t> </a:t>
            </a:r>
            <a:r>
              <a:rPr sz="4000" spc="-3" dirty="0"/>
              <a:t>Definitions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34609" y="1883806"/>
            <a:ext cx="10881116" cy="3100729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239316" algn="l"/>
              </a:tabLst>
            </a:pPr>
            <a:r>
              <a:rPr sz="2200" spc="3" dirty="0">
                <a:latin typeface="+mj-lt"/>
                <a:cs typeface="Gothic Uralic"/>
              </a:rPr>
              <a:t>It </a:t>
            </a:r>
            <a:r>
              <a:rPr sz="2200" spc="-3" dirty="0">
                <a:latin typeface="+mj-lt"/>
                <a:cs typeface="Gothic Uralic"/>
              </a:rPr>
              <a:t>is </a:t>
            </a:r>
            <a:r>
              <a:rPr sz="2200" dirty="0">
                <a:latin typeface="+mj-lt"/>
                <a:cs typeface="Gothic Uralic"/>
              </a:rPr>
              <a:t>a </a:t>
            </a:r>
            <a:r>
              <a:rPr sz="2200" spc="-3" dirty="0">
                <a:latin typeface="+mj-lt"/>
                <a:cs typeface="Gothic Uralic"/>
              </a:rPr>
              <a:t>blueprint for your</a:t>
            </a:r>
            <a:r>
              <a:rPr sz="2200" spc="-42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application</a:t>
            </a:r>
            <a:endParaRPr sz="2200" dirty="0">
              <a:latin typeface="+mj-lt"/>
              <a:cs typeface="Gothic Uralic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49687" marR="180380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The task </a:t>
            </a:r>
            <a:r>
              <a:rPr sz="2200" spc="-3" dirty="0">
                <a:latin typeface="+mj-lt"/>
                <a:cs typeface="Gothic Uralic"/>
              </a:rPr>
              <a:t>definition is </a:t>
            </a:r>
            <a:r>
              <a:rPr sz="2200" dirty="0">
                <a:latin typeface="+mj-lt"/>
                <a:cs typeface="Gothic Uralic"/>
              </a:rPr>
              <a:t>a text file, </a:t>
            </a:r>
            <a:r>
              <a:rPr sz="2200" spc="-3" dirty="0">
                <a:latin typeface="+mj-lt"/>
                <a:cs typeface="Gothic Uralic"/>
              </a:rPr>
              <a:t>in JSON </a:t>
            </a:r>
            <a:r>
              <a:rPr sz="2200" dirty="0">
                <a:latin typeface="+mj-lt"/>
                <a:cs typeface="Gothic Uralic"/>
              </a:rPr>
              <a:t>format, that </a:t>
            </a:r>
            <a:r>
              <a:rPr sz="2200" spc="-3" dirty="0">
                <a:latin typeface="+mj-lt"/>
                <a:cs typeface="Gothic Uralic"/>
              </a:rPr>
              <a:t>describes </a:t>
            </a:r>
            <a:r>
              <a:rPr sz="2200" dirty="0">
                <a:latin typeface="+mj-lt"/>
                <a:cs typeface="Gothic Uralic"/>
              </a:rPr>
              <a:t>one or  more containers, up </a:t>
            </a:r>
            <a:r>
              <a:rPr sz="2200" spc="3" dirty="0">
                <a:latin typeface="+mj-lt"/>
                <a:cs typeface="Gothic Uralic"/>
              </a:rPr>
              <a:t>to </a:t>
            </a:r>
            <a:r>
              <a:rPr sz="2200" dirty="0">
                <a:latin typeface="+mj-lt"/>
                <a:cs typeface="Gothic Uralic"/>
              </a:rPr>
              <a:t>a maximum of ten, that </a:t>
            </a:r>
            <a:r>
              <a:rPr sz="2200" spc="-3" dirty="0">
                <a:latin typeface="+mj-lt"/>
                <a:cs typeface="Gothic Uralic"/>
              </a:rPr>
              <a:t>form your</a:t>
            </a:r>
            <a:r>
              <a:rPr sz="2200" spc="-132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application.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78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Task </a:t>
            </a:r>
            <a:r>
              <a:rPr sz="2200" spc="-3" dirty="0">
                <a:latin typeface="+mj-lt"/>
                <a:cs typeface="Gothic Uralic"/>
              </a:rPr>
              <a:t>definitions </a:t>
            </a:r>
            <a:r>
              <a:rPr sz="2200" dirty="0">
                <a:latin typeface="+mj-lt"/>
                <a:cs typeface="Gothic Uralic"/>
              </a:rPr>
              <a:t>specify various </a:t>
            </a:r>
            <a:r>
              <a:rPr sz="2200" spc="-3" dirty="0">
                <a:latin typeface="+mj-lt"/>
                <a:cs typeface="Gothic Uralic"/>
              </a:rPr>
              <a:t>parameters for your</a:t>
            </a:r>
            <a:r>
              <a:rPr sz="2200" spc="-62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application.</a:t>
            </a:r>
            <a:endParaRPr sz="2200" dirty="0">
              <a:latin typeface="+mj-lt"/>
              <a:cs typeface="Gothic Uralic"/>
            </a:endParaRPr>
          </a:p>
          <a:p>
            <a:pPr marL="199668" marR="2858"/>
            <a:endParaRPr lang="en-IN" dirty="0">
              <a:latin typeface="+mj-lt"/>
              <a:cs typeface="Gothic Uralic"/>
            </a:endParaRPr>
          </a:p>
          <a:p>
            <a:pPr marL="199668" marR="2858"/>
            <a:r>
              <a:rPr lang="en-IN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Examples of task </a:t>
            </a:r>
            <a:r>
              <a:rPr spc="-3" dirty="0">
                <a:latin typeface="+mj-lt"/>
                <a:cs typeface="Gothic Uralic"/>
              </a:rPr>
              <a:t>definition parameters are which </a:t>
            </a:r>
            <a:r>
              <a:rPr dirty="0">
                <a:latin typeface="+mj-lt"/>
                <a:cs typeface="Gothic Uralic"/>
              </a:rPr>
              <a:t>containers </a:t>
            </a:r>
            <a:r>
              <a:rPr spc="3" dirty="0">
                <a:latin typeface="+mj-lt"/>
                <a:cs typeface="Gothic Uralic"/>
              </a:rPr>
              <a:t>to </a:t>
            </a:r>
            <a:r>
              <a:rPr dirty="0">
                <a:latin typeface="+mj-lt"/>
                <a:cs typeface="Gothic Uralic"/>
              </a:rPr>
              <a:t>use,  </a:t>
            </a:r>
            <a:r>
              <a:rPr spc="-3" dirty="0">
                <a:latin typeface="+mj-lt"/>
                <a:cs typeface="Gothic Uralic"/>
              </a:rPr>
              <a:t>which </a:t>
            </a:r>
            <a:r>
              <a:rPr dirty="0">
                <a:latin typeface="+mj-lt"/>
                <a:cs typeface="Gothic Uralic"/>
              </a:rPr>
              <a:t>launch type </a:t>
            </a:r>
            <a:r>
              <a:rPr spc="3" dirty="0">
                <a:latin typeface="+mj-lt"/>
                <a:cs typeface="Gothic Uralic"/>
              </a:rPr>
              <a:t>to </a:t>
            </a:r>
            <a:r>
              <a:rPr dirty="0">
                <a:latin typeface="+mj-lt"/>
                <a:cs typeface="Gothic Uralic"/>
              </a:rPr>
              <a:t>use, </a:t>
            </a:r>
            <a:r>
              <a:rPr spc="-3" dirty="0">
                <a:latin typeface="+mj-lt"/>
                <a:cs typeface="Gothic Uralic"/>
              </a:rPr>
              <a:t>which ports should </a:t>
            </a:r>
            <a:r>
              <a:rPr dirty="0">
                <a:latin typeface="+mj-lt"/>
                <a:cs typeface="Gothic Uralic"/>
              </a:rPr>
              <a:t>be opened </a:t>
            </a:r>
            <a:r>
              <a:rPr spc="-3" dirty="0">
                <a:latin typeface="+mj-lt"/>
                <a:cs typeface="Gothic Uralic"/>
              </a:rPr>
              <a:t>for your  application, </a:t>
            </a:r>
            <a:r>
              <a:rPr dirty="0">
                <a:latin typeface="+mj-lt"/>
                <a:cs typeface="Gothic Uralic"/>
              </a:rPr>
              <a:t>and what data volumes should be </a:t>
            </a:r>
            <a:r>
              <a:rPr spc="3" dirty="0">
                <a:latin typeface="+mj-lt"/>
                <a:cs typeface="Gothic Uralic"/>
              </a:rPr>
              <a:t>used </a:t>
            </a:r>
            <a:r>
              <a:rPr dirty="0">
                <a:latin typeface="+mj-lt"/>
                <a:cs typeface="Gothic Uralic"/>
              </a:rPr>
              <a:t>with </a:t>
            </a:r>
            <a:r>
              <a:rPr spc="3" dirty="0">
                <a:latin typeface="+mj-lt"/>
                <a:cs typeface="Gothic Uralic"/>
              </a:rPr>
              <a:t>the</a:t>
            </a:r>
            <a:r>
              <a:rPr spc="-152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containers  </a:t>
            </a:r>
            <a:r>
              <a:rPr spc="-3" dirty="0">
                <a:latin typeface="+mj-lt"/>
                <a:cs typeface="Gothic Uralic"/>
              </a:rPr>
              <a:t>in </a:t>
            </a:r>
            <a:r>
              <a:rPr spc="3" dirty="0">
                <a:latin typeface="+mj-lt"/>
                <a:cs typeface="Gothic Uralic"/>
              </a:rPr>
              <a:t>the</a:t>
            </a:r>
            <a:r>
              <a:rPr spc="-20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task.</a:t>
            </a:r>
            <a:endParaRPr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6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DB8BB4-3AA6-4E39-AE98-23F2C01A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6961" y="35415"/>
            <a:ext cx="5194221" cy="1521619"/>
          </a:xfrm>
          <a:prstGeom prst="rect">
            <a:avLst/>
          </a:prstGeom>
        </p:spPr>
        <p:txBody>
          <a:bodyPr vert="horz" wrap="square" lIns="0" tIns="39291" rIns="0" bIns="0" rtlCol="0" anchor="ctr">
            <a:spAutoFit/>
          </a:bodyPr>
          <a:lstStyle/>
          <a:p>
            <a:pPr marL="1191220">
              <a:lnSpc>
                <a:spcPct val="100000"/>
              </a:lnSpc>
              <a:spcBef>
                <a:spcPts val="309"/>
              </a:spcBef>
            </a:pPr>
            <a:r>
              <a:rPr sz="4000" dirty="0"/>
              <a:t>Task</a:t>
            </a:r>
            <a:r>
              <a:rPr sz="4000" spc="-11" dirty="0"/>
              <a:t> </a:t>
            </a:r>
            <a:r>
              <a:rPr sz="4000" spc="-3" dirty="0"/>
              <a:t>Definitions</a:t>
            </a:r>
            <a:endParaRPr sz="4000" dirty="0"/>
          </a:p>
          <a:p>
            <a:pPr marL="7144" marR="2858">
              <a:lnSpc>
                <a:spcPts val="754"/>
              </a:lnSpc>
              <a:spcBef>
                <a:spcPts val="295"/>
              </a:spcBef>
            </a:pPr>
            <a:r>
              <a:rPr sz="4000" dirty="0">
                <a:solidFill>
                  <a:srgbClr val="FFFFFF"/>
                </a:solidFill>
              </a:rPr>
              <a:t>The </a:t>
            </a:r>
            <a:r>
              <a:rPr sz="4000" spc="-3" dirty="0">
                <a:solidFill>
                  <a:srgbClr val="FFFFFF"/>
                </a:solidFill>
              </a:rPr>
              <a:t>following </a:t>
            </a:r>
            <a:r>
              <a:rPr sz="4000" dirty="0">
                <a:solidFill>
                  <a:srgbClr val="FFFFFF"/>
                </a:solidFill>
              </a:rPr>
              <a:t>is an </a:t>
            </a:r>
            <a:r>
              <a:rPr sz="4000" spc="3" dirty="0">
                <a:solidFill>
                  <a:srgbClr val="FFFFFF"/>
                </a:solidFill>
              </a:rPr>
              <a:t>example </a:t>
            </a:r>
            <a:r>
              <a:rPr sz="4000" dirty="0">
                <a:solidFill>
                  <a:srgbClr val="FFFFFF"/>
                </a:solidFill>
              </a:rPr>
              <a:t>of a </a:t>
            </a:r>
            <a:r>
              <a:rPr sz="4000" spc="-3" dirty="0">
                <a:solidFill>
                  <a:srgbClr val="FFFFFF"/>
                </a:solidFill>
              </a:rPr>
              <a:t>task definition containing </a:t>
            </a:r>
            <a:r>
              <a:rPr sz="4000" dirty="0">
                <a:solidFill>
                  <a:srgbClr val="FFFFFF"/>
                </a:solidFill>
              </a:rPr>
              <a:t>a single container </a:t>
            </a:r>
            <a:r>
              <a:rPr sz="4000" spc="-3" dirty="0">
                <a:solidFill>
                  <a:srgbClr val="FFFFFF"/>
                </a:solidFill>
              </a:rPr>
              <a:t>that runs </a:t>
            </a:r>
            <a:r>
              <a:rPr sz="4000" dirty="0">
                <a:solidFill>
                  <a:srgbClr val="FFFFFF"/>
                </a:solidFill>
              </a:rPr>
              <a:t>an NGINX web</a:t>
            </a:r>
            <a:r>
              <a:rPr sz="4000" spc="-129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server  using </a:t>
            </a:r>
            <a:r>
              <a:rPr sz="4000" spc="-3" dirty="0">
                <a:solidFill>
                  <a:srgbClr val="FFFFFF"/>
                </a:solidFill>
              </a:rPr>
              <a:t>the Fargate launch</a:t>
            </a:r>
            <a:r>
              <a:rPr sz="4000" spc="-37" dirty="0">
                <a:solidFill>
                  <a:srgbClr val="FFFFFF"/>
                </a:solidFill>
              </a:rPr>
              <a:t> </a:t>
            </a:r>
            <a:r>
              <a:rPr sz="4000" spc="-3" dirty="0">
                <a:solidFill>
                  <a:srgbClr val="FFFFFF"/>
                </a:solidFill>
              </a:rPr>
              <a:t>type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709384" y="1557034"/>
            <a:ext cx="6501823" cy="492140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pc="-3" dirty="0">
                <a:latin typeface="+mj-lt"/>
                <a:cs typeface="Gothic Uralic"/>
              </a:rPr>
              <a:t>{</a:t>
            </a:r>
            <a:endParaRPr dirty="0">
              <a:latin typeface="+mj-lt"/>
              <a:cs typeface="Gothic Uralic"/>
            </a:endParaRPr>
          </a:p>
          <a:p>
            <a:pPr marL="85725" marR="111085">
              <a:lnSpc>
                <a:spcPct val="163200"/>
              </a:lnSpc>
              <a:spcBef>
                <a:spcPts val="6"/>
              </a:spcBef>
            </a:pPr>
            <a:r>
              <a:rPr spc="-3" dirty="0">
                <a:latin typeface="+mj-lt"/>
                <a:cs typeface="Gothic Uralic"/>
              </a:rPr>
              <a:t>"family": "webserver",  "containerDefinitions":</a:t>
            </a:r>
            <a:r>
              <a:rPr spc="-17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[</a:t>
            </a:r>
            <a:endParaRPr dirty="0">
              <a:latin typeface="+mj-lt"/>
              <a:cs typeface="Gothic Uralic"/>
            </a:endParaRPr>
          </a:p>
          <a:p>
            <a:pPr marL="163949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{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"name":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"web",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"image":</a:t>
            </a:r>
            <a:r>
              <a:rPr spc="-42" dirty="0">
                <a:latin typeface="+mj-lt"/>
                <a:cs typeface="Gothic Uralic"/>
              </a:rPr>
              <a:t> </a:t>
            </a:r>
            <a:r>
              <a:rPr dirty="0">
                <a:latin typeface="+mj-lt"/>
                <a:cs typeface="Gothic Uralic"/>
              </a:rPr>
              <a:t>"nginx",</a:t>
            </a:r>
          </a:p>
          <a:p>
            <a:pPr marL="242888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"memory":</a:t>
            </a:r>
            <a:r>
              <a:rPr spc="-42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"100",</a:t>
            </a:r>
            <a:endParaRPr dirty="0">
              <a:latin typeface="+mj-lt"/>
              <a:cs typeface="Gothic Uralic"/>
            </a:endParaRPr>
          </a:p>
          <a:p>
            <a:pPr marL="242888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"cpu":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6" dirty="0">
                <a:latin typeface="+mj-lt"/>
                <a:cs typeface="Gothic Uralic"/>
              </a:rPr>
              <a:t>"99"</a:t>
            </a:r>
            <a:endParaRPr dirty="0">
              <a:latin typeface="+mj-lt"/>
              <a:cs typeface="Gothic Uralic"/>
            </a:endParaRPr>
          </a:p>
          <a:p>
            <a:pPr marL="163949">
              <a:spcBef>
                <a:spcPts val="425"/>
              </a:spcBef>
            </a:pPr>
            <a:r>
              <a:rPr spc="-20" dirty="0">
                <a:latin typeface="+mj-lt"/>
                <a:cs typeface="Gothic Uralic"/>
              </a:rPr>
              <a:t>},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3" dirty="0">
                <a:latin typeface="+mj-lt"/>
                <a:cs typeface="Gothic Uralic"/>
              </a:rPr>
              <a:t>],</a:t>
            </a:r>
            <a:endParaRPr dirty="0">
              <a:latin typeface="+mj-lt"/>
              <a:cs typeface="Gothic Uralic"/>
            </a:endParaRPr>
          </a:p>
          <a:p>
            <a:pPr marL="163949" marR="15002" indent="-78224">
              <a:lnSpc>
                <a:spcPct val="163000"/>
              </a:lnSpc>
              <a:spcBef>
                <a:spcPts val="8"/>
              </a:spcBef>
            </a:pPr>
            <a:r>
              <a:rPr spc="-3" dirty="0">
                <a:latin typeface="+mj-lt"/>
                <a:cs typeface="Gothic Uralic"/>
              </a:rPr>
              <a:t>"requiresCompatibilities": [  </a:t>
            </a:r>
            <a:r>
              <a:rPr spc="-6" dirty="0">
                <a:latin typeface="+mj-lt"/>
                <a:cs typeface="Gothic Uralic"/>
              </a:rPr>
              <a:t>"FARGATE"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3" dirty="0">
                <a:latin typeface="+mj-lt"/>
                <a:cs typeface="Gothic Uralic"/>
              </a:rPr>
              <a:t>],</a:t>
            </a:r>
            <a:endParaRPr dirty="0">
              <a:latin typeface="+mj-lt"/>
              <a:cs typeface="Gothic Uralic"/>
            </a:endParaRPr>
          </a:p>
          <a:p>
            <a:pPr marL="85725" marR="2858">
              <a:lnSpc>
                <a:spcPct val="163000"/>
              </a:lnSpc>
              <a:spcBef>
                <a:spcPts val="8"/>
              </a:spcBef>
            </a:pPr>
            <a:r>
              <a:rPr spc="-3" dirty="0">
                <a:latin typeface="+mj-lt"/>
                <a:cs typeface="Gothic Uralic"/>
              </a:rPr>
              <a:t>"networkMode": "awsvpc",  "memory":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"512",</a:t>
            </a:r>
            <a:endParaRPr dirty="0">
              <a:latin typeface="+mj-lt"/>
              <a:cs typeface="Gothic Uralic"/>
            </a:endParaRPr>
          </a:p>
          <a:p>
            <a:pPr marL="85725">
              <a:spcBef>
                <a:spcPts val="425"/>
              </a:spcBef>
            </a:pPr>
            <a:r>
              <a:rPr spc="-3" dirty="0">
                <a:latin typeface="+mj-lt"/>
                <a:cs typeface="Gothic Uralic"/>
              </a:rPr>
              <a:t>"cpu":</a:t>
            </a:r>
            <a:r>
              <a:rPr spc="3" dirty="0">
                <a:latin typeface="+mj-lt"/>
                <a:cs typeface="Gothic Uralic"/>
              </a:rPr>
              <a:t> </a:t>
            </a:r>
            <a:r>
              <a:rPr spc="-3" dirty="0">
                <a:latin typeface="+mj-lt"/>
                <a:cs typeface="Gothic Uralic"/>
              </a:rPr>
              <a:t>"256",</a:t>
            </a:r>
            <a:endParaRPr dirty="0">
              <a:latin typeface="+mj-lt"/>
              <a:cs typeface="Gothic Uralic"/>
            </a:endParaRPr>
          </a:p>
          <a:p>
            <a:pPr marL="7144">
              <a:spcBef>
                <a:spcPts val="433"/>
              </a:spcBef>
            </a:pPr>
            <a:r>
              <a:rPr spc="-3" dirty="0">
                <a:latin typeface="+mj-lt"/>
                <a:cs typeface="Gothic Uralic"/>
              </a:rPr>
              <a:t>}</a:t>
            </a:r>
            <a:endParaRPr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7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C08DF-BD49-4A0C-9E8C-BAD41686B2D7}"/>
              </a:ext>
            </a:extLst>
          </p:cNvPr>
          <p:cNvSpPr txBox="1"/>
          <p:nvPr/>
        </p:nvSpPr>
        <p:spPr>
          <a:xfrm>
            <a:off x="1390649" y="890906"/>
            <a:ext cx="9163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The </a:t>
            </a:r>
            <a:r>
              <a:rPr lang="en-US" spc="-5" dirty="0">
                <a:latin typeface="+mj-lt"/>
              </a:rPr>
              <a:t>following </a:t>
            </a:r>
            <a:r>
              <a:rPr lang="en-US" dirty="0">
                <a:latin typeface="+mj-lt"/>
              </a:rPr>
              <a:t>is an </a:t>
            </a:r>
            <a:r>
              <a:rPr lang="en-US" spc="5" dirty="0">
                <a:latin typeface="+mj-lt"/>
              </a:rPr>
              <a:t>example </a:t>
            </a:r>
            <a:r>
              <a:rPr lang="en-US" dirty="0">
                <a:latin typeface="+mj-lt"/>
              </a:rPr>
              <a:t>of a </a:t>
            </a:r>
            <a:r>
              <a:rPr lang="en-US" spc="-5" dirty="0">
                <a:latin typeface="+mj-lt"/>
              </a:rPr>
              <a:t>task definition containing </a:t>
            </a:r>
            <a:r>
              <a:rPr lang="en-US" dirty="0">
                <a:latin typeface="+mj-lt"/>
              </a:rPr>
              <a:t>a single container </a:t>
            </a:r>
            <a:r>
              <a:rPr lang="en-US" spc="-5" dirty="0">
                <a:latin typeface="+mj-lt"/>
              </a:rPr>
              <a:t>that runs </a:t>
            </a:r>
            <a:r>
              <a:rPr lang="en-US" dirty="0">
                <a:latin typeface="+mj-lt"/>
              </a:rPr>
              <a:t>an NGINX web</a:t>
            </a:r>
            <a:r>
              <a:rPr lang="en-US" spc="-229" dirty="0">
                <a:latin typeface="+mj-lt"/>
              </a:rPr>
              <a:t> </a:t>
            </a:r>
            <a:r>
              <a:rPr lang="en-US" dirty="0">
                <a:latin typeface="+mj-lt"/>
              </a:rPr>
              <a:t>server  using </a:t>
            </a:r>
            <a:r>
              <a:rPr lang="en-US" spc="-5" dirty="0">
                <a:latin typeface="+mj-lt"/>
              </a:rPr>
              <a:t>the </a:t>
            </a:r>
            <a:r>
              <a:rPr lang="en-US" spc="-5" dirty="0" err="1">
                <a:latin typeface="+mj-lt"/>
              </a:rPr>
              <a:t>Fargate</a:t>
            </a:r>
            <a:r>
              <a:rPr lang="en-US" spc="-5" dirty="0">
                <a:latin typeface="+mj-lt"/>
              </a:rPr>
              <a:t> launch</a:t>
            </a:r>
            <a:r>
              <a:rPr lang="en-US" spc="-65" dirty="0">
                <a:latin typeface="+mj-lt"/>
              </a:rPr>
              <a:t> </a:t>
            </a:r>
            <a:r>
              <a:rPr lang="en-US" spc="-5" dirty="0">
                <a:latin typeface="+mj-lt"/>
              </a:rPr>
              <a:t>type</a:t>
            </a:r>
            <a:endParaRPr lang="en-IN" dirty="0">
              <a:latin typeface="+mj-lt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3DD14D0-C216-4486-B6C9-DE7ECA50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9297" y="35357"/>
            <a:ext cx="4768478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</a:pPr>
            <a:r>
              <a:rPr sz="4000" dirty="0"/>
              <a:t>Tasks &amp;</a:t>
            </a:r>
            <a:r>
              <a:rPr sz="4000" spc="-37" dirty="0"/>
              <a:t> </a:t>
            </a:r>
            <a:r>
              <a:rPr sz="4000" spc="-3" dirty="0"/>
              <a:t>Scheduling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885825" y="913608"/>
            <a:ext cx="10144125" cy="2161650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349686" indent="-342900">
              <a:spcBef>
                <a:spcPts val="56"/>
              </a:spcBef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spc="-3" dirty="0">
                <a:latin typeface="+mj-lt"/>
                <a:cs typeface="Gothic Uralic"/>
              </a:rPr>
              <a:t>A </a:t>
            </a:r>
            <a:r>
              <a:rPr sz="2000" spc="-6" dirty="0">
                <a:latin typeface="+mj-lt"/>
                <a:cs typeface="Gothic Uralic"/>
              </a:rPr>
              <a:t>task </a:t>
            </a:r>
            <a:r>
              <a:rPr sz="2000" spc="6" dirty="0">
                <a:latin typeface="+mj-lt"/>
                <a:cs typeface="Gothic Uralic"/>
              </a:rPr>
              <a:t>is </a:t>
            </a:r>
            <a:r>
              <a:rPr sz="2000" spc="-6" dirty="0">
                <a:latin typeface="+mj-lt"/>
                <a:cs typeface="Gothic Uralic"/>
              </a:rPr>
              <a:t>the </a:t>
            </a:r>
            <a:r>
              <a:rPr sz="2000" spc="-3" dirty="0">
                <a:latin typeface="+mj-lt"/>
                <a:cs typeface="Gothic Uralic"/>
              </a:rPr>
              <a:t>instantiation of </a:t>
            </a:r>
            <a:r>
              <a:rPr sz="2000" dirty="0">
                <a:latin typeface="+mj-lt"/>
                <a:cs typeface="Gothic Uralic"/>
              </a:rPr>
              <a:t>a </a:t>
            </a:r>
            <a:r>
              <a:rPr sz="2000" spc="-3" dirty="0">
                <a:latin typeface="+mj-lt"/>
                <a:cs typeface="Gothic Uralic"/>
              </a:rPr>
              <a:t>task </a:t>
            </a:r>
            <a:r>
              <a:rPr sz="2000" dirty="0">
                <a:latin typeface="+mj-lt"/>
                <a:cs typeface="Gothic Uralic"/>
              </a:rPr>
              <a:t>definition </a:t>
            </a:r>
            <a:r>
              <a:rPr sz="2000" spc="-3" dirty="0">
                <a:latin typeface="+mj-lt"/>
                <a:cs typeface="Gothic Uralic"/>
              </a:rPr>
              <a:t>within </a:t>
            </a:r>
            <a:r>
              <a:rPr sz="2000" dirty="0">
                <a:latin typeface="+mj-lt"/>
                <a:cs typeface="Gothic Uralic"/>
              </a:rPr>
              <a:t>a</a:t>
            </a:r>
            <a:r>
              <a:rPr sz="2000" spc="3" dirty="0">
                <a:latin typeface="+mj-lt"/>
                <a:cs typeface="Gothic Uralic"/>
              </a:rPr>
              <a:t> </a:t>
            </a:r>
            <a:r>
              <a:rPr sz="2000" spc="-3" dirty="0">
                <a:latin typeface="+mj-lt"/>
                <a:cs typeface="Gothic Uralic"/>
              </a:rPr>
              <a:t>cluster.</a:t>
            </a:r>
            <a:endParaRPr sz="2000" dirty="0">
              <a:latin typeface="+mj-lt"/>
              <a:cs typeface="Gothic Uralic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sz="2000" dirty="0">
              <a:latin typeface="+mj-lt"/>
              <a:cs typeface="Gothic Uralic"/>
            </a:endParaRPr>
          </a:p>
          <a:p>
            <a:pPr marL="349686" marR="2858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spc="-3" dirty="0">
                <a:latin typeface="+mj-lt"/>
                <a:cs typeface="Gothic Uralic"/>
              </a:rPr>
              <a:t>Each task </a:t>
            </a:r>
            <a:r>
              <a:rPr sz="2000" spc="-6" dirty="0">
                <a:latin typeface="+mj-lt"/>
                <a:cs typeface="Gothic Uralic"/>
              </a:rPr>
              <a:t>that </a:t>
            </a:r>
            <a:r>
              <a:rPr sz="2000" spc="-3" dirty="0">
                <a:latin typeface="+mj-lt"/>
                <a:cs typeface="Gothic Uralic"/>
              </a:rPr>
              <a:t>uses </a:t>
            </a:r>
            <a:r>
              <a:rPr sz="2000" spc="-6" dirty="0">
                <a:latin typeface="+mj-lt"/>
                <a:cs typeface="Gothic Uralic"/>
              </a:rPr>
              <a:t>the </a:t>
            </a:r>
            <a:r>
              <a:rPr sz="2000" spc="-3" dirty="0">
                <a:latin typeface="+mj-lt"/>
                <a:cs typeface="Gothic Uralic"/>
              </a:rPr>
              <a:t>Fargate launch </a:t>
            </a:r>
            <a:r>
              <a:rPr sz="2000" spc="-6" dirty="0">
                <a:latin typeface="+mj-lt"/>
                <a:cs typeface="Gothic Uralic"/>
              </a:rPr>
              <a:t>type has </a:t>
            </a:r>
            <a:r>
              <a:rPr sz="2000" dirty="0">
                <a:latin typeface="+mj-lt"/>
                <a:cs typeface="Gothic Uralic"/>
              </a:rPr>
              <a:t>it's </a:t>
            </a:r>
            <a:r>
              <a:rPr sz="2000" spc="-8" dirty="0">
                <a:latin typeface="+mj-lt"/>
                <a:cs typeface="Gothic Uralic"/>
              </a:rPr>
              <a:t>own </a:t>
            </a:r>
            <a:r>
              <a:rPr sz="2000" dirty="0">
                <a:latin typeface="+mj-lt"/>
                <a:cs typeface="Gothic Uralic"/>
              </a:rPr>
              <a:t>isolation </a:t>
            </a:r>
            <a:r>
              <a:rPr sz="2000" spc="-3" dirty="0">
                <a:latin typeface="+mj-lt"/>
                <a:cs typeface="Gothic Uralic"/>
              </a:rPr>
              <a:t>boundary </a:t>
            </a:r>
            <a:r>
              <a:rPr sz="2000" spc="-6" dirty="0">
                <a:latin typeface="+mj-lt"/>
                <a:cs typeface="Gothic Uralic"/>
              </a:rPr>
              <a:t>and </a:t>
            </a:r>
            <a:r>
              <a:rPr sz="2000" spc="-3" dirty="0">
                <a:latin typeface="+mj-lt"/>
                <a:cs typeface="Gothic Uralic"/>
              </a:rPr>
              <a:t>does not  </a:t>
            </a:r>
            <a:r>
              <a:rPr sz="2000" spc="-6" dirty="0">
                <a:latin typeface="+mj-lt"/>
                <a:cs typeface="Gothic Uralic"/>
              </a:rPr>
              <a:t>share the </a:t>
            </a:r>
            <a:r>
              <a:rPr sz="2000" spc="-3" dirty="0">
                <a:latin typeface="+mj-lt"/>
                <a:cs typeface="Gothic Uralic"/>
              </a:rPr>
              <a:t>underlying kernel, CPU resources, memory resources, or elastic </a:t>
            </a:r>
            <a:r>
              <a:rPr sz="2000" spc="-6" dirty="0">
                <a:latin typeface="+mj-lt"/>
                <a:cs typeface="Gothic Uralic"/>
              </a:rPr>
              <a:t>network </a:t>
            </a:r>
            <a:r>
              <a:rPr sz="2000" spc="-3" dirty="0">
                <a:latin typeface="+mj-lt"/>
                <a:cs typeface="Gothic Uralic"/>
              </a:rPr>
              <a:t>interface  </a:t>
            </a:r>
            <a:r>
              <a:rPr sz="2000" spc="-6" dirty="0">
                <a:latin typeface="+mj-lt"/>
                <a:cs typeface="Gothic Uralic"/>
              </a:rPr>
              <a:t>with another</a:t>
            </a:r>
            <a:r>
              <a:rPr sz="2000" spc="34" dirty="0">
                <a:latin typeface="+mj-lt"/>
                <a:cs typeface="Gothic Uralic"/>
              </a:rPr>
              <a:t> </a:t>
            </a:r>
            <a:r>
              <a:rPr sz="2000" spc="-6" dirty="0">
                <a:latin typeface="+mj-lt"/>
                <a:cs typeface="Gothic Uralic"/>
              </a:rPr>
              <a:t>task.</a:t>
            </a:r>
            <a:endParaRPr sz="2000" dirty="0">
              <a:latin typeface="+mj-lt"/>
              <a:cs typeface="Gothic Uralic"/>
            </a:endParaRPr>
          </a:p>
          <a:p>
            <a:pPr marL="342900" indent="-342900">
              <a:spcBef>
                <a:spcPts val="20"/>
              </a:spcBef>
              <a:buClr>
                <a:srgbClr val="FFFFFF"/>
              </a:buClr>
              <a:buFont typeface="Wingdings" panose="05000000000000000000" pitchFamily="2" charset="2"/>
              <a:buChar char="Ø"/>
            </a:pPr>
            <a:endParaRPr sz="2000" dirty="0">
              <a:latin typeface="+mj-lt"/>
              <a:cs typeface="Gothic Uralic"/>
            </a:endParaRPr>
          </a:p>
          <a:p>
            <a:pPr marL="349686" indent="-342900">
              <a:buFont typeface="Wingdings" panose="05000000000000000000" pitchFamily="2" charset="2"/>
              <a:buChar char="Ø"/>
              <a:tabLst>
                <a:tab pos="168593" algn="l"/>
              </a:tabLst>
            </a:pPr>
            <a:r>
              <a:rPr sz="2000" dirty="0">
                <a:latin typeface="+mj-lt"/>
                <a:cs typeface="Gothic Uralic"/>
              </a:rPr>
              <a:t>Amazon </a:t>
            </a:r>
            <a:r>
              <a:rPr sz="2000" spc="-3" dirty="0">
                <a:latin typeface="+mj-lt"/>
                <a:cs typeface="Gothic Uralic"/>
              </a:rPr>
              <a:t>ECS </a:t>
            </a:r>
            <a:r>
              <a:rPr sz="2000" spc="-6" dirty="0">
                <a:latin typeface="+mj-lt"/>
                <a:cs typeface="Gothic Uralic"/>
              </a:rPr>
              <a:t>task </a:t>
            </a:r>
            <a:r>
              <a:rPr sz="2000" spc="-3" dirty="0">
                <a:latin typeface="+mj-lt"/>
                <a:cs typeface="Gothic Uralic"/>
              </a:rPr>
              <a:t>scheduler </a:t>
            </a:r>
            <a:r>
              <a:rPr sz="2000" spc="6" dirty="0">
                <a:latin typeface="+mj-lt"/>
                <a:cs typeface="Gothic Uralic"/>
              </a:rPr>
              <a:t>is </a:t>
            </a:r>
            <a:r>
              <a:rPr sz="2000" spc="-3" dirty="0">
                <a:latin typeface="+mj-lt"/>
                <a:cs typeface="Gothic Uralic"/>
              </a:rPr>
              <a:t>responsible for </a:t>
            </a:r>
            <a:r>
              <a:rPr sz="2000" dirty="0">
                <a:latin typeface="+mj-lt"/>
                <a:cs typeface="Gothic Uralic"/>
              </a:rPr>
              <a:t>placing </a:t>
            </a:r>
            <a:r>
              <a:rPr sz="2000" spc="-6" dirty="0">
                <a:latin typeface="+mj-lt"/>
                <a:cs typeface="Gothic Uralic"/>
              </a:rPr>
              <a:t>tasks </a:t>
            </a:r>
            <a:r>
              <a:rPr sz="2000" spc="-3" dirty="0">
                <a:latin typeface="+mj-lt"/>
                <a:cs typeface="Gothic Uralic"/>
              </a:rPr>
              <a:t>within your</a:t>
            </a:r>
            <a:r>
              <a:rPr sz="2000" spc="8" dirty="0">
                <a:latin typeface="+mj-lt"/>
                <a:cs typeface="Gothic Uralic"/>
              </a:rPr>
              <a:t> </a:t>
            </a:r>
            <a:r>
              <a:rPr sz="2000" spc="-3" dirty="0">
                <a:latin typeface="+mj-lt"/>
                <a:cs typeface="Gothic Uralic"/>
              </a:rPr>
              <a:t>cluster.</a:t>
            </a:r>
            <a:endParaRPr sz="2000" dirty="0">
              <a:latin typeface="+mj-lt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6376" y="1520762"/>
            <a:ext cx="6480310" cy="4672441"/>
            <a:chOff x="1423416" y="1548638"/>
            <a:chExt cx="9487535" cy="4910455"/>
          </a:xfrm>
        </p:grpSpPr>
        <p:sp>
          <p:nvSpPr>
            <p:cNvPr id="5" name="object 5"/>
            <p:cNvSpPr/>
            <p:nvPr/>
          </p:nvSpPr>
          <p:spPr>
            <a:xfrm>
              <a:off x="1423416" y="3718560"/>
              <a:ext cx="9105900" cy="27401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02747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8" name="object 8"/>
            <p:cNvSpPr/>
            <p:nvPr/>
          </p:nvSpPr>
          <p:spPr>
            <a:xfrm>
              <a:off x="10802747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8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E37D101-CA93-4876-A2EF-84EB75BA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3349" y="305282"/>
            <a:ext cx="6998351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  <a:tabLst>
                <a:tab pos="1211937" algn="l"/>
              </a:tabLst>
            </a:pPr>
            <a:r>
              <a:rPr sz="4000" b="1" spc="-3" dirty="0"/>
              <a:t>Clusters</a:t>
            </a:r>
            <a:r>
              <a:rPr sz="4000" b="1" spc="-11" dirty="0"/>
              <a:t> </a:t>
            </a:r>
            <a:r>
              <a:rPr sz="4000" b="1" dirty="0"/>
              <a:t>&amp;</a:t>
            </a:r>
            <a:r>
              <a:rPr lang="en-IN" sz="4000" b="1" dirty="0"/>
              <a:t> </a:t>
            </a:r>
            <a:r>
              <a:rPr sz="4000" b="1" spc="-3" dirty="0"/>
              <a:t>Container</a:t>
            </a:r>
            <a:r>
              <a:rPr sz="4000" b="1" spc="-31" dirty="0"/>
              <a:t> </a:t>
            </a:r>
            <a:r>
              <a:rPr sz="4000" b="1" dirty="0"/>
              <a:t>Agent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1975" y="1494236"/>
            <a:ext cx="11068050" cy="4870444"/>
          </a:xfrm>
          <a:prstGeom prst="rect">
            <a:avLst/>
          </a:prstGeom>
        </p:spPr>
        <p:txBody>
          <a:bodyPr vert="horz" wrap="square" lIns="0" tIns="7501" rIns="0" bIns="0" rtlCol="0">
            <a:spAutoFit/>
          </a:bodyPr>
          <a:lstStyle/>
          <a:p>
            <a:pPr marL="350044" indent="-342900">
              <a:spcBef>
                <a:spcPts val="59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Tasks </a:t>
            </a:r>
            <a:r>
              <a:rPr sz="2200" spc="-3" dirty="0">
                <a:latin typeface="+mj-lt"/>
                <a:cs typeface="Gothic Uralic"/>
              </a:rPr>
              <a:t>are </a:t>
            </a:r>
            <a:r>
              <a:rPr sz="2200" dirty="0">
                <a:latin typeface="+mj-lt"/>
                <a:cs typeface="Gothic Uralic"/>
              </a:rPr>
              <a:t>run using a cluster - </a:t>
            </a:r>
            <a:r>
              <a:rPr sz="2200" spc="-3" dirty="0">
                <a:latin typeface="+mj-lt"/>
                <a:cs typeface="Gothic Uralic"/>
              </a:rPr>
              <a:t>logical </a:t>
            </a:r>
            <a:r>
              <a:rPr sz="2200" dirty="0">
                <a:latin typeface="+mj-lt"/>
                <a:cs typeface="Gothic Uralic"/>
              </a:rPr>
              <a:t>grouping of</a:t>
            </a:r>
            <a:r>
              <a:rPr sz="2200" spc="-84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resources.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85393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8" dirty="0">
                <a:latin typeface="+mj-lt"/>
                <a:cs typeface="Gothic Uralic"/>
              </a:rPr>
              <a:t>When </a:t>
            </a:r>
            <a:r>
              <a:rPr sz="2200" dirty="0">
                <a:latin typeface="+mj-lt"/>
                <a:cs typeface="Gothic Uralic"/>
              </a:rPr>
              <a:t>using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Fargate launch type with tasks within </a:t>
            </a:r>
            <a:r>
              <a:rPr sz="2200" spc="-3" dirty="0">
                <a:latin typeface="+mj-lt"/>
                <a:cs typeface="Gothic Uralic"/>
              </a:rPr>
              <a:t>your</a:t>
            </a:r>
            <a:r>
              <a:rPr sz="2200" spc="-93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cluster,  Amazon ECS manages </a:t>
            </a:r>
            <a:r>
              <a:rPr sz="2200" spc="-3" dirty="0">
                <a:latin typeface="+mj-lt"/>
                <a:cs typeface="Gothic Uralic"/>
              </a:rPr>
              <a:t>your </a:t>
            </a:r>
            <a:r>
              <a:rPr sz="2200" dirty="0">
                <a:latin typeface="+mj-lt"/>
                <a:cs typeface="Gothic Uralic"/>
              </a:rPr>
              <a:t>cluster</a:t>
            </a:r>
            <a:r>
              <a:rPr sz="2200" spc="-59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resources.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36458" indent="-342900">
              <a:spcBef>
                <a:spcPts val="880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8" dirty="0">
                <a:latin typeface="+mj-lt"/>
                <a:cs typeface="Gothic Uralic"/>
              </a:rPr>
              <a:t>When </a:t>
            </a:r>
            <a:r>
              <a:rPr sz="2200" dirty="0">
                <a:latin typeface="+mj-lt"/>
                <a:cs typeface="Gothic Uralic"/>
              </a:rPr>
              <a:t>using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EC2 launch type, then </a:t>
            </a:r>
            <a:r>
              <a:rPr sz="2200" spc="-3" dirty="0">
                <a:latin typeface="+mj-lt"/>
                <a:cs typeface="Gothic Uralic"/>
              </a:rPr>
              <a:t>your </a:t>
            </a:r>
            <a:r>
              <a:rPr sz="2200" dirty="0">
                <a:latin typeface="+mj-lt"/>
                <a:cs typeface="Gothic Uralic"/>
              </a:rPr>
              <a:t>clusters </a:t>
            </a:r>
            <a:r>
              <a:rPr sz="2200" spc="-3" dirty="0">
                <a:latin typeface="+mj-lt"/>
                <a:cs typeface="Gothic Uralic"/>
              </a:rPr>
              <a:t>are </a:t>
            </a:r>
            <a:r>
              <a:rPr sz="2200" dirty="0">
                <a:latin typeface="+mj-lt"/>
                <a:cs typeface="Gothic Uralic"/>
              </a:rPr>
              <a:t>a </a:t>
            </a:r>
            <a:r>
              <a:rPr sz="2200" spc="-3" dirty="0">
                <a:latin typeface="+mj-lt"/>
                <a:cs typeface="Gothic Uralic"/>
              </a:rPr>
              <a:t>group</a:t>
            </a:r>
            <a:r>
              <a:rPr sz="2200" spc="-96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of  container </a:t>
            </a:r>
            <a:r>
              <a:rPr sz="2200" spc="-3" dirty="0">
                <a:latin typeface="+mj-lt"/>
                <a:cs typeface="Gothic Uralic"/>
              </a:rPr>
              <a:t>instances you</a:t>
            </a:r>
            <a:r>
              <a:rPr sz="2200" spc="-37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manage.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marR="2858" indent="-342900">
              <a:spcBef>
                <a:spcPts val="886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spc="-3" dirty="0">
                <a:latin typeface="+mj-lt"/>
                <a:cs typeface="Gothic Uralic"/>
              </a:rPr>
              <a:t>An </a:t>
            </a:r>
            <a:r>
              <a:rPr sz="2200" dirty="0">
                <a:latin typeface="+mj-lt"/>
                <a:cs typeface="Gothic Uralic"/>
              </a:rPr>
              <a:t>Amazon ECS container </a:t>
            </a:r>
            <a:r>
              <a:rPr sz="2200" spc="-3" dirty="0">
                <a:latin typeface="+mj-lt"/>
                <a:cs typeface="Gothic Uralic"/>
              </a:rPr>
              <a:t>instance is an </a:t>
            </a:r>
            <a:r>
              <a:rPr sz="2200" dirty="0">
                <a:latin typeface="+mj-lt"/>
                <a:cs typeface="Gothic Uralic"/>
              </a:rPr>
              <a:t>Amazon EC2 </a:t>
            </a:r>
            <a:r>
              <a:rPr sz="2200" spc="-3" dirty="0">
                <a:latin typeface="+mj-lt"/>
                <a:cs typeface="Gothic Uralic"/>
              </a:rPr>
              <a:t>instance </a:t>
            </a:r>
            <a:r>
              <a:rPr sz="2200" dirty="0">
                <a:latin typeface="+mj-lt"/>
                <a:cs typeface="Gothic Uralic"/>
              </a:rPr>
              <a:t>that </a:t>
            </a:r>
            <a:r>
              <a:rPr sz="2200" spc="-3" dirty="0">
                <a:latin typeface="+mj-lt"/>
                <a:cs typeface="Gothic Uralic"/>
              </a:rPr>
              <a:t>is  </a:t>
            </a:r>
            <a:r>
              <a:rPr sz="2200" dirty="0">
                <a:latin typeface="+mj-lt"/>
                <a:cs typeface="Gothic Uralic"/>
              </a:rPr>
              <a:t>running </a:t>
            </a:r>
            <a:r>
              <a:rPr sz="2200" spc="3" dirty="0">
                <a:latin typeface="+mj-lt"/>
                <a:cs typeface="Gothic Uralic"/>
              </a:rPr>
              <a:t>the </a:t>
            </a:r>
            <a:r>
              <a:rPr sz="2200" dirty="0">
                <a:latin typeface="+mj-lt"/>
                <a:cs typeface="Gothic Uralic"/>
              </a:rPr>
              <a:t>Amazon ECS container</a:t>
            </a:r>
            <a:r>
              <a:rPr sz="2200" spc="-56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agent</a:t>
            </a:r>
            <a:endParaRPr sz="2200" dirty="0">
              <a:latin typeface="+mj-lt"/>
              <a:cs typeface="Gothic Uralic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sz="2200" dirty="0">
              <a:latin typeface="+mj-lt"/>
              <a:cs typeface="Gothic Uralic"/>
            </a:endParaRPr>
          </a:p>
          <a:p>
            <a:pPr marL="350044" indent="-342900">
              <a:spcBef>
                <a:spcPts val="883"/>
              </a:spcBef>
              <a:buFont typeface="Wingdings" panose="05000000000000000000" pitchFamily="2" charset="2"/>
              <a:buChar char="Ø"/>
              <a:tabLst>
                <a:tab pos="199668" algn="l"/>
              </a:tabLst>
            </a:pPr>
            <a:r>
              <a:rPr sz="2200" dirty="0">
                <a:latin typeface="+mj-lt"/>
                <a:cs typeface="Gothic Uralic"/>
              </a:rPr>
              <a:t>Amazon ECS </a:t>
            </a:r>
            <a:r>
              <a:rPr sz="2200" spc="-3" dirty="0">
                <a:latin typeface="+mj-lt"/>
                <a:cs typeface="Gothic Uralic"/>
              </a:rPr>
              <a:t>downloads your </a:t>
            </a:r>
            <a:r>
              <a:rPr sz="2200" dirty="0">
                <a:latin typeface="+mj-lt"/>
                <a:cs typeface="Gothic Uralic"/>
              </a:rPr>
              <a:t>container </a:t>
            </a:r>
            <a:r>
              <a:rPr sz="2200" spc="-3" dirty="0">
                <a:latin typeface="+mj-lt"/>
                <a:cs typeface="Gothic Uralic"/>
              </a:rPr>
              <a:t>images from </a:t>
            </a:r>
            <a:r>
              <a:rPr sz="2200" dirty="0">
                <a:latin typeface="+mj-lt"/>
                <a:cs typeface="Gothic Uralic"/>
              </a:rPr>
              <a:t>a registry</a:t>
            </a:r>
            <a:r>
              <a:rPr sz="2200" spc="-62" dirty="0">
                <a:latin typeface="+mj-lt"/>
                <a:cs typeface="Gothic Uralic"/>
              </a:rPr>
              <a:t> </a:t>
            </a:r>
            <a:r>
              <a:rPr sz="2200" spc="3" dirty="0">
                <a:latin typeface="+mj-lt"/>
                <a:cs typeface="Gothic Uralic"/>
              </a:rPr>
              <a:t>that</a:t>
            </a:r>
            <a:r>
              <a:rPr lang="en-IN" sz="2200" spc="3" dirty="0">
                <a:latin typeface="+mj-lt"/>
                <a:cs typeface="Gothic Uralic"/>
              </a:rPr>
              <a:t> </a:t>
            </a:r>
            <a:r>
              <a:rPr sz="2200" spc="-3" dirty="0">
                <a:latin typeface="+mj-lt"/>
                <a:cs typeface="Gothic Uralic"/>
              </a:rPr>
              <a:t>you specify, and </a:t>
            </a:r>
            <a:r>
              <a:rPr sz="2200" dirty="0">
                <a:latin typeface="+mj-lt"/>
                <a:cs typeface="Gothic Uralic"/>
              </a:rPr>
              <a:t>runs those </a:t>
            </a:r>
            <a:r>
              <a:rPr sz="2200" spc="-3" dirty="0">
                <a:latin typeface="+mj-lt"/>
                <a:cs typeface="Gothic Uralic"/>
              </a:rPr>
              <a:t>images </a:t>
            </a:r>
            <a:r>
              <a:rPr sz="2200" dirty="0">
                <a:latin typeface="+mj-lt"/>
                <a:cs typeface="Gothic Uralic"/>
              </a:rPr>
              <a:t>within </a:t>
            </a:r>
            <a:r>
              <a:rPr sz="2200" spc="-3" dirty="0">
                <a:latin typeface="+mj-lt"/>
                <a:cs typeface="Gothic Uralic"/>
              </a:rPr>
              <a:t>your</a:t>
            </a:r>
            <a:r>
              <a:rPr sz="2200" spc="-59" dirty="0">
                <a:latin typeface="+mj-lt"/>
                <a:cs typeface="Gothic Uralic"/>
              </a:rPr>
              <a:t> </a:t>
            </a:r>
            <a:r>
              <a:rPr sz="2200" dirty="0">
                <a:latin typeface="+mj-lt"/>
                <a:cs typeface="Gothic Uralic"/>
              </a:rPr>
              <a:t>cluster.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43545" y="871109"/>
            <a:ext cx="60722" cy="2042398"/>
            <a:chOff x="10802746" y="1548638"/>
            <a:chExt cx="107950" cy="3630929"/>
          </a:xfrm>
        </p:grpSpPr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1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64178" y="321183"/>
            <a:ext cx="125016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9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A09663-BFD6-446F-888E-49AB3C57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3825" y="222368"/>
            <a:ext cx="6922199" cy="623127"/>
          </a:xfrm>
          <a:prstGeom prst="rect">
            <a:avLst/>
          </a:prstGeom>
        </p:spPr>
        <p:txBody>
          <a:bodyPr vert="horz" wrap="square" lIns="0" tIns="7501" rIns="0" bIns="0" rtlCol="0" anchor="ctr">
            <a:spAutoFit/>
          </a:bodyPr>
          <a:lstStyle/>
          <a:p>
            <a:pPr marL="7144">
              <a:lnSpc>
                <a:spcPct val="100000"/>
              </a:lnSpc>
              <a:spcBef>
                <a:spcPts val="59"/>
              </a:spcBef>
              <a:tabLst>
                <a:tab pos="1663065" algn="l"/>
              </a:tabLst>
            </a:pPr>
            <a:r>
              <a:rPr sz="4000" spc="-3" dirty="0"/>
              <a:t>Clusters</a:t>
            </a:r>
            <a:r>
              <a:rPr sz="4000" spc="-6" dirty="0"/>
              <a:t> </a:t>
            </a:r>
            <a:r>
              <a:rPr sz="4000" dirty="0"/>
              <a:t>&amp;</a:t>
            </a:r>
            <a:r>
              <a:rPr lang="en-IN" sz="4000" dirty="0"/>
              <a:t> </a:t>
            </a:r>
            <a:r>
              <a:rPr sz="4000" dirty="0"/>
              <a:t>Container</a:t>
            </a:r>
            <a:r>
              <a:rPr sz="4000" spc="-62" dirty="0"/>
              <a:t> </a:t>
            </a:r>
            <a:r>
              <a:rPr sz="400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1775" y="1221367"/>
            <a:ext cx="7067549" cy="4693658"/>
            <a:chOff x="2319527" y="1548638"/>
            <a:chExt cx="8591550" cy="4857115"/>
          </a:xfrm>
        </p:grpSpPr>
        <p:sp>
          <p:nvSpPr>
            <p:cNvPr id="4" name="object 4"/>
            <p:cNvSpPr/>
            <p:nvPr/>
          </p:nvSpPr>
          <p:spPr>
            <a:xfrm>
              <a:off x="2319527" y="1687068"/>
              <a:ext cx="5177028" cy="47183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5" name="object 5"/>
            <p:cNvSpPr/>
            <p:nvPr/>
          </p:nvSpPr>
          <p:spPr>
            <a:xfrm>
              <a:off x="10802746" y="1548638"/>
              <a:ext cx="107928" cy="20721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6" name="object 6"/>
            <p:cNvSpPr/>
            <p:nvPr/>
          </p:nvSpPr>
          <p:spPr>
            <a:xfrm>
              <a:off x="10838942" y="3671254"/>
              <a:ext cx="8890" cy="38100"/>
            </a:xfrm>
            <a:custGeom>
              <a:avLst/>
              <a:gdLst/>
              <a:ahLst/>
              <a:cxnLst/>
              <a:rect l="l" t="t" r="r" b="b"/>
              <a:pathLst>
                <a:path w="8890" h="38100">
                  <a:moveTo>
                    <a:pt x="8352" y="0"/>
                  </a:moveTo>
                  <a:lnTo>
                    <a:pt x="0" y="0"/>
                  </a:lnTo>
                  <a:lnTo>
                    <a:pt x="0" y="37652"/>
                  </a:lnTo>
                  <a:lnTo>
                    <a:pt x="8352" y="37652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  <p:sp>
          <p:nvSpPr>
            <p:cNvPr id="7" name="object 7"/>
            <p:cNvSpPr/>
            <p:nvPr/>
          </p:nvSpPr>
          <p:spPr>
            <a:xfrm>
              <a:off x="10802746" y="3753866"/>
              <a:ext cx="105791" cy="14257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  <a:ln w="3175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01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08457" y="321183"/>
            <a:ext cx="235744" cy="249227"/>
          </a:xfrm>
          <a:prstGeom prst="rect">
            <a:avLst/>
          </a:prstGeom>
        </p:spPr>
        <p:txBody>
          <a:bodyPr vert="horz" wrap="square" lIns="0" tIns="6787" rIns="0" bIns="0" rtlCol="0">
            <a:spAutoFit/>
          </a:bodyPr>
          <a:lstStyle/>
          <a:p>
            <a:pPr marL="7144">
              <a:spcBef>
                <a:spcPts val="53"/>
              </a:spcBef>
            </a:pPr>
            <a:r>
              <a:rPr sz="1575" spc="-6" dirty="0">
                <a:solidFill>
                  <a:srgbClr val="FFFFFF"/>
                </a:solidFill>
                <a:latin typeface="Gothic Uralic"/>
                <a:cs typeface="Gothic Uralic"/>
              </a:rPr>
              <a:t>10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16D074-78BA-4FA0-A5D3-9EAE3761E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99252" y="2896804"/>
            <a:ext cx="380873" cy="1764863"/>
          </a:xfrm>
          <a:prstGeom prst="rect">
            <a:avLst/>
          </a:prstGeom>
        </p:spPr>
        <p:txBody>
          <a:bodyPr vert="vert270" wrap="square" lIns="0" tIns="9287" rIns="0" bIns="0" rtlCol="0">
            <a:spAutoFit/>
          </a:bodyPr>
          <a:lstStyle/>
          <a:p>
            <a:pPr marL="7144">
              <a:spcBef>
                <a:spcPts val="73"/>
              </a:spcBef>
            </a:pPr>
            <a:r>
              <a:rPr sz="2475" spc="-3" dirty="0">
                <a:solidFill>
                  <a:srgbClr val="FFFFFF"/>
                </a:solidFill>
                <a:latin typeface="Gothic Uralic"/>
                <a:cs typeface="Gothic Uralic"/>
              </a:rPr>
              <a:t>THANK</a:t>
            </a:r>
            <a:r>
              <a:rPr sz="2475" spc="-5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2475" dirty="0">
                <a:solidFill>
                  <a:srgbClr val="FFFFFF"/>
                </a:solidFill>
                <a:latin typeface="Gothic Uralic"/>
                <a:cs typeface="Gothic Uralic"/>
              </a:rPr>
              <a:t>YOU</a:t>
            </a:r>
            <a:endParaRPr sz="2475">
              <a:latin typeface="Gothic Uralic"/>
              <a:cs typeface="Gothic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51" y="718947"/>
            <a:ext cx="2066330" cy="10249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7144">
              <a:spcBef>
                <a:spcPts val="56"/>
              </a:spcBef>
            </a:pP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@2018-CHAITANYA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GAAJULA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- 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ALL </a:t>
            </a:r>
            <a:r>
              <a:rPr sz="619" dirty="0">
                <a:solidFill>
                  <a:srgbClr val="FFFFFF"/>
                </a:solidFill>
                <a:latin typeface="Gothic Uralic"/>
                <a:cs typeface="Gothic Uralic"/>
              </a:rPr>
              <a:t>RIGHTS</a:t>
            </a:r>
            <a:r>
              <a:rPr sz="619" spc="-6" dirty="0">
                <a:solidFill>
                  <a:srgbClr val="FFFFFF"/>
                </a:solidFill>
                <a:latin typeface="Gothic Uralic"/>
                <a:cs typeface="Gothic Uralic"/>
              </a:rPr>
              <a:t> </a:t>
            </a:r>
            <a:r>
              <a:rPr sz="619" spc="-3" dirty="0">
                <a:solidFill>
                  <a:srgbClr val="FFFFFF"/>
                </a:solidFill>
                <a:latin typeface="Gothic Uralic"/>
                <a:cs typeface="Gothic Uralic"/>
              </a:rPr>
              <a:t>RESERVED</a:t>
            </a:r>
            <a:endParaRPr sz="619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2730" y="556212"/>
            <a:ext cx="242374" cy="235744"/>
          </a:xfrm>
          <a:prstGeom prst="rect">
            <a:avLst/>
          </a:prstGeom>
        </p:spPr>
        <p:txBody>
          <a:bodyPr vert="vert270" wrap="square" lIns="0" tIns="7858" rIns="0" bIns="0" rtlCol="0">
            <a:spAutoFit/>
          </a:bodyPr>
          <a:lstStyle/>
          <a:p>
            <a:pPr marL="7144">
              <a:spcBef>
                <a:spcPts val="62"/>
              </a:spcBef>
            </a:pPr>
            <a:r>
              <a:rPr sz="1575" spc="-3" dirty="0">
                <a:solidFill>
                  <a:srgbClr val="FFFFFF"/>
                </a:solidFill>
                <a:latin typeface="Gothic Uralic"/>
                <a:cs typeface="Gothic Uralic"/>
              </a:rPr>
              <a:t>14</a:t>
            </a:r>
            <a:endParaRPr sz="1575">
              <a:latin typeface="Gothic Uralic"/>
              <a:cs typeface="Gothic Ural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263D0-E7FB-4F81-8D83-4637292FE0BA}"/>
              </a:ext>
            </a:extLst>
          </p:cNvPr>
          <p:cNvSpPr txBox="1"/>
          <p:nvPr/>
        </p:nvSpPr>
        <p:spPr>
          <a:xfrm>
            <a:off x="2809875" y="2476500"/>
            <a:ext cx="632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b="1" dirty="0">
              <a:latin typeface="+mj-lt"/>
            </a:endParaRPr>
          </a:p>
          <a:p>
            <a:r>
              <a:rPr lang="en-IN" sz="4400" b="1" dirty="0">
                <a:latin typeface="+mj-lt"/>
              </a:rPr>
              <a:t>		THANK YOU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82512-8959-4AC4-A530-712F1C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635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Gothic Uralic</vt:lpstr>
      <vt:lpstr>Verdana</vt:lpstr>
      <vt:lpstr>Wingdings</vt:lpstr>
      <vt:lpstr>Office Theme</vt:lpstr>
      <vt:lpstr>PowerPoint Presentation</vt:lpstr>
      <vt:lpstr>What is ECS (Elastic Container Services)</vt:lpstr>
      <vt:lpstr>Accessing AWS ECS</vt:lpstr>
      <vt:lpstr>     ECS Benefits</vt:lpstr>
      <vt:lpstr>EC2 Launch Type</vt:lpstr>
      <vt:lpstr>Fargate Launch Type</vt:lpstr>
      <vt:lpstr>Containers and Images</vt:lpstr>
      <vt:lpstr>Task Definitions</vt:lpstr>
      <vt:lpstr>Task Definitions The following is an example of a task definition containing a single container that runs an NGINX web server  using the Fargate launch type</vt:lpstr>
      <vt:lpstr>Tasks &amp; Scheduling</vt:lpstr>
      <vt:lpstr>Clusters &amp; Container Agent</vt:lpstr>
      <vt:lpstr>Clusters &amp; Container Agent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ECS (Elastic Container Services)</dc:title>
  <dc:creator>Chaitanya Gaajula</dc:creator>
  <cp:lastModifiedBy>Chaitanya Gaajula</cp:lastModifiedBy>
  <cp:revision>22</cp:revision>
  <dcterms:created xsi:type="dcterms:W3CDTF">2020-05-31T18:08:10Z</dcterms:created>
  <dcterms:modified xsi:type="dcterms:W3CDTF">2026-08-26T15:46:05Z</dcterms:modified>
</cp:coreProperties>
</file>