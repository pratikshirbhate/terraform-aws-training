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517" r:id="rId2"/>
    <p:sldId id="518" r:id="rId3"/>
    <p:sldId id="593" r:id="rId4"/>
    <p:sldId id="594" r:id="rId5"/>
    <p:sldId id="519" r:id="rId6"/>
    <p:sldId id="520" r:id="rId7"/>
    <p:sldId id="584" r:id="rId8"/>
    <p:sldId id="521" r:id="rId9"/>
    <p:sldId id="523" r:id="rId10"/>
    <p:sldId id="522" r:id="rId11"/>
    <p:sldId id="565" r:id="rId12"/>
    <p:sldId id="566" r:id="rId13"/>
    <p:sldId id="567" r:id="rId14"/>
    <p:sldId id="571" r:id="rId15"/>
    <p:sldId id="5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660BB-FEE2-4D08-A946-283D04751A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9CF96-47C7-46A8-9651-F75E430D3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7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🧠 1. AI Model as a Student Learning from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model</a:t>
            </a:r>
            <a:r>
              <a:rPr lang="en-IN" dirty="0"/>
              <a:t> is like a </a:t>
            </a:r>
            <a:r>
              <a:rPr lang="en-IN" b="1" dirty="0"/>
              <a:t>student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studies from </a:t>
            </a:r>
            <a:r>
              <a:rPr lang="en-IN" b="1" dirty="0"/>
              <a:t>examples</a:t>
            </a:r>
            <a:r>
              <a:rPr lang="en-IN" dirty="0"/>
              <a:t> (training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learning, it takes </a:t>
            </a:r>
            <a:r>
              <a:rPr lang="en-IN" b="1" dirty="0"/>
              <a:t>tests</a:t>
            </a:r>
            <a:r>
              <a:rPr lang="en-IN" dirty="0"/>
              <a:t> (new data) and tries to give the </a:t>
            </a:r>
            <a:r>
              <a:rPr lang="en-IN" b="1" dirty="0"/>
              <a:t>right answers</a:t>
            </a:r>
            <a:r>
              <a:rPr lang="en-IN" dirty="0"/>
              <a:t> (predictions).</a:t>
            </a:r>
          </a:p>
          <a:p>
            <a:r>
              <a:rPr lang="en-IN" dirty="0"/>
              <a:t>💡 </a:t>
            </a:r>
            <a:r>
              <a:rPr lang="en-IN" i="1" dirty="0"/>
              <a:t>Just like a student improves with practice, a model improves with more data and training.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D150-CEC0-4293-A1E0-FB5D77CA902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31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27BAB-DCD9-DE4D-80DE-DE009BDA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53BA2-599C-31FF-3166-874D3C928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F7673-2EC4-4BC2-9CB1-9D51B4DB5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🧠 1. AI Model as a Student Learning from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model</a:t>
            </a:r>
            <a:r>
              <a:rPr lang="en-IN" dirty="0"/>
              <a:t> is like a </a:t>
            </a:r>
            <a:r>
              <a:rPr lang="en-IN" b="1" dirty="0"/>
              <a:t>student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studies from </a:t>
            </a:r>
            <a:r>
              <a:rPr lang="en-IN" b="1" dirty="0"/>
              <a:t>examples</a:t>
            </a:r>
            <a:r>
              <a:rPr lang="en-IN" dirty="0"/>
              <a:t> (training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learning, it takes </a:t>
            </a:r>
            <a:r>
              <a:rPr lang="en-IN" b="1" dirty="0"/>
              <a:t>tests</a:t>
            </a:r>
            <a:r>
              <a:rPr lang="en-IN" dirty="0"/>
              <a:t> (new data) and tries to give the </a:t>
            </a:r>
            <a:r>
              <a:rPr lang="en-IN" b="1" dirty="0"/>
              <a:t>right answers</a:t>
            </a:r>
            <a:r>
              <a:rPr lang="en-IN" dirty="0"/>
              <a:t> (predictions).</a:t>
            </a:r>
          </a:p>
          <a:p>
            <a:r>
              <a:rPr lang="en-IN" dirty="0"/>
              <a:t>💡 </a:t>
            </a:r>
            <a:r>
              <a:rPr lang="en-IN" i="1" dirty="0"/>
              <a:t>Just like a student improves with practice, a model improves with more data and training.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8C9B2-981B-5567-5335-92D5A91D9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D150-CEC0-4293-A1E0-FB5D77CA902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900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9119-9AF3-E567-F25C-B5AA6F769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9DF2E-519E-BE16-D131-ABBEDAFBB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D4BE4-3AB2-87D4-4910-B2ED5073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E3CD7-A1AE-4291-F014-C1113EF1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95852-89C7-1448-D743-F7878E1F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69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C567-2E4E-91E5-AFA1-ED363CEF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9CCC1-686A-6D81-8A2C-2C817C594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0A7C8-94C2-5F65-3172-FA12BA03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C364-F93B-6503-478C-0B88D093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9E72-B01A-845B-FBB2-5EA85DB8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719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6DB39-6275-D9B4-F1EA-5BAA434A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98BA7-22CB-AC2E-FC8B-3A57342EE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D8AC3-BE87-FAF5-60D5-37049FF3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E212-9F1E-B464-F4B0-2EFA7B94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2330F-2B93-4958-AB66-FF6296E5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13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82CA-73FF-3026-1A73-E767C983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BF45B-A0FF-B8C8-85CE-1A9F3D7B6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1DA09-CA13-8322-A461-C90D6C512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BA454-60E2-7811-EBA3-E909DB8F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C4470-37D8-B51F-FFED-AC10AF5C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E1F9A-F85B-0B16-D60F-A06FCBDF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20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798B-E618-D38D-2691-2ED37AD8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E69B9-09BA-67DE-9924-46A077FAA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D7063-F6AF-D255-8AF5-5E4388BEB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5C219-2C48-90D5-C0F1-7D17822DB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9A9AB-0E40-F7EF-BA56-59C8F1383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00DB3-B95C-0878-89DF-CAA0C13D2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E255B-76B8-3D65-BFB0-9981FD83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66A6D1-D7D8-BAB2-45CF-50CFE9E3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91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CF12-51DE-587E-572D-609CFCAC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358F6-7D9F-95BA-6B06-94ED26B1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03AB1-07B6-E230-3B3F-38B1DB6B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BF93D-2C22-2D20-351A-2E547343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0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E83159-AFBC-8A6F-D9E1-723A3E19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86228-F9D9-B2C1-F90A-1685CEF8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524D7-48BB-D247-2564-592D7740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591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97B9-1DD2-BE89-F79E-443464F9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2A7BF-E106-EA64-4B6D-0C5B52BF8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A06EC-769C-A143-A577-A0A287EAD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6F279-476E-7AC3-0ADF-4D5B86062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AD060-0954-6AD8-6CD8-0E29DDA9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6C95C-FFE7-1D86-DD34-7DF2FA10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91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335D-7FC5-F032-A513-65FA5FEB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2CD01-F0EF-12F9-B9A6-45841AF2D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DA983-0F93-2032-8D67-6117A8B4E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4082A-90C4-A40F-21D9-004315C71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31043-1A81-2E1D-648F-4E17623D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07D49-041F-41B5-B489-38B75D1D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13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EFD8-30AA-691C-FEF7-4A4166E3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2C44C-DC93-1C1B-1B12-E21163F5C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16E35-AB9C-D19B-D424-D20D3F02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907ED-E332-CC7B-06EC-F9C79C21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F5E9B-BA06-51A9-2A36-91BF8E78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96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91D63-EE82-8363-43E5-0D1480809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B8B5F-F8CB-C0B1-FDBA-D6DA508D7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34919-8DA9-3197-C5E6-C4F785DDA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ECBB5-F64D-BB6D-D94C-45D1A003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E9938-4543-B19E-E022-A3254DEB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19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FF9E3-B57E-2C41-E6B9-D14ADDC1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C6F0D-423D-C23D-CFEB-E54A6D7DA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D550E-9C96-485E-F52D-15DC273CE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AA795-1D9F-4CB8-9A98-994C1DE4B03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81E0A-8520-F0C2-465F-7F91D212D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C263F-DF01-8324-6ABE-E509D03EC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12F4F-ED32-45FA-9147-F344BB151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79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37B46-D2C2-FD46-85A6-6A4B2A4F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EA32EC-52A8-4FA4-91A4-57E7DF84AD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5506C8-26EE-4F8A-8B9D-EAEED837DA5A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Generative AI?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D5259B-F511-4689-AAB1-7452D0AD870E}"/>
              </a:ext>
            </a:extLst>
          </p:cNvPr>
          <p:cNvSpPr txBox="1"/>
          <p:nvPr/>
        </p:nvSpPr>
        <p:spPr>
          <a:xfrm>
            <a:off x="525971" y="2439631"/>
            <a:ext cx="5971351" cy="2642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Generative AI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, a branch of artificial intelligence which is more like a combination of deep learning and machine learning to identity new patterns and generating new content based on models.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endParaRPr lang="en-IN" altLang="en-US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 –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Image Generation, Video synthesis, content generation etc</a:t>
            </a:r>
          </a:p>
        </p:txBody>
      </p:sp>
      <p:sp>
        <p:nvSpPr>
          <p:cNvPr id="21" name="Round Diagonal Corner of Rectangle 9">
            <a:extLst>
              <a:ext uri="{FF2B5EF4-FFF2-40B4-BE49-F238E27FC236}">
                <a16:creationId xmlns:a16="http://schemas.microsoft.com/office/drawing/2014/main" id="{C9698968-C880-4596-8F56-15B367B44B9F}"/>
              </a:ext>
            </a:extLst>
          </p:cNvPr>
          <p:cNvSpPr/>
          <p:nvPr/>
        </p:nvSpPr>
        <p:spPr>
          <a:xfrm>
            <a:off x="6828713" y="1848266"/>
            <a:ext cx="4966055" cy="4050277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4049BDE5-7163-4FBF-8CBD-D9C587B63FDE}"/>
              </a:ext>
            </a:extLst>
          </p:cNvPr>
          <p:cNvSpPr/>
          <p:nvPr/>
        </p:nvSpPr>
        <p:spPr>
          <a:xfrm>
            <a:off x="7199947" y="2181243"/>
            <a:ext cx="4174068" cy="34036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D0FD4F49-A2C1-4097-9D2E-27A96CCCD662}"/>
              </a:ext>
            </a:extLst>
          </p:cNvPr>
          <p:cNvSpPr/>
          <p:nvPr/>
        </p:nvSpPr>
        <p:spPr>
          <a:xfrm>
            <a:off x="7565857" y="2731577"/>
            <a:ext cx="3437467" cy="28511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34C4285D-FF8D-49FC-A201-1448C9E0FA08}"/>
              </a:ext>
            </a:extLst>
          </p:cNvPr>
          <p:cNvSpPr/>
          <p:nvPr/>
        </p:nvSpPr>
        <p:spPr>
          <a:xfrm>
            <a:off x="7811550" y="3281911"/>
            <a:ext cx="2954866" cy="230081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F5F00CFD-CCA3-4588-BEAC-E2D00130F25E}"/>
              </a:ext>
            </a:extLst>
          </p:cNvPr>
          <p:cNvSpPr/>
          <p:nvPr/>
        </p:nvSpPr>
        <p:spPr>
          <a:xfrm>
            <a:off x="8070703" y="3874577"/>
            <a:ext cx="2451098" cy="17081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79C842-8528-4C2D-80E7-3FA71178D644}"/>
              </a:ext>
            </a:extLst>
          </p:cNvPr>
          <p:cNvSpPr txBox="1"/>
          <p:nvPr/>
        </p:nvSpPr>
        <p:spPr>
          <a:xfrm>
            <a:off x="8168780" y="2275517"/>
            <a:ext cx="221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Artificial Intelligence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191BF2-64DA-49B6-88BA-01AB7F06CD5B}"/>
              </a:ext>
            </a:extLst>
          </p:cNvPr>
          <p:cNvSpPr txBox="1"/>
          <p:nvPr/>
        </p:nvSpPr>
        <p:spPr>
          <a:xfrm>
            <a:off x="8305331" y="2806746"/>
            <a:ext cx="194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Machine Learning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EA86B4-0ED7-4DC1-9314-BE3808E5E5A5}"/>
              </a:ext>
            </a:extLst>
          </p:cNvPr>
          <p:cNvSpPr txBox="1"/>
          <p:nvPr/>
        </p:nvSpPr>
        <p:spPr>
          <a:xfrm>
            <a:off x="8474331" y="3391462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Deep learning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3C714E-9661-4EBD-A061-8D134E560660}"/>
              </a:ext>
            </a:extLst>
          </p:cNvPr>
          <p:cNvSpPr txBox="1"/>
          <p:nvPr/>
        </p:nvSpPr>
        <p:spPr>
          <a:xfrm>
            <a:off x="8479838" y="4032812"/>
            <a:ext cx="1583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Generative AI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B2FB38-D132-C54B-0CE1-659DE9A2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6BAA85-527F-8282-2A2A-67D58EB3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843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838E8-0541-A27F-4A7A-7C3684B1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49E82A7-042E-4BA0-9848-287619391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2800" cy="69573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9688B1-6BCE-42BE-BA83-331255D5791F}"/>
              </a:ext>
            </a:extLst>
          </p:cNvPr>
          <p:cNvSpPr txBox="1"/>
          <p:nvPr/>
        </p:nvSpPr>
        <p:spPr>
          <a:xfrm>
            <a:off x="2565401" y="532006"/>
            <a:ext cx="723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solidFill>
                  <a:srgbClr val="FF7D00"/>
                </a:solidFill>
                <a:latin typeface="Fieldwork 06 Geo Bold" pitchFamily="50" charset="0"/>
              </a:defRPr>
            </a:lvl1pPr>
          </a:lstStyle>
          <a:p>
            <a:r>
              <a:rPr lang="en-GB" sz="3200" dirty="0">
                <a:solidFill>
                  <a:schemeClr val="bg1"/>
                </a:solidFill>
                <a:latin typeface="Aptos" panose="020B0004020202020204"/>
              </a:rPr>
              <a:t>Generative AI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37F31C-EF19-4936-BCE5-D2624858C2A3}"/>
              </a:ext>
            </a:extLst>
          </p:cNvPr>
          <p:cNvSpPr/>
          <p:nvPr/>
        </p:nvSpPr>
        <p:spPr>
          <a:xfrm>
            <a:off x="573577" y="1274670"/>
            <a:ext cx="11222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4FABFF"/>
                </a:solidFill>
                <a:latin typeface="Aptos" panose="020B0004020202020204" pitchFamily="34" charset="0"/>
              </a:rPr>
              <a:t>Generative AI </a:t>
            </a:r>
            <a:r>
              <a:rPr lang="en-IN" sz="2400" dirty="0">
                <a:solidFill>
                  <a:schemeClr val="bg1"/>
                </a:solidFill>
                <a:latin typeface="Aptos" panose="020B0004020202020204" pitchFamily="34" charset="0"/>
              </a:rPr>
              <a:t>is type of Artificial Intelligence that can create a wide variety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Aptos" panose="020B0004020202020204" pitchFamily="34" charset="0"/>
              </a:rPr>
              <a:t>of data, images, video, audio, 3D models etc</a:t>
            </a:r>
          </a:p>
        </p:txBody>
      </p:sp>
      <p:sp>
        <p:nvSpPr>
          <p:cNvPr id="20" name="Round Diagonal Corner of Rectangle 9">
            <a:extLst>
              <a:ext uri="{FF2B5EF4-FFF2-40B4-BE49-F238E27FC236}">
                <a16:creationId xmlns:a16="http://schemas.microsoft.com/office/drawing/2014/main" id="{3A848678-E7EB-4BC5-B8C5-914756901134}"/>
              </a:ext>
            </a:extLst>
          </p:cNvPr>
          <p:cNvSpPr/>
          <p:nvPr/>
        </p:nvSpPr>
        <p:spPr>
          <a:xfrm>
            <a:off x="7619386" y="2492747"/>
            <a:ext cx="3920066" cy="3801533"/>
          </a:xfrm>
          <a:prstGeom prst="round2DiagRect">
            <a:avLst>
              <a:gd name="adj1" fmla="val 9005"/>
              <a:gd name="adj2" fmla="val 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6B4377-B7BF-4C25-BA62-878FFDF69F6F}"/>
              </a:ext>
            </a:extLst>
          </p:cNvPr>
          <p:cNvSpPr/>
          <p:nvPr/>
        </p:nvSpPr>
        <p:spPr>
          <a:xfrm>
            <a:off x="907576" y="2897643"/>
            <a:ext cx="1471353" cy="47798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68740-A0BB-4E86-A8EF-5B7CAAC17C95}"/>
              </a:ext>
            </a:extLst>
          </p:cNvPr>
          <p:cNvSpPr txBox="1"/>
          <p:nvPr/>
        </p:nvSpPr>
        <p:spPr>
          <a:xfrm>
            <a:off x="834477" y="2718523"/>
            <a:ext cx="5175004" cy="2713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     Prompt: </a:t>
            </a:r>
          </a:p>
          <a:p>
            <a:pPr>
              <a:lnSpc>
                <a:spcPct val="13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A Pixar-style 3D image of the student sitting at a modern desk in a tech lab, coding on a sleek laptop. Other students are visible working in the background. The environment has tech posters, whiteboards, and soft lighting.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2305595-03BA-4EA7-A01D-82D1E0619EF7}"/>
              </a:ext>
            </a:extLst>
          </p:cNvPr>
          <p:cNvSpPr/>
          <p:nvPr/>
        </p:nvSpPr>
        <p:spPr>
          <a:xfrm>
            <a:off x="6136356" y="3994484"/>
            <a:ext cx="943781" cy="43972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C5877F-7150-D1F2-EBAB-CC2746F1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7FCE7-B962-A1E6-1690-C4FDE47E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2</a:t>
            </a:fld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5302D1B-3D08-7B3F-2793-4E84975BBDE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6452" y="13138"/>
            <a:ext cx="943355" cy="35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3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2B3A28-7CD5-7E95-C040-A3F194A8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B6E61-811E-CF7E-47A7-B5B1A34D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E0CFF-4677-0AA9-B507-BC7BDC40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9733"/>
            <a:ext cx="12192000" cy="51985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9E2E8F-CAEA-A071-25E5-840C3D55C6EE}"/>
              </a:ext>
            </a:extLst>
          </p:cNvPr>
          <p:cNvSpPr txBox="1"/>
          <p:nvPr/>
        </p:nvSpPr>
        <p:spPr>
          <a:xfrm>
            <a:off x="3153747" y="167951"/>
            <a:ext cx="61302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Generative AI?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26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230E7B-3AAB-6F55-AD04-ED95EF1F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AE22AF-888D-CCBF-1DC6-DCE16E79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FBE70-4F57-0C1C-31A3-01CF4ED72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327"/>
            <a:ext cx="12192000" cy="45753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0803E7-012B-B7D9-5A59-FE14952B2037}"/>
              </a:ext>
            </a:extLst>
          </p:cNvPr>
          <p:cNvSpPr txBox="1"/>
          <p:nvPr/>
        </p:nvSpPr>
        <p:spPr>
          <a:xfrm>
            <a:off x="2799184" y="363894"/>
            <a:ext cx="51598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How Generative AI Works?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56429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ECD6-1DDD-AB1E-0BC0-D1E648F2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0B4684-5D61-4882-B61B-346ACB6574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9" name="Round Diagonal Corner of Rectangle 9">
            <a:extLst>
              <a:ext uri="{FF2B5EF4-FFF2-40B4-BE49-F238E27FC236}">
                <a16:creationId xmlns:a16="http://schemas.microsoft.com/office/drawing/2014/main" id="{2CDD9C06-840F-4A09-A620-34724FC351FA}"/>
              </a:ext>
            </a:extLst>
          </p:cNvPr>
          <p:cNvSpPr/>
          <p:nvPr/>
        </p:nvSpPr>
        <p:spPr>
          <a:xfrm>
            <a:off x="1180407" y="1195324"/>
            <a:ext cx="9831184" cy="5288603"/>
          </a:xfrm>
          <a:prstGeom prst="round2DiagRect">
            <a:avLst>
              <a:gd name="adj1" fmla="val 7137"/>
              <a:gd name="adj2" fmla="val 0"/>
            </a:avLst>
          </a:prstGeom>
          <a:solidFill>
            <a:srgbClr val="FAF5F5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2231D-FF72-4BD7-B83A-D71161F3278D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How Generative AI Works?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7A8ABA0-D545-43FD-B9D2-0BAA8FBAEE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" t="12320" r="1876" b="1421"/>
          <a:stretch/>
        </p:blipFill>
        <p:spPr bwMode="auto">
          <a:xfrm>
            <a:off x="1664143" y="1374901"/>
            <a:ext cx="8863713" cy="495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CBBB7C-D390-0444-CC8D-225F9DCF4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F1AEA-1420-2137-9840-9A882B61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67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7381-99AD-3DCD-B245-ED6D3ADE6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3AE32E-0956-4B42-8C9A-F06B2CB109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B6C3DA-78A8-4713-143C-31351750454D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a Model in AI?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3BC76-7660-9D98-C2E7-FD8F8080D43D}"/>
              </a:ext>
            </a:extLst>
          </p:cNvPr>
          <p:cNvSpPr txBox="1"/>
          <p:nvPr/>
        </p:nvSpPr>
        <p:spPr>
          <a:xfrm>
            <a:off x="420944" y="1475040"/>
            <a:ext cx="49989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ts val="3000"/>
              </a:spcBef>
              <a:spcAft>
                <a:spcPts val="300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An AI model is a mathematical system trained on data to recognise patterns and make predictions, classifications, or decisions.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>
                <a:srgbClr val="0084FF"/>
              </a:buClr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🔑 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Key Points: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Learns from data (training process)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Uses input to generate meaningful output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Examples: Spam filter, image classifier, language translator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Core of all machine learning and AI applications</a:t>
            </a:r>
          </a:p>
        </p:txBody>
      </p:sp>
      <p:sp>
        <p:nvSpPr>
          <p:cNvPr id="3" name="Round Diagonal Corner of Rectangle 9">
            <a:extLst>
              <a:ext uri="{FF2B5EF4-FFF2-40B4-BE49-F238E27FC236}">
                <a16:creationId xmlns:a16="http://schemas.microsoft.com/office/drawing/2014/main" id="{B1A8C38D-756F-7C6B-3A70-94AC0560BFC8}"/>
              </a:ext>
            </a:extLst>
          </p:cNvPr>
          <p:cNvSpPr/>
          <p:nvPr/>
        </p:nvSpPr>
        <p:spPr>
          <a:xfrm>
            <a:off x="5714263" y="1694045"/>
            <a:ext cx="6160869" cy="4070758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C21D0-1927-EA07-CD46-D623ED1BE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388" y="2238959"/>
            <a:ext cx="5583349" cy="292499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583ACF-BAEF-BF4D-948C-1D4C0741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C02F8-BED1-AE8F-F1A0-8C977AFA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327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6D271-FC67-8268-1D19-341AE29D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C07BE0-FA00-4167-84EC-5AE1166B1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7D53F1-FA11-1B47-D384-A4C43CAB23E2}"/>
              </a:ext>
            </a:extLst>
          </p:cNvPr>
          <p:cNvSpPr txBox="1"/>
          <p:nvPr/>
        </p:nvSpPr>
        <p:spPr>
          <a:xfrm>
            <a:off x="0" y="610549"/>
            <a:ext cx="12217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a Foundation Model?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FFA7D5-4946-5A14-8277-9AEE443EA3EB}"/>
              </a:ext>
            </a:extLst>
          </p:cNvPr>
          <p:cNvSpPr txBox="1"/>
          <p:nvPr/>
        </p:nvSpPr>
        <p:spPr>
          <a:xfrm>
            <a:off x="435620" y="1473128"/>
            <a:ext cx="5248004" cy="488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ts val="3000"/>
              </a:spcBef>
              <a:spcAft>
                <a:spcPts val="300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 Foundation Model is a large AI model trained on vast and diverse datasets that can be adapted to perform many different tasks — such as text generation, image recognition, translation, and more.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🔑 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Key Points: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Pre-trained on massive, general-purpose data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Can be fine-tuned for specific applications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Examples: GPT, BERT, DALL·E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Powers modern AI tools and assistants</a:t>
            </a:r>
          </a:p>
        </p:txBody>
      </p:sp>
      <p:sp>
        <p:nvSpPr>
          <p:cNvPr id="3" name="Round Diagonal Corner of Rectangle 9">
            <a:extLst>
              <a:ext uri="{FF2B5EF4-FFF2-40B4-BE49-F238E27FC236}">
                <a16:creationId xmlns:a16="http://schemas.microsoft.com/office/drawing/2014/main" id="{0655C873-905D-A989-6C40-D062FBF1C38F}"/>
              </a:ext>
            </a:extLst>
          </p:cNvPr>
          <p:cNvSpPr/>
          <p:nvPr/>
        </p:nvSpPr>
        <p:spPr>
          <a:xfrm>
            <a:off x="5975269" y="2018891"/>
            <a:ext cx="5996113" cy="3584051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25DA0-B747-0557-613B-F0781DD92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390" y="2323570"/>
            <a:ext cx="5440373" cy="300146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CAEFD0-003D-A2D9-6FF4-36F919BE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9472D-ABD6-652B-607C-7A7E262C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4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DB47-7494-94D7-EFB3-3C68CCF0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2103FD-7E4F-4501-A32D-307C65BF6E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1" name="Round Diagonal Corner of Rectangle 9">
            <a:extLst>
              <a:ext uri="{FF2B5EF4-FFF2-40B4-BE49-F238E27FC236}">
                <a16:creationId xmlns:a16="http://schemas.microsoft.com/office/drawing/2014/main" id="{CFB7E46D-77AF-43F5-8E9F-A3F7630852C7}"/>
              </a:ext>
            </a:extLst>
          </p:cNvPr>
          <p:cNvSpPr/>
          <p:nvPr/>
        </p:nvSpPr>
        <p:spPr>
          <a:xfrm>
            <a:off x="8224988" y="1350687"/>
            <a:ext cx="3435921" cy="5132521"/>
          </a:xfrm>
          <a:prstGeom prst="round2DiagRect">
            <a:avLst>
              <a:gd name="adj1" fmla="val 7137"/>
              <a:gd name="adj2" fmla="val 0"/>
            </a:avLst>
          </a:prstGeom>
          <a:solidFill>
            <a:srgbClr val="C6DCE9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6008CA-CE82-4716-8411-8274DF43A0FA}"/>
              </a:ext>
            </a:extLst>
          </p:cNvPr>
          <p:cNvSpPr txBox="1"/>
          <p:nvPr/>
        </p:nvSpPr>
        <p:spPr>
          <a:xfrm>
            <a:off x="1355511" y="605774"/>
            <a:ext cx="9480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Uses of </a:t>
            </a:r>
            <a:r>
              <a:rPr lang="en-IN" sz="3200" b="1" dirty="0">
                <a:solidFill>
                  <a:srgbClr val="0A7CFB"/>
                </a:solidFill>
                <a:latin typeface="Aptos" panose="020B0004020202020204" pitchFamily="34" charset="0"/>
              </a:rPr>
              <a:t>Generative </a:t>
            </a:r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AI in Workplace Automation</a:t>
            </a:r>
          </a:p>
        </p:txBody>
      </p:sp>
      <p:sp>
        <p:nvSpPr>
          <p:cNvPr id="15" name="Round Diagonal Corner of Rectangle 9">
            <a:extLst>
              <a:ext uri="{FF2B5EF4-FFF2-40B4-BE49-F238E27FC236}">
                <a16:creationId xmlns:a16="http://schemas.microsoft.com/office/drawing/2014/main" id="{65A039F1-3A85-4DBA-AA34-66881012BC6D}"/>
              </a:ext>
            </a:extLst>
          </p:cNvPr>
          <p:cNvSpPr/>
          <p:nvPr/>
        </p:nvSpPr>
        <p:spPr>
          <a:xfrm>
            <a:off x="489373" y="1432600"/>
            <a:ext cx="7500081" cy="4944550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 shot of a robot&#10;&#10;AI-generated content may be incorrect.">
            <a:extLst>
              <a:ext uri="{FF2B5EF4-FFF2-40B4-BE49-F238E27FC236}">
                <a16:creationId xmlns:a16="http://schemas.microsoft.com/office/drawing/2014/main" id="{32F92D73-C5A1-4561-BE56-06DFB9ED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181" y="1432599"/>
            <a:ext cx="3296367" cy="49445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345600-05C7-4C24-ABA9-EBF0E5BD0BBB}"/>
              </a:ext>
            </a:extLst>
          </p:cNvPr>
          <p:cNvSpPr txBox="1"/>
          <p:nvPr/>
        </p:nvSpPr>
        <p:spPr>
          <a:xfrm>
            <a:off x="800415" y="1781215"/>
            <a:ext cx="703848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Content creation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auto-generate emails, reports, blogs.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Customer support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AI chatbots for instant responses.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Data analysis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summarise and interpret large datasets.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Code generation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assist in writing and debugging code.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Meeting productivity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transcribe, summarise, and action items.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Design assistance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generate graphics, layouts, and prototypes.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Process automation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streamline repetitive tasks and workflows.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Training and onboarding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create interactive learning content.</a:t>
            </a:r>
            <a:endParaRPr kumimoji="0" lang="en-IN" altLang="en-US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D07503-A743-E8FE-7B06-F09B926E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94C8E2-DEFB-074A-7545-8B6C5E1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9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0C8F-B1E9-F043-8A91-3AFB8C69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AB189AC-B696-482F-ABB4-459FCF364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254753" cy="69046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34350C-1556-4400-9605-C601AAB3B65A}"/>
              </a:ext>
            </a:extLst>
          </p:cNvPr>
          <p:cNvSpPr txBox="1"/>
          <p:nvPr/>
        </p:nvSpPr>
        <p:spPr>
          <a:xfrm>
            <a:off x="2587650" y="532006"/>
            <a:ext cx="719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solidFill>
                  <a:srgbClr val="FF7D00"/>
                </a:solidFill>
                <a:latin typeface="Fieldwork 06 Geo Bold" pitchFamily="50" charset="0"/>
              </a:defRPr>
            </a:lvl1pPr>
          </a:lstStyle>
          <a:p>
            <a:r>
              <a:rPr lang="en-GB" sz="3200" dirty="0">
                <a:solidFill>
                  <a:schemeClr val="bg1"/>
                </a:solidFill>
                <a:latin typeface="Aptos" panose="020B0004020202020204"/>
              </a:rPr>
              <a:t>Generative AI Tools</a:t>
            </a:r>
          </a:p>
        </p:txBody>
      </p:sp>
      <p:pic>
        <p:nvPicPr>
          <p:cNvPr id="16" name="Picture 15" descr="A circular chart with different logos&#10;&#10;AI-generated content may be incorrect.">
            <a:extLst>
              <a:ext uri="{FF2B5EF4-FFF2-40B4-BE49-F238E27FC236}">
                <a16:creationId xmlns:a16="http://schemas.microsoft.com/office/drawing/2014/main" id="{9483AC3E-70F8-4188-BDAC-6AAEE442E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76" y="1220712"/>
            <a:ext cx="5445883" cy="546999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D0428-0AAE-1053-9D0D-6A9C6CE0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39F6B-5725-4A40-250F-95CE55CB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9</a:t>
            </a:fld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98D132D-9B17-37C3-4043-0E61A58D24E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6452" y="3807"/>
            <a:ext cx="943355" cy="35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7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CE0E-47BC-CBD5-21EB-EDFFDDD3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AABD529-689C-4AAF-A020-EAF62A7F36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B1D98-6EA8-4B43-9757-82DD27FC0627}"/>
              </a:ext>
            </a:extLst>
          </p:cNvPr>
          <p:cNvSpPr txBox="1"/>
          <p:nvPr/>
        </p:nvSpPr>
        <p:spPr>
          <a:xfrm>
            <a:off x="1355511" y="605774"/>
            <a:ext cx="9480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Generative AI Tools</a:t>
            </a:r>
          </a:p>
        </p:txBody>
      </p:sp>
      <p:sp>
        <p:nvSpPr>
          <p:cNvPr id="12" name="Round Diagonal Corner of Rectangle 9">
            <a:extLst>
              <a:ext uri="{FF2B5EF4-FFF2-40B4-BE49-F238E27FC236}">
                <a16:creationId xmlns:a16="http://schemas.microsoft.com/office/drawing/2014/main" id="{7420DC14-55ED-4BD4-8671-DFC5817286CB}"/>
              </a:ext>
            </a:extLst>
          </p:cNvPr>
          <p:cNvSpPr/>
          <p:nvPr/>
        </p:nvSpPr>
        <p:spPr>
          <a:xfrm>
            <a:off x="965200" y="1669804"/>
            <a:ext cx="10246618" cy="4085539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62163-55E8-4656-BA81-D80F3C7E3001}"/>
              </a:ext>
            </a:extLst>
          </p:cNvPr>
          <p:cNvSpPr txBox="1"/>
          <p:nvPr/>
        </p:nvSpPr>
        <p:spPr>
          <a:xfrm>
            <a:off x="1427643" y="1955517"/>
            <a:ext cx="9628284" cy="33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Text-based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Generates written content (e.g., Copilot,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ChatGPT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Image-based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Creates visuals and artwork (e.g., DALL·E, Midjourney)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Audio-based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Produces speech, music, and sound (e.g.,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ElevenLabs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Soundraw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Video-based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Generates video content (e.g.,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Synthesia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Pictory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Code-based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Assists with programming tasks (e.g., GitHub Copilot,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CodeWhisperer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Multimodal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Combines text, image, and voice (e.g., Gemini, GPT-4 with vision)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E76A44-DF28-B4A0-6527-9F55F646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258A52-74CF-18FD-452D-82A2EA1B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304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7D14-0FB3-B84F-5AB1-E6883A68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2F5837-0515-491D-B3E2-54D5C2BFFA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4947A6-635B-2A7A-97D0-2374E4E0011D}"/>
              </a:ext>
            </a:extLst>
          </p:cNvPr>
          <p:cNvSpPr txBox="1"/>
          <p:nvPr/>
        </p:nvSpPr>
        <p:spPr>
          <a:xfrm>
            <a:off x="0" y="100040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Interactive Activity: “AI Around You” – Brainstorm and Quiz</a:t>
            </a:r>
          </a:p>
        </p:txBody>
      </p:sp>
      <p:sp>
        <p:nvSpPr>
          <p:cNvPr id="13" name="Round Diagonal Corner of Rectangle 9">
            <a:extLst>
              <a:ext uri="{FF2B5EF4-FFF2-40B4-BE49-F238E27FC236}">
                <a16:creationId xmlns:a16="http://schemas.microsoft.com/office/drawing/2014/main" id="{7051D2AD-3179-00EC-B726-27A59BEFD7EB}"/>
              </a:ext>
            </a:extLst>
          </p:cNvPr>
          <p:cNvSpPr/>
          <p:nvPr/>
        </p:nvSpPr>
        <p:spPr>
          <a:xfrm>
            <a:off x="2073147" y="2021854"/>
            <a:ext cx="8096373" cy="3923768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2CFD2-068A-7666-B547-66A1E17D7AE7}"/>
              </a:ext>
            </a:extLst>
          </p:cNvPr>
          <p:cNvSpPr txBox="1"/>
          <p:nvPr/>
        </p:nvSpPr>
        <p:spPr>
          <a:xfrm>
            <a:off x="3503378" y="2587783"/>
            <a:ext cx="5667516" cy="2471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   Duration:</a:t>
            </a:r>
          </a:p>
          <a:p>
            <a:pPr marL="800100" lvl="1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5 minutes total</a:t>
            </a:r>
          </a:p>
          <a:p>
            <a:pPr lvl="2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-  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3 minutes brainstorming </a:t>
            </a:r>
            <a:endParaRPr kumimoji="0" lang="en-IN" altLang="en-US" sz="200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lvl="2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-  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2 minutes quick answers</a:t>
            </a:r>
            <a:endParaRPr kumimoji="0" lang="en-IN" altLang="en-US" sz="20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C539910-C07C-475D-9549-52B370876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8326" y="3925150"/>
            <a:ext cx="439575" cy="43957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7958781-0596-4BCF-BFE7-10CA52B0DF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7975" y="2840778"/>
            <a:ext cx="350657" cy="35065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74779-E37A-2A36-506E-75DEBE70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453D6-3320-637C-A418-13E1DF6F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572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81011-A946-A8F8-5DFA-8C31257A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E4754-1376-4C5A-BE8F-865021EDDE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BC5875-6BFA-20C1-1809-D24E5C16DE30}"/>
              </a:ext>
            </a:extLst>
          </p:cNvPr>
          <p:cNvSpPr txBox="1"/>
          <p:nvPr/>
        </p:nvSpPr>
        <p:spPr>
          <a:xfrm>
            <a:off x="0" y="100516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Interactive Activity: “AI Around You” – Brainstorm and Quiz</a:t>
            </a:r>
          </a:p>
        </p:txBody>
      </p:sp>
      <p:sp>
        <p:nvSpPr>
          <p:cNvPr id="13" name="Round Diagonal Corner of Rectangle 9">
            <a:extLst>
              <a:ext uri="{FF2B5EF4-FFF2-40B4-BE49-F238E27FC236}">
                <a16:creationId xmlns:a16="http://schemas.microsoft.com/office/drawing/2014/main" id="{4651C047-0CE1-E577-98B3-62B23DF49D66}"/>
              </a:ext>
            </a:extLst>
          </p:cNvPr>
          <p:cNvSpPr/>
          <p:nvPr/>
        </p:nvSpPr>
        <p:spPr>
          <a:xfrm>
            <a:off x="1038002" y="1921165"/>
            <a:ext cx="10115993" cy="3484554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4CB115-D1CE-F5C4-E039-6D35A08F6B41}"/>
              </a:ext>
            </a:extLst>
          </p:cNvPr>
          <p:cNvSpPr txBox="1"/>
          <p:nvPr/>
        </p:nvSpPr>
        <p:spPr>
          <a:xfrm>
            <a:off x="1482531" y="2141387"/>
            <a:ext cx="9798486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lang="en-IN" dirty="0">
                <a:latin typeface="Aptos" panose="020B0004020202020204" pitchFamily="34" charset="0"/>
              </a:rPr>
              <a:t>Each group or induvial must come up with </a:t>
            </a:r>
            <a:r>
              <a:rPr lang="en-IN" b="1" dirty="0">
                <a:latin typeface="Aptos" panose="020B0004020202020204" pitchFamily="34" charset="0"/>
              </a:rPr>
              <a:t>one real-life example</a:t>
            </a:r>
            <a:r>
              <a:rPr lang="en-IN" dirty="0">
                <a:latin typeface="Aptos" panose="020B0004020202020204" pitchFamily="34" charset="0"/>
              </a:rPr>
              <a:t> for each category.</a:t>
            </a:r>
          </a:p>
          <a:p>
            <a:pPr marL="457200" lvl="0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Artificial Intelligence</a:t>
            </a:r>
          </a:p>
          <a:p>
            <a:pPr marL="457200" lvl="0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Machine Learning</a:t>
            </a:r>
          </a:p>
          <a:p>
            <a:pPr marL="457200" lvl="0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Deep Learning</a:t>
            </a:r>
          </a:p>
          <a:p>
            <a:pPr marL="457200" lvl="0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Generative AI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C6A92BA-E285-45E7-9624-9F462C538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0607" y="5849512"/>
            <a:ext cx="439575" cy="4395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B3EBE1-0AF7-4D32-83F4-E98B5E9D1BC4}"/>
              </a:ext>
            </a:extLst>
          </p:cNvPr>
          <p:cNvSpPr txBox="1"/>
          <p:nvPr/>
        </p:nvSpPr>
        <p:spPr>
          <a:xfrm>
            <a:off x="4259903" y="5667378"/>
            <a:ext cx="2806693" cy="62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lang="en-IN" sz="2000" b="1" dirty="0"/>
              <a:t>3 minutes brainstorming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68D5A-D710-AE7D-278E-5DB603B8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056AF-10AB-DDCC-BFA9-C025DEE2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047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43ED7-A158-D933-068A-DFE0A840B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BF9DD46-9EDB-4551-BA47-CCDD8CE879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BC62A2-F43B-EA81-10C7-67DBD617C111}"/>
              </a:ext>
            </a:extLst>
          </p:cNvPr>
          <p:cNvSpPr txBox="1"/>
          <p:nvPr/>
        </p:nvSpPr>
        <p:spPr>
          <a:xfrm>
            <a:off x="0" y="100516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Interactive Activity: “AI Around You” – Brainstorm and Quiz</a:t>
            </a:r>
          </a:p>
        </p:txBody>
      </p:sp>
      <p:sp>
        <p:nvSpPr>
          <p:cNvPr id="13" name="Round Diagonal Corner of Rectangle 9">
            <a:extLst>
              <a:ext uri="{FF2B5EF4-FFF2-40B4-BE49-F238E27FC236}">
                <a16:creationId xmlns:a16="http://schemas.microsoft.com/office/drawing/2014/main" id="{8CFAB076-0443-1C7B-94F3-D157A14D30B8}"/>
              </a:ext>
            </a:extLst>
          </p:cNvPr>
          <p:cNvSpPr/>
          <p:nvPr/>
        </p:nvSpPr>
        <p:spPr>
          <a:xfrm>
            <a:off x="1038003" y="2022742"/>
            <a:ext cx="10115993" cy="3830093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42A256-EF96-32D6-C9AB-DCCC70A1946A}"/>
              </a:ext>
            </a:extLst>
          </p:cNvPr>
          <p:cNvSpPr txBox="1"/>
          <p:nvPr/>
        </p:nvSpPr>
        <p:spPr>
          <a:xfrm>
            <a:off x="1196756" y="3528516"/>
            <a:ext cx="9798486" cy="62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lang="en-IN" sz="2000" b="1" dirty="0">
                <a:solidFill>
                  <a:srgbClr val="002060"/>
                </a:solidFill>
                <a:latin typeface="Aptos" panose="020B0004020202020204" pitchFamily="34" charset="0"/>
              </a:rPr>
              <a:t>Answers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5FBBF-551E-97EA-BD33-21A5F2468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69B23-BFF2-E61D-5471-547345CC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57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30C3-A397-48EB-C96B-371DC52F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77A369B-79D3-4AC7-AACA-DCA4044D6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3081" cy="68635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E2AF3DF-8D5C-362C-3C12-313E1B264327}"/>
              </a:ext>
            </a:extLst>
          </p:cNvPr>
          <p:cNvSpPr txBox="1"/>
          <p:nvPr/>
        </p:nvSpPr>
        <p:spPr>
          <a:xfrm>
            <a:off x="0" y="3105834"/>
            <a:ext cx="12369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solidFill>
                  <a:srgbClr val="FF7D00"/>
                </a:solidFill>
                <a:latin typeface="Fieldwork 06 Geo Bold" pitchFamily="50" charset="0"/>
              </a:defRPr>
            </a:lvl1pPr>
          </a:lstStyle>
          <a:p>
            <a:r>
              <a:rPr lang="it-IT" sz="3600" dirty="0">
                <a:solidFill>
                  <a:schemeClr val="bg1"/>
                </a:solidFill>
                <a:latin typeface="Aptos" panose="020B0004020202020204"/>
              </a:rPr>
              <a:t>Recap and Conclusion</a:t>
            </a:r>
            <a:endParaRPr lang="en-GB" sz="3600" dirty="0">
              <a:solidFill>
                <a:schemeClr val="bg1"/>
              </a:solidFill>
              <a:latin typeface="Aptos" panose="020B0004020202020204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65647A-5D0B-BDB8-3C2C-88E3B8C7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1224A6-B866-FAD3-4244-37D2DFE9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760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6A37C-18A6-F12C-F5E0-582E9E04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10866B-3918-4DBC-BA21-8BDAB45287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2DB294-CD4C-70AD-472F-321B19507C90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84FF"/>
                </a:solidFill>
                <a:latin typeface="Aptos" panose="020B0004020202020204" pitchFamily="34" charset="0"/>
              </a:rPr>
              <a:t>Recap</a:t>
            </a:r>
            <a:endParaRPr lang="en-IN" sz="3200" b="1" dirty="0">
              <a:solidFill>
                <a:srgbClr val="0084FF"/>
              </a:solidFill>
              <a:latin typeface="Aptos" panose="020B00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05A513-DF20-EEF1-50FD-09FAC554B17D}"/>
              </a:ext>
            </a:extLst>
          </p:cNvPr>
          <p:cNvSpPr/>
          <p:nvPr/>
        </p:nvSpPr>
        <p:spPr>
          <a:xfrm>
            <a:off x="6725690" y="2928663"/>
            <a:ext cx="4647155" cy="1063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0084FF"/>
              </a:buClr>
              <a:buFont typeface="Wingdings" panose="05000000000000000000" pitchFamily="2" charset="2"/>
              <a:buChar char="ü"/>
            </a:pPr>
            <a:endParaRPr lang="en-GB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lnSpc>
                <a:spcPct val="130000"/>
              </a:lnSpc>
              <a:buClr>
                <a:srgbClr val="0084FF"/>
              </a:buClr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rgbClr val="002060"/>
                </a:solidFill>
                <a:latin typeface="Aptos" panose="020B0004020202020204" pitchFamily="34" charset="0"/>
              </a:rPr>
              <a:t>Basics of AI, Machine Learning, and Generative 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D7EE1B-BC6C-43BF-837D-9A8FE58CC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97" y="1699583"/>
            <a:ext cx="5729391" cy="421248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CB6EB6-A82A-B7A4-F55C-E2AC95B14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FB505-359B-458B-B335-48FABA70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346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770</Words>
  <Application>Microsoft Office PowerPoint</Application>
  <PresentationFormat>Widescreen</PresentationFormat>
  <Paragraphs>121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Gaajula</dc:creator>
  <cp:lastModifiedBy>Chaitanya Gaajula</cp:lastModifiedBy>
  <cp:revision>3</cp:revision>
  <dcterms:created xsi:type="dcterms:W3CDTF">2026-04-18T11:08:15Z</dcterms:created>
  <dcterms:modified xsi:type="dcterms:W3CDTF">2026-04-24T06:10:41Z</dcterms:modified>
</cp:coreProperties>
</file>