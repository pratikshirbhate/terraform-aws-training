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324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310" r:id="rId32"/>
  </p:sldIdLst>
  <p:sldSz cx="15544800" cy="8763000"/>
  <p:notesSz cx="6858000" cy="9144000"/>
  <p:embeddedFontLst>
    <p:embeddedFont>
      <p:font typeface="IBM Plex Sans Bold" panose="020B0604020202020204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Open Sans Italics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4mGK+FV2H4PUMeAMfRLZjA==" hashData="J7DaHW5XwBmYBS0RaDUPBfC7tSzA/8WiAaAL0zYssa5TjWgjK4cJe6UzY691dqRk7VERlSqeJsRNnIGqJteX4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ABBF4-3B14-437F-844C-D15FCA0F8B0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2150" y="1143000"/>
            <a:ext cx="5473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A118E-B774-4C40-868E-F596CC835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3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A118E-B774-4C40-868E-F596CC8350B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074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99306" y="1871081"/>
            <a:ext cx="7322953" cy="261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2"/>
              </a:lnSpc>
            </a:pPr>
            <a:r>
              <a:rPr lang="en-US" sz="6447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Multi-Agent Design</a:t>
            </a:r>
          </a:p>
          <a:p>
            <a:pPr algn="ctr">
              <a:lnSpc>
                <a:spcPts val="11282"/>
              </a:lnSpc>
            </a:pPr>
            <a:r>
              <a:rPr lang="en-US" sz="6447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Patterns</a:t>
            </a:r>
          </a:p>
          <a:p>
            <a:pPr algn="ctr">
              <a:lnSpc>
                <a:spcPts val="394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5934" y="6230150"/>
            <a:ext cx="97555" cy="44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7527" y="6688293"/>
            <a:ext cx="495446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Senior AI Cloud Advocate, Microsoft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7527" y="6230150"/>
            <a:ext cx="3355810" cy="44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Korey Stegared-Pace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968933" y="8182585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1290" y="225028"/>
            <a:ext cx="139867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spc="4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Customer Support in the Real World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1290" y="1143924"/>
            <a:ext cx="97212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283" y="1153449"/>
            <a:ext cx="4074071" cy="44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Typesof customer tickets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9755" y="1819866"/>
            <a:ext cx="12018045" cy="2586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157"/>
              </a:lnSpc>
              <a:buFont typeface="Arial" panose="020B0604020202020204" pitchFamily="34" charset="0"/>
              <a:buChar char="•"/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Billing disputes requiring financial knowledge</a:t>
            </a:r>
          </a:p>
          <a:p>
            <a:pPr marL="457200" indent="-457200" algn="l">
              <a:lnSpc>
                <a:spcPts val="5157"/>
              </a:lnSpc>
              <a:buFont typeface="Arial" panose="020B0604020202020204" pitchFamily="34" charset="0"/>
              <a:buChar char="•"/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Technical issues needing engineering support</a:t>
            </a:r>
          </a:p>
          <a:p>
            <a:pPr marL="457200" indent="-457200" algn="l">
              <a:lnSpc>
                <a:spcPts val="5157"/>
              </a:lnSpc>
              <a:buFont typeface="Arial" panose="020B0604020202020204" pitchFamily="34" charset="0"/>
              <a:buChar char="•"/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Legal compliance questions demanding regulatory knowledge </a:t>
            </a:r>
          </a:p>
          <a:p>
            <a:pPr marL="457200" indent="-457200" algn="l">
              <a:lnSpc>
                <a:spcPts val="5157"/>
              </a:lnSpc>
              <a:buFont typeface="Arial" panose="020B0604020202020204" pitchFamily="34" charset="0"/>
              <a:buChar char="•"/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Product recommendations calling for sales acumen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3763" y="7134863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487" y="7159066"/>
            <a:ext cx="14309332" cy="382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OpenAI, A Practical Guide to Building Agents, https://cdn.openai.com/business-guides-and-resources/a-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763" y="7486593"/>
            <a:ext cx="523157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practical-guide-to-building-agents.pdf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68933" y="8182585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1290" y="-241697"/>
            <a:ext cx="12235253" cy="265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82"/>
              </a:lnSpc>
            </a:pPr>
            <a:r>
              <a:rPr lang="en-US" sz="4513" b="1" spc="4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Problem with Single Agents</a:t>
            </a:r>
          </a:p>
          <a:p>
            <a:pPr algn="l">
              <a:lnSpc>
                <a:spcPts val="6447"/>
              </a:lnSpc>
            </a:pPr>
            <a:r>
              <a:rPr lang="en-US" sz="257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Increasingly complex logic</a:t>
            </a:r>
          </a:p>
          <a:p>
            <a:pPr algn="l">
              <a:lnSpc>
                <a:spcPts val="6447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Models using prompts with a high amount of if-else scenarios and edge-cases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1290" y="3343199"/>
            <a:ext cx="11678679" cy="152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7"/>
              </a:lnSpc>
            </a:pPr>
            <a:r>
              <a:rPr lang="en-US" sz="257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Tool overload</a:t>
            </a:r>
          </a:p>
          <a:p>
            <a:pPr algn="l">
              <a:lnSpc>
                <a:spcPts val="6447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Agentic systems where a single model needs to call a wide variety of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852"/>
            <a:chOff x="0" y="0"/>
            <a:chExt cx="15684500" cy="887685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792"/>
            </a:xfrm>
            <a:custGeom>
              <a:avLst/>
              <a:gdLst/>
              <a:ahLst/>
              <a:cxnLst/>
              <a:rect l="l" t="t" r="r" b="b"/>
              <a:pathLst>
                <a:path w="15556995" h="8749792">
                  <a:moveTo>
                    <a:pt x="0" y="0"/>
                  </a:moveTo>
                  <a:lnTo>
                    <a:pt x="0" y="8749792"/>
                  </a:lnTo>
                  <a:lnTo>
                    <a:pt x="15556995" y="874979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792"/>
            </a:xfrm>
            <a:custGeom>
              <a:avLst/>
              <a:gdLst/>
              <a:ahLst/>
              <a:cxnLst/>
              <a:rect l="l" t="t" r="r" b="b"/>
              <a:pathLst>
                <a:path w="15556995" h="8749792">
                  <a:moveTo>
                    <a:pt x="0" y="0"/>
                  </a:moveTo>
                  <a:lnTo>
                    <a:pt x="0" y="8749792"/>
                  </a:lnTo>
                  <a:lnTo>
                    <a:pt x="15556995" y="874979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8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8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166765"/>
            <a:ext cx="7123700" cy="4749127"/>
            <a:chOff x="0" y="0"/>
            <a:chExt cx="9498266" cy="63321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6332220"/>
            </a:xfrm>
            <a:custGeom>
              <a:avLst/>
              <a:gdLst/>
              <a:ahLst/>
              <a:cxnLst/>
              <a:rect l="l" t="t" r="r" b="b"/>
              <a:pathLst>
                <a:path w="9498203" h="6332220">
                  <a:moveTo>
                    <a:pt x="0" y="0"/>
                  </a:moveTo>
                  <a:lnTo>
                    <a:pt x="9498203" y="0"/>
                  </a:lnTo>
                  <a:lnTo>
                    <a:pt x="9498203" y="6332220"/>
                  </a:lnTo>
                  <a:lnTo>
                    <a:pt x="0" y="6332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3763" y="7134863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1487" y="7159066"/>
            <a:ext cx="1442228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OpenAI, A Practical Guide to Building Agents, https://cdn.openai.com/business-guides-and-resources/a-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763" y="7486593"/>
            <a:ext cx="523157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practical-guide-to-building-agents.pdf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68933" y="8182585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290" y="225028"/>
            <a:ext cx="80431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spc="4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Multi-Agent Systems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2516" y="1134399"/>
            <a:ext cx="7188013" cy="439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257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Single Agent Systems</a:t>
            </a:r>
          </a:p>
          <a:p>
            <a:pPr algn="l" rtl="1">
              <a:lnSpc>
                <a:spcPts val="3868"/>
              </a:lnSpc>
            </a:pPr>
            <a:endParaRPr lang="en-US" sz="257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 algn="l">
              <a:lnSpc>
                <a:spcPts val="3868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 single model equipped with appropriate tools and instructions executes workflows in a loop</a:t>
            </a:r>
          </a:p>
          <a:p>
            <a:pPr algn="l" rtl="1">
              <a:lnSpc>
                <a:spcPts val="3868"/>
              </a:lnSpc>
            </a:pPr>
            <a:endParaRPr lang="en-US" sz="2578" spc="7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68"/>
              </a:lnSpc>
            </a:pPr>
            <a:r>
              <a:rPr lang="en-US" sz="257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Multi-Agent Systems</a:t>
            </a:r>
          </a:p>
          <a:p>
            <a:pPr algn="l" rtl="1">
              <a:lnSpc>
                <a:spcPts val="3868"/>
              </a:lnSpc>
            </a:pPr>
            <a:endParaRPr lang="en-US" sz="257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 algn="l">
              <a:lnSpc>
                <a:spcPts val="3868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Execute workflows across multiple coordinated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852"/>
            <a:chOff x="0" y="0"/>
            <a:chExt cx="15684500" cy="887685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792"/>
            </a:xfrm>
            <a:custGeom>
              <a:avLst/>
              <a:gdLst/>
              <a:ahLst/>
              <a:cxnLst/>
              <a:rect l="l" t="t" r="r" b="b"/>
              <a:pathLst>
                <a:path w="15556995" h="8749792">
                  <a:moveTo>
                    <a:pt x="0" y="0"/>
                  </a:moveTo>
                  <a:lnTo>
                    <a:pt x="0" y="8749792"/>
                  </a:lnTo>
                  <a:lnTo>
                    <a:pt x="15556995" y="874979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792"/>
            </a:xfrm>
            <a:custGeom>
              <a:avLst/>
              <a:gdLst/>
              <a:ahLst/>
              <a:cxnLst/>
              <a:rect l="l" t="t" r="r" b="b"/>
              <a:pathLst>
                <a:path w="15556995" h="8749792">
                  <a:moveTo>
                    <a:pt x="0" y="0"/>
                  </a:moveTo>
                  <a:lnTo>
                    <a:pt x="0" y="8749792"/>
                  </a:lnTo>
                  <a:lnTo>
                    <a:pt x="15556995" y="874979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8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8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985582"/>
            <a:ext cx="14574917" cy="2824915"/>
            <a:chOff x="0" y="0"/>
            <a:chExt cx="19433222" cy="37665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3766566"/>
            </a:xfrm>
            <a:custGeom>
              <a:avLst/>
              <a:gdLst/>
              <a:ahLst/>
              <a:cxnLst/>
              <a:rect l="l" t="t" r="r" b="b"/>
              <a:pathLst>
                <a:path w="19433287" h="3766566">
                  <a:moveTo>
                    <a:pt x="0" y="0"/>
                  </a:moveTo>
                  <a:lnTo>
                    <a:pt x="19433287" y="0"/>
                  </a:lnTo>
                  <a:lnTo>
                    <a:pt x="19433287" y="3766566"/>
                  </a:lnTo>
                  <a:lnTo>
                    <a:pt x="0" y="3766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3763" y="7134863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1487" y="7159066"/>
            <a:ext cx="1442228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OpenAI, A Practical Guide to Building Agents, https://cdn.openai.com/business-guides-and-resources/a-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763" y="7486593"/>
            <a:ext cx="523157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practical-guide-to-building-agents.pdf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68933" y="8182585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290" y="225028"/>
            <a:ext cx="5736793" cy="77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spc="4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Manager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852"/>
            <a:chOff x="0" y="0"/>
            <a:chExt cx="15684500" cy="887685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792"/>
            </a:xfrm>
            <a:custGeom>
              <a:avLst/>
              <a:gdLst/>
              <a:ahLst/>
              <a:cxnLst/>
              <a:rect l="l" t="t" r="r" b="b"/>
              <a:pathLst>
                <a:path w="15556995" h="8749792">
                  <a:moveTo>
                    <a:pt x="0" y="0"/>
                  </a:moveTo>
                  <a:lnTo>
                    <a:pt x="0" y="8749792"/>
                  </a:lnTo>
                  <a:lnTo>
                    <a:pt x="15556995" y="874979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792"/>
            </a:xfrm>
            <a:custGeom>
              <a:avLst/>
              <a:gdLst/>
              <a:ahLst/>
              <a:cxnLst/>
              <a:rect l="l" t="t" r="r" b="b"/>
              <a:pathLst>
                <a:path w="15556995" h="8749792">
                  <a:moveTo>
                    <a:pt x="0" y="0"/>
                  </a:moveTo>
                  <a:lnTo>
                    <a:pt x="0" y="8749792"/>
                  </a:lnTo>
                  <a:lnTo>
                    <a:pt x="15556995" y="874979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8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8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985582"/>
            <a:ext cx="14574917" cy="2415502"/>
            <a:chOff x="0" y="0"/>
            <a:chExt cx="19433222" cy="32206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3220720"/>
            </a:xfrm>
            <a:custGeom>
              <a:avLst/>
              <a:gdLst/>
              <a:ahLst/>
              <a:cxnLst/>
              <a:rect l="l" t="t" r="r" b="b"/>
              <a:pathLst>
                <a:path w="19433287" h="3220720">
                  <a:moveTo>
                    <a:pt x="0" y="0"/>
                  </a:moveTo>
                  <a:lnTo>
                    <a:pt x="19433287" y="0"/>
                  </a:lnTo>
                  <a:lnTo>
                    <a:pt x="19433287" y="3220720"/>
                  </a:lnTo>
                  <a:lnTo>
                    <a:pt x="0" y="322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3763" y="7134863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1487" y="7159066"/>
            <a:ext cx="1442228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OpenAI, A Practical Guide to Building Agents, https://cdn.openai.com/business-guides-and-resources/a-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763" y="7486593"/>
            <a:ext cx="523157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practical-guide-to-building-agents.pdf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68933" y="8182585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290" y="225028"/>
            <a:ext cx="7952651" cy="77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spc="4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Manager Pattern Applied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" y="-3"/>
            <a:ext cx="15556989" cy="8749916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658102"/>
            <a:ext cx="14574917" cy="4708188"/>
            <a:chOff x="0" y="0"/>
            <a:chExt cx="19433222" cy="62775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6277610"/>
            </a:xfrm>
            <a:custGeom>
              <a:avLst/>
              <a:gdLst/>
              <a:ahLst/>
              <a:cxnLst/>
              <a:rect l="l" t="t" r="r" b="b"/>
              <a:pathLst>
                <a:path w="19433287" h="6277610">
                  <a:moveTo>
                    <a:pt x="0" y="0"/>
                  </a:moveTo>
                  <a:lnTo>
                    <a:pt x="19433287" y="0"/>
                  </a:lnTo>
                  <a:lnTo>
                    <a:pt x="19433287" y="6277610"/>
                  </a:lnTo>
                  <a:lnTo>
                    <a:pt x="0" y="6277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3763" y="7134911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1487" y="7159114"/>
            <a:ext cx="1442228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OpenAI, A Practical Guide to Building Agents, https://cdn.openai.com/business-guides-and-resources/a-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763" y="7486640"/>
            <a:ext cx="523157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practical-guide-to-building-agents.pdf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68933" y="8182632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290" y="225076"/>
            <a:ext cx="7009467" cy="77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spc="4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Decentralized Pattern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658102"/>
            <a:ext cx="14574917" cy="3520907"/>
            <a:chOff x="0" y="0"/>
            <a:chExt cx="19433222" cy="46945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4694555"/>
            </a:xfrm>
            <a:custGeom>
              <a:avLst/>
              <a:gdLst/>
              <a:ahLst/>
              <a:cxnLst/>
              <a:rect l="l" t="t" r="r" b="b"/>
              <a:pathLst>
                <a:path w="19433287" h="4694555">
                  <a:moveTo>
                    <a:pt x="0" y="0"/>
                  </a:moveTo>
                  <a:lnTo>
                    <a:pt x="19433287" y="0"/>
                  </a:lnTo>
                  <a:lnTo>
                    <a:pt x="19433287" y="4694555"/>
                  </a:lnTo>
                  <a:lnTo>
                    <a:pt x="0" y="4694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64023" y="8104213"/>
            <a:ext cx="2296858" cy="576196"/>
          </a:xfrm>
          <a:custGeom>
            <a:avLst/>
            <a:gdLst/>
            <a:ahLst/>
            <a:cxnLst/>
            <a:rect l="l" t="t" r="r" b="b"/>
            <a:pathLst>
              <a:path w="2296858" h="576196">
                <a:moveTo>
                  <a:pt x="0" y="0"/>
                </a:moveTo>
                <a:lnTo>
                  <a:pt x="2296859" y="0"/>
                </a:lnTo>
                <a:lnTo>
                  <a:pt x="2296859" y="576196"/>
                </a:lnTo>
                <a:lnTo>
                  <a:pt x="0" y="576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3763" y="7134911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1487" y="7159114"/>
            <a:ext cx="1442228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OpenAI, A Practical Guide to Building Agents, https://cdn.openai.com/business-guides-and-resources/a-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763" y="7486640"/>
            <a:ext cx="523157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practical-guide-to-building-agents.pdf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68933" y="8182632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290" y="225076"/>
            <a:ext cx="9225315" cy="77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spc="4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Decentralized Pattern Applied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" y="-3"/>
            <a:ext cx="15556989" cy="8749916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135022" y="1166812"/>
            <a:ext cx="7287463" cy="5997826"/>
            <a:chOff x="0" y="0"/>
            <a:chExt cx="9716618" cy="79971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16643" cy="7997063"/>
            </a:xfrm>
            <a:custGeom>
              <a:avLst/>
              <a:gdLst/>
              <a:ahLst/>
              <a:cxnLst/>
              <a:rect l="l" t="t" r="r" b="b"/>
              <a:pathLst>
                <a:path w="9716643" h="7997063">
                  <a:moveTo>
                    <a:pt x="0" y="0"/>
                  </a:moveTo>
                  <a:lnTo>
                    <a:pt x="9716643" y="0"/>
                  </a:lnTo>
                  <a:lnTo>
                    <a:pt x="9716643" y="7997063"/>
                  </a:lnTo>
                  <a:lnTo>
                    <a:pt x="0" y="7997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3763" y="7462437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1487" y="7486640"/>
            <a:ext cx="13507631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56" spc="6" dirty="0" err="1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LangGraph</a:t>
            </a:r>
            <a:r>
              <a:rPr lang="en-US" sz="2256" spc="6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Multi Agent Systems, https://langchain-ai.github.io/langgraph/concepts/multi_agent/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68933" y="8182632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290" y="225076"/>
            <a:ext cx="8142151" cy="77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spc="4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Emerging Agent Architectures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944691" y="1166812"/>
            <a:ext cx="11668125" cy="6202528"/>
            <a:chOff x="0" y="0"/>
            <a:chExt cx="15557500" cy="82700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57500" cy="8269986"/>
            </a:xfrm>
            <a:custGeom>
              <a:avLst/>
              <a:gdLst/>
              <a:ahLst/>
              <a:cxnLst/>
              <a:rect l="l" t="t" r="r" b="b"/>
              <a:pathLst>
                <a:path w="15557500" h="8269986">
                  <a:moveTo>
                    <a:pt x="0" y="0"/>
                  </a:moveTo>
                  <a:lnTo>
                    <a:pt x="15557500" y="0"/>
                  </a:lnTo>
                  <a:lnTo>
                    <a:pt x="15557500" y="8269986"/>
                  </a:lnTo>
                  <a:lnTo>
                    <a:pt x="0" y="8269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4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3763" y="7462437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1487" y="7486640"/>
            <a:ext cx="418772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68933" y="8182632"/>
            <a:ext cx="4346153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290" y="225076"/>
            <a:ext cx="10933957" cy="77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spc="4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From One to Many: Multi-Agent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3"/>
            </a:xfrm>
            <a:custGeom>
              <a:avLst/>
              <a:gdLst/>
              <a:ahLst/>
              <a:cxnLst/>
              <a:rect l="l" t="t" r="r" b="b"/>
              <a:pathLst>
                <a:path w="15556995" h="8749923">
                  <a:moveTo>
                    <a:pt x="0" y="0"/>
                  </a:moveTo>
                  <a:lnTo>
                    <a:pt x="0" y="8749923"/>
                  </a:lnTo>
                  <a:lnTo>
                    <a:pt x="15556995" y="8749923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8749923"/>
            </a:xfrm>
            <a:custGeom>
              <a:avLst/>
              <a:gdLst/>
              <a:ahLst/>
              <a:cxnLst/>
              <a:rect l="l" t="t" r="r" b="b"/>
              <a:pathLst>
                <a:path w="15556995" h="8749923">
                  <a:moveTo>
                    <a:pt x="0" y="0"/>
                  </a:moveTo>
                  <a:lnTo>
                    <a:pt x="0" y="8749923"/>
                  </a:lnTo>
                  <a:lnTo>
                    <a:pt x="15556995" y="8749923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8087873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3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944691" y="1166812"/>
            <a:ext cx="11668125" cy="6530054"/>
            <a:chOff x="0" y="0"/>
            <a:chExt cx="15557500" cy="87067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57500" cy="8706739"/>
            </a:xfrm>
            <a:custGeom>
              <a:avLst/>
              <a:gdLst/>
              <a:ahLst/>
              <a:cxnLst/>
              <a:rect l="l" t="t" r="r" b="b"/>
              <a:pathLst>
                <a:path w="15557500" h="8706739">
                  <a:moveTo>
                    <a:pt x="0" y="0"/>
                  </a:moveTo>
                  <a:lnTo>
                    <a:pt x="15557500" y="0"/>
                  </a:lnTo>
                  <a:lnTo>
                    <a:pt x="15557500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1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290" y="225076"/>
            <a:ext cx="51475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Single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1944691" y="1166812"/>
            <a:ext cx="11668125" cy="6530054"/>
            <a:chOff x="0" y="0"/>
            <a:chExt cx="15557500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57500" cy="8706739"/>
            </a:xfrm>
            <a:custGeom>
              <a:avLst/>
              <a:gdLst/>
              <a:ahLst/>
              <a:cxnLst/>
              <a:rect l="l" t="t" r="r" b="b"/>
              <a:pathLst>
                <a:path w="15557500" h="8706739">
                  <a:moveTo>
                    <a:pt x="0" y="0"/>
                  </a:moveTo>
                  <a:lnTo>
                    <a:pt x="15557500" y="0"/>
                  </a:lnTo>
                  <a:lnTo>
                    <a:pt x="15557500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76"/>
            <a:ext cx="3608794" cy="77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Single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" y="-3"/>
            <a:ext cx="15556989" cy="8749919"/>
            <a:chOff x="63500" y="63500"/>
            <a:chExt cx="15556995" cy="87499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5"/>
            </a:xfrm>
            <a:custGeom>
              <a:avLst/>
              <a:gdLst/>
              <a:ahLst/>
              <a:cxnLst/>
              <a:rect l="l" t="t" r="r" b="b"/>
              <a:pathLst>
                <a:path w="15556995" h="8749925">
                  <a:moveTo>
                    <a:pt x="0" y="0"/>
                  </a:moveTo>
                  <a:lnTo>
                    <a:pt x="0" y="8749925"/>
                  </a:lnTo>
                  <a:lnTo>
                    <a:pt x="15556995" y="8749925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5"/>
            </a:xfrm>
            <a:custGeom>
              <a:avLst/>
              <a:gdLst/>
              <a:ahLst/>
              <a:cxnLst/>
              <a:rect l="l" t="t" r="r" b="b"/>
              <a:pathLst>
                <a:path w="15556995" h="8749925">
                  <a:moveTo>
                    <a:pt x="0" y="0"/>
                  </a:moveTo>
                  <a:lnTo>
                    <a:pt x="0" y="8749925"/>
                  </a:lnTo>
                  <a:lnTo>
                    <a:pt x="15556995" y="8749925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4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944691" y="1166812"/>
            <a:ext cx="11668125" cy="6530054"/>
            <a:chOff x="0" y="0"/>
            <a:chExt cx="15557500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57500" cy="8706739"/>
            </a:xfrm>
            <a:custGeom>
              <a:avLst/>
              <a:gdLst/>
              <a:ahLst/>
              <a:cxnLst/>
              <a:rect l="l" t="t" r="r" b="b"/>
              <a:pathLst>
                <a:path w="15557500" h="8706739">
                  <a:moveTo>
                    <a:pt x="0" y="0"/>
                  </a:moveTo>
                  <a:lnTo>
                    <a:pt x="15557500" y="0"/>
                  </a:lnTo>
                  <a:lnTo>
                    <a:pt x="15557500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76"/>
            <a:ext cx="48427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Multi-Agent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5"/>
            </a:xfrm>
            <a:custGeom>
              <a:avLst/>
              <a:gdLst/>
              <a:ahLst/>
              <a:cxnLst/>
              <a:rect l="l" t="t" r="r" b="b"/>
              <a:pathLst>
                <a:path w="15556995" h="8749925">
                  <a:moveTo>
                    <a:pt x="0" y="0"/>
                  </a:moveTo>
                  <a:lnTo>
                    <a:pt x="0" y="8749925"/>
                  </a:lnTo>
                  <a:lnTo>
                    <a:pt x="15556995" y="8749925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5"/>
            </a:xfrm>
            <a:custGeom>
              <a:avLst/>
              <a:gdLst/>
              <a:ahLst/>
              <a:cxnLst/>
              <a:rect l="l" t="t" r="r" b="b"/>
              <a:pathLst>
                <a:path w="15556995" h="8749925">
                  <a:moveTo>
                    <a:pt x="0" y="0"/>
                  </a:moveTo>
                  <a:lnTo>
                    <a:pt x="0" y="8749925"/>
                  </a:lnTo>
                  <a:lnTo>
                    <a:pt x="15556995" y="8749925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4"/>
              <a:ext cx="15556995" cy="725552"/>
            </a:xfrm>
            <a:custGeom>
              <a:avLst/>
              <a:gdLst/>
              <a:ahLst/>
              <a:cxnLst/>
              <a:rect l="l" t="t" r="r" b="b"/>
              <a:pathLst>
                <a:path w="15556995" h="725552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4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944691" y="1166812"/>
            <a:ext cx="11668125" cy="6530054"/>
            <a:chOff x="0" y="0"/>
            <a:chExt cx="15557500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57500" cy="8706739"/>
            </a:xfrm>
            <a:custGeom>
              <a:avLst/>
              <a:gdLst/>
              <a:ahLst/>
              <a:cxnLst/>
              <a:rect l="l" t="t" r="r" b="b"/>
              <a:pathLst>
                <a:path w="15557500" h="8706739">
                  <a:moveTo>
                    <a:pt x="0" y="0"/>
                  </a:moveTo>
                  <a:lnTo>
                    <a:pt x="15557500" y="0"/>
                  </a:lnTo>
                  <a:lnTo>
                    <a:pt x="15557500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76"/>
            <a:ext cx="104053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A web app multi-agent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9"/>
            </a:xfrm>
            <a:custGeom>
              <a:avLst/>
              <a:gdLst/>
              <a:ahLst/>
              <a:cxnLst/>
              <a:rect l="l" t="t" r="r" b="b"/>
              <a:pathLst>
                <a:path w="15556995" h="8749919">
                  <a:moveTo>
                    <a:pt x="0" y="0"/>
                  </a:moveTo>
                  <a:lnTo>
                    <a:pt x="0" y="8749919"/>
                  </a:lnTo>
                  <a:lnTo>
                    <a:pt x="15556995" y="8749919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9"/>
            </a:xfrm>
            <a:custGeom>
              <a:avLst/>
              <a:gdLst/>
              <a:ahLst/>
              <a:cxnLst/>
              <a:rect l="l" t="t" r="r" b="b"/>
              <a:pathLst>
                <a:path w="15556995" h="8749919">
                  <a:moveTo>
                    <a:pt x="0" y="0"/>
                  </a:moveTo>
                  <a:lnTo>
                    <a:pt x="0" y="8749919"/>
                  </a:lnTo>
                  <a:lnTo>
                    <a:pt x="15556995" y="8749919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8"/>
              <a:ext cx="15556995" cy="725552"/>
            </a:xfrm>
            <a:custGeom>
              <a:avLst/>
              <a:gdLst/>
              <a:ahLst/>
              <a:cxnLst/>
              <a:rect l="l" t="t" r="r" b="b"/>
              <a:pathLst>
                <a:path w="15556995" h="725552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8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944691" y="1166812"/>
            <a:ext cx="11668125" cy="6530054"/>
            <a:chOff x="0" y="0"/>
            <a:chExt cx="15557500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57500" cy="8706739"/>
            </a:xfrm>
            <a:custGeom>
              <a:avLst/>
              <a:gdLst/>
              <a:ahLst/>
              <a:cxnLst/>
              <a:rect l="l" t="t" r="r" b="b"/>
              <a:pathLst>
                <a:path w="15557500" h="8706739">
                  <a:moveTo>
                    <a:pt x="0" y="0"/>
                  </a:moveTo>
                  <a:lnTo>
                    <a:pt x="15557500" y="0"/>
                  </a:lnTo>
                  <a:lnTo>
                    <a:pt x="15557500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76"/>
            <a:ext cx="129199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A web app multi-agent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944691" y="1166812"/>
            <a:ext cx="11668125" cy="6530054"/>
            <a:chOff x="0" y="0"/>
            <a:chExt cx="15557500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57500" cy="8706739"/>
            </a:xfrm>
            <a:custGeom>
              <a:avLst/>
              <a:gdLst/>
              <a:ahLst/>
              <a:cxnLst/>
              <a:rect l="l" t="t" r="r" b="b"/>
              <a:pathLst>
                <a:path w="15557500" h="8706739">
                  <a:moveTo>
                    <a:pt x="0" y="0"/>
                  </a:moveTo>
                  <a:lnTo>
                    <a:pt x="15557500" y="0"/>
                  </a:lnTo>
                  <a:lnTo>
                    <a:pt x="15557500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76"/>
            <a:ext cx="123103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A web app multi-agent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89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5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5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944691" y="1166812"/>
            <a:ext cx="11668125" cy="6530054"/>
            <a:chOff x="0" y="0"/>
            <a:chExt cx="15557500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57500" cy="8706739"/>
            </a:xfrm>
            <a:custGeom>
              <a:avLst/>
              <a:gdLst/>
              <a:ahLst/>
              <a:cxnLst/>
              <a:rect l="l" t="t" r="r" b="b"/>
              <a:pathLst>
                <a:path w="15557500" h="8706739">
                  <a:moveTo>
                    <a:pt x="0" y="0"/>
                  </a:moveTo>
                  <a:lnTo>
                    <a:pt x="15557500" y="0"/>
                  </a:lnTo>
                  <a:lnTo>
                    <a:pt x="15557500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76"/>
            <a:ext cx="126151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A web app multi-agent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89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5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5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135022" y="1166803"/>
            <a:ext cx="7287463" cy="5997826"/>
            <a:chOff x="0" y="0"/>
            <a:chExt cx="9716618" cy="79971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16643" cy="7997063"/>
            </a:xfrm>
            <a:custGeom>
              <a:avLst/>
              <a:gdLst/>
              <a:ahLst/>
              <a:cxnLst/>
              <a:rect l="l" t="t" r="r" b="b"/>
              <a:pathLst>
                <a:path w="9716643" h="7997063">
                  <a:moveTo>
                    <a:pt x="0" y="0"/>
                  </a:moveTo>
                  <a:lnTo>
                    <a:pt x="9716643" y="0"/>
                  </a:lnTo>
                  <a:lnTo>
                    <a:pt x="9716643" y="7997063"/>
                  </a:lnTo>
                  <a:lnTo>
                    <a:pt x="0" y="7997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3763" y="7462428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290" y="225076"/>
            <a:ext cx="112435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Multi-agent design patterns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89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5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5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233167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942516" y="1166803"/>
            <a:ext cx="7123700" cy="5731707"/>
            <a:chOff x="0" y="0"/>
            <a:chExt cx="9498266" cy="76422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203" cy="7642225"/>
            </a:xfrm>
            <a:custGeom>
              <a:avLst/>
              <a:gdLst/>
              <a:ahLst/>
              <a:cxnLst/>
              <a:rect l="l" t="t" r="r" b="b"/>
              <a:pathLst>
                <a:path w="9498203" h="7642225">
                  <a:moveTo>
                    <a:pt x="0" y="0"/>
                  </a:moveTo>
                  <a:lnTo>
                    <a:pt x="9498203" y="0"/>
                  </a:lnTo>
                  <a:lnTo>
                    <a:pt x="9498203" y="7642225"/>
                  </a:lnTo>
                  <a:lnTo>
                    <a:pt x="0" y="7642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63763" y="7462428"/>
            <a:ext cx="79581" cy="2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692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1487" y="7486640"/>
            <a:ext cx="10261759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spc="6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289" y="291751"/>
            <a:ext cx="7110995" cy="141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Network multi-agents</a:t>
            </a:r>
          </a:p>
          <a:p>
            <a:pPr algn="l">
              <a:lnSpc>
                <a:spcPts val="6447"/>
              </a:lnSpc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9755" y="1962779"/>
            <a:ext cx="181804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Also called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21813" y="1962807"/>
            <a:ext cx="3786397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swarm</a:t>
            </a:r>
            <a:r>
              <a:rPr lang="en-US" sz="265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decentralized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" y="-3"/>
            <a:ext cx="15556989" cy="8749916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233169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942516" y="1166812"/>
            <a:ext cx="7123700" cy="5731707"/>
            <a:chOff x="0" y="0"/>
            <a:chExt cx="9498266" cy="76422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203" cy="7642225"/>
            </a:xfrm>
            <a:custGeom>
              <a:avLst/>
              <a:gdLst/>
              <a:ahLst/>
              <a:cxnLst/>
              <a:rect l="l" t="t" r="r" b="b"/>
              <a:pathLst>
                <a:path w="9498203" h="7642225">
                  <a:moveTo>
                    <a:pt x="0" y="0"/>
                  </a:moveTo>
                  <a:lnTo>
                    <a:pt x="9498203" y="0"/>
                  </a:lnTo>
                  <a:lnTo>
                    <a:pt x="9498203" y="7642225"/>
                  </a:lnTo>
                  <a:lnTo>
                    <a:pt x="0" y="7642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290" y="291751"/>
            <a:ext cx="7966910" cy="141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Network multi-agents</a:t>
            </a:r>
          </a:p>
          <a:p>
            <a:pPr algn="l">
              <a:lnSpc>
                <a:spcPts val="6447"/>
              </a:lnSpc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167" y="3436658"/>
            <a:ext cx="283797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9755" y="1962788"/>
            <a:ext cx="181804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Also called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1642" y="3436658"/>
            <a:ext cx="475391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Input is sent to an initial agent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21813" y="1962807"/>
            <a:ext cx="3786397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swarm</a:t>
            </a:r>
            <a:r>
              <a:rPr lang="en-US" sz="265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decentralized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6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6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233168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7"/>
                  </a:moveTo>
                  <a:cubicBezTo>
                    <a:pt x="102616" y="54609"/>
                    <a:pt x="102235" y="58038"/>
                    <a:pt x="101600" y="61340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8"/>
                    <a:pt x="93980" y="79882"/>
                  </a:cubicBezTo>
                  <a:cubicBezTo>
                    <a:pt x="92202" y="82676"/>
                    <a:pt x="90043" y="85216"/>
                    <a:pt x="87630" y="87629"/>
                  </a:cubicBezTo>
                  <a:cubicBezTo>
                    <a:pt x="85217" y="90043"/>
                    <a:pt x="82677" y="92075"/>
                    <a:pt x="79883" y="93979"/>
                  </a:cubicBezTo>
                  <a:cubicBezTo>
                    <a:pt x="77089" y="95884"/>
                    <a:pt x="74168" y="97409"/>
                    <a:pt x="70993" y="98678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4"/>
                    <a:pt x="54737" y="102615"/>
                    <a:pt x="51308" y="102615"/>
                  </a:cubicBezTo>
                  <a:cubicBezTo>
                    <a:pt x="47879" y="102615"/>
                    <a:pt x="44577" y="102234"/>
                    <a:pt x="41275" y="101600"/>
                  </a:cubicBezTo>
                  <a:cubicBezTo>
                    <a:pt x="37973" y="100965"/>
                    <a:pt x="34798" y="99949"/>
                    <a:pt x="31623" y="98678"/>
                  </a:cubicBezTo>
                  <a:cubicBezTo>
                    <a:pt x="28448" y="97409"/>
                    <a:pt x="25527" y="95757"/>
                    <a:pt x="22733" y="93979"/>
                  </a:cubicBezTo>
                  <a:cubicBezTo>
                    <a:pt x="19939" y="92201"/>
                    <a:pt x="17399" y="90043"/>
                    <a:pt x="14986" y="87629"/>
                  </a:cubicBezTo>
                  <a:cubicBezTo>
                    <a:pt x="12573" y="85216"/>
                    <a:pt x="10541" y="82676"/>
                    <a:pt x="8636" y="79882"/>
                  </a:cubicBezTo>
                  <a:cubicBezTo>
                    <a:pt x="6731" y="77088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0"/>
                  </a:cubicBezTo>
                  <a:cubicBezTo>
                    <a:pt x="381" y="58038"/>
                    <a:pt x="0" y="54737"/>
                    <a:pt x="0" y="51307"/>
                  </a:cubicBezTo>
                  <a:cubicBezTo>
                    <a:pt x="0" y="47878"/>
                    <a:pt x="381" y="44576"/>
                    <a:pt x="1016" y="41275"/>
                  </a:cubicBezTo>
                  <a:cubicBezTo>
                    <a:pt x="1651" y="37972"/>
                    <a:pt x="2667" y="34797"/>
                    <a:pt x="3937" y="31622"/>
                  </a:cubicBezTo>
                  <a:cubicBezTo>
                    <a:pt x="5207" y="28447"/>
                    <a:pt x="6858" y="25526"/>
                    <a:pt x="8636" y="22732"/>
                  </a:cubicBezTo>
                  <a:cubicBezTo>
                    <a:pt x="10414" y="19938"/>
                    <a:pt x="12573" y="17399"/>
                    <a:pt x="14986" y="14985"/>
                  </a:cubicBezTo>
                  <a:cubicBezTo>
                    <a:pt x="17399" y="12572"/>
                    <a:pt x="19939" y="10540"/>
                    <a:pt x="22733" y="8635"/>
                  </a:cubicBezTo>
                  <a:cubicBezTo>
                    <a:pt x="25527" y="6731"/>
                    <a:pt x="28448" y="5206"/>
                    <a:pt x="31623" y="3937"/>
                  </a:cubicBezTo>
                  <a:cubicBezTo>
                    <a:pt x="34798" y="2666"/>
                    <a:pt x="37973" y="1650"/>
                    <a:pt x="41275" y="1015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5"/>
                  </a:cubicBezTo>
                  <a:cubicBezTo>
                    <a:pt x="64643" y="1650"/>
                    <a:pt x="67818" y="2666"/>
                    <a:pt x="70993" y="3937"/>
                  </a:cubicBezTo>
                  <a:cubicBezTo>
                    <a:pt x="74168" y="5206"/>
                    <a:pt x="77089" y="6857"/>
                    <a:pt x="79883" y="8635"/>
                  </a:cubicBezTo>
                  <a:cubicBezTo>
                    <a:pt x="82677" y="10413"/>
                    <a:pt x="85217" y="12572"/>
                    <a:pt x="87630" y="14985"/>
                  </a:cubicBezTo>
                  <a:cubicBezTo>
                    <a:pt x="90043" y="17399"/>
                    <a:pt x="92075" y="19938"/>
                    <a:pt x="93980" y="22732"/>
                  </a:cubicBezTo>
                  <a:cubicBezTo>
                    <a:pt x="95885" y="25526"/>
                    <a:pt x="97409" y="28447"/>
                    <a:pt x="98679" y="31622"/>
                  </a:cubicBezTo>
                  <a:cubicBezTo>
                    <a:pt x="99949" y="34797"/>
                    <a:pt x="100965" y="37972"/>
                    <a:pt x="101600" y="41275"/>
                  </a:cubicBezTo>
                  <a:cubicBezTo>
                    <a:pt x="102235" y="44576"/>
                    <a:pt x="102616" y="47878"/>
                    <a:pt x="10261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942516" y="1166812"/>
            <a:ext cx="7123700" cy="5731707"/>
            <a:chOff x="0" y="0"/>
            <a:chExt cx="9498266" cy="76422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203" cy="7642225"/>
            </a:xfrm>
            <a:custGeom>
              <a:avLst/>
              <a:gdLst/>
              <a:ahLst/>
              <a:cxnLst/>
              <a:rect l="l" t="t" r="r" b="b"/>
              <a:pathLst>
                <a:path w="9498203" h="7642225">
                  <a:moveTo>
                    <a:pt x="0" y="0"/>
                  </a:moveTo>
                  <a:lnTo>
                    <a:pt x="9498203" y="0"/>
                  </a:lnTo>
                  <a:lnTo>
                    <a:pt x="9498203" y="7642225"/>
                  </a:lnTo>
                  <a:lnTo>
                    <a:pt x="0" y="7642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290" y="291751"/>
            <a:ext cx="8652710" cy="141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Network multi-agents</a:t>
            </a:r>
          </a:p>
          <a:p>
            <a:pPr algn="l">
              <a:lnSpc>
                <a:spcPts val="6447"/>
              </a:lnSpc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55" y="1962788"/>
            <a:ext cx="181804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Also called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167" y="3436658"/>
            <a:ext cx="5129755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is sent to an initial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59" y="4091711"/>
            <a:ext cx="72394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Agents </a:t>
            </a:r>
            <a:r>
              <a:rPr lang="en-US" sz="257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handoff</a:t>
            </a: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to one another to complete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642" y="4582992"/>
            <a:ext cx="1264482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 task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21813" y="1962807"/>
            <a:ext cx="3786397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swarm</a:t>
            </a:r>
            <a:r>
              <a:rPr lang="en-US" sz="265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decentralized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233169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942516" y="1166812"/>
            <a:ext cx="7123700" cy="5731707"/>
            <a:chOff x="0" y="0"/>
            <a:chExt cx="9498266" cy="76422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203" cy="7642225"/>
            </a:xfrm>
            <a:custGeom>
              <a:avLst/>
              <a:gdLst/>
              <a:ahLst/>
              <a:cxnLst/>
              <a:rect l="l" t="t" r="r" b="b"/>
              <a:pathLst>
                <a:path w="9498203" h="7642225">
                  <a:moveTo>
                    <a:pt x="0" y="0"/>
                  </a:moveTo>
                  <a:lnTo>
                    <a:pt x="9498203" y="0"/>
                  </a:lnTo>
                  <a:lnTo>
                    <a:pt x="9498203" y="7642225"/>
                  </a:lnTo>
                  <a:lnTo>
                    <a:pt x="0" y="7642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290" y="291751"/>
            <a:ext cx="7814510" cy="141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Network multi-agents</a:t>
            </a:r>
          </a:p>
          <a:p>
            <a:pPr algn="l">
              <a:lnSpc>
                <a:spcPts val="6447"/>
              </a:lnSpc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55" y="1962788"/>
            <a:ext cx="181804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Also called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167" y="3436658"/>
            <a:ext cx="5129755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is sent to an initial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59" y="4091711"/>
            <a:ext cx="72394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Agents </a:t>
            </a:r>
            <a:r>
              <a:rPr lang="en-US" sz="257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handoff</a:t>
            </a: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to one another to complete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642" y="4582992"/>
            <a:ext cx="1264482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 task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21813" y="1962807"/>
            <a:ext cx="3786397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swarm</a:t>
            </a:r>
            <a:r>
              <a:rPr lang="en-US" sz="265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decentralized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233169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942516" y="1166812"/>
            <a:ext cx="7123700" cy="5793124"/>
            <a:chOff x="0" y="0"/>
            <a:chExt cx="9498266" cy="77241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203" cy="7724140"/>
            </a:xfrm>
            <a:custGeom>
              <a:avLst/>
              <a:gdLst/>
              <a:ahLst/>
              <a:cxnLst/>
              <a:rect l="l" t="t" r="r" b="b"/>
              <a:pathLst>
                <a:path w="9498203" h="7724140">
                  <a:moveTo>
                    <a:pt x="0" y="0"/>
                  </a:moveTo>
                  <a:lnTo>
                    <a:pt x="9498203" y="0"/>
                  </a:lnTo>
                  <a:lnTo>
                    <a:pt x="9498203" y="7724140"/>
                  </a:lnTo>
                  <a:lnTo>
                    <a:pt x="0" y="7724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290" y="291751"/>
            <a:ext cx="7239448" cy="141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Network multi-agents</a:t>
            </a:r>
          </a:p>
          <a:p>
            <a:pPr algn="l">
              <a:lnSpc>
                <a:spcPts val="6447"/>
              </a:lnSpc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55" y="1962788"/>
            <a:ext cx="181804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Also called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167" y="3436658"/>
            <a:ext cx="5129755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is sent to an initial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59" y="4091711"/>
            <a:ext cx="72394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Agents </a:t>
            </a:r>
            <a:r>
              <a:rPr lang="en-US" sz="257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handoff</a:t>
            </a: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to one another to complete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642" y="4582992"/>
            <a:ext cx="1264482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 task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21813" y="1962807"/>
            <a:ext cx="3786397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swarm</a:t>
            </a:r>
            <a:r>
              <a:rPr lang="en-US" sz="265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decentralized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" y="-3"/>
            <a:ext cx="15556989" cy="8749916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233169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942516" y="1166812"/>
            <a:ext cx="7123700" cy="5731707"/>
            <a:chOff x="0" y="0"/>
            <a:chExt cx="9498266" cy="76422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203" cy="7642225"/>
            </a:xfrm>
            <a:custGeom>
              <a:avLst/>
              <a:gdLst/>
              <a:ahLst/>
              <a:cxnLst/>
              <a:rect l="l" t="t" r="r" b="b"/>
              <a:pathLst>
                <a:path w="9498203" h="7642225">
                  <a:moveTo>
                    <a:pt x="0" y="0"/>
                  </a:moveTo>
                  <a:lnTo>
                    <a:pt x="9498203" y="0"/>
                  </a:lnTo>
                  <a:lnTo>
                    <a:pt x="9498203" y="7642225"/>
                  </a:lnTo>
                  <a:lnTo>
                    <a:pt x="0" y="7642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290" y="291751"/>
            <a:ext cx="5824566" cy="130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513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Network multi-agents</a:t>
            </a:r>
          </a:p>
          <a:p>
            <a:pPr algn="l">
              <a:lnSpc>
                <a:spcPts val="6447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55" y="1962788"/>
            <a:ext cx="181804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Also called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167" y="3436658"/>
            <a:ext cx="5129755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is sent to an initial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59" y="4091711"/>
            <a:ext cx="72394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Agents </a:t>
            </a:r>
            <a:r>
              <a:rPr lang="en-US" sz="257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handoff</a:t>
            </a: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to one another to complete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642" y="4582992"/>
            <a:ext cx="1264482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 task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21813" y="1962807"/>
            <a:ext cx="3786397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swarm</a:t>
            </a:r>
            <a:r>
              <a:rPr lang="en-US" sz="265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decentralized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890"/>
            <a:chOff x="0" y="0"/>
            <a:chExt cx="15684500" cy="887689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6"/>
                  </a:lnTo>
                  <a:lnTo>
                    <a:pt x="15556995" y="2044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233169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942516" y="1166812"/>
            <a:ext cx="7123700" cy="5731707"/>
            <a:chOff x="0" y="0"/>
            <a:chExt cx="9498266" cy="76422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203" cy="7642225"/>
            </a:xfrm>
            <a:custGeom>
              <a:avLst/>
              <a:gdLst/>
              <a:ahLst/>
              <a:cxnLst/>
              <a:rect l="l" t="t" r="r" b="b"/>
              <a:pathLst>
                <a:path w="9498203" h="7642225">
                  <a:moveTo>
                    <a:pt x="0" y="0"/>
                  </a:moveTo>
                  <a:lnTo>
                    <a:pt x="9498203" y="0"/>
                  </a:lnTo>
                  <a:lnTo>
                    <a:pt x="9498203" y="7642225"/>
                  </a:lnTo>
                  <a:lnTo>
                    <a:pt x="0" y="7642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290" y="291751"/>
            <a:ext cx="5824566" cy="130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513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Network multi-agents</a:t>
            </a:r>
          </a:p>
          <a:p>
            <a:pPr algn="l">
              <a:lnSpc>
                <a:spcPts val="6447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55" y="1962788"/>
            <a:ext cx="181804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Also called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167" y="3436658"/>
            <a:ext cx="5129755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is sent to an initial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59" y="4091711"/>
            <a:ext cx="72394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Agents </a:t>
            </a:r>
            <a:r>
              <a:rPr lang="en-US" sz="257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handoff</a:t>
            </a: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to one another to complete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642" y="4582992"/>
            <a:ext cx="1264482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 task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21813" y="1962807"/>
            <a:ext cx="3786397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swarm</a:t>
            </a:r>
            <a:r>
              <a:rPr lang="en-US" sz="265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decentralized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890"/>
            <a:chOff x="0" y="0"/>
            <a:chExt cx="15684500" cy="887689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6"/>
                  </a:lnTo>
                  <a:lnTo>
                    <a:pt x="15556995" y="2044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75056" y="2233169"/>
              <a:ext cx="102616" cy="102616"/>
            </a:xfrm>
            <a:custGeom>
              <a:avLst/>
              <a:gdLst/>
              <a:ahLst/>
              <a:cxnLst/>
              <a:rect l="l" t="t" r="r" b="b"/>
              <a:pathLst>
                <a:path w="102616" h="102616">
                  <a:moveTo>
                    <a:pt x="102616" y="51308"/>
                  </a:moveTo>
                  <a:cubicBezTo>
                    <a:pt x="102616" y="54610"/>
                    <a:pt x="102235" y="58039"/>
                    <a:pt x="101600" y="61341"/>
                  </a:cubicBezTo>
                  <a:cubicBezTo>
                    <a:pt x="100965" y="64643"/>
                    <a:pt x="99949" y="67818"/>
                    <a:pt x="98679" y="70993"/>
                  </a:cubicBezTo>
                  <a:cubicBezTo>
                    <a:pt x="97409" y="74168"/>
                    <a:pt x="95758" y="77089"/>
                    <a:pt x="93980" y="79883"/>
                  </a:cubicBezTo>
                  <a:cubicBezTo>
                    <a:pt x="92202" y="82677"/>
                    <a:pt x="90043" y="85217"/>
                    <a:pt x="87630" y="87630"/>
                  </a:cubicBezTo>
                  <a:cubicBezTo>
                    <a:pt x="85217" y="90043"/>
                    <a:pt x="82677" y="92075"/>
                    <a:pt x="79883" y="93980"/>
                  </a:cubicBezTo>
                  <a:cubicBezTo>
                    <a:pt x="77089" y="95885"/>
                    <a:pt x="74168" y="97409"/>
                    <a:pt x="70993" y="98679"/>
                  </a:cubicBezTo>
                  <a:cubicBezTo>
                    <a:pt x="67818" y="99949"/>
                    <a:pt x="64643" y="100965"/>
                    <a:pt x="61341" y="101600"/>
                  </a:cubicBezTo>
                  <a:cubicBezTo>
                    <a:pt x="58039" y="102235"/>
                    <a:pt x="54737" y="102616"/>
                    <a:pt x="51308" y="102616"/>
                  </a:cubicBezTo>
                  <a:cubicBezTo>
                    <a:pt x="47879" y="102616"/>
                    <a:pt x="44577" y="102235"/>
                    <a:pt x="41275" y="101600"/>
                  </a:cubicBezTo>
                  <a:cubicBezTo>
                    <a:pt x="37973" y="100965"/>
                    <a:pt x="34798" y="99949"/>
                    <a:pt x="31623" y="98679"/>
                  </a:cubicBezTo>
                  <a:cubicBezTo>
                    <a:pt x="28448" y="97409"/>
                    <a:pt x="25527" y="95758"/>
                    <a:pt x="22733" y="93980"/>
                  </a:cubicBezTo>
                  <a:cubicBezTo>
                    <a:pt x="19939" y="92202"/>
                    <a:pt x="17399" y="90043"/>
                    <a:pt x="14986" y="87630"/>
                  </a:cubicBezTo>
                  <a:cubicBezTo>
                    <a:pt x="12573" y="85217"/>
                    <a:pt x="10541" y="82677"/>
                    <a:pt x="8636" y="79883"/>
                  </a:cubicBezTo>
                  <a:cubicBezTo>
                    <a:pt x="6731" y="77089"/>
                    <a:pt x="5207" y="74168"/>
                    <a:pt x="3937" y="70993"/>
                  </a:cubicBezTo>
                  <a:cubicBezTo>
                    <a:pt x="2667" y="67818"/>
                    <a:pt x="1651" y="64643"/>
                    <a:pt x="1016" y="61341"/>
                  </a:cubicBezTo>
                  <a:cubicBezTo>
                    <a:pt x="381" y="58039"/>
                    <a:pt x="0" y="54737"/>
                    <a:pt x="0" y="51308"/>
                  </a:cubicBezTo>
                  <a:cubicBezTo>
                    <a:pt x="0" y="47879"/>
                    <a:pt x="381" y="44577"/>
                    <a:pt x="1016" y="41275"/>
                  </a:cubicBezTo>
                  <a:cubicBezTo>
                    <a:pt x="1651" y="37973"/>
                    <a:pt x="2667" y="34798"/>
                    <a:pt x="3937" y="31623"/>
                  </a:cubicBezTo>
                  <a:cubicBezTo>
                    <a:pt x="5207" y="28448"/>
                    <a:pt x="6858" y="25527"/>
                    <a:pt x="8636" y="22733"/>
                  </a:cubicBezTo>
                  <a:cubicBezTo>
                    <a:pt x="10414" y="19939"/>
                    <a:pt x="12573" y="17399"/>
                    <a:pt x="14986" y="14986"/>
                  </a:cubicBezTo>
                  <a:cubicBezTo>
                    <a:pt x="17399" y="12573"/>
                    <a:pt x="19939" y="10541"/>
                    <a:pt x="22733" y="8636"/>
                  </a:cubicBezTo>
                  <a:cubicBezTo>
                    <a:pt x="25527" y="6731"/>
                    <a:pt x="28448" y="5207"/>
                    <a:pt x="31623" y="3937"/>
                  </a:cubicBezTo>
                  <a:cubicBezTo>
                    <a:pt x="34798" y="2667"/>
                    <a:pt x="37973" y="1651"/>
                    <a:pt x="41275" y="1016"/>
                  </a:cubicBezTo>
                  <a:cubicBezTo>
                    <a:pt x="44577" y="381"/>
                    <a:pt x="47879" y="0"/>
                    <a:pt x="51308" y="0"/>
                  </a:cubicBezTo>
                  <a:cubicBezTo>
                    <a:pt x="54737" y="0"/>
                    <a:pt x="58039" y="381"/>
                    <a:pt x="61341" y="1016"/>
                  </a:cubicBezTo>
                  <a:cubicBezTo>
                    <a:pt x="64643" y="1651"/>
                    <a:pt x="67818" y="2667"/>
                    <a:pt x="70993" y="3937"/>
                  </a:cubicBezTo>
                  <a:cubicBezTo>
                    <a:pt x="74168" y="5207"/>
                    <a:pt x="77089" y="6858"/>
                    <a:pt x="79883" y="8636"/>
                  </a:cubicBezTo>
                  <a:cubicBezTo>
                    <a:pt x="82677" y="10414"/>
                    <a:pt x="85217" y="12573"/>
                    <a:pt x="87630" y="14986"/>
                  </a:cubicBezTo>
                  <a:cubicBezTo>
                    <a:pt x="90043" y="17399"/>
                    <a:pt x="92075" y="19939"/>
                    <a:pt x="93980" y="22733"/>
                  </a:cubicBezTo>
                  <a:cubicBezTo>
                    <a:pt x="95885" y="25527"/>
                    <a:pt x="97409" y="28448"/>
                    <a:pt x="98679" y="31623"/>
                  </a:cubicBezTo>
                  <a:cubicBezTo>
                    <a:pt x="99949" y="34798"/>
                    <a:pt x="100965" y="37973"/>
                    <a:pt x="101600" y="41275"/>
                  </a:cubicBezTo>
                  <a:cubicBezTo>
                    <a:pt x="102235" y="44577"/>
                    <a:pt x="102616" y="47879"/>
                    <a:pt x="102616" y="51308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942516" y="1166803"/>
            <a:ext cx="7123700" cy="5731707"/>
            <a:chOff x="0" y="0"/>
            <a:chExt cx="9498266" cy="76422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203" cy="7642225"/>
            </a:xfrm>
            <a:custGeom>
              <a:avLst/>
              <a:gdLst/>
              <a:ahLst/>
              <a:cxnLst/>
              <a:rect l="l" t="t" r="r" b="b"/>
              <a:pathLst>
                <a:path w="9498203" h="7642225">
                  <a:moveTo>
                    <a:pt x="0" y="0"/>
                  </a:moveTo>
                  <a:lnTo>
                    <a:pt x="9498203" y="0"/>
                  </a:lnTo>
                  <a:lnTo>
                    <a:pt x="9498203" y="7642225"/>
                  </a:lnTo>
                  <a:lnTo>
                    <a:pt x="0" y="7642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29404" y="8182623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290" y="291741"/>
            <a:ext cx="7738310" cy="141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Network Multi-agents</a:t>
            </a:r>
          </a:p>
          <a:p>
            <a:pPr algn="l">
              <a:lnSpc>
                <a:spcPts val="6447"/>
              </a:lnSpc>
            </a:pPr>
            <a:r>
              <a:rPr lang="en-US" sz="2578" spc="7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55" y="1962779"/>
            <a:ext cx="181804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Also called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167" y="3436639"/>
            <a:ext cx="5129755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is sent to an initial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59" y="4091692"/>
            <a:ext cx="72394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Agents </a:t>
            </a:r>
            <a:r>
              <a:rPr lang="en-US" sz="257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handoff</a:t>
            </a: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to one another to complete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642" y="4582982"/>
            <a:ext cx="1264482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 task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1290" y="5238036"/>
            <a:ext cx="643533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Each agent can end the workflow and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642" y="5729326"/>
            <a:ext cx="3043114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respond to the user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21813" y="1962798"/>
            <a:ext cx="3786397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swarm</a:t>
            </a:r>
            <a:r>
              <a:rPr lang="en-US" sz="265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decentralized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890"/>
            <a:chOff x="0" y="0"/>
            <a:chExt cx="15684500" cy="887689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6"/>
                  </a:lnTo>
                  <a:lnTo>
                    <a:pt x="15556995" y="2044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166803"/>
            <a:ext cx="7123700" cy="5834062"/>
            <a:chOff x="0" y="0"/>
            <a:chExt cx="9498266" cy="7778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7778750"/>
            </a:xfrm>
            <a:custGeom>
              <a:avLst/>
              <a:gdLst/>
              <a:ahLst/>
              <a:cxnLst/>
              <a:rect l="l" t="t" r="r" b="b"/>
              <a:pathLst>
                <a:path w="9498203" h="7778750">
                  <a:moveTo>
                    <a:pt x="0" y="0"/>
                  </a:moveTo>
                  <a:lnTo>
                    <a:pt x="9498203" y="0"/>
                  </a:lnTo>
                  <a:lnTo>
                    <a:pt x="9498203" y="7778750"/>
                  </a:lnTo>
                  <a:lnTo>
                    <a:pt x="0" y="777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23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66"/>
            <a:ext cx="6343393" cy="77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Supervisor multi-agents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24393" y="1962779"/>
            <a:ext cx="274043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sent to a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62986" y="2617832"/>
            <a:ext cx="507179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Supervisor hands tasks off to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2516" y="3764166"/>
            <a:ext cx="64453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Workers execute their tools and report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92858" y="4255456"/>
            <a:ext cx="3484093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back to the supervisor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2516" y="4910509"/>
            <a:ext cx="5380653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4. Supervisor responds to the user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2713" y="3109141"/>
            <a:ext cx="1168432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90670" y="1962798"/>
            <a:ext cx="2704528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supervisor</a:t>
            </a:r>
            <a:r>
              <a:rPr lang="en-US" sz="2658" i="1" spc="7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14909" y="2617851"/>
            <a:ext cx="1162088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worker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890"/>
            <a:chOff x="0" y="0"/>
            <a:chExt cx="15684500" cy="887689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6"/>
                  </a:lnTo>
                  <a:lnTo>
                    <a:pt x="15556995" y="2044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166803"/>
            <a:ext cx="7123700" cy="5834062"/>
            <a:chOff x="0" y="0"/>
            <a:chExt cx="9498266" cy="7778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7778750"/>
            </a:xfrm>
            <a:custGeom>
              <a:avLst/>
              <a:gdLst/>
              <a:ahLst/>
              <a:cxnLst/>
              <a:rect l="l" t="t" r="r" b="b"/>
              <a:pathLst>
                <a:path w="9498203" h="7778750">
                  <a:moveTo>
                    <a:pt x="0" y="0"/>
                  </a:moveTo>
                  <a:lnTo>
                    <a:pt x="9498203" y="0"/>
                  </a:lnTo>
                  <a:lnTo>
                    <a:pt x="9498203" y="7778750"/>
                  </a:lnTo>
                  <a:lnTo>
                    <a:pt x="0" y="777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23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66"/>
            <a:ext cx="87289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Supervisor Multi-agents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24393" y="1962779"/>
            <a:ext cx="274043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sent to a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62986" y="2617832"/>
            <a:ext cx="507179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Supervisor hands tasks off to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2516" y="3764166"/>
            <a:ext cx="64453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Workers execute their tools and report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92858" y="4255456"/>
            <a:ext cx="3484093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back to the supervisor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2516" y="4910509"/>
            <a:ext cx="5380653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4. Supervisor responds to the user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2713" y="3109141"/>
            <a:ext cx="1168432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90670" y="1962798"/>
            <a:ext cx="2704528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supervisor</a:t>
            </a:r>
            <a:r>
              <a:rPr lang="en-US" sz="2658" i="1" spc="7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14909" y="2617851"/>
            <a:ext cx="1162088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worker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166812"/>
            <a:ext cx="7123700" cy="5834062"/>
            <a:chOff x="0" y="0"/>
            <a:chExt cx="9498266" cy="7778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7778750"/>
            </a:xfrm>
            <a:custGeom>
              <a:avLst/>
              <a:gdLst/>
              <a:ahLst/>
              <a:cxnLst/>
              <a:rect l="l" t="t" r="r" b="b"/>
              <a:pathLst>
                <a:path w="9498203" h="7778750">
                  <a:moveTo>
                    <a:pt x="0" y="0"/>
                  </a:moveTo>
                  <a:lnTo>
                    <a:pt x="9498203" y="0"/>
                  </a:lnTo>
                  <a:lnTo>
                    <a:pt x="9498203" y="7778750"/>
                  </a:lnTo>
                  <a:lnTo>
                    <a:pt x="0" y="777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76"/>
            <a:ext cx="8728910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Supervisor Multi-agents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24393" y="1962788"/>
            <a:ext cx="274043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sent to a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62986" y="2617841"/>
            <a:ext cx="507179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Supervisor hands tasks off to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2516" y="3764185"/>
            <a:ext cx="64453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Workers execute their tools and report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92858" y="4255475"/>
            <a:ext cx="3484093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back to the supervisor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2516" y="4910518"/>
            <a:ext cx="5380653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4. Supervisor responds to the user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2713" y="3109150"/>
            <a:ext cx="1168432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90670" y="1962807"/>
            <a:ext cx="2704528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supervisor</a:t>
            </a:r>
            <a:r>
              <a:rPr lang="en-US" sz="2658" i="1" spc="7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14909" y="2617861"/>
            <a:ext cx="1162088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worker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5684494" cy="8876900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1290" y="1166812"/>
            <a:ext cx="7123700" cy="5834062"/>
            <a:chOff x="0" y="0"/>
            <a:chExt cx="9498266" cy="7778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7778750"/>
            </a:xfrm>
            <a:custGeom>
              <a:avLst/>
              <a:gdLst/>
              <a:ahLst/>
              <a:cxnLst/>
              <a:rect l="l" t="t" r="r" b="b"/>
              <a:pathLst>
                <a:path w="9498203" h="7778750">
                  <a:moveTo>
                    <a:pt x="0" y="0"/>
                  </a:moveTo>
                  <a:lnTo>
                    <a:pt x="9498203" y="0"/>
                  </a:lnTo>
                  <a:lnTo>
                    <a:pt x="9498203" y="7778750"/>
                  </a:lnTo>
                  <a:lnTo>
                    <a:pt x="0" y="777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629404" y="8182632"/>
            <a:ext cx="5712447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290" y="225076"/>
            <a:ext cx="9138114" cy="774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4513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Supervisor Multi-agents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24393" y="1962788"/>
            <a:ext cx="274043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Input sent to a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62986" y="2617841"/>
            <a:ext cx="5071796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Supervisor hands tasks off to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2516" y="3764185"/>
            <a:ext cx="6445348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Workers execute their tools and report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92858" y="4255475"/>
            <a:ext cx="3484093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back to the supervisor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2516" y="4910518"/>
            <a:ext cx="5380653" cy="4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spc="7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4. Supervisor responds to the user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2713" y="3109150"/>
            <a:ext cx="1168432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90670" y="1962807"/>
            <a:ext cx="2704528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supervisor</a:t>
            </a:r>
            <a:r>
              <a:rPr lang="en-US" sz="2658" i="1" spc="7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14909" y="2617861"/>
            <a:ext cx="1162088" cy="45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i="1" spc="7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worker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234664" y="3247444"/>
            <a:ext cx="5210756" cy="1107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6"/>
              </a:lnSpc>
            </a:pPr>
            <a:r>
              <a:rPr lang="en-US" sz="6447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76556" y="4416085"/>
            <a:ext cx="85354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02938" y="4416085"/>
            <a:ext cx="7048748" cy="38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31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</a:t>
            </a:r>
            <a:r>
              <a:rPr lang="en-US" sz="2256" b="1" spc="3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2256" b="1" spc="31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SCALABLE</a:t>
            </a:r>
            <a:r>
              <a:rPr lang="en-US" sz="2256" b="1" spc="3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2256" b="1" spc="31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AGENTIC</a:t>
            </a:r>
            <a:r>
              <a:rPr lang="en-US" sz="2256" b="1" spc="3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2256" b="1" spc="31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831</Words>
  <Application>Microsoft Office PowerPoint</Application>
  <PresentationFormat>Custom</PresentationFormat>
  <Paragraphs>188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Open Sans</vt:lpstr>
      <vt:lpstr>IBM Plex Sans Bold</vt:lpstr>
      <vt:lpstr>Arial</vt:lpstr>
      <vt:lpstr>Open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chapter4.pdf</dc:title>
  <dc:creator>Chaitanya Gaajula</dc:creator>
  <cp:lastModifiedBy>Chaitanya Gaajula</cp:lastModifiedBy>
  <cp:revision>11</cp:revision>
  <dcterms:created xsi:type="dcterms:W3CDTF">2006-08-16T00:00:00Z</dcterms:created>
  <dcterms:modified xsi:type="dcterms:W3CDTF">2026-08-27T09:31:34Z</dcterms:modified>
  <dc:identifier>DAHHsRWtQZA</dc:identifier>
</cp:coreProperties>
</file>