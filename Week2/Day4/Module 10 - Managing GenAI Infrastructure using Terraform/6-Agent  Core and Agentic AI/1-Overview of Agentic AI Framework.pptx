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20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96" r:id="rId10"/>
    <p:sldId id="268" r:id="rId11"/>
    <p:sldId id="270" r:id="rId12"/>
    <p:sldId id="271" r:id="rId13"/>
    <p:sldId id="305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6" r:id="rId23"/>
    <p:sldId id="281" r:id="rId24"/>
    <p:sldId id="282" r:id="rId25"/>
    <p:sldId id="283" r:id="rId26"/>
    <p:sldId id="284" r:id="rId27"/>
    <p:sldId id="285" r:id="rId28"/>
    <p:sldId id="298" r:id="rId29"/>
    <p:sldId id="286" r:id="rId30"/>
    <p:sldId id="301" r:id="rId31"/>
    <p:sldId id="303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56" r:id="rId40"/>
    <p:sldId id="308" r:id="rId41"/>
    <p:sldId id="310" r:id="rId42"/>
    <p:sldId id="311" r:id="rId43"/>
    <p:sldId id="263" r:id="rId44"/>
    <p:sldId id="312" r:id="rId45"/>
    <p:sldId id="313" r:id="rId46"/>
    <p:sldId id="267" r:id="rId47"/>
    <p:sldId id="315" r:id="rId48"/>
    <p:sldId id="316" r:id="rId49"/>
    <p:sldId id="317" r:id="rId50"/>
    <p:sldId id="318" r:id="rId51"/>
    <p:sldId id="321" r:id="rId52"/>
    <p:sldId id="322" r:id="rId53"/>
    <p:sldId id="323" r:id="rId54"/>
    <p:sldId id="324" r:id="rId55"/>
    <p:sldId id="31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vWn9zISk2fVGcDgX0IBpg==" hashData="5r5mp/UGXgJs6n/iuzhl0zOm0HxkxuPeYbaHjmrNDHBRDHIs9r3nk5EvR1Rt8XY/kwOe4bY21MGZ0PPXhS2U3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74A0D-7F8B-43E2-A246-2D286DC908D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26F29-4E5A-4EDA-AC43-036EAE099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49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26F29-4E5A-4EDA-AC43-036EAE099EA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7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9CB2-915E-83E5-F031-99B5DD6C7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5076E-5AAA-0A87-E4E4-88F29F739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80268-605F-D7AD-0F76-BECC425F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E349-2FAE-4EB5-89A5-AACFEBBF2200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82E82-644A-D3D9-F099-DBAECE8A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5069F-2C5F-381C-123D-0884E455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2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95B9-C2A3-C4A6-FADE-8CCBCBC5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E438C-B439-E5D8-A04B-E0D7C1E17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A032B-34D7-B438-C2FC-34BDA04F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D9F6-E056-4583-9D8A-0268AAA11A52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9CFF-6E67-8FDF-1ED4-B7F20B79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6BA71-E997-F92F-EC2F-1854C9C7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B6D49-65D4-76DB-3C6B-ED93F730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0CFAE-07E9-ECE4-1CB8-E5B42D966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C7588-C43A-FF1D-0D28-690733F0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0BDC-3428-4AB2-BED8-F4AE1E19B957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CB401-041D-9BFF-B6BA-DD502FBA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3742-8074-8E00-5D20-7B1F1281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8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4BC2-479A-678C-F325-3272FFE4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7686-90A3-4C37-41CF-AEE79AB01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F2D0F-502F-DCF7-D748-B5F4F58B0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059EE-F31D-F2B1-8029-677D9DEA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A189-998C-444A-823C-1137184C9800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329C7-7427-134A-BA48-49F4A6FD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9C50-F03B-1A0F-2910-6499887F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99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16B8-0F99-ED60-2FC8-0336A113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871DA-D480-60F4-B958-94FA6A46F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BF17D-178F-D6BB-B00C-E3B1DEBCA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5B396-7674-1FD7-04B2-D371ABF72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0C0E10-833B-3E4E-92AF-585642D5A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40C1F-BFAC-9612-8F20-8C360D4A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2C4-220F-417C-A256-F6F8712559F3}" type="datetime1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9D1BA-42C6-EE76-BE23-905E00DB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F49E7-BEE8-C93B-2FAA-1D4E7F85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20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6BDF-C52D-38AA-DEDC-73A64D75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F3A4F-1CE9-8108-58C7-E7DF2131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73C8-3E3E-4B38-8EBA-0F0591019570}" type="datetime1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2E403-6669-8F51-270B-D79DB4C3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77772-E129-0B30-01D0-DE34F537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3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2EE07-5C1E-2DDA-C627-9240B436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05E33-9133-4339-8E2D-1A62E75FE1C7}" type="datetime1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C5C0C-E03F-BB10-AE0D-6E5D4ECD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D31A2-B1B0-0735-7740-F06EB00A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8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9A84-1805-7E08-9FD7-E07709A3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6A9A-91EC-299F-90ED-A52118FDE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0E563-75B6-C3A3-58E9-1A5863057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7F67-78E4-6247-791F-6D64F7BF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66D6-4260-4B4D-BAD9-CCEF5253D083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53C93-3EA4-420E-F32E-9CFFD7FE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08AB0-CB07-F3B5-A67F-DBF3FF9E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48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2BEF-6257-E99D-37C0-46E4E847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66D64-EBA5-50D2-50EC-68AF31812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27C73-8B1D-8DEB-98DB-F4D942098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78EEF-4A21-2B5E-FE37-8A18254D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9644-B371-4BE6-A96A-8D56CE2FB435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B1686-C84A-AF51-75C5-8807E376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BFB96-6AEA-8AA3-9A9A-8D9A47E1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9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9744-C221-E0E7-06B3-C93E8548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61970-8562-098D-4C7C-E4454D3C1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CE25-57DC-0292-0075-1FD565FB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2C41A-F8D0-4B2A-B182-DAD9DE4F1912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1B11-4CDA-7119-3568-A67857D7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1D35C-AA3A-96A8-CF64-F2481B9D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82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3E9C7-655A-69CF-872D-F222C167C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1B4D0-DAF0-54C4-2EAE-BB0E2C62E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37A69-7BF5-DE03-4DCF-5187378B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34AC7-2B2E-4746-9D99-D3C293AD3416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BEDD4-9547-C3DC-67E3-870577AB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67177-FEA5-AE31-9DC5-A1C220E5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7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79852-A48C-D048-6D73-E0EEE0C5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E748D-BA1E-D740-5B24-D9E22E742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D0FAB-2A52-4413-3FA4-090EB9A9E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78254-10C6-4EF4-9ED6-A6626422CC51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CF386-B76F-122A-A59A-681EFB400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CHIATANYA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F72D5-A165-0E53-35A2-1BA29BA35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21930-51BA-40E4-ABC4-3583C2E6D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6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922813-DC0F-E451-7339-BD97DA1C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D0272-9937-C110-AF83-BA42BD4B345E}"/>
              </a:ext>
            </a:extLst>
          </p:cNvPr>
          <p:cNvSpPr txBox="1"/>
          <p:nvPr/>
        </p:nvSpPr>
        <p:spPr>
          <a:xfrm>
            <a:off x="2163097" y="2123768"/>
            <a:ext cx="9537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Overview of Agentic AI Framework</a:t>
            </a:r>
          </a:p>
        </p:txBody>
      </p:sp>
    </p:spTree>
    <p:extLst>
      <p:ext uri="{BB962C8B-B14F-4D97-AF65-F5344CB8AC3E}">
        <p14:creationId xmlns:p14="http://schemas.microsoft.com/office/powerpoint/2010/main" val="400311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057362" y="1964750"/>
            <a:ext cx="6225148" cy="174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4"/>
              </a:lnSpc>
            </a:pPr>
            <a:r>
              <a:rPr lang="en-US" sz="5045" b="1" spc="5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is an AI Agent?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6578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41140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VP of AI Curriculum, DataCamp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1519032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Adel Nehme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EFA3C-17AB-8744-F872-48DE43B8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2111912" y="913157"/>
            <a:ext cx="7978113" cy="4854152"/>
            <a:chOff x="0" y="0"/>
            <a:chExt cx="13592340" cy="8270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92302" cy="8269986"/>
            </a:xfrm>
            <a:custGeom>
              <a:avLst/>
              <a:gdLst/>
              <a:ahLst/>
              <a:cxnLst/>
              <a:rect l="l" t="t" r="r" b="b"/>
              <a:pathLst>
                <a:path w="13592302" h="8269986">
                  <a:moveTo>
                    <a:pt x="0" y="0"/>
                  </a:moveTo>
                  <a:lnTo>
                    <a:pt x="13592302" y="0"/>
                  </a:lnTo>
                  <a:lnTo>
                    <a:pt x="13592302" y="8269986"/>
                  </a:lnTo>
                  <a:lnTo>
                    <a:pt x="0" y="8269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957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835297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Jeeves: Our Travel AI Agent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9E5D2DA-B11C-97FB-E099-35D3C646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397740" y="913157"/>
            <a:ext cx="11406457" cy="2947739"/>
            <a:chOff x="0" y="0"/>
            <a:chExt cx="19433222" cy="50220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33287" cy="5022088"/>
            </a:xfrm>
            <a:custGeom>
              <a:avLst/>
              <a:gdLst/>
              <a:ahLst/>
              <a:cxnLst/>
              <a:rect l="l" t="t" r="r" b="b"/>
              <a:pathLst>
                <a:path w="19433287" h="5022088">
                  <a:moveTo>
                    <a:pt x="0" y="0"/>
                  </a:moveTo>
                  <a:lnTo>
                    <a:pt x="19433287" y="0"/>
                  </a:lnTo>
                  <a:lnTo>
                    <a:pt x="19433287" y="5022088"/>
                  </a:lnTo>
                  <a:lnTo>
                    <a:pt x="0" y="5022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7739" y="176147"/>
            <a:ext cx="878558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Jeeves: Our Travel AI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143" y="4084431"/>
            <a:ext cx="11110929" cy="7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Jeeves, I'm travelling to Tokyo on June 26 and staying there until July 12. Help organize my trip.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96C7EEAA-2902-6DA8-4216-96E4763F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4"/>
              <a:ext cx="15556995" cy="725552"/>
            </a:xfrm>
            <a:custGeom>
              <a:avLst/>
              <a:gdLst/>
              <a:ahLst/>
              <a:cxnLst/>
              <a:rect l="l" t="t" r="r" b="b"/>
              <a:pathLst>
                <a:path w="15556995" h="725552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4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8"/>
            <a:ext cx="5575070" cy="3716708"/>
            <a:chOff x="0" y="0"/>
            <a:chExt cx="9498266" cy="63321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332220"/>
            </a:xfrm>
            <a:custGeom>
              <a:avLst/>
              <a:gdLst/>
              <a:ahLst/>
              <a:cxnLst/>
              <a:rect l="l" t="t" r="r" b="b"/>
              <a:pathLst>
                <a:path w="9498203" h="6332220">
                  <a:moveTo>
                    <a:pt x="0" y="0"/>
                  </a:moveTo>
                  <a:lnTo>
                    <a:pt x="9498203" y="0"/>
                  </a:lnTo>
                  <a:lnTo>
                    <a:pt x="9498203" y="6332220"/>
                  </a:lnTo>
                  <a:lnTo>
                    <a:pt x="0" y="633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1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8824918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Reasoning and Planning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93212" y="895282"/>
            <a:ext cx="4594756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Access your itinerary and calendar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45155" y="1407925"/>
            <a:ext cx="562448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Identify where you'll need to stay based 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81576" y="1792413"/>
            <a:ext cx="2801985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your meeting schedule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29135" y="2193248"/>
            <a:ext cx="4706392" cy="14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Identify relevant flights and hotels 4. Communicate the plan back to you 5. And finally, organize your travels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625E123-04EC-C7A9-8392-87E2C7D7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46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68"/>
              <a:ext cx="15556995" cy="725552"/>
            </a:xfrm>
            <a:custGeom>
              <a:avLst/>
              <a:gdLst/>
              <a:ahLst/>
              <a:cxnLst/>
              <a:rect l="l" t="t" r="r" b="b"/>
              <a:pathLst>
                <a:path w="15556995" h="725552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8"/>
            <a:ext cx="5575070" cy="3716708"/>
            <a:chOff x="0" y="0"/>
            <a:chExt cx="9498266" cy="63321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332220"/>
            </a:xfrm>
            <a:custGeom>
              <a:avLst/>
              <a:gdLst/>
              <a:ahLst/>
              <a:cxnLst/>
              <a:rect l="l" t="t" r="r" b="b"/>
              <a:pathLst>
                <a:path w="9498203" h="6332220">
                  <a:moveTo>
                    <a:pt x="0" y="0"/>
                  </a:moveTo>
                  <a:lnTo>
                    <a:pt x="9498203" y="0"/>
                  </a:lnTo>
                  <a:lnTo>
                    <a:pt x="9498203" y="6332220"/>
                  </a:lnTo>
                  <a:lnTo>
                    <a:pt x="0" y="633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1" y="176147"/>
            <a:ext cx="7045278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Taking 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93212" y="895282"/>
            <a:ext cx="5073735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Your calendar and email to understand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81576" y="1279770"/>
            <a:ext cx="340175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your itinerary and meetings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45155" y="1792420"/>
            <a:ext cx="5238841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Documentation on your company travel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81576" y="2176908"/>
            <a:ext cx="3456656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policy to ensure compliance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29134" y="2689558"/>
            <a:ext cx="5673243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Expedia and Booking.com to determine the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81576" y="3074046"/>
            <a:ext cx="2717796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best flights and hotels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29134" y="3586689"/>
            <a:ext cx="5013340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Communicates plan, and books travel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1576" y="3971177"/>
            <a:ext cx="1715648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arrangements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7CE3A02-15C0-731A-148A-B1422FBF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535185" y="1938459"/>
            <a:ext cx="9131576" cy="3524468"/>
            <a:chOff x="0" y="0"/>
            <a:chExt cx="15557500" cy="60046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57500" cy="6004687"/>
            </a:xfrm>
            <a:custGeom>
              <a:avLst/>
              <a:gdLst/>
              <a:ahLst/>
              <a:cxnLst/>
              <a:rect l="l" t="t" r="r" b="b"/>
              <a:pathLst>
                <a:path w="15557500" h="6004687">
                  <a:moveTo>
                    <a:pt x="0" y="0"/>
                  </a:moveTo>
                  <a:lnTo>
                    <a:pt x="15557500" y="0"/>
                  </a:lnTo>
                  <a:lnTo>
                    <a:pt x="15557500" y="6004687"/>
                  </a:lnTo>
                  <a:lnTo>
                    <a:pt x="0" y="6004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7740" y="176147"/>
            <a:ext cx="1179426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 Agents: Reasoning, Planning, and Acting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80991" y="895282"/>
            <a:ext cx="7607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144" y="895282"/>
            <a:ext cx="10963467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An AI model capable of </a:t>
            </a:r>
            <a:r>
              <a:rPr lang="en-US" sz="2018" spc="9" dirty="0" err="1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reasoning,planning,and</a:t>
            </a:r>
            <a:r>
              <a:rPr lang="en-US" sz="2018" spc="9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acting on a set of actions by interacting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8143" y="1279770"/>
            <a:ext cx="3745702" cy="336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with its environment.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006B974F-CCE7-CAB7-3C8E-0CEBE6DC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1415" y="5840161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740" y="176147"/>
            <a:ext cx="872659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 Agents: A Formal Definition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750142"/>
            <a:ext cx="11573880" cy="2278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027"/>
              </a:lnSpc>
              <a:buFont typeface="Wingdings" panose="05000000000000000000" pitchFamily="2" charset="2"/>
              <a:buChar char="§"/>
            </a:pPr>
            <a:r>
              <a:rPr lang="en-US" sz="2018" spc="9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An agent is a system that leverages an AI model to interact with its environment to achieve a user-defined objective. </a:t>
            </a:r>
          </a:p>
          <a:p>
            <a:pPr marL="342900" indent="-342900">
              <a:lnSpc>
                <a:spcPts val="3027"/>
              </a:lnSpc>
              <a:buFont typeface="Wingdings" panose="05000000000000000000" pitchFamily="2" charset="2"/>
              <a:buChar char="§"/>
            </a:pPr>
            <a:endParaRPr lang="en-US" sz="2018" spc="9" dirty="0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lnSpc>
                <a:spcPts val="3027"/>
              </a:lnSpc>
              <a:buFont typeface="Wingdings" panose="05000000000000000000" pitchFamily="2" charset="2"/>
              <a:buChar char="§"/>
            </a:pPr>
            <a:endParaRPr lang="en-US" sz="2018" spc="9" dirty="0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lnSpc>
                <a:spcPts val="3027"/>
              </a:lnSpc>
              <a:buFont typeface="Wingdings" panose="05000000000000000000" pitchFamily="2" charset="2"/>
              <a:buChar char="§"/>
            </a:pPr>
            <a:r>
              <a:rPr lang="en-US" sz="2018" spc="9" dirty="0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It combines reasoning, planning, and the execution of actions (often via external tools) to fulfill tasks.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BC92A4-9DE2-4BD9-5D3B-E587B56B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D7864-B916-E54E-A6A9-92E135038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885077"/>
            <a:ext cx="11828206" cy="52492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C6BA5-B603-5FD1-FDB2-1A95C323F4FE}"/>
              </a:ext>
            </a:extLst>
          </p:cNvPr>
          <p:cNvSpPr txBox="1"/>
          <p:nvPr/>
        </p:nvSpPr>
        <p:spPr>
          <a:xfrm>
            <a:off x="776748" y="0"/>
            <a:ext cx="6096000" cy="645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944"/>
              </a:lnSpc>
            </a:pPr>
            <a:r>
              <a:rPr lang="en-US" sz="2800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Spectrum of "Agency"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95B6D-4786-5544-5891-2A4169A1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1621458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30594" y="1464325"/>
            <a:ext cx="4647950" cy="373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5045" b="1" spc="5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Makes an</a:t>
            </a:r>
          </a:p>
          <a:p>
            <a:pPr algn="ctr">
              <a:lnSpc>
                <a:spcPts val="8829"/>
              </a:lnSpc>
            </a:pPr>
            <a:r>
              <a:rPr lang="en-US" sz="5045" b="1" spc="5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 Agentic?</a:t>
            </a:r>
          </a:p>
          <a:p>
            <a:pPr algn="ctr">
              <a:lnSpc>
                <a:spcPts val="3090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6578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41140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VP of AI Curriculum, DataCamp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1519032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Adel Nehme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966DB-E119-0BE8-3ADF-A7A4A4A8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8"/>
            <a:ext cx="11406457" cy="4213339"/>
            <a:chOff x="0" y="0"/>
            <a:chExt cx="19433222" cy="7178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7178294"/>
            </a:xfrm>
            <a:custGeom>
              <a:avLst/>
              <a:gdLst/>
              <a:ahLst/>
              <a:cxnLst/>
              <a:rect l="l" t="t" r="r" b="b"/>
              <a:pathLst>
                <a:path w="19433287" h="7178294">
                  <a:moveTo>
                    <a:pt x="0" y="0"/>
                  </a:moveTo>
                  <a:lnTo>
                    <a:pt x="19433287" y="0"/>
                  </a:lnTo>
                  <a:lnTo>
                    <a:pt x="19433287" y="7178294"/>
                  </a:lnTo>
                  <a:lnTo>
                    <a:pt x="0" y="7178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11902415" cy="73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18"/>
              </a:lnSpc>
            </a:pPr>
            <a:r>
              <a:rPr lang="en-US" sz="3600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Components of an agent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40D4115-0658-0037-1F49-0B80E698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913157"/>
            <a:ext cx="10252993" cy="4453645"/>
            <a:chOff x="0" y="0"/>
            <a:chExt cx="17468063" cy="7587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7587742"/>
            </a:xfrm>
            <a:custGeom>
              <a:avLst/>
              <a:gdLst/>
              <a:ahLst/>
              <a:cxnLst/>
              <a:rect l="l" t="t" r="r" b="b"/>
              <a:pathLst>
                <a:path w="17468087" h="7587742">
                  <a:moveTo>
                    <a:pt x="0" y="0"/>
                  </a:moveTo>
                  <a:lnTo>
                    <a:pt x="17468087" y="0"/>
                  </a:lnTo>
                  <a:lnTo>
                    <a:pt x="17468087" y="7587742"/>
                  </a:lnTo>
                  <a:lnTo>
                    <a:pt x="0" y="758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8199895" cy="1202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200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Components of an agent</a:t>
            </a:r>
          </a:p>
          <a:p>
            <a:pPr>
              <a:lnSpc>
                <a:spcPts val="4944"/>
              </a:lnSpc>
            </a:pPr>
            <a:endParaRPr lang="en-US" sz="3532" b="1" spc="3" dirty="0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DBA4C93-9306-4BF4-EC82-BF3C7B6B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5"/>
            <a:chOff x="63500" y="63500"/>
            <a:chExt cx="15556995" cy="874991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913150"/>
            <a:ext cx="10252993" cy="4453645"/>
            <a:chOff x="0" y="0"/>
            <a:chExt cx="17468063" cy="7587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7587742"/>
            </a:xfrm>
            <a:custGeom>
              <a:avLst/>
              <a:gdLst/>
              <a:ahLst/>
              <a:cxnLst/>
              <a:rect l="l" t="t" r="r" b="b"/>
              <a:pathLst>
                <a:path w="17468087" h="7587742">
                  <a:moveTo>
                    <a:pt x="0" y="0"/>
                  </a:moveTo>
                  <a:lnTo>
                    <a:pt x="17468087" y="0"/>
                  </a:lnTo>
                  <a:lnTo>
                    <a:pt x="17468087" y="7587742"/>
                  </a:lnTo>
                  <a:lnTo>
                    <a:pt x="0" y="758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8205486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Components of an agent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E0622D9-12A6-8C66-53E6-7FB6046F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97740" y="913158"/>
            <a:ext cx="11406457" cy="3716708"/>
            <a:chOff x="0" y="0"/>
            <a:chExt cx="19433222" cy="63321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33287" cy="6332220"/>
            </a:xfrm>
            <a:custGeom>
              <a:avLst/>
              <a:gdLst/>
              <a:ahLst/>
              <a:cxnLst/>
              <a:rect l="l" t="t" r="r" b="b"/>
              <a:pathLst>
                <a:path w="19433287" h="6332220">
                  <a:moveTo>
                    <a:pt x="0" y="0"/>
                  </a:moveTo>
                  <a:lnTo>
                    <a:pt x="19433287" y="0"/>
                  </a:lnTo>
                  <a:lnTo>
                    <a:pt x="19433287" y="6332220"/>
                  </a:lnTo>
                  <a:lnTo>
                    <a:pt x="0" y="633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7739" y="176147"/>
            <a:ext cx="8008841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Jeeves: Our AI Travel Agent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F6C9C43-36DF-9F3F-20C4-20AC34D0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  <p:extLst>
      <p:ext uri="{BB962C8B-B14F-4D97-AF65-F5344CB8AC3E}">
        <p14:creationId xmlns:p14="http://schemas.microsoft.com/office/powerpoint/2010/main" val="743995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2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0" y="176139"/>
            <a:ext cx="8647937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21768" y="895275"/>
            <a:ext cx="7607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8143" y="880366"/>
            <a:ext cx="5275837" cy="11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Jeeves, I am travelling toTokyo onJune26 and staying there until July 12. Help organize my trip.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22136" y="887835"/>
            <a:ext cx="4987063" cy="395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need to access your itinerary and calendar"</a:t>
            </a:r>
          </a:p>
          <a:p>
            <a:pPr algn="just">
              <a:lnSpc>
                <a:spcPts val="5045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need to access your email and</a:t>
            </a:r>
          </a:p>
          <a:p>
            <a:pPr algn="just">
              <a:lnSpc>
                <a:spcPts val="104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calendar to see your meeting schedule"</a:t>
            </a:r>
          </a:p>
          <a:p>
            <a:pPr algn="just">
              <a:lnSpc>
                <a:spcPts val="520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need to find flights that are compliant</a:t>
            </a:r>
          </a:p>
          <a:p>
            <a:pPr algn="just">
              <a:lnSpc>
                <a:spcPts val="104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with company policy"</a:t>
            </a:r>
          </a:p>
          <a:p>
            <a:pPr algn="just">
              <a:lnSpc>
                <a:spcPts val="520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need to find compliant hotels that are</a:t>
            </a:r>
          </a:p>
          <a:p>
            <a:pPr algn="just">
              <a:lnSpc>
                <a:spcPts val="104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close to your meetings"</a:t>
            </a:r>
          </a:p>
          <a:p>
            <a:pPr algn="just">
              <a:lnSpc>
                <a:spcPts val="520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need to communicate the travel</a:t>
            </a:r>
          </a:p>
          <a:p>
            <a:pPr algn="just">
              <a:lnSpc>
                <a:spcPts val="1040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arrangements in a digesitble format"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3448D4B-2DE4-F77B-D571-A7B8A614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1"/>
            <a:chOff x="0" y="0"/>
            <a:chExt cx="15684500" cy="8876894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913150"/>
            <a:ext cx="10252993" cy="4453645"/>
            <a:chOff x="0" y="0"/>
            <a:chExt cx="17468063" cy="7587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7587742"/>
            </a:xfrm>
            <a:custGeom>
              <a:avLst/>
              <a:gdLst/>
              <a:ahLst/>
              <a:cxnLst/>
              <a:rect l="l" t="t" r="r" b="b"/>
              <a:pathLst>
                <a:path w="17468087" h="7587742">
                  <a:moveTo>
                    <a:pt x="0" y="0"/>
                  </a:moveTo>
                  <a:lnTo>
                    <a:pt x="17468087" y="0"/>
                  </a:lnTo>
                  <a:lnTo>
                    <a:pt x="17468087" y="7587742"/>
                  </a:lnTo>
                  <a:lnTo>
                    <a:pt x="0" y="758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53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2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39"/>
            <a:ext cx="8107163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Tools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E3AD67E-7996-BC06-B7F6-CB67960F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246813" y="913150"/>
            <a:ext cx="9708304" cy="4533749"/>
            <a:chOff x="0" y="0"/>
            <a:chExt cx="16540074" cy="77241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7724140"/>
            </a:xfrm>
            <a:custGeom>
              <a:avLst/>
              <a:gdLst/>
              <a:ahLst/>
              <a:cxnLst/>
              <a:rect l="l" t="t" r="r" b="b"/>
              <a:pathLst>
                <a:path w="16540099" h="7724140">
                  <a:moveTo>
                    <a:pt x="0" y="0"/>
                  </a:moveTo>
                  <a:lnTo>
                    <a:pt x="16540099" y="0"/>
                  </a:lnTo>
                  <a:lnTo>
                    <a:pt x="16540099" y="7724140"/>
                  </a:lnTo>
                  <a:lnTo>
                    <a:pt x="0" y="7724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53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2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39"/>
            <a:ext cx="8588944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Tools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B5B29F0-2AE9-C9A7-9D45-92640FE2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46813" y="913158"/>
            <a:ext cx="9708304" cy="4325482"/>
            <a:chOff x="0" y="0"/>
            <a:chExt cx="16540074" cy="73693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40099" cy="7369302"/>
            </a:xfrm>
            <a:custGeom>
              <a:avLst/>
              <a:gdLst/>
              <a:ahLst/>
              <a:cxnLst/>
              <a:rect l="l" t="t" r="r" b="b"/>
              <a:pathLst>
                <a:path w="16540099" h="7369302">
                  <a:moveTo>
                    <a:pt x="0" y="0"/>
                  </a:moveTo>
                  <a:lnTo>
                    <a:pt x="16540099" y="0"/>
                  </a:lnTo>
                  <a:lnTo>
                    <a:pt x="16540099" y="7369302"/>
                  </a:lnTo>
                  <a:lnTo>
                    <a:pt x="0" y="7369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819989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Tools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75F00BD3-A305-499B-195E-7389C541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974468" y="913157"/>
            <a:ext cx="10253000" cy="4533749"/>
            <a:chOff x="0" y="0"/>
            <a:chExt cx="17468075" cy="77241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7724140"/>
            </a:xfrm>
            <a:custGeom>
              <a:avLst/>
              <a:gdLst/>
              <a:ahLst/>
              <a:cxnLst/>
              <a:rect l="l" t="t" r="r" b="b"/>
              <a:pathLst>
                <a:path w="17468087" h="7724140">
                  <a:moveTo>
                    <a:pt x="0" y="0"/>
                  </a:moveTo>
                  <a:lnTo>
                    <a:pt x="17468087" y="0"/>
                  </a:lnTo>
                  <a:lnTo>
                    <a:pt x="17468087" y="7724140"/>
                  </a:lnTo>
                  <a:lnTo>
                    <a:pt x="0" y="7724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765487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Tools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2B57DE5-3AE1-B5E2-E4B0-6BA8C0A6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4854152"/>
            <a:chOff x="0" y="0"/>
            <a:chExt cx="19433222" cy="8270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269986"/>
            </a:xfrm>
            <a:custGeom>
              <a:avLst/>
              <a:gdLst/>
              <a:ahLst/>
              <a:cxnLst/>
              <a:rect l="l" t="t" r="r" b="b"/>
              <a:pathLst>
                <a:path w="19433287" h="8269986">
                  <a:moveTo>
                    <a:pt x="0" y="0"/>
                  </a:moveTo>
                  <a:lnTo>
                    <a:pt x="19433287" y="0"/>
                  </a:lnTo>
                  <a:lnTo>
                    <a:pt x="19433287" y="8269986"/>
                  </a:lnTo>
                  <a:lnTo>
                    <a:pt x="0" y="8269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980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19879" y="6342428"/>
            <a:ext cx="1797541" cy="450936"/>
          </a:xfrm>
          <a:custGeom>
            <a:avLst/>
            <a:gdLst/>
            <a:ahLst/>
            <a:cxnLst/>
            <a:rect l="l" t="t" r="r" b="b"/>
            <a:pathLst>
              <a:path w="2296858" h="576196">
                <a:moveTo>
                  <a:pt x="0" y="0"/>
                </a:moveTo>
                <a:lnTo>
                  <a:pt x="2296859" y="0"/>
                </a:lnTo>
                <a:lnTo>
                  <a:pt x="2296859" y="576196"/>
                </a:lnTo>
                <a:lnTo>
                  <a:pt x="0" y="576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242" y="5859109"/>
            <a:ext cx="5689486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Wiesinger, J., Marlow, P., &amp; Vuskovic, V. (n.d.). Agents.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9650828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Orchestration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CE7087F-840E-847C-F61C-9FD8B36B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397740" y="913157"/>
            <a:ext cx="11406457" cy="4197320"/>
            <a:chOff x="0" y="0"/>
            <a:chExt cx="19433222" cy="71509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7150989"/>
            </a:xfrm>
            <a:custGeom>
              <a:avLst/>
              <a:gdLst/>
              <a:ahLst/>
              <a:cxnLst/>
              <a:rect l="l" t="t" r="r" b="b"/>
              <a:pathLst>
                <a:path w="19433287" h="7150989">
                  <a:moveTo>
                    <a:pt x="0" y="0"/>
                  </a:moveTo>
                  <a:lnTo>
                    <a:pt x="19433287" y="0"/>
                  </a:lnTo>
                  <a:lnTo>
                    <a:pt x="19433287" y="7150989"/>
                  </a:lnTo>
                  <a:lnTo>
                    <a:pt x="0" y="7150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9198544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Orchestration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042D547-15B1-1ACC-F743-92B3A387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974468" y="913157"/>
            <a:ext cx="10252993" cy="5110477"/>
            <a:chOff x="0" y="0"/>
            <a:chExt cx="17468063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8706739"/>
            </a:xfrm>
            <a:custGeom>
              <a:avLst/>
              <a:gdLst/>
              <a:ahLst/>
              <a:cxnLst/>
              <a:rect l="l" t="t" r="r" b="b"/>
              <a:pathLst>
                <a:path w="17468087" h="8706739">
                  <a:moveTo>
                    <a:pt x="0" y="0"/>
                  </a:moveTo>
                  <a:lnTo>
                    <a:pt x="17468087" y="0"/>
                  </a:lnTo>
                  <a:lnTo>
                    <a:pt x="174680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285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47"/>
            <a:ext cx="774337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 agentic application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96897F4-8376-6888-F3FB-B63A2F17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438346" y="1464325"/>
            <a:ext cx="5447988" cy="373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5045" b="1" spc="5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 Agent or Not to</a:t>
            </a:r>
          </a:p>
          <a:p>
            <a:pPr algn="ctr">
              <a:lnSpc>
                <a:spcPts val="8829"/>
              </a:lnSpc>
            </a:pPr>
            <a:r>
              <a:rPr lang="en-US" sz="5045" b="1" spc="5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Agent?</a:t>
            </a:r>
          </a:p>
          <a:p>
            <a:pPr algn="ctr">
              <a:lnSpc>
                <a:spcPts val="3090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6578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41140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VP of AI Curriculum, DataCamp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1519032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Adel Nehme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EEB0F1-1338-8BA1-B30E-F5C7903C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554736" y="5365371"/>
              <a:ext cx="81915" cy="1801369"/>
            </a:xfrm>
            <a:custGeom>
              <a:avLst/>
              <a:gdLst/>
              <a:ahLst/>
              <a:cxnLst/>
              <a:rect l="l" t="t" r="r" b="b"/>
              <a:pathLst>
                <a:path w="81915" h="1801369">
                  <a:moveTo>
                    <a:pt x="0" y="0"/>
                  </a:moveTo>
                  <a:lnTo>
                    <a:pt x="0" y="1801369"/>
                  </a:lnTo>
                  <a:lnTo>
                    <a:pt x="81915" y="1801369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4169" y="4293444"/>
            <a:ext cx="80105" cy="80105"/>
            <a:chOff x="0" y="0"/>
            <a:chExt cx="102349" cy="1023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34169" y="4806094"/>
            <a:ext cx="80105" cy="80105"/>
            <a:chOff x="0" y="0"/>
            <a:chExt cx="102349" cy="1023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34169" y="5318744"/>
            <a:ext cx="80105" cy="80105"/>
            <a:chOff x="0" y="0"/>
            <a:chExt cx="102349" cy="1023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229134" y="4149262"/>
            <a:ext cx="64078" cy="1537951"/>
            <a:chOff x="0" y="0"/>
            <a:chExt cx="81877" cy="19651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911" cy="1965201"/>
            </a:xfrm>
            <a:custGeom>
              <a:avLst/>
              <a:gdLst/>
              <a:ahLst/>
              <a:cxnLst/>
              <a:rect l="l" t="t" r="r" b="b"/>
              <a:pathLst>
                <a:path w="81911" h="1965201">
                  <a:moveTo>
                    <a:pt x="0" y="0"/>
                  </a:moveTo>
                  <a:lnTo>
                    <a:pt x="0" y="1965201"/>
                  </a:lnTo>
                  <a:lnTo>
                    <a:pt x="81911" y="1965201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58448" y="913157"/>
            <a:ext cx="4453645" cy="2979779"/>
            <a:chOff x="0" y="0"/>
            <a:chExt cx="7587691" cy="50766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87742" cy="5076698"/>
            </a:xfrm>
            <a:custGeom>
              <a:avLst/>
              <a:gdLst/>
              <a:ahLst/>
              <a:cxnLst/>
              <a:rect l="l" t="t" r="r" b="b"/>
              <a:pathLst>
                <a:path w="7587742" h="5076698">
                  <a:moveTo>
                    <a:pt x="0" y="0"/>
                  </a:moveTo>
                  <a:lnTo>
                    <a:pt x="7587742" y="0"/>
                  </a:lnTo>
                  <a:lnTo>
                    <a:pt x="7587742" y="5076698"/>
                  </a:lnTo>
                  <a:lnTo>
                    <a:pt x="0" y="507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789843" y="913157"/>
            <a:ext cx="4453645" cy="2979779"/>
            <a:chOff x="0" y="0"/>
            <a:chExt cx="7587691" cy="50766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87742" cy="5076698"/>
            </a:xfrm>
            <a:custGeom>
              <a:avLst/>
              <a:gdLst/>
              <a:ahLst/>
              <a:cxnLst/>
              <a:rect l="l" t="t" r="r" b="b"/>
              <a:pathLst>
                <a:path w="7587742" h="5076698">
                  <a:moveTo>
                    <a:pt x="0" y="0"/>
                  </a:moveTo>
                  <a:lnTo>
                    <a:pt x="7587742" y="0"/>
                  </a:lnTo>
                  <a:lnTo>
                    <a:pt x="7587742" y="5076698"/>
                  </a:lnTo>
                  <a:lnTo>
                    <a:pt x="0" y="507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565556" y="4293444"/>
            <a:ext cx="80105" cy="80105"/>
            <a:chOff x="0" y="0"/>
            <a:chExt cx="102349" cy="1023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7740" y="176147"/>
            <a:ext cx="8289742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 Tale of Two Customer Support Teams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0749" y="4027040"/>
            <a:ext cx="5077007" cy="147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track my order?"</a:t>
            </a:r>
          </a:p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return an item?"</a:t>
            </a:r>
          </a:p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change my shipping address?"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22136" y="4123947"/>
            <a:ext cx="5052952" cy="150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 was charged twice, but one order was cancelled, and I have store credit from a previous return that wasn't applied correctly"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2B962C5D-9919-AAD6-9DAE-2741F171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0" y="176147"/>
            <a:ext cx="11037176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Tale of Customer Support Team 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749" y="790937"/>
            <a:ext cx="5077007" cy="147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track my order?"</a:t>
            </a:r>
          </a:p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return an item?"</a:t>
            </a:r>
          </a:p>
          <a:p>
            <a:pPr>
              <a:lnSpc>
                <a:spcPts val="4036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"How do I change my shipping address?"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740" y="3081501"/>
            <a:ext cx="2153315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qualities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104" y="3603036"/>
            <a:ext cx="7843554" cy="14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They require simple decision-making</a:t>
            </a:r>
          </a:p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They do not require accessing customer information and history They all have discrete, predictable answers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B379FE-D815-9501-3C75-1FDB7C51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39" y="176147"/>
            <a:ext cx="1055539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Tale of Customer Support Team 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8225" y="895298"/>
            <a:ext cx="154909" cy="33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2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2385" y="895298"/>
            <a:ext cx="11144258" cy="33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2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"Iwas chargedtwice,but oneorderwascancelled,and I havestore credit from a previous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385" y="1279786"/>
            <a:ext cx="4554621" cy="33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2"/>
              </a:lnSpc>
            </a:pPr>
            <a:r>
              <a:rPr lang="en-US" sz="2080" i="1" spc="10">
                <a:solidFill>
                  <a:srgbClr val="05192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return that wasn't applied correctly."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7740" y="1928038"/>
            <a:ext cx="2153315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qualities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6104" y="2449581"/>
            <a:ext cx="6980505" cy="147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They require complex decision-making</a:t>
            </a:r>
          </a:p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They require accessing customer information and history They require adaptive solutions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8200F7-804C-1B7D-81C6-B6689C39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8"/>
            <a:ext cx="12274821" cy="6947139"/>
            <a:chOff x="0" y="0"/>
            <a:chExt cx="15684500" cy="887690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1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2"/>
                  </a:lnTo>
                  <a:lnTo>
                    <a:pt x="15556995" y="72555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54736" y="5365371"/>
              <a:ext cx="81915" cy="1637538"/>
            </a:xfrm>
            <a:custGeom>
              <a:avLst/>
              <a:gdLst/>
              <a:ahLst/>
              <a:cxnLst/>
              <a:rect l="l" t="t" r="r" b="b"/>
              <a:pathLst>
                <a:path w="81915" h="1637538">
                  <a:moveTo>
                    <a:pt x="0" y="0"/>
                  </a:moveTo>
                  <a:lnTo>
                    <a:pt x="0" y="1637538"/>
                  </a:lnTo>
                  <a:lnTo>
                    <a:pt x="81915" y="1637538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34169" y="4293444"/>
            <a:ext cx="80105" cy="80105"/>
            <a:chOff x="0" y="0"/>
            <a:chExt cx="102349" cy="1023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34169" y="5190582"/>
            <a:ext cx="80105" cy="80105"/>
            <a:chOff x="0" y="0"/>
            <a:chExt cx="102349" cy="1023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2" y="70864"/>
                  </a:cubicBezTo>
                  <a:cubicBezTo>
                    <a:pt x="97152" y="74039"/>
                    <a:pt x="95501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3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4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0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5" y="25526"/>
                    <a:pt x="97279" y="28447"/>
                    <a:pt x="98549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29134" y="4149262"/>
            <a:ext cx="64078" cy="1281626"/>
            <a:chOff x="0" y="0"/>
            <a:chExt cx="81877" cy="16376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911" cy="1637661"/>
            </a:xfrm>
            <a:custGeom>
              <a:avLst/>
              <a:gdLst/>
              <a:ahLst/>
              <a:cxnLst/>
              <a:rect l="l" t="t" r="r" b="b"/>
              <a:pathLst>
                <a:path w="81911" h="1637661">
                  <a:moveTo>
                    <a:pt x="0" y="0"/>
                  </a:moveTo>
                  <a:lnTo>
                    <a:pt x="0" y="1637661"/>
                  </a:lnTo>
                  <a:lnTo>
                    <a:pt x="81911" y="1637661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58448" y="913157"/>
            <a:ext cx="4453645" cy="2979779"/>
            <a:chOff x="0" y="0"/>
            <a:chExt cx="7587691" cy="50766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87742" cy="5076698"/>
            </a:xfrm>
            <a:custGeom>
              <a:avLst/>
              <a:gdLst/>
              <a:ahLst/>
              <a:cxnLst/>
              <a:rect l="l" t="t" r="r" b="b"/>
              <a:pathLst>
                <a:path w="7587742" h="5076698">
                  <a:moveTo>
                    <a:pt x="0" y="0"/>
                  </a:moveTo>
                  <a:lnTo>
                    <a:pt x="7587742" y="0"/>
                  </a:lnTo>
                  <a:lnTo>
                    <a:pt x="7587742" y="5076698"/>
                  </a:lnTo>
                  <a:lnTo>
                    <a:pt x="0" y="507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789843" y="913157"/>
            <a:ext cx="4453645" cy="2979779"/>
            <a:chOff x="0" y="0"/>
            <a:chExt cx="7587691" cy="50766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587742" cy="5076698"/>
            </a:xfrm>
            <a:custGeom>
              <a:avLst/>
              <a:gdLst/>
              <a:ahLst/>
              <a:cxnLst/>
              <a:rect l="l" t="t" r="r" b="b"/>
              <a:pathLst>
                <a:path w="7587742" h="5076698">
                  <a:moveTo>
                    <a:pt x="0" y="0"/>
                  </a:moveTo>
                  <a:lnTo>
                    <a:pt x="7587742" y="0"/>
                  </a:lnTo>
                  <a:lnTo>
                    <a:pt x="7587742" y="5076698"/>
                  </a:lnTo>
                  <a:lnTo>
                    <a:pt x="0" y="507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565556" y="4293444"/>
            <a:ext cx="80105" cy="80105"/>
            <a:chOff x="0" y="0"/>
            <a:chExt cx="102349" cy="1023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565556" y="4806094"/>
            <a:ext cx="80105" cy="80105"/>
            <a:chOff x="0" y="0"/>
            <a:chExt cx="102349" cy="1023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486" cy="102486"/>
            </a:xfrm>
            <a:custGeom>
              <a:avLst/>
              <a:gdLst/>
              <a:ahLst/>
              <a:cxnLst/>
              <a:rect l="l" t="t" r="r" b="b"/>
              <a:pathLst>
                <a:path w="102486" h="102486">
                  <a:moveTo>
                    <a:pt x="102359" y="51180"/>
                  </a:moveTo>
                  <a:cubicBezTo>
                    <a:pt x="102359" y="54482"/>
                    <a:pt x="101978" y="57911"/>
                    <a:pt x="101343" y="61212"/>
                  </a:cubicBezTo>
                  <a:cubicBezTo>
                    <a:pt x="100708" y="64514"/>
                    <a:pt x="99692" y="67689"/>
                    <a:pt x="98423" y="70864"/>
                  </a:cubicBezTo>
                  <a:cubicBezTo>
                    <a:pt x="97153" y="74039"/>
                    <a:pt x="95502" y="76960"/>
                    <a:pt x="93724" y="79754"/>
                  </a:cubicBezTo>
                  <a:cubicBezTo>
                    <a:pt x="91946" y="82548"/>
                    <a:pt x="89787" y="85088"/>
                    <a:pt x="87374" y="87501"/>
                  </a:cubicBezTo>
                  <a:cubicBezTo>
                    <a:pt x="84961" y="89914"/>
                    <a:pt x="82421" y="91946"/>
                    <a:pt x="79627" y="93851"/>
                  </a:cubicBezTo>
                  <a:cubicBezTo>
                    <a:pt x="76833" y="95756"/>
                    <a:pt x="73912" y="97280"/>
                    <a:pt x="70737" y="98550"/>
                  </a:cubicBezTo>
                  <a:cubicBezTo>
                    <a:pt x="67562" y="99819"/>
                    <a:pt x="64387" y="100835"/>
                    <a:pt x="61085" y="101470"/>
                  </a:cubicBezTo>
                  <a:cubicBezTo>
                    <a:pt x="57784" y="102105"/>
                    <a:pt x="54482" y="102486"/>
                    <a:pt x="51053" y="102486"/>
                  </a:cubicBezTo>
                  <a:cubicBezTo>
                    <a:pt x="47624" y="102486"/>
                    <a:pt x="44322" y="102105"/>
                    <a:pt x="41020" y="101470"/>
                  </a:cubicBezTo>
                  <a:cubicBezTo>
                    <a:pt x="37718" y="100835"/>
                    <a:pt x="34543" y="99819"/>
                    <a:pt x="31368" y="98550"/>
                  </a:cubicBezTo>
                  <a:cubicBezTo>
                    <a:pt x="28193" y="97280"/>
                    <a:pt x="25272" y="95629"/>
                    <a:pt x="22478" y="93851"/>
                  </a:cubicBezTo>
                  <a:cubicBezTo>
                    <a:pt x="19685" y="92073"/>
                    <a:pt x="17145" y="89914"/>
                    <a:pt x="14732" y="87501"/>
                  </a:cubicBezTo>
                  <a:cubicBezTo>
                    <a:pt x="12319" y="85088"/>
                    <a:pt x="10287" y="82548"/>
                    <a:pt x="8382" y="79754"/>
                  </a:cubicBezTo>
                  <a:cubicBezTo>
                    <a:pt x="6477" y="76960"/>
                    <a:pt x="4953" y="74039"/>
                    <a:pt x="3683" y="70864"/>
                  </a:cubicBezTo>
                  <a:cubicBezTo>
                    <a:pt x="2413" y="67689"/>
                    <a:pt x="1397" y="64514"/>
                    <a:pt x="762" y="61212"/>
                  </a:cubicBezTo>
                  <a:cubicBezTo>
                    <a:pt x="127" y="57911"/>
                    <a:pt x="0" y="54482"/>
                    <a:pt x="0" y="51180"/>
                  </a:cubicBezTo>
                  <a:cubicBezTo>
                    <a:pt x="0" y="47878"/>
                    <a:pt x="381" y="44449"/>
                    <a:pt x="1016" y="41147"/>
                  </a:cubicBezTo>
                  <a:cubicBezTo>
                    <a:pt x="1651" y="37845"/>
                    <a:pt x="2667" y="34670"/>
                    <a:pt x="3937" y="31495"/>
                  </a:cubicBezTo>
                  <a:cubicBezTo>
                    <a:pt x="5207" y="28320"/>
                    <a:pt x="6858" y="25399"/>
                    <a:pt x="8636" y="22605"/>
                  </a:cubicBezTo>
                  <a:cubicBezTo>
                    <a:pt x="10414" y="19811"/>
                    <a:pt x="12573" y="17272"/>
                    <a:pt x="14986" y="14859"/>
                  </a:cubicBezTo>
                  <a:cubicBezTo>
                    <a:pt x="17399" y="12446"/>
                    <a:pt x="19938" y="10414"/>
                    <a:pt x="22732" y="8509"/>
                  </a:cubicBezTo>
                  <a:cubicBezTo>
                    <a:pt x="25526" y="6604"/>
                    <a:pt x="28447" y="5080"/>
                    <a:pt x="31622" y="3810"/>
                  </a:cubicBezTo>
                  <a:cubicBezTo>
                    <a:pt x="34797" y="2540"/>
                    <a:pt x="37972" y="1524"/>
                    <a:pt x="41274" y="889"/>
                  </a:cubicBezTo>
                  <a:cubicBezTo>
                    <a:pt x="44576" y="254"/>
                    <a:pt x="47878" y="0"/>
                    <a:pt x="51180" y="0"/>
                  </a:cubicBezTo>
                  <a:cubicBezTo>
                    <a:pt x="54482" y="0"/>
                    <a:pt x="57911" y="381"/>
                    <a:pt x="61212" y="1016"/>
                  </a:cubicBezTo>
                  <a:cubicBezTo>
                    <a:pt x="64514" y="1651"/>
                    <a:pt x="67689" y="2667"/>
                    <a:pt x="70864" y="3937"/>
                  </a:cubicBezTo>
                  <a:cubicBezTo>
                    <a:pt x="74039" y="5207"/>
                    <a:pt x="76960" y="6858"/>
                    <a:pt x="79754" y="8636"/>
                  </a:cubicBezTo>
                  <a:cubicBezTo>
                    <a:pt x="82548" y="10414"/>
                    <a:pt x="85088" y="12573"/>
                    <a:pt x="87501" y="14986"/>
                  </a:cubicBezTo>
                  <a:cubicBezTo>
                    <a:pt x="89914" y="17399"/>
                    <a:pt x="91946" y="19938"/>
                    <a:pt x="93851" y="22732"/>
                  </a:cubicBezTo>
                  <a:cubicBezTo>
                    <a:pt x="95756" y="25526"/>
                    <a:pt x="97280" y="28447"/>
                    <a:pt x="98550" y="31622"/>
                  </a:cubicBezTo>
                  <a:cubicBezTo>
                    <a:pt x="99819" y="34797"/>
                    <a:pt x="100835" y="37972"/>
                    <a:pt x="101470" y="41274"/>
                  </a:cubicBezTo>
                  <a:cubicBezTo>
                    <a:pt x="102105" y="44576"/>
                    <a:pt x="102486" y="47878"/>
                    <a:pt x="102486" y="51307"/>
                  </a:cubicBezTo>
                  <a:close/>
                </a:path>
              </a:pathLst>
            </a:custGeom>
            <a:solidFill>
              <a:srgbClr val="05192D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6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2242" y="5859109"/>
            <a:ext cx="3385094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Images generated with GPT-4o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7740" y="176147"/>
            <a:ext cx="8289742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 Tale of Two Customer Support Teams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6515" y="4116477"/>
            <a:ext cx="4864834" cy="131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 simple chatbot trained on pre-trained knowledge.</a:t>
            </a:r>
          </a:p>
          <a:p>
            <a:pPr>
              <a:lnSpc>
                <a:spcPts val="504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No tool use or actions required.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37902" y="4019571"/>
            <a:ext cx="4520242" cy="128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Agentic solution with tool access Can generate remediation strategies</a:t>
            </a: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and update systems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1427E4FC-83ED-7E9F-8920-222F07AF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7"/>
            <a:ext cx="11406457" cy="5110477"/>
            <a:chOff x="0" y="0"/>
            <a:chExt cx="19433222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8706739"/>
            </a:xfrm>
            <a:custGeom>
              <a:avLst/>
              <a:gdLst/>
              <a:ahLst/>
              <a:cxnLst/>
              <a:rect l="l" t="t" r="r" b="b"/>
              <a:pathLst>
                <a:path w="19433287" h="8706739">
                  <a:moveTo>
                    <a:pt x="0" y="0"/>
                  </a:moveTo>
                  <a:lnTo>
                    <a:pt x="19433287" y="0"/>
                  </a:lnTo>
                  <a:lnTo>
                    <a:pt x="19433287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70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774426" y="6057526"/>
            <a:ext cx="5245493" cy="292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39" y="176147"/>
            <a:ext cx="665198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When to use agents?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F53871F-E393-38AC-255D-EC3D5807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0" y="176147"/>
            <a:ext cx="772370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When to Use AI Agents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4614" y="902737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740" y="902737"/>
            <a:ext cx="3388158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Criteria for using AI Agents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818" y="1536095"/>
            <a:ext cx="441540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Require complex decision-making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759" y="2048745"/>
            <a:ext cx="5167988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Require heavy reliance on unstructured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190" y="2433233"/>
            <a:ext cx="56918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7740" y="2834069"/>
            <a:ext cx="4442590" cy="96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Have difficult to maintain rules</a:t>
            </a:r>
          </a:p>
          <a:p>
            <a:pPr>
              <a:lnSpc>
                <a:spcPts val="4036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4. Require adaptive problem solving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9135" y="902737"/>
            <a:ext cx="3815888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Examples of agentic use cases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93212" y="1536095"/>
            <a:ext cx="512864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1. Autonomous customer support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45154" y="2048745"/>
            <a:ext cx="4955427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2. Coding assistants that can read code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1576" y="2418324"/>
            <a:ext cx="4820391" cy="7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bases, provide updates, and implement them automatically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29134" y="3330372"/>
            <a:ext cx="4654622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3. A deep research assistant that can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1576" y="3714852"/>
            <a:ext cx="2429670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synthesize research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BF18EAC-84B0-B2EC-BDC8-7BCF08F6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CHIATANYA TRAINING AND CONSULTANCY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1"/>
            <a:chOff x="63500" y="63500"/>
            <a:chExt cx="15556995" cy="874992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913150"/>
            <a:ext cx="5575070" cy="5110477"/>
            <a:chOff x="0" y="0"/>
            <a:chExt cx="9498266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8706739"/>
            </a:xfrm>
            <a:custGeom>
              <a:avLst/>
              <a:gdLst/>
              <a:ahLst/>
              <a:cxnLst/>
              <a:rect l="l" t="t" r="r" b="b"/>
              <a:pathLst>
                <a:path w="9498203" h="8706739">
                  <a:moveTo>
                    <a:pt x="0" y="0"/>
                  </a:moveTo>
                  <a:lnTo>
                    <a:pt x="9498203" y="0"/>
                  </a:lnTo>
                  <a:lnTo>
                    <a:pt x="9498203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191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2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9"/>
            <a:ext cx="9837641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sending reminder emails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9134" y="880367"/>
            <a:ext cx="1993032" cy="329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91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478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Open-ended  </a:t>
            </a:r>
          </a:p>
          <a:p>
            <a:pPr>
              <a:lnSpc>
                <a:spcPts val="3091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478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Complex  </a:t>
            </a:r>
          </a:p>
          <a:p>
            <a:pPr>
              <a:lnSpc>
                <a:spcPts val="3091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478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Adaptive  </a:t>
            </a:r>
          </a:p>
          <a:p>
            <a:pPr>
              <a:lnSpc>
                <a:spcPts val="3091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091"/>
              </a:lnSpc>
            </a:pPr>
            <a:r>
              <a:rPr lang="en-US" sz="2018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</a:t>
            </a:r>
            <a:r>
              <a:rPr lang="en-US" sz="2018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IT solution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156E5C9-239F-5AA6-C46D-ED19BA69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14266" y="913157"/>
            <a:ext cx="4742009" cy="5110477"/>
            <a:chOff x="0" y="0"/>
            <a:chExt cx="8078978" cy="870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78978" cy="8706739"/>
            </a:xfrm>
            <a:custGeom>
              <a:avLst/>
              <a:gdLst/>
              <a:ahLst/>
              <a:cxnLst/>
              <a:rect l="l" t="t" r="r" b="b"/>
              <a:pathLst>
                <a:path w="8078978" h="8706739">
                  <a:moveTo>
                    <a:pt x="0" y="0"/>
                  </a:moveTo>
                  <a:lnTo>
                    <a:pt x="8078978" y="0"/>
                  </a:lnTo>
                  <a:lnTo>
                    <a:pt x="8078978" y="8706739"/>
                  </a:lnTo>
                  <a:lnTo>
                    <a:pt x="0" y="870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25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49308" y="6403799"/>
            <a:ext cx="4470611" cy="61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BUILDING SCALABLE AGENTIC SYSTEMS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1" y="176147"/>
            <a:ext cx="840213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IT support 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9134" y="2516909"/>
            <a:ext cx="3824535" cy="205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7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Complex  </a:t>
            </a:r>
          </a:p>
          <a:p>
            <a:pPr>
              <a:lnSpc>
                <a:spcPts val="3108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497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Adaptive  </a:t>
            </a:r>
          </a:p>
          <a:p>
            <a:pPr>
              <a:lnSpc>
                <a:spcPts val="3108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>
              <a:lnSpc>
                <a:spcPts val="3108"/>
              </a:lnSpc>
            </a:pPr>
            <a:r>
              <a:rPr lang="en-US" sz="2018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</a:t>
            </a:r>
            <a:r>
              <a:rPr lang="en-US" sz="2018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Investigate AI agent 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29134" y="1475589"/>
            <a:ext cx="1993032" cy="812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78"/>
              </a:lnSpc>
            </a:pPr>
            <a:r>
              <a:rPr lang="en-US" sz="2270" b="1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Open-ended  </a:t>
            </a:r>
          </a:p>
          <a:p>
            <a:pPr>
              <a:lnSpc>
                <a:spcPts val="3091"/>
              </a:lnSpc>
            </a:pPr>
            <a:r>
              <a:rPr lang="en-US" sz="2018" spc="26">
                <a:solidFill>
                  <a:srgbClr val="05192D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8DF29AB-87F2-30C1-855D-832B69A8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46" y="-49697"/>
            <a:ext cx="12274821" cy="6947124"/>
            <a:chOff x="0" y="0"/>
            <a:chExt cx="15684500" cy="887688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0"/>
            </a:xfrm>
            <a:custGeom>
              <a:avLst/>
              <a:gdLst/>
              <a:ahLst/>
              <a:cxnLst/>
              <a:rect l="l" t="t" r="r" b="b"/>
              <a:pathLst>
                <a:path w="15556995" h="8749920">
                  <a:moveTo>
                    <a:pt x="0" y="0"/>
                  </a:moveTo>
                  <a:lnTo>
                    <a:pt x="0" y="8749920"/>
                  </a:lnTo>
                  <a:lnTo>
                    <a:pt x="15556995" y="874992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8087870"/>
              <a:ext cx="15556995" cy="725551"/>
            </a:xfrm>
            <a:custGeom>
              <a:avLst/>
              <a:gdLst/>
              <a:ahLst/>
              <a:cxnLst/>
              <a:rect l="l" t="t" r="r" b="b"/>
              <a:pathLst>
                <a:path w="15556995" h="725551">
                  <a:moveTo>
                    <a:pt x="0" y="0"/>
                  </a:moveTo>
                  <a:lnTo>
                    <a:pt x="0" y="725551"/>
                  </a:lnTo>
                  <a:lnTo>
                    <a:pt x="15556995" y="72555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0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1553949"/>
            <a:ext cx="11406457" cy="2242841"/>
            <a:chOff x="0" y="0"/>
            <a:chExt cx="19433222" cy="38211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3821176"/>
            </a:xfrm>
            <a:custGeom>
              <a:avLst/>
              <a:gdLst/>
              <a:ahLst/>
              <a:cxnLst/>
              <a:rect l="l" t="t" r="r" b="b"/>
              <a:pathLst>
                <a:path w="19433287" h="3821176">
                  <a:moveTo>
                    <a:pt x="0" y="0"/>
                  </a:moveTo>
                  <a:lnTo>
                    <a:pt x="19433287" y="0"/>
                  </a:lnTo>
                  <a:lnTo>
                    <a:pt x="19433287" y="3821176"/>
                  </a:lnTo>
                  <a:lnTo>
                    <a:pt x="0" y="3821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39" y="176132"/>
            <a:ext cx="930669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AI Agents Tooling Ecosystem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CCE1803-C95A-E5EB-BD52-0560CE6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397740" y="1553948"/>
            <a:ext cx="11406457" cy="2274881"/>
            <a:chOff x="0" y="0"/>
            <a:chExt cx="19433222" cy="3875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3875786"/>
            </a:xfrm>
            <a:custGeom>
              <a:avLst/>
              <a:gdLst/>
              <a:ahLst/>
              <a:cxnLst/>
              <a:rect l="l" t="t" r="r" b="b"/>
              <a:pathLst>
                <a:path w="19433287" h="3875786">
                  <a:moveTo>
                    <a:pt x="0" y="0"/>
                  </a:moveTo>
                  <a:lnTo>
                    <a:pt x="19433287" y="0"/>
                  </a:lnTo>
                  <a:lnTo>
                    <a:pt x="19433287" y="3875786"/>
                  </a:lnTo>
                  <a:lnTo>
                    <a:pt x="0" y="3875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996546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AI Agents Tooling Ecosystem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A617F9D-E102-6F51-5C41-364F337C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397740" y="1553949"/>
            <a:ext cx="11406457" cy="2210803"/>
            <a:chOff x="0" y="0"/>
            <a:chExt cx="19433222" cy="37665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3766566"/>
            </a:xfrm>
            <a:custGeom>
              <a:avLst/>
              <a:gdLst/>
              <a:ahLst/>
              <a:cxnLst/>
              <a:rect l="l" t="t" r="r" b="b"/>
              <a:pathLst>
                <a:path w="19433287" h="3766566">
                  <a:moveTo>
                    <a:pt x="0" y="0"/>
                  </a:moveTo>
                  <a:lnTo>
                    <a:pt x="19433287" y="0"/>
                  </a:lnTo>
                  <a:lnTo>
                    <a:pt x="19433287" y="3766566"/>
                  </a:lnTo>
                  <a:lnTo>
                    <a:pt x="0" y="3766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40" y="176132"/>
            <a:ext cx="957217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AI Agents Tooling Ecosystem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35BE409-183B-2036-27B1-199AF761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397740" y="1553949"/>
            <a:ext cx="11406457" cy="3011817"/>
            <a:chOff x="0" y="0"/>
            <a:chExt cx="19433222" cy="51312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33287" cy="5131308"/>
            </a:xfrm>
            <a:custGeom>
              <a:avLst/>
              <a:gdLst/>
              <a:ahLst/>
              <a:cxnLst/>
              <a:rect l="l" t="t" r="r" b="b"/>
              <a:pathLst>
                <a:path w="19433287" h="5131308">
                  <a:moveTo>
                    <a:pt x="0" y="0"/>
                  </a:moveTo>
                  <a:lnTo>
                    <a:pt x="19433287" y="0"/>
                  </a:lnTo>
                  <a:lnTo>
                    <a:pt x="19433287" y="5131308"/>
                  </a:lnTo>
                  <a:lnTo>
                    <a:pt x="0" y="5131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739" y="176132"/>
            <a:ext cx="9237873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AI Agents Tooling Ecosystem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14A7C76-B6C6-E6C7-252F-A17C6338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39" y="176132"/>
            <a:ext cx="894290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 vs Buy: A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7563" y="95078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9883" y="950780"/>
            <a:ext cx="232273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Off-the-Shelf</a:t>
            </a:r>
            <a:r>
              <a:rPr lang="en-US" sz="2018" b="1" spc="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883" y="1333367"/>
            <a:ext cx="7779238" cy="137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59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Tackling a specific domain or use-case (e.g. AI-assisted coding) Mature, well-tested solution already exists in market</a:t>
            </a:r>
          </a:p>
          <a:p>
            <a:pPr>
              <a:lnSpc>
                <a:spcPts val="3659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Want to minimize maintenance overhead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0A600E-0146-CC97-95B0-26E6355A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84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39" y="176132"/>
            <a:ext cx="887407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 vs Buy: A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7563" y="95078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9883" y="1032778"/>
            <a:ext cx="5369173" cy="102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Off-the-ShelfTools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Tackling a specific domain or use-case (e.g. AI-assisted coding)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84945" y="1032777"/>
            <a:ext cx="5351655" cy="102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Low-Code/No-Code Platforms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Need some customization but not complete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884" y="2128828"/>
            <a:ext cx="11286866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Mature, well-tested solution already exists inWorkflows are moderately complex but follow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883" y="2310610"/>
            <a:ext cx="5032952" cy="89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market</a:t>
            </a:r>
          </a:p>
          <a:p>
            <a:pPr>
              <a:lnSpc>
                <a:spcPts val="3657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Want to minimize maintenance overhead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84945" y="2467150"/>
            <a:ext cx="4990328" cy="179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common patterns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Want business users to modify the agent without engineering help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Need to integrate with existing systems quickly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322CC5D-F0FA-1D92-628A-3FB6BC3A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39" y="176147"/>
            <a:ext cx="8647937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Build vs Buy: A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883" y="1032792"/>
            <a:ext cx="3592086" cy="205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Off-the-Shelf Tools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Tackling a specific domain or use-case (e.g. AI-assisted coding)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Mature, well-tested solution already exists in market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9883" y="3572571"/>
            <a:ext cx="2836491" cy="51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Want to minimize maintenance overhead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38735" y="1032793"/>
            <a:ext cx="3763604" cy="384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Low-Code/No-Code Platforms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Need some customization but not complete control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Workflows are moderately complex but follow common patterns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Want business users to modify the agent without engineering help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Need to integrate with existing systems quickly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1775" y="2641493"/>
            <a:ext cx="2879890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Handling sensitive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775" y="1032793"/>
            <a:ext cx="3215336" cy="102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Agent Frameworks (Build)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Use case involves proprietary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1775" y="3572571"/>
            <a:ext cx="3411162" cy="231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Agent is core to</a:t>
            </a: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competitive advantage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No existing solution meets specialized requirements</a:t>
            </a:r>
          </a:p>
          <a:p>
            <a:pPr rtl="1">
              <a:lnSpc>
                <a:spcPts val="2018"/>
              </a:lnSpc>
            </a:pPr>
            <a:endParaRPr lang="en-US" sz="2018" spc="9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9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Need complete control over agent's behavior and evolution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CE48094-7DB1-D79D-3EBD-2F4B2B4C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CHIATANYA TRAINING AND CONSULTANCY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638273" y="2309899"/>
            <a:ext cx="6057172" cy="10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5045" b="1" spc="5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Working of Agent</a:t>
            </a:r>
            <a:endParaRPr lang="en-US" sz="1766" b="1" spc="2" dirty="0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6578" y="4875770"/>
            <a:ext cx="76347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9578" y="5234316"/>
            <a:ext cx="341140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VP of AI Curriculum, DataCamp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578" y="4875770"/>
            <a:ext cx="1519032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Adel Nehme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A7346F-6F00-0662-B024-7BC475CC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3"/>
            <a:chOff x="63500" y="63500"/>
            <a:chExt cx="15556995" cy="87499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5"/>
            </a:xfrm>
            <a:custGeom>
              <a:avLst/>
              <a:gdLst/>
              <a:ahLst/>
              <a:cxnLst/>
              <a:rect l="l" t="t" r="r" b="b"/>
              <a:pathLst>
                <a:path w="15556995" h="8749925">
                  <a:moveTo>
                    <a:pt x="0" y="0"/>
                  </a:moveTo>
                  <a:lnTo>
                    <a:pt x="0" y="8749925"/>
                  </a:lnTo>
                  <a:lnTo>
                    <a:pt x="15556995" y="8749925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4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4468" y="913157"/>
            <a:ext cx="10252993" cy="4453645"/>
            <a:chOff x="0" y="0"/>
            <a:chExt cx="17468063" cy="7587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68087" cy="7587742"/>
            </a:xfrm>
            <a:custGeom>
              <a:avLst/>
              <a:gdLst/>
              <a:ahLst/>
              <a:cxnLst/>
              <a:rect l="l" t="t" r="r" b="b"/>
              <a:pathLst>
                <a:path w="17468087" h="7587742">
                  <a:moveTo>
                    <a:pt x="0" y="0"/>
                  </a:moveTo>
                  <a:lnTo>
                    <a:pt x="17468087" y="0"/>
                  </a:lnTo>
                  <a:lnTo>
                    <a:pt x="17468087" y="7587742"/>
                  </a:lnTo>
                  <a:lnTo>
                    <a:pt x="0" y="758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0" y="176147"/>
            <a:ext cx="1201057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Agentic Trinity: Model, Tools, and Orchestration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DBC83EF-FAA7-F9DB-00A5-C0375008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5"/>
            <a:chOff x="63500" y="63500"/>
            <a:chExt cx="15556995" cy="8749919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9"/>
            </a:xfrm>
            <a:custGeom>
              <a:avLst/>
              <a:gdLst/>
              <a:ahLst/>
              <a:cxnLst/>
              <a:rect l="l" t="t" r="r" b="b"/>
              <a:pathLst>
                <a:path w="15556995" h="8749919">
                  <a:moveTo>
                    <a:pt x="0" y="0"/>
                  </a:moveTo>
                  <a:lnTo>
                    <a:pt x="0" y="8749919"/>
                  </a:lnTo>
                  <a:lnTo>
                    <a:pt x="15556995" y="8749919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8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672621" y="913157"/>
            <a:ext cx="6856688" cy="4693951"/>
            <a:chOff x="0" y="0"/>
            <a:chExt cx="11681765" cy="7997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81714" cy="7997063"/>
            </a:xfrm>
            <a:custGeom>
              <a:avLst/>
              <a:gdLst/>
              <a:ahLst/>
              <a:cxnLst/>
              <a:rect l="l" t="t" r="r" b="b"/>
              <a:pathLst>
                <a:path w="11681714" h="7997063">
                  <a:moveTo>
                    <a:pt x="0" y="0"/>
                  </a:moveTo>
                  <a:lnTo>
                    <a:pt x="11681714" y="0"/>
                  </a:lnTo>
                  <a:lnTo>
                    <a:pt x="11681714" y="7997063"/>
                  </a:lnTo>
                  <a:lnTo>
                    <a:pt x="0" y="799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741" y="176147"/>
            <a:ext cx="10830698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8D3C0F1-987D-841F-6FBD-BE8C9E66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0"/>
            <a:chOff x="63500" y="63500"/>
            <a:chExt cx="15556995" cy="874992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2"/>
            </a:xfrm>
            <a:custGeom>
              <a:avLst/>
              <a:gdLst/>
              <a:ahLst/>
              <a:cxnLst/>
              <a:rect l="l" t="t" r="r" b="b"/>
              <a:pathLst>
                <a:path w="15556995" h="8749922">
                  <a:moveTo>
                    <a:pt x="0" y="0"/>
                  </a:moveTo>
                  <a:lnTo>
                    <a:pt x="0" y="8749922"/>
                  </a:lnTo>
                  <a:lnTo>
                    <a:pt x="15556995" y="8749922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1553971"/>
            <a:ext cx="5575070" cy="3828851"/>
            <a:chOff x="0" y="0"/>
            <a:chExt cx="9498266" cy="65232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523228"/>
            </a:xfrm>
            <a:custGeom>
              <a:avLst/>
              <a:gdLst/>
              <a:ahLst/>
              <a:cxnLst/>
              <a:rect l="l" t="t" r="r" b="b"/>
              <a:pathLst>
                <a:path w="9498203" h="6523228">
                  <a:moveTo>
                    <a:pt x="0" y="0"/>
                  </a:moveTo>
                  <a:lnTo>
                    <a:pt x="9498203" y="0"/>
                  </a:lnTo>
                  <a:lnTo>
                    <a:pt x="9498203" y="6523228"/>
                  </a:lnTo>
                  <a:lnTo>
                    <a:pt x="0" y="6523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229134" y="2835596"/>
            <a:ext cx="64078" cy="768976"/>
            <a:chOff x="0" y="0"/>
            <a:chExt cx="81877" cy="9825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911" cy="982594"/>
            </a:xfrm>
            <a:custGeom>
              <a:avLst/>
              <a:gdLst/>
              <a:ahLst/>
              <a:cxnLst/>
              <a:rect l="l" t="t" r="r" b="b"/>
              <a:pathLst>
                <a:path w="81911" h="982594">
                  <a:moveTo>
                    <a:pt x="0" y="0"/>
                  </a:moveTo>
                  <a:lnTo>
                    <a:pt x="0" y="982594"/>
                  </a:lnTo>
                  <a:lnTo>
                    <a:pt x="81911" y="982594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1" y="176147"/>
            <a:ext cx="8210129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9537" y="2802812"/>
            <a:ext cx="5132043" cy="7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Thought: The model decides the next step based on the user prompt.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90695CF4-5BD1-9031-353D-5AF4260E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5"/>
            <a:chOff x="63500" y="63500"/>
            <a:chExt cx="15556995" cy="874991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1553971"/>
            <a:ext cx="5575070" cy="3828851"/>
            <a:chOff x="0" y="0"/>
            <a:chExt cx="9498266" cy="65232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523228"/>
            </a:xfrm>
            <a:custGeom>
              <a:avLst/>
              <a:gdLst/>
              <a:ahLst/>
              <a:cxnLst/>
              <a:rect l="l" t="t" r="r" b="b"/>
              <a:pathLst>
                <a:path w="9498203" h="6523228">
                  <a:moveTo>
                    <a:pt x="0" y="0"/>
                  </a:moveTo>
                  <a:lnTo>
                    <a:pt x="9498203" y="0"/>
                  </a:lnTo>
                  <a:lnTo>
                    <a:pt x="9498203" y="6523228"/>
                  </a:lnTo>
                  <a:lnTo>
                    <a:pt x="0" y="6523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229134" y="2835596"/>
            <a:ext cx="64078" cy="768976"/>
            <a:chOff x="0" y="0"/>
            <a:chExt cx="81877" cy="9825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911" cy="982594"/>
            </a:xfrm>
            <a:custGeom>
              <a:avLst/>
              <a:gdLst/>
              <a:ahLst/>
              <a:cxnLst/>
              <a:rect l="l" t="t" r="r" b="b"/>
              <a:pathLst>
                <a:path w="81911" h="982594">
                  <a:moveTo>
                    <a:pt x="0" y="0"/>
                  </a:moveTo>
                  <a:lnTo>
                    <a:pt x="0" y="982594"/>
                  </a:lnTo>
                  <a:lnTo>
                    <a:pt x="81911" y="982594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1" y="176147"/>
            <a:ext cx="8210129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9537" y="2802812"/>
            <a:ext cx="4576716" cy="7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Action: The agent takes an action, by calling the tools at their disposal.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39C53B1-4402-4F35-ADE7-4C1937AD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5"/>
            <a:chOff x="63500" y="63500"/>
            <a:chExt cx="15556995" cy="874991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97740" y="1553964"/>
            <a:ext cx="5575070" cy="3828851"/>
            <a:chOff x="0" y="0"/>
            <a:chExt cx="9498266" cy="65232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8203" cy="6523228"/>
            </a:xfrm>
            <a:custGeom>
              <a:avLst/>
              <a:gdLst/>
              <a:ahLst/>
              <a:cxnLst/>
              <a:rect l="l" t="t" r="r" b="b"/>
              <a:pathLst>
                <a:path w="9498203" h="6523228">
                  <a:moveTo>
                    <a:pt x="0" y="0"/>
                  </a:moveTo>
                  <a:lnTo>
                    <a:pt x="9498203" y="0"/>
                  </a:lnTo>
                  <a:lnTo>
                    <a:pt x="9498203" y="6523228"/>
                  </a:lnTo>
                  <a:lnTo>
                    <a:pt x="0" y="6523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229134" y="2835590"/>
            <a:ext cx="64078" cy="1153463"/>
            <a:chOff x="0" y="0"/>
            <a:chExt cx="81877" cy="14738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911" cy="1473840"/>
            </a:xfrm>
            <a:custGeom>
              <a:avLst/>
              <a:gdLst/>
              <a:ahLst/>
              <a:cxnLst/>
              <a:rect l="l" t="t" r="r" b="b"/>
              <a:pathLst>
                <a:path w="81911" h="1473840">
                  <a:moveTo>
                    <a:pt x="0" y="0"/>
                  </a:moveTo>
                  <a:lnTo>
                    <a:pt x="0" y="1473840"/>
                  </a:lnTo>
                  <a:lnTo>
                    <a:pt x="81911" y="1473840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1415" y="5840161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1" y="176147"/>
            <a:ext cx="8210129" cy="120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9537" y="2802806"/>
            <a:ext cx="4892810" cy="11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Observation: The model reflects on the response from the tool. Feeding into the next set of thoughts and actions.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207610C-0C21-8406-B77A-F94F8044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5"/>
            <a:chOff x="63500" y="63500"/>
            <a:chExt cx="15556995" cy="874991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16"/>
            </a:xfrm>
            <a:custGeom>
              <a:avLst/>
              <a:gdLst/>
              <a:ahLst/>
              <a:cxnLst/>
              <a:rect l="l" t="t" r="r" b="b"/>
              <a:pathLst>
                <a:path w="15556995" h="8749916">
                  <a:moveTo>
                    <a:pt x="0" y="0"/>
                  </a:moveTo>
                  <a:lnTo>
                    <a:pt x="0" y="8749916"/>
                  </a:lnTo>
                  <a:lnTo>
                    <a:pt x="15556995" y="874991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65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7"/>
                  </a:lnTo>
                  <a:lnTo>
                    <a:pt x="15556995" y="20447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58448" y="913150"/>
            <a:ext cx="4453645" cy="4453645"/>
            <a:chOff x="0" y="0"/>
            <a:chExt cx="7587691" cy="7587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87742" cy="7587742"/>
            </a:xfrm>
            <a:custGeom>
              <a:avLst/>
              <a:gdLst/>
              <a:ahLst/>
              <a:cxnLst/>
              <a:rect l="l" t="t" r="r" b="b"/>
              <a:pathLst>
                <a:path w="7587742" h="7587742">
                  <a:moveTo>
                    <a:pt x="0" y="0"/>
                  </a:moveTo>
                  <a:lnTo>
                    <a:pt x="7587742" y="0"/>
                  </a:lnTo>
                  <a:lnTo>
                    <a:pt x="7587742" y="7587742"/>
                  </a:lnTo>
                  <a:lnTo>
                    <a:pt x="0" y="758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229134" y="2835589"/>
            <a:ext cx="64078" cy="768976"/>
            <a:chOff x="0" y="0"/>
            <a:chExt cx="81877" cy="9825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911" cy="982594"/>
            </a:xfrm>
            <a:custGeom>
              <a:avLst/>
              <a:gdLst/>
              <a:ahLst/>
              <a:cxnLst/>
              <a:rect l="l" t="t" r="r" b="b"/>
              <a:pathLst>
                <a:path w="81911" h="982594">
                  <a:moveTo>
                    <a:pt x="0" y="0"/>
                  </a:moveTo>
                  <a:lnTo>
                    <a:pt x="0" y="982594"/>
                  </a:lnTo>
                  <a:lnTo>
                    <a:pt x="81911" y="982594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1415" y="5840161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0" y="176147"/>
            <a:ext cx="10565228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 Customer Support Agent Example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9538" y="2802805"/>
            <a:ext cx="5320287" cy="74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7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"I forgot to cancel my subscription and was accidentally billed. Help me get a refund."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20FB568-FE7C-2A68-9C4D-0C7AED66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1" y="176147"/>
            <a:ext cx="11214156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884" y="950795"/>
            <a:ext cx="1970564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Cycle</a:t>
            </a:r>
            <a:r>
              <a:rPr lang="en-US" sz="2018" b="1" spc="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Thought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9061" y="1489930"/>
            <a:ext cx="3489335" cy="77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"I need to understand this customer's situation. Let me check their account details."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883" y="1664258"/>
            <a:ext cx="9490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48523" y="1032792"/>
            <a:ext cx="2720144" cy="128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Access customer database and retrieve subscription history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2484" y="1032793"/>
            <a:ext cx="2859756" cy="128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Observation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Customer has premium plan, renewed 3 days ago for $99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7BA4478-B779-74C4-3256-4F47588D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1" y="176147"/>
            <a:ext cx="10840530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884" y="950795"/>
            <a:ext cx="1970564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Cycle</a:t>
            </a:r>
            <a:r>
              <a:rPr lang="en-US" sz="2018" b="1" spc="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Thought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9061" y="1489931"/>
            <a:ext cx="3794449" cy="179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"I need to understand this customer's situation. Let me check their account details."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"The renewal is recent. I should check our refund policy for accidental renewals."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883" y="1664258"/>
            <a:ext cx="9490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883" y="2641493"/>
            <a:ext cx="14013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2400" y="1032792"/>
            <a:ext cx="2804333" cy="231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Access customer database and retrieve subscription history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Query company policy database for refund rules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12282" y="1032792"/>
            <a:ext cx="3029708" cy="231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Observation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Customer has premium plan, renewed 3 days ago for $99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Policy allows full refunds within 7 days for accidental renewals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5DF21F-1E35-19A7-1430-0ED8A3AB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1" y="176147"/>
            <a:ext cx="11840634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884" y="950795"/>
            <a:ext cx="1970564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Cycle</a:t>
            </a:r>
            <a:r>
              <a:rPr lang="en-US" sz="2018" b="1" spc="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Thought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9060" y="1489931"/>
            <a:ext cx="3941390" cy="256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"I need to understand this customer's situation. Let me check their account details."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"The renewal is recent. I should check our refund policy for accidental renewals."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"Great, they qualify! Now I need to process the refund."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883" y="1664258"/>
            <a:ext cx="9490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883" y="2641493"/>
            <a:ext cx="14013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883" y="3618736"/>
            <a:ext cx="14719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2400" y="1032792"/>
            <a:ext cx="2804333" cy="333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Access customer database and retrieve subscription history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Query company policy database for refund rules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Initiate refund transaction through payment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12282" y="1032792"/>
            <a:ext cx="3029708" cy="308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Observation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Customer has premium plan, renewed 3 days ago for $99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Policy allows full refunds within 7 days for accidental renewals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Refund of $99 successfully processed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F3B5ACF-3CDB-787C-55EC-C9ED7FA3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741" y="176147"/>
            <a:ext cx="11284375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9884" y="950795"/>
            <a:ext cx="1970564" cy="32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Cycle</a:t>
            </a:r>
            <a:r>
              <a:rPr lang="en-US" sz="2018" b="1" spc="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Thought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9061" y="1618093"/>
            <a:ext cx="4226108" cy="77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"I need to understand this customer's situation. Let me check their account details."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883" y="1792420"/>
            <a:ext cx="94909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9061" y="2851653"/>
            <a:ext cx="3794449" cy="77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"The renewal is recent. I should check our refund policy for accidental renewals."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883" y="3025981"/>
            <a:ext cx="14013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9883" y="4131386"/>
            <a:ext cx="14719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060" y="4085221"/>
            <a:ext cx="4262970" cy="179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"Great, they qualify! Now I need to process the refund."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"Refund complete. I should update the customer and cancel their subscription to prevent future charges."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9883" y="5236784"/>
            <a:ext cx="151644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36887" y="1032792"/>
            <a:ext cx="2720144" cy="128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Access customer database and retrieve subscription history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36888" y="2851654"/>
            <a:ext cx="2804333" cy="308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Query company policy database for refund rules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Initiate refund transaction through payment system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Send confirmation email and update subscription status to 'cancelled'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12790" y="1032793"/>
            <a:ext cx="2605891" cy="5132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</a:pPr>
            <a:r>
              <a:rPr lang="en-US" sz="2018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Observation</a:t>
            </a:r>
          </a:p>
          <a:p>
            <a:pPr rtl="1">
              <a:lnSpc>
                <a:spcPts val="2018"/>
              </a:lnSpc>
            </a:pPr>
            <a:endParaRPr lang="en-US" sz="2018" b="1" spc="2">
              <a:solidFill>
                <a:srgbClr val="05192D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Customer has premium plan, renewed 3 days ago for $99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Policy allows full refunds within 7 days for accidental renewals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Refund of $99 successfully processed</a:t>
            </a:r>
          </a:p>
          <a:p>
            <a:pPr rtl="1">
              <a:lnSpc>
                <a:spcPts val="2018"/>
              </a:lnSpc>
            </a:pPr>
            <a:endParaRPr lang="en-US" sz="2018" spc="5">
              <a:solidFill>
                <a:srgbClr val="0519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18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Email sent, subscription cancelled, ticket can be closed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FE39411-1E70-92A3-F635-56864497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0" y="-2"/>
            <a:ext cx="12175035" cy="6847761"/>
            <a:chOff x="63500" y="63500"/>
            <a:chExt cx="15556995" cy="8749921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5556995" cy="11430"/>
            </a:xfrm>
            <a:custGeom>
              <a:avLst/>
              <a:gdLst/>
              <a:ahLst/>
              <a:cxnLst/>
              <a:rect l="l" t="t" r="r" b="b"/>
              <a:pathLst>
                <a:path w="15556995" h="11430">
                  <a:moveTo>
                    <a:pt x="0" y="0"/>
                  </a:moveTo>
                  <a:lnTo>
                    <a:pt x="0" y="11430"/>
                  </a:lnTo>
                  <a:lnTo>
                    <a:pt x="15556995" y="11430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5556995" cy="8749921"/>
            </a:xfrm>
            <a:custGeom>
              <a:avLst/>
              <a:gdLst/>
              <a:ahLst/>
              <a:cxnLst/>
              <a:rect l="l" t="t" r="r" b="b"/>
              <a:pathLst>
                <a:path w="15556995" h="8749921">
                  <a:moveTo>
                    <a:pt x="0" y="0"/>
                  </a:moveTo>
                  <a:lnTo>
                    <a:pt x="0" y="8749921"/>
                  </a:lnTo>
                  <a:lnTo>
                    <a:pt x="15556995" y="8749921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8087871"/>
              <a:ext cx="15556995" cy="20447"/>
            </a:xfrm>
            <a:custGeom>
              <a:avLst/>
              <a:gdLst/>
              <a:ahLst/>
              <a:cxnLst/>
              <a:rect l="l" t="t" r="r" b="b"/>
              <a:pathLst>
                <a:path w="15556995" h="20447">
                  <a:moveTo>
                    <a:pt x="0" y="0"/>
                  </a:moveTo>
                  <a:lnTo>
                    <a:pt x="0" y="20446"/>
                  </a:lnTo>
                  <a:lnTo>
                    <a:pt x="15556995" y="20446"/>
                  </a:lnTo>
                  <a:lnTo>
                    <a:pt x="15556995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70085" y="913157"/>
            <a:ext cx="5030380" cy="4854152"/>
            <a:chOff x="0" y="0"/>
            <a:chExt cx="8570278" cy="8270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0214" cy="8269986"/>
            </a:xfrm>
            <a:custGeom>
              <a:avLst/>
              <a:gdLst/>
              <a:ahLst/>
              <a:cxnLst/>
              <a:rect l="l" t="t" r="r" b="b"/>
              <a:pathLst>
                <a:path w="8570214" h="8269986">
                  <a:moveTo>
                    <a:pt x="0" y="0"/>
                  </a:moveTo>
                  <a:lnTo>
                    <a:pt x="8570214" y="0"/>
                  </a:lnTo>
                  <a:lnTo>
                    <a:pt x="8570214" y="8269986"/>
                  </a:lnTo>
                  <a:lnTo>
                    <a:pt x="0" y="8269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30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229134" y="2835596"/>
            <a:ext cx="64078" cy="384488"/>
            <a:chOff x="0" y="0"/>
            <a:chExt cx="81877" cy="4912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911" cy="491233"/>
            </a:xfrm>
            <a:custGeom>
              <a:avLst/>
              <a:gdLst/>
              <a:ahLst/>
              <a:cxnLst/>
              <a:rect l="l" t="t" r="r" b="b"/>
              <a:pathLst>
                <a:path w="81911" h="491233">
                  <a:moveTo>
                    <a:pt x="0" y="0"/>
                  </a:moveTo>
                  <a:lnTo>
                    <a:pt x="0" y="491233"/>
                  </a:lnTo>
                  <a:lnTo>
                    <a:pt x="81911" y="491233"/>
                  </a:lnTo>
                  <a:lnTo>
                    <a:pt x="81911" y="0"/>
                  </a:lnTo>
                  <a:close/>
                </a:path>
              </a:pathLst>
            </a:custGeom>
            <a:solidFill>
              <a:srgbClr val="E5E1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41415" y="5840168"/>
            <a:ext cx="62281" cy="22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4"/>
              </a:lnSpc>
            </a:pPr>
            <a:r>
              <a:rPr lang="en-US" sz="1324" spc="4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2243" y="5859109"/>
            <a:ext cx="3277348" cy="29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 Image generated with GPT-4o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97635" y="6403799"/>
            <a:ext cx="3401337" cy="29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72"/>
              </a:lnSpc>
            </a:pPr>
            <a:r>
              <a:rPr lang="en-US" sz="1766" b="1" spc="2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 TO AI AGENTS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741" y="176147"/>
            <a:ext cx="11263317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44"/>
              </a:lnSpc>
            </a:pPr>
            <a:r>
              <a:rPr lang="en-US" sz="3532" b="1" spc="3" dirty="0">
                <a:solidFill>
                  <a:srgbClr val="0519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Thought-Action-Observation Cycle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9537" y="2817721"/>
            <a:ext cx="4684431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en-US" sz="2018" spc="5">
                <a:solidFill>
                  <a:srgbClr val="05192D"/>
                </a:solidFill>
                <a:latin typeface="Open Sans"/>
                <a:ea typeface="Open Sans"/>
                <a:cs typeface="Open Sans"/>
                <a:sym typeface="Open Sans"/>
              </a:rPr>
              <a:t>Final action: Ticket now can be closed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0B29F2E-6EF0-7776-29AC-75BA4483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BE7F4C-2FB3-A558-67B2-ADDD89FC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7B207-9D99-2EF1-8164-F0A756871FC9}"/>
              </a:ext>
            </a:extLst>
          </p:cNvPr>
          <p:cNvSpPr txBox="1"/>
          <p:nvPr/>
        </p:nvSpPr>
        <p:spPr>
          <a:xfrm>
            <a:off x="2576051" y="2428568"/>
            <a:ext cx="790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Lifecycle of AI Agent</a:t>
            </a:r>
          </a:p>
        </p:txBody>
      </p:sp>
    </p:spTree>
    <p:extLst>
      <p:ext uri="{BB962C8B-B14F-4D97-AF65-F5344CB8AC3E}">
        <p14:creationId xmlns:p14="http://schemas.microsoft.com/office/powerpoint/2010/main" val="14111995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1E9F5D-5A00-8729-7166-268B7809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D9984-8F42-1D67-D2A0-EDDA672EE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77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BBCAA7-3D9C-8D2D-DD61-042EF262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66A0F-E67F-6A6E-B9E3-55C5925D4083}"/>
              </a:ext>
            </a:extLst>
          </p:cNvPr>
          <p:cNvSpPr txBox="1"/>
          <p:nvPr/>
        </p:nvSpPr>
        <p:spPr>
          <a:xfrm>
            <a:off x="432619" y="845574"/>
            <a:ext cx="11228439" cy="5244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agent gathers raw information from various sources such as sensors, databases, or user interactions.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data forms the foundation for learning and decision-making.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&amp; Learning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collected data is processed to train machine learning models.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learn patterns, relationships, and </a:t>
            </a:r>
            <a:r>
              <a:rPr lang="en-IN" sz="2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behaviors</a:t>
            </a: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perform specific tasks effectively.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trained model is integrated into real-world systems or applications.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starts executing tasks—like predictions, automation, or interactions—based on learned knowledge.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26113-A320-6A98-B9F5-16DEC6325CCB}"/>
              </a:ext>
            </a:extLst>
          </p:cNvPr>
          <p:cNvSpPr txBox="1"/>
          <p:nvPr/>
        </p:nvSpPr>
        <p:spPr>
          <a:xfrm>
            <a:off x="2254045" y="127603"/>
            <a:ext cx="5899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Lifecycle of AI Agent</a:t>
            </a:r>
          </a:p>
        </p:txBody>
      </p:sp>
    </p:spTree>
    <p:extLst>
      <p:ext uri="{BB962C8B-B14F-4D97-AF65-F5344CB8AC3E}">
        <p14:creationId xmlns:p14="http://schemas.microsoft.com/office/powerpoint/2010/main" val="3023312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BBCC34-E1A7-DF75-90BC-5EE25572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17852-E275-3E1B-EBA1-95D7DCACF2D4}"/>
              </a:ext>
            </a:extLst>
          </p:cNvPr>
          <p:cNvSpPr txBox="1"/>
          <p:nvPr/>
        </p:nvSpPr>
        <p:spPr>
          <a:xfrm>
            <a:off x="825908" y="1109215"/>
            <a:ext cx="11592233" cy="556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4.Operation &amp; Interaction</a:t>
            </a: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AI agent operates in its environment, interacting with users or other systems.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It applies its learned intelligence to make decisions and respond dynamically.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5.Monitoring &amp; Feedback</a:t>
            </a: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Performance is tracked continuously to detect errors, inefficiencies, or drift.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Feedback from users or system logs helps identify areas for improvement.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6Evaluation &amp; Improvement</a:t>
            </a: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agent’s outcomes are </a:t>
            </a:r>
            <a:r>
              <a:rPr lang="en-IN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analyzed</a:t>
            </a: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to refine algorithms and retrain models.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Updates and optimizations ensure the agent adapts to new data and evolving conditions.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ea typeface="Calibri" panose="020F0502020204030204" pitchFamily="34" charset="0"/>
                <a:cs typeface="Segoe UI Emoji" panose="020B0502040204020203" pitchFamily="34" charset="0"/>
              </a:rPr>
              <a:t>🔁</a:t>
            </a: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Continuous Learning &amp; Adaptation</a:t>
            </a:r>
            <a:endParaRPr lang="en-IN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cycle repeats, allowing the AI agent to evolve, improve accuracy, and remain relevant over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14AD3-FEFF-9E34-5090-EBFEB9E34B42}"/>
              </a:ext>
            </a:extLst>
          </p:cNvPr>
          <p:cNvSpPr txBox="1"/>
          <p:nvPr/>
        </p:nvSpPr>
        <p:spPr>
          <a:xfrm>
            <a:off x="3028335" y="186813"/>
            <a:ext cx="46998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Lifecycle of AI Agent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91659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F0956F-3F9B-5FAD-2603-C9B97D75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CHIATANYA TRAINING AND CONSULTANCY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5CDCF-AAC4-037F-2B7D-CDDCBB938393}"/>
              </a:ext>
            </a:extLst>
          </p:cNvPr>
          <p:cNvSpPr txBox="1"/>
          <p:nvPr/>
        </p:nvSpPr>
        <p:spPr>
          <a:xfrm>
            <a:off x="3598607" y="2576052"/>
            <a:ext cx="6322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368267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2138</Words>
  <Application>Microsoft Office PowerPoint</Application>
  <PresentationFormat>Widescreen</PresentationFormat>
  <Paragraphs>430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Calibri</vt:lpstr>
      <vt:lpstr>Calibri Light</vt:lpstr>
      <vt:lpstr>Courier New</vt:lpstr>
      <vt:lpstr>IBM Plex Sans</vt:lpstr>
      <vt:lpstr>IBM Plex Sans Bold</vt:lpstr>
      <vt:lpstr>Open Sans</vt:lpstr>
      <vt:lpstr>Open Sans Italics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Gaajula</dc:creator>
  <cp:lastModifiedBy>Chaitanya Gaajula</cp:lastModifiedBy>
  <cp:revision>11</cp:revision>
  <dcterms:created xsi:type="dcterms:W3CDTF">2026-04-22T07:13:36Z</dcterms:created>
  <dcterms:modified xsi:type="dcterms:W3CDTF">2026-04-22T08:54:14Z</dcterms:modified>
</cp:coreProperties>
</file>