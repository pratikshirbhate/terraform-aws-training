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VkC7vbWiAJtVn+2xaZTjnQ==" hashData="ikJXbIB+OhUr13tUGFp0/fXN9A4BF55tHQ6V7GrnrH6rLt+6NK+9rFPMrEz9DJf5+x0l877anQMz5vjB9cJas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8906-C9D7-6E5A-FAD7-B4275038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B9B96-8947-336C-05B9-54D7EE1DC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F4DE8-C6D6-39F5-5BF7-04C57A7E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4C58F-AC04-A4EC-E872-83805F4F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260A7-9210-4832-8721-85771F67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60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3A69-4959-876E-FC0B-380F7C8A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8EB9-57E2-4B3B-B824-EC1401AFD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2132-B7A2-1AE6-4DD1-FCCA0372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BED5A-0C39-C04F-4024-E2CFB417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9ACE-DE96-2830-E126-F021F6F9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5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F372-7460-00F1-B5CC-78C8E1CC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B5030-2A8A-58FA-8CEF-78DC79F9F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7F63-6E0E-D02B-495F-90207CF4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FE14-458D-4D45-14D5-52F1C58C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31950-5CC8-A1BD-0725-5904570E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75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A935-B0F1-734A-2957-51607F15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88E0A-F819-1D3F-472F-594D53D1E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1443B-1E89-193B-CE04-23725E12D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7D81A-FDD6-354C-5B6B-CA8C117C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B91F7-F279-1C4B-7D40-7914FFD8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D904-FDAE-A4C0-85E1-1C729EF5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38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8729-1D1C-D141-CD3D-B3C3B10C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6249E-4F8B-4A29-88BC-01C825C11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20807-7E74-8C35-D9D4-A74B06CE2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77700-8AFE-7F29-F514-5CAA8CDFF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3C875-9DAA-915C-CD57-D2ED4B613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AD583-5305-FC58-871D-2C4DB0D3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BA0F8-E9CF-8501-9016-EBDEB78C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669A4-5856-14D9-AD20-7583B619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57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44BD-7A0F-53B2-B089-B4563EF4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39218-EB05-9D68-6CF5-049C7F2D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7E30A-3A41-F96E-34D7-85123ACE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2B9FC-6BEE-F836-40D2-1E46C703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8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A6CF5-B4BD-0326-C9A5-11D55CD0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5930B-DBE8-2479-41A2-A95EB426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BB0E2-75B5-04D1-9771-033C3C0C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45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4122-C994-ECBB-9A46-278A7EB6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A89F-604D-F746-DF59-574334463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FFED1-CA86-308A-2F2B-586A560F2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05D05-3908-7B0E-6AFE-F50800E4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12695-9101-FD72-709C-CFCABA7D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0EF1B-4119-5B64-0618-401F119C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27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169F-AC7D-28CE-3F55-D89FCF43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96CCC-FB62-5423-31AD-B27F4B9D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060F-3086-4DDC-34C4-4BB7B16A1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CEFEF-64AA-3AAB-8B8C-8CB7D4A5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FDA92-57CF-01FC-3077-8AAD03D4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0DA7-1BEE-8B1C-A45C-044A8B20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7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51B9-5185-D165-9BA3-1F0C6799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D6994-328E-4916-8092-F4113047F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AEC79-F9A6-DCC2-E1EB-ACCB708F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7524-57F1-8F9C-910C-C344FE35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7683-5408-7FE7-0F68-76FAB342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5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FBDE4-6D4D-9E87-2701-022C50DB9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A7C12-1132-B918-FC02-B2AC8BAD9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D11A-AB15-09D4-1291-35EAAF76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ADE00-F26D-9E31-B31D-8DA2200A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38FDF-7155-78B5-FB8F-603C2B7E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35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89797-9430-F9F2-F6AA-485EDE74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78A7F-40C1-EAF7-1E0B-F999ACC6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F306-5ED6-491F-8324-8F3531F9E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16A9D-9796-444C-A59E-8B700DFBFE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CB5A-EA80-5E6C-AD16-358486DA8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3793B-74F2-FFD6-102E-FCD3E045E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7B53-358F-4635-83E2-C46FABF43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46226" y="1464325"/>
            <a:ext cx="5636233" cy="373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5045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Model Context</a:t>
            </a:r>
          </a:p>
          <a:p>
            <a:pPr algn="ctr">
              <a:lnSpc>
                <a:spcPts val="8829"/>
              </a:lnSpc>
            </a:pPr>
            <a:r>
              <a:rPr lang="en-US" sz="5045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Protocol (MCP)</a:t>
            </a:r>
          </a:p>
          <a:p>
            <a:pPr algn="ctr">
              <a:lnSpc>
                <a:spcPts val="3090"/>
              </a:lnSpc>
            </a:pPr>
            <a:r>
              <a:rPr lang="en-US" sz="1766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679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877409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Senior AI Cloud Advocate, Microsoft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2626286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Korey Stegared-Pace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76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8087871"/>
              <a:ext cx="15556995" cy="725552"/>
            </a:xfrm>
            <a:custGeom>
              <a:avLst/>
              <a:gdLst/>
              <a:ahLst/>
              <a:cxnLst/>
              <a:rect l="l" t="t" r="r" b="b"/>
              <a:pathLst>
                <a:path w="15556995" h="725552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46813" y="1553986"/>
            <a:ext cx="9708304" cy="4325482"/>
            <a:chOff x="0" y="0"/>
            <a:chExt cx="16540074" cy="73693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40099" cy="7369302"/>
            </a:xfrm>
            <a:custGeom>
              <a:avLst/>
              <a:gdLst/>
              <a:ahLst/>
              <a:cxnLst/>
              <a:rect l="l" t="t" r="r" b="b"/>
              <a:pathLst>
                <a:path w="16540099" h="7369302">
                  <a:moveTo>
                    <a:pt x="0" y="0"/>
                  </a:moveTo>
                  <a:lnTo>
                    <a:pt x="16540099" y="0"/>
                  </a:lnTo>
                  <a:lnTo>
                    <a:pt x="16540099" y="7369302"/>
                  </a:lnTo>
                  <a:lnTo>
                    <a:pt x="0" y="7369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7549308" y="6403822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7740" y="228349"/>
            <a:ext cx="10958518" cy="1111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15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 interoperability: the state-of-play</a:t>
            </a:r>
          </a:p>
          <a:p>
            <a:pPr>
              <a:lnSpc>
                <a:spcPts val="5045"/>
              </a:lnSpc>
            </a:pPr>
            <a:r>
              <a:rPr lang="en-US" sz="2018" spc="5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1553971"/>
            <a:ext cx="9708304" cy="4325482"/>
            <a:chOff x="0" y="0"/>
            <a:chExt cx="16540074" cy="73693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7369302"/>
            </a:xfrm>
            <a:custGeom>
              <a:avLst/>
              <a:gdLst/>
              <a:ahLst/>
              <a:cxnLst/>
              <a:rect l="l" t="t" r="r" b="b"/>
              <a:pathLst>
                <a:path w="16540099" h="7369302">
                  <a:moveTo>
                    <a:pt x="0" y="0"/>
                  </a:moveTo>
                  <a:lnTo>
                    <a:pt x="16540099" y="0"/>
                  </a:lnTo>
                  <a:lnTo>
                    <a:pt x="16540099" y="7369302"/>
                  </a:lnTo>
                  <a:lnTo>
                    <a:pt x="0" y="7369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228327"/>
            <a:ext cx="10557392" cy="1111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15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 interoperability: the state-of-play</a:t>
            </a:r>
          </a:p>
          <a:p>
            <a:pPr>
              <a:lnSpc>
                <a:spcPts val="5045"/>
              </a:lnSpc>
            </a:pPr>
            <a:r>
              <a:rPr lang="en-US" sz="2018" spc="5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823549" y="913157"/>
            <a:ext cx="8554840" cy="4806094"/>
            <a:chOff x="0" y="0"/>
            <a:chExt cx="14574914" cy="8188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74901" cy="8188198"/>
            </a:xfrm>
            <a:custGeom>
              <a:avLst/>
              <a:gdLst/>
              <a:ahLst/>
              <a:cxnLst/>
              <a:rect l="l" t="t" r="r" b="b"/>
              <a:pathLst>
                <a:path w="14574901" h="8188198">
                  <a:moveTo>
                    <a:pt x="0" y="0"/>
                  </a:moveTo>
                  <a:lnTo>
                    <a:pt x="14574901" y="0"/>
                  </a:lnTo>
                  <a:lnTo>
                    <a:pt x="14574901" y="8188198"/>
                  </a:lnTo>
                  <a:lnTo>
                    <a:pt x="0" y="818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2" y="5859109"/>
            <a:ext cx="2271451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Credit: Xstron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1140097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Sockets/power outlets from around the world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2194784"/>
            <a:ext cx="5575070" cy="3284162"/>
            <a:chOff x="0" y="0"/>
            <a:chExt cx="9498266" cy="55952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5595239"/>
            </a:xfrm>
            <a:custGeom>
              <a:avLst/>
              <a:gdLst/>
              <a:ahLst/>
              <a:cxnLst/>
              <a:rect l="l" t="t" r="r" b="b"/>
              <a:pathLst>
                <a:path w="9498203" h="5595239">
                  <a:moveTo>
                    <a:pt x="0" y="0"/>
                  </a:moveTo>
                  <a:lnTo>
                    <a:pt x="9498203" y="0"/>
                  </a:lnTo>
                  <a:lnTo>
                    <a:pt x="9498203" y="5595239"/>
                  </a:lnTo>
                  <a:lnTo>
                    <a:pt x="0" y="5595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245154" y="1698153"/>
            <a:ext cx="80105" cy="80105"/>
            <a:chOff x="0" y="0"/>
            <a:chExt cx="102349" cy="1023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1"/>
                    <a:pt x="101978" y="57910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0"/>
                  </a:cubicBezTo>
                  <a:cubicBezTo>
                    <a:pt x="84961" y="89913"/>
                    <a:pt x="82421" y="91945"/>
                    <a:pt x="79627" y="93850"/>
                  </a:cubicBezTo>
                  <a:cubicBezTo>
                    <a:pt x="76833" y="95755"/>
                    <a:pt x="73912" y="97279"/>
                    <a:pt x="70737" y="98549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49"/>
                  </a:cubicBezTo>
                  <a:cubicBezTo>
                    <a:pt x="28193" y="97279"/>
                    <a:pt x="25272" y="95628"/>
                    <a:pt x="22478" y="93850"/>
                  </a:cubicBezTo>
                  <a:cubicBezTo>
                    <a:pt x="19685" y="92072"/>
                    <a:pt x="17145" y="89913"/>
                    <a:pt x="14732" y="87500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0"/>
                    <a:pt x="0" y="54481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1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8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062188" y="2403043"/>
            <a:ext cx="3908956" cy="2867636"/>
            <a:chOff x="0" y="0"/>
            <a:chExt cx="6659702" cy="48856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59753" cy="4885563"/>
            </a:xfrm>
            <a:custGeom>
              <a:avLst/>
              <a:gdLst/>
              <a:ahLst/>
              <a:cxnLst/>
              <a:rect l="l" t="t" r="r" b="b"/>
              <a:pathLst>
                <a:path w="6659753" h="4885563">
                  <a:moveTo>
                    <a:pt x="0" y="0"/>
                  </a:moveTo>
                  <a:lnTo>
                    <a:pt x="6659753" y="0"/>
                  </a:lnTo>
                  <a:lnTo>
                    <a:pt x="6659753" y="4885563"/>
                  </a:lnTo>
                  <a:lnTo>
                    <a:pt x="0" y="488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0" y="176147"/>
            <a:ext cx="6407347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 Context Protocol (MCP)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9134" y="895282"/>
            <a:ext cx="7607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17499" y="1520315"/>
            <a:ext cx="3866943" cy="73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6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Universal open standard for connecting AI with data!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4630649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MCP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4630649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MCP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4630649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MCP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424"/>
            </a:xfrm>
            <a:custGeom>
              <a:avLst/>
              <a:gdLst/>
              <a:ahLst/>
              <a:cxnLst/>
              <a:rect l="l" t="t" r="r" b="b"/>
              <a:pathLst>
                <a:path w="15556995" h="725424">
                  <a:moveTo>
                    <a:pt x="0" y="0"/>
                  </a:moveTo>
                  <a:lnTo>
                    <a:pt x="0" y="725424"/>
                  </a:lnTo>
                  <a:lnTo>
                    <a:pt x="15556995" y="725424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4630649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MCP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3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4630649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MCP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3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2651653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servers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3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2651653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servers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3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2651653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servers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3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2651653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servers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04901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7"/>
                  </a:moveTo>
                  <a:cubicBezTo>
                    <a:pt x="102616" y="54609"/>
                    <a:pt x="102235" y="58038"/>
                    <a:pt x="101600" y="61340"/>
                  </a:cubicBezTo>
                  <a:cubicBezTo>
                    <a:pt x="100965" y="64642"/>
                    <a:pt x="99949" y="67817"/>
                    <a:pt x="98679" y="70992"/>
                  </a:cubicBezTo>
                  <a:cubicBezTo>
                    <a:pt x="97409" y="74167"/>
                    <a:pt x="95758" y="77088"/>
                    <a:pt x="93980" y="79882"/>
                  </a:cubicBezTo>
                  <a:cubicBezTo>
                    <a:pt x="92202" y="82676"/>
                    <a:pt x="90043" y="85216"/>
                    <a:pt x="87630" y="87629"/>
                  </a:cubicBezTo>
                  <a:cubicBezTo>
                    <a:pt x="85217" y="90042"/>
                    <a:pt x="82677" y="92075"/>
                    <a:pt x="79883" y="93979"/>
                  </a:cubicBezTo>
                  <a:cubicBezTo>
                    <a:pt x="77089" y="95884"/>
                    <a:pt x="74168" y="97409"/>
                    <a:pt x="70993" y="98678"/>
                  </a:cubicBezTo>
                  <a:cubicBezTo>
                    <a:pt x="67818" y="99948"/>
                    <a:pt x="64643" y="100964"/>
                    <a:pt x="61341" y="101600"/>
                  </a:cubicBezTo>
                  <a:cubicBezTo>
                    <a:pt x="58039" y="102234"/>
                    <a:pt x="54737" y="102615"/>
                    <a:pt x="51308" y="102615"/>
                  </a:cubicBezTo>
                  <a:cubicBezTo>
                    <a:pt x="47879" y="102615"/>
                    <a:pt x="44577" y="102234"/>
                    <a:pt x="41275" y="101600"/>
                  </a:cubicBezTo>
                  <a:cubicBezTo>
                    <a:pt x="37973" y="100964"/>
                    <a:pt x="34798" y="99948"/>
                    <a:pt x="31623" y="98678"/>
                  </a:cubicBezTo>
                  <a:cubicBezTo>
                    <a:pt x="28448" y="97409"/>
                    <a:pt x="25527" y="95757"/>
                    <a:pt x="22733" y="93979"/>
                  </a:cubicBezTo>
                  <a:cubicBezTo>
                    <a:pt x="19939" y="92201"/>
                    <a:pt x="17399" y="90042"/>
                    <a:pt x="14986" y="87629"/>
                  </a:cubicBezTo>
                  <a:cubicBezTo>
                    <a:pt x="12573" y="85216"/>
                    <a:pt x="10541" y="82676"/>
                    <a:pt x="8636" y="79882"/>
                  </a:cubicBezTo>
                  <a:cubicBezTo>
                    <a:pt x="6731" y="77088"/>
                    <a:pt x="5207" y="74167"/>
                    <a:pt x="3937" y="70992"/>
                  </a:cubicBezTo>
                  <a:cubicBezTo>
                    <a:pt x="2667" y="67817"/>
                    <a:pt x="1651" y="64642"/>
                    <a:pt x="1016" y="61340"/>
                  </a:cubicBezTo>
                  <a:cubicBezTo>
                    <a:pt x="381" y="58038"/>
                    <a:pt x="0" y="54737"/>
                    <a:pt x="0" y="51307"/>
                  </a:cubicBezTo>
                  <a:cubicBezTo>
                    <a:pt x="0" y="47878"/>
                    <a:pt x="381" y="44576"/>
                    <a:pt x="1016" y="41275"/>
                  </a:cubicBezTo>
                  <a:cubicBezTo>
                    <a:pt x="1651" y="37972"/>
                    <a:pt x="2667" y="34797"/>
                    <a:pt x="3937" y="31622"/>
                  </a:cubicBezTo>
                  <a:cubicBezTo>
                    <a:pt x="5207" y="28447"/>
                    <a:pt x="6858" y="25526"/>
                    <a:pt x="8636" y="22732"/>
                  </a:cubicBezTo>
                  <a:cubicBezTo>
                    <a:pt x="10414" y="19938"/>
                    <a:pt x="12573" y="17398"/>
                    <a:pt x="14986" y="14985"/>
                  </a:cubicBezTo>
                  <a:cubicBezTo>
                    <a:pt x="17399" y="12572"/>
                    <a:pt x="19939" y="10540"/>
                    <a:pt x="22733" y="8635"/>
                  </a:cubicBezTo>
                  <a:cubicBezTo>
                    <a:pt x="25527" y="6731"/>
                    <a:pt x="28448" y="5206"/>
                    <a:pt x="31623" y="3937"/>
                  </a:cubicBezTo>
                  <a:cubicBezTo>
                    <a:pt x="34798" y="2666"/>
                    <a:pt x="37973" y="1650"/>
                    <a:pt x="41275" y="1015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5"/>
                  </a:cubicBezTo>
                  <a:cubicBezTo>
                    <a:pt x="64643" y="1650"/>
                    <a:pt x="67818" y="2666"/>
                    <a:pt x="70993" y="3937"/>
                  </a:cubicBezTo>
                  <a:cubicBezTo>
                    <a:pt x="74168" y="5206"/>
                    <a:pt x="77089" y="6857"/>
                    <a:pt x="79883" y="8635"/>
                  </a:cubicBezTo>
                  <a:cubicBezTo>
                    <a:pt x="82677" y="10413"/>
                    <a:pt x="85217" y="12572"/>
                    <a:pt x="87630" y="14985"/>
                  </a:cubicBezTo>
                  <a:cubicBezTo>
                    <a:pt x="90043" y="17398"/>
                    <a:pt x="92075" y="19938"/>
                    <a:pt x="93980" y="22732"/>
                  </a:cubicBezTo>
                  <a:cubicBezTo>
                    <a:pt x="95885" y="25526"/>
                    <a:pt x="97409" y="28447"/>
                    <a:pt x="98679" y="31622"/>
                  </a:cubicBezTo>
                  <a:cubicBezTo>
                    <a:pt x="99949" y="34797"/>
                    <a:pt x="100965" y="37972"/>
                    <a:pt x="101600" y="41275"/>
                  </a:cubicBezTo>
                  <a:cubicBezTo>
                    <a:pt x="102235" y="44576"/>
                    <a:pt x="102616" y="47878"/>
                    <a:pt x="10261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75056" y="2704085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575056" y="3359024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245154" y="1553948"/>
            <a:ext cx="80105" cy="80105"/>
            <a:chOff x="0" y="0"/>
            <a:chExt cx="102349" cy="1023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45154" y="2066599"/>
            <a:ext cx="80105" cy="80105"/>
            <a:chOff x="0" y="0"/>
            <a:chExt cx="102349" cy="1023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245154" y="2579249"/>
            <a:ext cx="80105" cy="80105"/>
            <a:chOff x="0" y="0"/>
            <a:chExt cx="102349" cy="1023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97740" y="3588531"/>
            <a:ext cx="5575070" cy="2322946"/>
            <a:chOff x="0" y="0"/>
            <a:chExt cx="9498266" cy="3957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98203" cy="3957574"/>
            </a:xfrm>
            <a:custGeom>
              <a:avLst/>
              <a:gdLst/>
              <a:ahLst/>
              <a:cxnLst/>
              <a:rect l="l" t="t" r="r" b="b"/>
              <a:pathLst>
                <a:path w="9498203" h="3957574">
                  <a:moveTo>
                    <a:pt x="0" y="0"/>
                  </a:moveTo>
                  <a:lnTo>
                    <a:pt x="9498203" y="0"/>
                  </a:lnTo>
                  <a:lnTo>
                    <a:pt x="9498203" y="3957574"/>
                  </a:lnTo>
                  <a:lnTo>
                    <a:pt x="0" y="3957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645661" y="3588531"/>
            <a:ext cx="4742009" cy="2114679"/>
            <a:chOff x="0" y="0"/>
            <a:chExt cx="8078978" cy="36027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078978" cy="3602736"/>
            </a:xfrm>
            <a:custGeom>
              <a:avLst/>
              <a:gdLst/>
              <a:ahLst/>
              <a:cxnLst/>
              <a:rect l="l" t="t" r="r" b="b"/>
              <a:pathLst>
                <a:path w="8078978" h="3602736">
                  <a:moveTo>
                    <a:pt x="0" y="0"/>
                  </a:moveTo>
                  <a:lnTo>
                    <a:pt x="8078978" y="0"/>
                  </a:lnTo>
                  <a:lnTo>
                    <a:pt x="8078978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7549308" y="6403784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7740" y="180873"/>
            <a:ext cx="884883" cy="49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8"/>
              </a:lnSpc>
            </a:pPr>
            <a:r>
              <a:rPr lang="en-US" sz="3027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0490" y="751077"/>
            <a:ext cx="7607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29135" y="180873"/>
            <a:ext cx="2582417" cy="49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8"/>
              </a:lnSpc>
            </a:pPr>
            <a:r>
              <a:rPr lang="en-US" sz="3027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 framework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1885" y="751077"/>
            <a:ext cx="7607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7740" y="751078"/>
            <a:ext cx="4774115" cy="33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→Standard for connecting AI and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6104" y="1280075"/>
            <a:ext cx="5094913" cy="14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Dynamic tool discovery ("integrate once") LLM-agnostic</a:t>
            </a:r>
          </a:p>
          <a:p>
            <a:pPr>
              <a:lnSpc>
                <a:spcPts val="4036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Standardized security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29135" y="751078"/>
            <a:ext cx="5387742" cy="33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→Customintegrationsfor each data source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7499" y="1280075"/>
            <a:ext cx="5356895" cy="14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Tools need to be statically coded</a:t>
            </a:r>
          </a:p>
          <a:p>
            <a:pPr algn="just">
              <a:lnSpc>
                <a:spcPts val="4036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Often refactoring needed for different LLMs Tool-specific keys and authentication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24071" y="1464325"/>
            <a:ext cx="5885267" cy="373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5045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Agent-to-Agent</a:t>
            </a:r>
          </a:p>
          <a:p>
            <a:pPr algn="ctr">
              <a:lnSpc>
                <a:spcPts val="8829"/>
              </a:lnSpc>
            </a:pPr>
            <a:r>
              <a:rPr lang="en-US" sz="5045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(A2A) Protocol</a:t>
            </a:r>
          </a:p>
          <a:p>
            <a:pPr algn="ctr">
              <a:lnSpc>
                <a:spcPts val="3090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679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877409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Senior AI Cloud Advocate, Microsoft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2626286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Korey Stegared-Pace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97740" y="256326"/>
            <a:ext cx="11406457" cy="3396305"/>
            <a:chOff x="0" y="0"/>
            <a:chExt cx="19433222" cy="57862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33287" cy="5786247"/>
            </a:xfrm>
            <a:custGeom>
              <a:avLst/>
              <a:gdLst/>
              <a:ahLst/>
              <a:cxnLst/>
              <a:rect l="l" t="t" r="r" b="b"/>
              <a:pathLst>
                <a:path w="19433287" h="5786247">
                  <a:moveTo>
                    <a:pt x="0" y="0"/>
                  </a:moveTo>
                  <a:lnTo>
                    <a:pt x="19433287" y="0"/>
                  </a:lnTo>
                  <a:lnTo>
                    <a:pt x="19433287" y="5786247"/>
                  </a:lnTo>
                  <a:lnTo>
                    <a:pt x="0" y="5786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13759" y="4053137"/>
            <a:ext cx="80105" cy="80105"/>
            <a:chOff x="0" y="0"/>
            <a:chExt cx="102349" cy="1023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1"/>
                    <a:pt x="101978" y="57910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0"/>
                  </a:cubicBezTo>
                  <a:cubicBezTo>
                    <a:pt x="84961" y="89913"/>
                    <a:pt x="82421" y="91945"/>
                    <a:pt x="79627" y="93850"/>
                  </a:cubicBezTo>
                  <a:cubicBezTo>
                    <a:pt x="76833" y="95755"/>
                    <a:pt x="73912" y="97279"/>
                    <a:pt x="70737" y="98549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49"/>
                  </a:cubicBezTo>
                  <a:cubicBezTo>
                    <a:pt x="28193" y="97279"/>
                    <a:pt x="25272" y="95628"/>
                    <a:pt x="22478" y="93850"/>
                  </a:cubicBezTo>
                  <a:cubicBezTo>
                    <a:pt x="19684" y="92072"/>
                    <a:pt x="17145" y="89913"/>
                    <a:pt x="14732" y="87500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0"/>
                    <a:pt x="0" y="54481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1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8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13759" y="4565788"/>
            <a:ext cx="80105" cy="80105"/>
            <a:chOff x="0" y="0"/>
            <a:chExt cx="102349" cy="1023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0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0"/>
                  </a:cubicBezTo>
                  <a:cubicBezTo>
                    <a:pt x="76833" y="95755"/>
                    <a:pt x="73912" y="97279"/>
                    <a:pt x="70737" y="98549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49"/>
                  </a:cubicBezTo>
                  <a:cubicBezTo>
                    <a:pt x="28193" y="97279"/>
                    <a:pt x="25272" y="95628"/>
                    <a:pt x="22478" y="93850"/>
                  </a:cubicBezTo>
                  <a:cubicBezTo>
                    <a:pt x="19684" y="92072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0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13759" y="5078438"/>
            <a:ext cx="80105" cy="80105"/>
            <a:chOff x="0" y="0"/>
            <a:chExt cx="102349" cy="1023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6104" y="3891080"/>
            <a:ext cx="2668142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Developed by </a:t>
            </a:r>
            <a:r>
              <a:rPr lang="en-US" sz="2018" b="1" spc="5">
                <a:solidFill>
                  <a:srgbClr val="0519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Google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104" y="4403730"/>
            <a:ext cx="920575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Enable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6105" y="4916381"/>
            <a:ext cx="3914717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Vendor- and tool stack-agnostic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2732" y="4403746"/>
            <a:ext cx="3182000" cy="33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2"/>
              </a:lnSpc>
            </a:pPr>
            <a:r>
              <a:rPr lang="en-US" sz="2080" i="1" spc="5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multi-agent</a:t>
            </a:r>
            <a:r>
              <a:rPr lang="en-US" sz="2080" i="1" spc="5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080" i="1" spc="5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collaboration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62"/>
            <a:chOff x="0" y="0"/>
            <a:chExt cx="15684500" cy="887693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3"/>
            </a:xfrm>
            <a:custGeom>
              <a:avLst/>
              <a:gdLst/>
              <a:ahLst/>
              <a:cxnLst/>
              <a:rect l="l" t="t" r="r" b="b"/>
              <a:pathLst>
                <a:path w="15556995" h="8749923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3"/>
            </a:xfrm>
            <a:custGeom>
              <a:avLst/>
              <a:gdLst/>
              <a:ahLst/>
              <a:cxnLst/>
              <a:rect l="l" t="t" r="r" b="b"/>
              <a:pathLst>
                <a:path w="15556995" h="8749923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3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3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55510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Corporate travel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61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9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837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84"/>
            <a:ext cx="4569344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Agent-to-Agent (A2A)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61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95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837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84"/>
            <a:ext cx="4569344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Agent-to-Agent (A2A)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4569344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Agent-to-Agent (A2A)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7"/>
            <a:ext cx="9708304" cy="5110477"/>
            <a:chOff x="0" y="0"/>
            <a:chExt cx="16540074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8706739"/>
            </a:xfrm>
            <a:custGeom>
              <a:avLst/>
              <a:gdLst/>
              <a:ahLst/>
              <a:cxnLst/>
              <a:rect l="l" t="t" r="r" b="b"/>
              <a:pathLst>
                <a:path w="16540099" h="8706739">
                  <a:moveTo>
                    <a:pt x="0" y="0"/>
                  </a:moveTo>
                  <a:lnTo>
                    <a:pt x="16540099" y="0"/>
                  </a:lnTo>
                  <a:lnTo>
                    <a:pt x="16540099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58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2572496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 cards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256325"/>
            <a:ext cx="10252993" cy="5767310"/>
            <a:chOff x="0" y="0"/>
            <a:chExt cx="17468063" cy="98257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9825736"/>
            </a:xfrm>
            <a:custGeom>
              <a:avLst/>
              <a:gdLst/>
              <a:ahLst/>
              <a:cxnLst/>
              <a:rect l="l" t="t" r="r" b="b"/>
              <a:pathLst>
                <a:path w="17468087" h="9825736">
                  <a:moveTo>
                    <a:pt x="0" y="0"/>
                  </a:moveTo>
                  <a:lnTo>
                    <a:pt x="17468087" y="0"/>
                  </a:lnTo>
                  <a:lnTo>
                    <a:pt x="17468087" y="9825736"/>
                  </a:lnTo>
                  <a:lnTo>
                    <a:pt x="0" y="982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256325"/>
            <a:ext cx="10252993" cy="5767310"/>
            <a:chOff x="0" y="0"/>
            <a:chExt cx="17468063" cy="98257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9825736"/>
            </a:xfrm>
            <a:custGeom>
              <a:avLst/>
              <a:gdLst/>
              <a:ahLst/>
              <a:cxnLst/>
              <a:rect l="l" t="t" r="r" b="b"/>
              <a:pathLst>
                <a:path w="17468087" h="9825736">
                  <a:moveTo>
                    <a:pt x="0" y="0"/>
                  </a:moveTo>
                  <a:lnTo>
                    <a:pt x="17468087" y="0"/>
                  </a:lnTo>
                  <a:lnTo>
                    <a:pt x="17468087" y="9825736"/>
                  </a:lnTo>
                  <a:lnTo>
                    <a:pt x="0" y="982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256325"/>
            <a:ext cx="10252993" cy="5767310"/>
            <a:chOff x="0" y="0"/>
            <a:chExt cx="17468063" cy="98257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9825736"/>
            </a:xfrm>
            <a:custGeom>
              <a:avLst/>
              <a:gdLst/>
              <a:ahLst/>
              <a:cxnLst/>
              <a:rect l="l" t="t" r="r" b="b"/>
              <a:pathLst>
                <a:path w="17468087" h="9825736">
                  <a:moveTo>
                    <a:pt x="0" y="0"/>
                  </a:moveTo>
                  <a:lnTo>
                    <a:pt x="17468087" y="0"/>
                  </a:lnTo>
                  <a:lnTo>
                    <a:pt x="17468087" y="9825736"/>
                  </a:lnTo>
                  <a:lnTo>
                    <a:pt x="0" y="982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826085" y="913157"/>
            <a:ext cx="4549768" cy="4565788"/>
            <a:chOff x="0" y="0"/>
            <a:chExt cx="7751458" cy="7778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51445" cy="7778750"/>
            </a:xfrm>
            <a:custGeom>
              <a:avLst/>
              <a:gdLst/>
              <a:ahLst/>
              <a:cxnLst/>
              <a:rect l="l" t="t" r="r" b="b"/>
              <a:pathLst>
                <a:path w="7751445" h="7778750">
                  <a:moveTo>
                    <a:pt x="0" y="0"/>
                  </a:moveTo>
                  <a:lnTo>
                    <a:pt x="7751445" y="0"/>
                  </a:lnTo>
                  <a:lnTo>
                    <a:pt x="7751445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2970103" cy="57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and A2A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</Words>
  <Application>Microsoft Office PowerPoint</Application>
  <PresentationFormat>Widescreen</PresentationFormat>
  <Paragraphs>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IBM Plex Sans Bold</vt:lpstr>
      <vt:lpstr>Open Sans</vt:lpstr>
      <vt:lpstr>Open Sans Bold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Gaajula</dc:creator>
  <cp:lastModifiedBy>Chaitanya Gaajula</cp:lastModifiedBy>
  <cp:revision>3</cp:revision>
  <dcterms:created xsi:type="dcterms:W3CDTF">2026-04-28T15:38:06Z</dcterms:created>
  <dcterms:modified xsi:type="dcterms:W3CDTF">2026-08-27T09:32:03Z</dcterms:modified>
</cp:coreProperties>
</file>