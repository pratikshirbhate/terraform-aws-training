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2" r:id="rId13"/>
    <p:sldId id="273" r:id="rId14"/>
    <p:sldId id="274" r:id="rId15"/>
    <p:sldId id="27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j9drtR1l24DnIdRIVKuQWg==" hashData="QLcg3fxq9FV2ju+PYBv7sHEMjCoPH2e94k864O9iQTgqdkf9sPE0axBfgaXMSGhwZp8v3Ll2MZEbQRREfc1Te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66055-8B59-4CA5-A664-3A9A0AA30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91D9A-A6DB-49FB-99A8-ED5A46AB8A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390C1-5C3E-4076-AE9C-B5EDBE6E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962B-E442-4A50-86D2-34BE17730791}" type="datetimeFigureOut">
              <a:rPr lang="en-IN" smtClean="0"/>
              <a:t>05-02-2022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2B76B-287C-4BB4-86E9-354016223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5B701-6C27-4460-A62B-6483AA8DC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6BB9-849E-44EF-A65B-74D5AEEFF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914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FF617-18C4-4C69-B1FF-D00F9127F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3EA2D-6223-4AA5-8C95-FFBF77A44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EB841-52DD-4E9F-9DDE-00A9E6F3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962B-E442-4A50-86D2-34BE17730791}" type="datetimeFigureOut">
              <a:rPr lang="en-IN" smtClean="0"/>
              <a:t>05-02-2022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77FB3-1376-4AC2-A513-38571045D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19E84-0872-4967-9FD5-A06E0BBE4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6BB9-849E-44EF-A65B-74D5AEEFF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51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8351-3D22-4CE6-A659-AA168B440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CEEC8-53F1-46A7-86A2-D41A5FD8E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A4E6-4D9F-4D20-9AC9-8B283707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962B-E442-4A50-86D2-34BE17730791}" type="datetimeFigureOut">
              <a:rPr lang="en-IN" smtClean="0"/>
              <a:t>05-02-2022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EDDFE-11B0-4FF9-A4AD-E27366F4E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F5C38-6FD5-4DE6-8947-EE3EAEE95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6BB9-849E-44EF-A65B-74D5AEEFF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12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7BCE9-C5F7-4BCD-820F-AB2B3A0E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5D7F2-DD3A-49C7-A071-021D810C0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84173A-6345-4E9D-813B-18A34105B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5ADA7-40B1-4CE1-A55F-FBBF911FC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962B-E442-4A50-86D2-34BE17730791}" type="datetimeFigureOut">
              <a:rPr lang="en-IN" smtClean="0"/>
              <a:t>05-02-2022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35DC4-5EDA-470A-BB50-B761AA78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BCD1A-5593-4C59-8CB6-C231DACE0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6BB9-849E-44EF-A65B-74D5AEEFF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59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02E8-3037-43F7-A323-ED5916535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8FEF4-7CB9-4188-96E3-62A625AAA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B8BE61-3C9E-4E09-A480-A51BE5D48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358197-A5BE-4CC9-9985-5C8FB82ED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3D23FE-0D9F-41B9-8A95-CC35B53C07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3701C8-712D-448F-9ABF-A9642F850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962B-E442-4A50-86D2-34BE17730791}" type="datetimeFigureOut">
              <a:rPr lang="en-IN" smtClean="0"/>
              <a:t>05-02-2022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161502-5FE0-47E5-98C4-89C41B724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DF8CB-0EC1-47A5-AA9A-CCD6E32E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6BB9-849E-44EF-A65B-74D5AEEFF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657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F8CAC-E82B-4D08-9D3F-BC0F252E4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A99E44-7C6A-4EEF-B07E-400224DFB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962B-E442-4A50-86D2-34BE17730791}" type="datetimeFigureOut">
              <a:rPr lang="en-IN" smtClean="0"/>
              <a:t>05-02-2022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37DC9-A8A4-46EB-A262-7CFF30E63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14421C-76A7-4FD8-BD78-20A50462E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6BB9-849E-44EF-A65B-74D5AEEFF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398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9C191C-D51E-4B3C-8A95-D2C3562E7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962B-E442-4A50-86D2-34BE17730791}" type="datetimeFigureOut">
              <a:rPr lang="en-IN" smtClean="0"/>
              <a:t>05-02-2022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9F685D-5274-4F54-B76C-B7E9B53D9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23B5A-C2A7-461F-BCD3-4BE47E46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6BB9-849E-44EF-A65B-74D5AEEFF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490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5CE4A-D1AD-4ECF-B471-A66F86C02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57CF9-EBCD-4C16-B360-6D45CA1C2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B7ECA-9464-4324-BFB0-1E6C24F3F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B846E-B5F5-44D6-9B2E-63A728BAE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962B-E442-4A50-86D2-34BE17730791}" type="datetimeFigureOut">
              <a:rPr lang="en-IN" smtClean="0"/>
              <a:t>05-02-2022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E093A-F30E-46BC-969E-5DD03B92E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E2F2C-A43D-4421-96FC-581D4D052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6BB9-849E-44EF-A65B-74D5AEEFF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02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4ADDB-14EA-49FA-9341-9FFAEAB1A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A32DED-5148-43C3-8592-5509F1F403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1DAAF-4506-437C-AA8E-DA3C5E1C6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DB42D-16AE-4CFA-88CB-5E00B8FF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962B-E442-4A50-86D2-34BE17730791}" type="datetimeFigureOut">
              <a:rPr lang="en-IN" smtClean="0"/>
              <a:t>05-02-2022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1428E-4733-4E6E-A012-D498B7FCE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6D0D7-3D70-446D-8DE8-CB7E066C8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6BB9-849E-44EF-A65B-74D5AEEFF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005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04E31-351D-4644-AF2D-341D7924B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8798E0-56E9-4BC9-B207-BC90EA872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04653-E008-4ED4-984A-E513AD112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962B-E442-4A50-86D2-34BE17730791}" type="datetimeFigureOut">
              <a:rPr lang="en-IN" smtClean="0"/>
              <a:t>05-02-2022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D6B01-50DB-4A82-91AD-C103440EF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37398-A71F-49E1-81FE-F6DE74694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6BB9-849E-44EF-A65B-74D5AEEFF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975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2FF5ED-E45F-429E-A601-26A171A0D5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36113-ADF1-4E82-AE9E-F62A0F468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49A29-D462-4E35-947F-BF42FB53F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962B-E442-4A50-86D2-34BE17730791}" type="datetimeFigureOut">
              <a:rPr lang="en-IN" smtClean="0"/>
              <a:t>05-02-2022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4583D-01CD-438D-AE86-7651B93B3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9EA05-7228-4C01-9DAA-07044987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6BB9-849E-44EF-A65B-74D5AEEFF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585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8176A3-FC7E-486A-83D6-4AA00E3A3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F6973-76FE-4FD5-8430-15C7992D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0936-5436-4B47-AB5D-BA9B8FE04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D962B-E442-4A50-86D2-34BE17730791}" type="datetimeFigureOut">
              <a:rPr lang="en-IN" smtClean="0"/>
              <a:t>05-02-2022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5EE81-FF8C-4E82-8F6C-171218207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37001-C231-454D-90C7-AB153A2AD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F6BB9-849E-44EF-A65B-74D5AEEFFE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84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ux.com/learn" TargetMode="External"/><Relationship Id="rId2" Type="http://schemas.openxmlformats.org/officeDocument/2006/relationships/hyperlink" Target="http://www.linux.org/tutoria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3455" y="2800623"/>
            <a:ext cx="891097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64740" algn="l"/>
                <a:tab pos="4880610" algn="l"/>
                <a:tab pos="7632065" algn="l"/>
              </a:tabLst>
            </a:pPr>
            <a:r>
              <a:rPr sz="4000" b="1" dirty="0"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	</a:t>
            </a:r>
            <a:r>
              <a:rPr sz="4000" b="1" spc="-5" dirty="0"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Overview</a:t>
            </a:r>
            <a:r>
              <a:rPr sz="4000" b="1" spc="-25" dirty="0"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4000" b="1" dirty="0"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of</a:t>
            </a:r>
            <a:r>
              <a:rPr lang="en-IN" sz="4000" b="1" dirty="0"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4000" b="1" dirty="0"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Linux	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0C32A-3E2E-4AE3-946A-4BD2D2CBC289}"/>
              </a:ext>
            </a:extLst>
          </p:cNvPr>
          <p:cNvSpPr/>
          <p:nvPr/>
        </p:nvSpPr>
        <p:spPr>
          <a:xfrm>
            <a:off x="252963" y="129397"/>
            <a:ext cx="11688418" cy="64569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6939" y="2161997"/>
            <a:ext cx="10147300" cy="242181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5000"/>
              <a:buFont typeface="Wingdings 2"/>
              <a:buChar char="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 </a:t>
            </a:r>
            <a:r>
              <a:rPr sz="2000" spc="-5" dirty="0">
                <a:latin typeface="Calibri"/>
                <a:cs typeface="Calibri"/>
              </a:rPr>
              <a:t>widely </a:t>
            </a:r>
            <a:r>
              <a:rPr sz="2000" dirty="0">
                <a:latin typeface="Calibri"/>
                <a:cs typeface="Calibri"/>
              </a:rPr>
              <a:t>used Open </a:t>
            </a:r>
            <a:r>
              <a:rPr sz="2000" spc="-5" dirty="0">
                <a:latin typeface="Calibri"/>
                <a:cs typeface="Calibri"/>
              </a:rPr>
              <a:t>Source </a:t>
            </a:r>
            <a:r>
              <a:rPr sz="2000" spc="-10" dirty="0">
                <a:latin typeface="Calibri"/>
                <a:cs typeface="Calibri"/>
              </a:rPr>
              <a:t>Unix-like operating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system.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AD0D9"/>
              </a:buClr>
              <a:buFont typeface="Wingdings 2"/>
              <a:buChar char=""/>
            </a:pPr>
            <a:endParaRPr sz="2700" dirty="0">
              <a:latin typeface="Times New Roman"/>
              <a:cs typeface="Times New Roman"/>
            </a:endParaRPr>
          </a:p>
          <a:p>
            <a:pPr marL="297815" indent="-285750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5000"/>
              <a:buFont typeface="Wingdings 2"/>
              <a:buChar char=""/>
              <a:tabLst>
                <a:tab pos="297815" algn="l"/>
                <a:tab pos="298450" algn="l"/>
              </a:tabLst>
            </a:pPr>
            <a:r>
              <a:rPr sz="2000" spc="-5" dirty="0">
                <a:latin typeface="Calibri"/>
                <a:cs typeface="Calibri"/>
              </a:rPr>
              <a:t>Linux </a:t>
            </a:r>
            <a:r>
              <a:rPr sz="2000" spc="-10" dirty="0">
                <a:latin typeface="Calibri"/>
                <a:cs typeface="Calibri"/>
              </a:rPr>
              <a:t>was </a:t>
            </a:r>
            <a:r>
              <a:rPr sz="2000" spc="-20" dirty="0">
                <a:latin typeface="Calibri"/>
                <a:cs typeface="Calibri"/>
              </a:rPr>
              <a:t>first </a:t>
            </a:r>
            <a:r>
              <a:rPr sz="2000" spc="-5" dirty="0">
                <a:latin typeface="Calibri"/>
                <a:cs typeface="Calibri"/>
              </a:rPr>
              <a:t>released by </a:t>
            </a:r>
            <a:r>
              <a:rPr sz="2000" dirty="0">
                <a:latin typeface="Calibri"/>
                <a:cs typeface="Calibri"/>
              </a:rPr>
              <a:t>its </a:t>
            </a:r>
            <a:r>
              <a:rPr sz="2000" spc="-15" dirty="0">
                <a:latin typeface="Calibri"/>
                <a:cs typeface="Calibri"/>
              </a:rPr>
              <a:t>inventor </a:t>
            </a:r>
            <a:r>
              <a:rPr sz="2000" spc="-5" dirty="0">
                <a:latin typeface="Calibri"/>
                <a:cs typeface="Calibri"/>
              </a:rPr>
              <a:t>Linus </a:t>
            </a:r>
            <a:r>
              <a:rPr sz="2000" spc="-25" dirty="0">
                <a:latin typeface="Calibri"/>
                <a:cs typeface="Calibri"/>
              </a:rPr>
              <a:t>Torvalds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1991.</a:t>
            </a:r>
          </a:p>
          <a:p>
            <a:pPr>
              <a:lnSpc>
                <a:spcPct val="100000"/>
              </a:lnSpc>
              <a:buClr>
                <a:srgbClr val="0AD0D9"/>
              </a:buClr>
              <a:buFont typeface="Wingdings 2"/>
              <a:buChar char=""/>
            </a:pPr>
            <a:endParaRPr sz="2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AD0D9"/>
              </a:buClr>
              <a:buFont typeface="Wingdings 2"/>
              <a:buChar char=""/>
            </a:pPr>
            <a:endParaRPr sz="21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160"/>
              </a:lnSpc>
              <a:spcBef>
                <a:spcPts val="1325"/>
              </a:spcBef>
              <a:buClr>
                <a:srgbClr val="0AD0D9"/>
              </a:buClr>
              <a:buSzPct val="95000"/>
              <a:buFont typeface="Wingdings 2"/>
              <a:buChar char=""/>
              <a:tabLst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inner </a:t>
            </a:r>
            <a:r>
              <a:rPr sz="2000" spc="-5" dirty="0">
                <a:latin typeface="Calibri"/>
                <a:cs typeface="Calibri"/>
              </a:rPr>
              <a:t>workings of Linux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spc="-5" dirty="0">
                <a:latin typeface="Calibri"/>
                <a:cs typeface="Calibri"/>
              </a:rPr>
              <a:t>open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available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anyone </a:t>
            </a:r>
            <a:r>
              <a:rPr sz="2000" spc="-15" dirty="0">
                <a:latin typeface="Calibri"/>
                <a:cs typeface="Calibri"/>
              </a:rPr>
              <a:t>to examine </a:t>
            </a:r>
            <a:r>
              <a:rPr sz="2000" dirty="0">
                <a:latin typeface="Calibri"/>
                <a:cs typeface="Calibri"/>
              </a:rPr>
              <a:t>and change as long as  </a:t>
            </a:r>
            <a:r>
              <a:rPr sz="2000" spc="-5" dirty="0">
                <a:latin typeface="Calibri"/>
                <a:cs typeface="Calibri"/>
              </a:rPr>
              <a:t>they </a:t>
            </a:r>
            <a:r>
              <a:rPr sz="2000" spc="-20" dirty="0">
                <a:latin typeface="Calibri"/>
                <a:cs typeface="Calibri"/>
              </a:rPr>
              <a:t>make </a:t>
            </a:r>
            <a:r>
              <a:rPr sz="2000" dirty="0">
                <a:latin typeface="Calibri"/>
                <a:cs typeface="Calibri"/>
              </a:rPr>
              <a:t>their changes </a:t>
            </a:r>
            <a:r>
              <a:rPr sz="2000" spc="-10" dirty="0">
                <a:latin typeface="Calibri"/>
                <a:cs typeface="Calibri"/>
              </a:rPr>
              <a:t>available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public.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651375" y="664540"/>
            <a:ext cx="36937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"/>
                <a:cs typeface="Arial"/>
              </a:rPr>
              <a:t>What is</a:t>
            </a:r>
            <a:r>
              <a:rPr sz="4400" spc="-80" dirty="0">
                <a:latin typeface="Arial"/>
                <a:cs typeface="Arial"/>
              </a:rPr>
              <a:t> </a:t>
            </a:r>
            <a:r>
              <a:rPr sz="4400" dirty="0">
                <a:latin typeface="Arial"/>
                <a:cs typeface="Arial"/>
              </a:rPr>
              <a:t>Linux?</a:t>
            </a:r>
            <a:endParaRPr sz="4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610600" y="1524000"/>
            <a:ext cx="1350263" cy="2072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1C64B-0E0C-43D5-B6E0-75BAD6C64E58}"/>
              </a:ext>
            </a:extLst>
          </p:cNvPr>
          <p:cNvSpPr/>
          <p:nvPr/>
        </p:nvSpPr>
        <p:spPr>
          <a:xfrm>
            <a:off x="252963" y="129397"/>
            <a:ext cx="11688418" cy="64569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72114" y="1797297"/>
            <a:ext cx="10547801" cy="3987502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1300" marR="135255" indent="-228600">
              <a:lnSpc>
                <a:spcPts val="1730"/>
              </a:lnSpc>
              <a:spcBef>
                <a:spcPts val="310"/>
              </a:spcBef>
              <a:buClr>
                <a:srgbClr val="EC7C30"/>
              </a:buClr>
              <a:buFont typeface="Wingdings"/>
              <a:buChar char=""/>
              <a:tabLst>
                <a:tab pos="240665" algn="l"/>
                <a:tab pos="241300" algn="l"/>
              </a:tabLst>
            </a:pP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Linux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open-source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Operating System.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People can change codes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add  programs to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Linux OS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which will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your computer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better.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can't change 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code for </a:t>
            </a:r>
            <a:r>
              <a:rPr sz="1600" spc="-1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OS. Linux user's can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edit its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OS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design new</a:t>
            </a:r>
            <a:r>
              <a:rPr sz="1600" spc="204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spc="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OS.</a:t>
            </a:r>
            <a:endParaRPr sz="1600" dirty="0">
              <a:latin typeface="Abadi" panose="020B0604020104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41300" marR="525145" indent="-228600">
              <a:lnSpc>
                <a:spcPts val="1730"/>
              </a:lnSpc>
              <a:spcBef>
                <a:spcPts val="575"/>
              </a:spcBef>
              <a:buClr>
                <a:srgbClr val="EC7C30"/>
              </a:buClr>
              <a:buFont typeface="Wingdings"/>
              <a:buChar char=""/>
              <a:tabLst>
                <a:tab pos="240665" algn="l"/>
                <a:tab pos="241300" algn="l"/>
              </a:tabLst>
            </a:pP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Linux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freely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available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desktop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home use but </a:t>
            </a:r>
            <a:r>
              <a:rPr sz="1600" spc="-1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expensive.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server use, Linux is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cheap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compared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</a:t>
            </a:r>
            <a:r>
              <a:rPr sz="1600" spc="3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Windows.</a:t>
            </a:r>
            <a:endParaRPr sz="1600" dirty="0">
              <a:latin typeface="Abadi" panose="020B0604020104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41300" marR="165735" indent="-228600">
              <a:lnSpc>
                <a:spcPts val="1730"/>
              </a:lnSpc>
              <a:spcBef>
                <a:spcPts val="570"/>
              </a:spcBef>
              <a:buClr>
                <a:srgbClr val="EC7C30"/>
              </a:buClr>
              <a:buFont typeface="Wingdings"/>
              <a:buChar char=""/>
              <a:tabLst>
                <a:tab pos="240665" algn="l"/>
                <a:tab pos="241300" algn="l"/>
              </a:tabLst>
            </a:pPr>
            <a:r>
              <a:rPr sz="1600" spc="-1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must boot from a primary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partition.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Linux can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boot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either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primary 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partition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a logical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partition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inside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 extended partition. Windows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must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boot 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hard disk. Linux can boot from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hard disk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</a:t>
            </a:r>
            <a:r>
              <a:rPr sz="1600" spc="7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computer.</a:t>
            </a:r>
            <a:endParaRPr sz="1600" dirty="0">
              <a:latin typeface="Abadi" panose="020B0604020104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41300" marR="99060" indent="-228600">
              <a:lnSpc>
                <a:spcPts val="1730"/>
              </a:lnSpc>
              <a:spcBef>
                <a:spcPts val="575"/>
              </a:spcBef>
              <a:buClr>
                <a:srgbClr val="EC7C30"/>
              </a:buClr>
              <a:buFont typeface="Wingdings"/>
              <a:buChar char=""/>
              <a:tabLst>
                <a:tab pos="240665" algn="l"/>
                <a:tab pos="241300" algn="l"/>
              </a:tabLst>
            </a:pPr>
            <a:r>
              <a:rPr sz="1600" spc="-1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separates directories </a:t>
            </a:r>
            <a:r>
              <a:rPr sz="1600" spc="-1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back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slash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Linux uses a normal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forward 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slash.</a:t>
            </a:r>
          </a:p>
          <a:p>
            <a:pPr marL="241300" marR="24130" indent="-228600" algn="just">
              <a:lnSpc>
                <a:spcPts val="1730"/>
              </a:lnSpc>
              <a:spcBef>
                <a:spcPts val="57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1600" spc="-1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names are not case sensitive. Linux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names are.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"abc" 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"aBC" are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different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files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Linux, </a:t>
            </a:r>
            <a:r>
              <a:rPr sz="1600" spc="-1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whereas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would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the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same 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file.</a:t>
            </a:r>
          </a:p>
          <a:p>
            <a:pPr marL="241300" marR="59055" indent="-228600">
              <a:lnSpc>
                <a:spcPct val="90000"/>
              </a:lnSpc>
              <a:spcBef>
                <a:spcPts val="545"/>
              </a:spcBef>
              <a:buClr>
                <a:srgbClr val="EC7C30"/>
              </a:buClr>
              <a:buFont typeface="Wingdings"/>
              <a:buChar char=""/>
              <a:tabLst>
                <a:tab pos="240665" algn="l"/>
                <a:tab pos="241300" algn="l"/>
              </a:tabLst>
            </a:pPr>
            <a:r>
              <a:rPr sz="1600" spc="-1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Linux </a:t>
            </a:r>
            <a:r>
              <a:rPr sz="1600" spc="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different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concepts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their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hierarchy.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uses a  volume-based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hierarchy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Linux uses a unified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scheme. </a:t>
            </a:r>
            <a:r>
              <a:rPr sz="1600" spc="-1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uses 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letters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alphabet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represent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different devices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different hard disk  partitions.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eg: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c: , d: , e: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etc.. while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linux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 / " is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main</a:t>
            </a:r>
            <a:r>
              <a:rPr sz="1600" spc="7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directory.</a:t>
            </a:r>
            <a:endParaRPr sz="1600" dirty="0">
              <a:latin typeface="Abadi" panose="020B0604020104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41300" marR="5080" indent="-228600">
              <a:lnSpc>
                <a:spcPts val="1730"/>
              </a:lnSpc>
              <a:spcBef>
                <a:spcPts val="600"/>
              </a:spcBef>
              <a:buClr>
                <a:srgbClr val="EC7C30"/>
              </a:buClr>
              <a:buFont typeface="Wingdings"/>
              <a:buChar char=""/>
              <a:tabLst>
                <a:tab pos="240665" algn="l"/>
                <a:tab pos="241300" algn="l"/>
              </a:tabLst>
            </a:pPr>
            <a:r>
              <a:rPr sz="1600" spc="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Linux each user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home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directory and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his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files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save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 it 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sz="1600" spc="-1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saves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his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files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anywhere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drive.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makes difficult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backup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his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contents. </a:t>
            </a:r>
            <a:r>
              <a:rPr sz="1600" spc="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Linux </a:t>
            </a:r>
            <a:r>
              <a:rPr sz="1600" spc="-5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its 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easy to </a:t>
            </a:r>
            <a:r>
              <a:rPr sz="16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</a:t>
            </a:r>
            <a:r>
              <a:rPr sz="1600" spc="-1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backup's.</a:t>
            </a:r>
            <a:endParaRPr sz="1600" dirty="0">
              <a:latin typeface="Abadi" panose="020B0604020104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80857" y="855193"/>
            <a:ext cx="8630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Arial"/>
                <a:cs typeface="Arial"/>
              </a:rPr>
              <a:t>Difference between </a:t>
            </a:r>
            <a:r>
              <a:rPr sz="3600" b="1" spc="-5" dirty="0">
                <a:latin typeface="Arial"/>
                <a:cs typeface="Arial"/>
              </a:rPr>
              <a:t>Linux </a:t>
            </a:r>
            <a:r>
              <a:rPr sz="3600" b="1" dirty="0">
                <a:latin typeface="Arial"/>
                <a:cs typeface="Arial"/>
              </a:rPr>
              <a:t>and</a:t>
            </a:r>
            <a:r>
              <a:rPr sz="3600" b="1" spc="-75" dirty="0">
                <a:latin typeface="Arial"/>
                <a:cs typeface="Arial"/>
              </a:rPr>
              <a:t> </a:t>
            </a:r>
            <a:r>
              <a:rPr sz="3600" b="1" spc="-10" dirty="0">
                <a:latin typeface="Arial"/>
                <a:cs typeface="Arial"/>
              </a:rPr>
              <a:t>Windows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2F51CD-3F27-4C23-BE94-7F877FAB49A7}"/>
              </a:ext>
            </a:extLst>
          </p:cNvPr>
          <p:cNvSpPr/>
          <p:nvPr/>
        </p:nvSpPr>
        <p:spPr>
          <a:xfrm>
            <a:off x="252963" y="129397"/>
            <a:ext cx="11688418" cy="64569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81961" y="1219961"/>
            <a:ext cx="8229600" cy="1541145"/>
          </a:xfrm>
          <a:custGeom>
            <a:avLst/>
            <a:gdLst/>
            <a:ahLst/>
            <a:cxnLst/>
            <a:rect l="l" t="t" r="r" b="b"/>
            <a:pathLst>
              <a:path w="8229600" h="1541145">
                <a:moveTo>
                  <a:pt x="8075548" y="0"/>
                </a:moveTo>
                <a:lnTo>
                  <a:pt x="154050" y="0"/>
                </a:lnTo>
                <a:lnTo>
                  <a:pt x="105355" y="7852"/>
                </a:lnTo>
                <a:lnTo>
                  <a:pt x="63066" y="29720"/>
                </a:lnTo>
                <a:lnTo>
                  <a:pt x="29720" y="63066"/>
                </a:lnTo>
                <a:lnTo>
                  <a:pt x="7852" y="105355"/>
                </a:lnTo>
                <a:lnTo>
                  <a:pt x="0" y="154050"/>
                </a:lnTo>
                <a:lnTo>
                  <a:pt x="0" y="1386713"/>
                </a:lnTo>
                <a:lnTo>
                  <a:pt x="7852" y="1435408"/>
                </a:lnTo>
                <a:lnTo>
                  <a:pt x="29720" y="1477697"/>
                </a:lnTo>
                <a:lnTo>
                  <a:pt x="63066" y="1511043"/>
                </a:lnTo>
                <a:lnTo>
                  <a:pt x="105355" y="1532911"/>
                </a:lnTo>
                <a:lnTo>
                  <a:pt x="154050" y="1540764"/>
                </a:lnTo>
                <a:lnTo>
                  <a:pt x="8075548" y="1540764"/>
                </a:lnTo>
                <a:lnTo>
                  <a:pt x="8124244" y="1532911"/>
                </a:lnTo>
                <a:lnTo>
                  <a:pt x="8166533" y="1511043"/>
                </a:lnTo>
                <a:lnTo>
                  <a:pt x="8199879" y="1477697"/>
                </a:lnTo>
                <a:lnTo>
                  <a:pt x="8221747" y="1435408"/>
                </a:lnTo>
                <a:lnTo>
                  <a:pt x="8229600" y="1386713"/>
                </a:lnTo>
                <a:lnTo>
                  <a:pt x="8229600" y="154050"/>
                </a:lnTo>
                <a:lnTo>
                  <a:pt x="8221747" y="105355"/>
                </a:lnTo>
                <a:lnTo>
                  <a:pt x="8199879" y="63066"/>
                </a:lnTo>
                <a:lnTo>
                  <a:pt x="8166533" y="29720"/>
                </a:lnTo>
                <a:lnTo>
                  <a:pt x="8124244" y="7852"/>
                </a:lnTo>
                <a:lnTo>
                  <a:pt x="807554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81961" y="1219961"/>
            <a:ext cx="8229600" cy="1541145"/>
          </a:xfrm>
          <a:custGeom>
            <a:avLst/>
            <a:gdLst/>
            <a:ahLst/>
            <a:cxnLst/>
            <a:rect l="l" t="t" r="r" b="b"/>
            <a:pathLst>
              <a:path w="8229600" h="1541145">
                <a:moveTo>
                  <a:pt x="0" y="154050"/>
                </a:moveTo>
                <a:lnTo>
                  <a:pt x="7852" y="105355"/>
                </a:lnTo>
                <a:lnTo>
                  <a:pt x="29720" y="63066"/>
                </a:lnTo>
                <a:lnTo>
                  <a:pt x="63066" y="29720"/>
                </a:lnTo>
                <a:lnTo>
                  <a:pt x="105355" y="7852"/>
                </a:lnTo>
                <a:lnTo>
                  <a:pt x="154050" y="0"/>
                </a:lnTo>
                <a:lnTo>
                  <a:pt x="8075548" y="0"/>
                </a:lnTo>
                <a:lnTo>
                  <a:pt x="8124244" y="7852"/>
                </a:lnTo>
                <a:lnTo>
                  <a:pt x="8166533" y="29720"/>
                </a:lnTo>
                <a:lnTo>
                  <a:pt x="8199879" y="63066"/>
                </a:lnTo>
                <a:lnTo>
                  <a:pt x="8221747" y="105355"/>
                </a:lnTo>
                <a:lnTo>
                  <a:pt x="8229600" y="154050"/>
                </a:lnTo>
                <a:lnTo>
                  <a:pt x="8229600" y="1386713"/>
                </a:lnTo>
                <a:lnTo>
                  <a:pt x="8221747" y="1435408"/>
                </a:lnTo>
                <a:lnTo>
                  <a:pt x="8199879" y="1477697"/>
                </a:lnTo>
                <a:lnTo>
                  <a:pt x="8166533" y="1511043"/>
                </a:lnTo>
                <a:lnTo>
                  <a:pt x="8124244" y="1532911"/>
                </a:lnTo>
                <a:lnTo>
                  <a:pt x="8075548" y="1540764"/>
                </a:lnTo>
                <a:lnTo>
                  <a:pt x="154050" y="1540764"/>
                </a:lnTo>
                <a:lnTo>
                  <a:pt x="105355" y="1532911"/>
                </a:lnTo>
                <a:lnTo>
                  <a:pt x="63066" y="1511043"/>
                </a:lnTo>
                <a:lnTo>
                  <a:pt x="29720" y="1477697"/>
                </a:lnTo>
                <a:lnTo>
                  <a:pt x="7852" y="1435408"/>
                </a:lnTo>
                <a:lnTo>
                  <a:pt x="0" y="1386713"/>
                </a:lnTo>
                <a:lnTo>
                  <a:pt x="0" y="154050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22319" y="1328750"/>
            <a:ext cx="6017895" cy="10248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ct val="92000"/>
              </a:lnSpc>
              <a:spcBef>
                <a:spcPts val="240"/>
              </a:spcBef>
            </a:pPr>
            <a:r>
              <a:rPr sz="1400" b="1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Red Hat </a:t>
            </a:r>
            <a:r>
              <a:rPr sz="1400" b="1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Enterprise Linux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(</a:t>
            </a:r>
            <a:r>
              <a:rPr sz="1400" b="1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RHEL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) </a:t>
            </a:r>
            <a:r>
              <a:rPr sz="1400" spc="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is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a Linux-based operating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system 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developed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by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Red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Hat and targeted toward the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commercial market.  Red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Hat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Enterprise Linux </a:t>
            </a:r>
            <a:r>
              <a:rPr sz="1400" spc="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is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released </a:t>
            </a:r>
            <a:r>
              <a:rPr sz="1400" spc="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in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server versions for x86, x86-64,  Itanium, PowerPC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and </a:t>
            </a:r>
            <a:r>
              <a:rPr sz="1400" spc="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IBM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System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z,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and desktop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versions for x86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and  x86-64..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Red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Hat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Enterprise Linux </a:t>
            </a:r>
            <a:r>
              <a:rPr sz="1400" spc="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is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often abbreviated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to</a:t>
            </a:r>
            <a:r>
              <a:rPr sz="1400" spc="-14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RHEL.</a:t>
            </a:r>
            <a:endParaRPr sz="1400" dirty="0">
              <a:latin typeface="Abadi" panose="020B0604020104020204" pitchFamily="34" charset="0"/>
              <a:cs typeface="Century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81961" y="2914650"/>
            <a:ext cx="8229600" cy="1541145"/>
          </a:xfrm>
          <a:custGeom>
            <a:avLst/>
            <a:gdLst/>
            <a:ahLst/>
            <a:cxnLst/>
            <a:rect l="l" t="t" r="r" b="b"/>
            <a:pathLst>
              <a:path w="8229600" h="1541145">
                <a:moveTo>
                  <a:pt x="8075548" y="0"/>
                </a:moveTo>
                <a:lnTo>
                  <a:pt x="154050" y="0"/>
                </a:lnTo>
                <a:lnTo>
                  <a:pt x="105355" y="7852"/>
                </a:lnTo>
                <a:lnTo>
                  <a:pt x="63066" y="29720"/>
                </a:lnTo>
                <a:lnTo>
                  <a:pt x="29720" y="63066"/>
                </a:lnTo>
                <a:lnTo>
                  <a:pt x="7852" y="105355"/>
                </a:lnTo>
                <a:lnTo>
                  <a:pt x="0" y="154050"/>
                </a:lnTo>
                <a:lnTo>
                  <a:pt x="0" y="1386713"/>
                </a:lnTo>
                <a:lnTo>
                  <a:pt x="7852" y="1435408"/>
                </a:lnTo>
                <a:lnTo>
                  <a:pt x="29720" y="1477697"/>
                </a:lnTo>
                <a:lnTo>
                  <a:pt x="63066" y="1511043"/>
                </a:lnTo>
                <a:lnTo>
                  <a:pt x="105355" y="1532911"/>
                </a:lnTo>
                <a:lnTo>
                  <a:pt x="154050" y="1540764"/>
                </a:lnTo>
                <a:lnTo>
                  <a:pt x="8075548" y="1540764"/>
                </a:lnTo>
                <a:lnTo>
                  <a:pt x="8124244" y="1532911"/>
                </a:lnTo>
                <a:lnTo>
                  <a:pt x="8166533" y="1511043"/>
                </a:lnTo>
                <a:lnTo>
                  <a:pt x="8199879" y="1477697"/>
                </a:lnTo>
                <a:lnTo>
                  <a:pt x="8221747" y="1435408"/>
                </a:lnTo>
                <a:lnTo>
                  <a:pt x="8229600" y="1386713"/>
                </a:lnTo>
                <a:lnTo>
                  <a:pt x="8229600" y="154050"/>
                </a:lnTo>
                <a:lnTo>
                  <a:pt x="8221747" y="105355"/>
                </a:lnTo>
                <a:lnTo>
                  <a:pt x="8199879" y="63066"/>
                </a:lnTo>
                <a:lnTo>
                  <a:pt x="8166533" y="29720"/>
                </a:lnTo>
                <a:lnTo>
                  <a:pt x="8124244" y="7852"/>
                </a:lnTo>
                <a:lnTo>
                  <a:pt x="807554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81961" y="2914650"/>
            <a:ext cx="8229600" cy="1541145"/>
          </a:xfrm>
          <a:custGeom>
            <a:avLst/>
            <a:gdLst/>
            <a:ahLst/>
            <a:cxnLst/>
            <a:rect l="l" t="t" r="r" b="b"/>
            <a:pathLst>
              <a:path w="8229600" h="1541145">
                <a:moveTo>
                  <a:pt x="0" y="154050"/>
                </a:moveTo>
                <a:lnTo>
                  <a:pt x="7852" y="105355"/>
                </a:lnTo>
                <a:lnTo>
                  <a:pt x="29720" y="63066"/>
                </a:lnTo>
                <a:lnTo>
                  <a:pt x="63066" y="29720"/>
                </a:lnTo>
                <a:lnTo>
                  <a:pt x="105355" y="7852"/>
                </a:lnTo>
                <a:lnTo>
                  <a:pt x="154050" y="0"/>
                </a:lnTo>
                <a:lnTo>
                  <a:pt x="8075548" y="0"/>
                </a:lnTo>
                <a:lnTo>
                  <a:pt x="8124244" y="7852"/>
                </a:lnTo>
                <a:lnTo>
                  <a:pt x="8166533" y="29720"/>
                </a:lnTo>
                <a:lnTo>
                  <a:pt x="8199879" y="63066"/>
                </a:lnTo>
                <a:lnTo>
                  <a:pt x="8221747" y="105355"/>
                </a:lnTo>
                <a:lnTo>
                  <a:pt x="8229600" y="154050"/>
                </a:lnTo>
                <a:lnTo>
                  <a:pt x="8229600" y="1386713"/>
                </a:lnTo>
                <a:lnTo>
                  <a:pt x="8221747" y="1435408"/>
                </a:lnTo>
                <a:lnTo>
                  <a:pt x="8199879" y="1477697"/>
                </a:lnTo>
                <a:lnTo>
                  <a:pt x="8166533" y="1511043"/>
                </a:lnTo>
                <a:lnTo>
                  <a:pt x="8124244" y="1532911"/>
                </a:lnTo>
                <a:lnTo>
                  <a:pt x="8075548" y="1540764"/>
                </a:lnTo>
                <a:lnTo>
                  <a:pt x="154050" y="1540764"/>
                </a:lnTo>
                <a:lnTo>
                  <a:pt x="105355" y="1532911"/>
                </a:lnTo>
                <a:lnTo>
                  <a:pt x="63066" y="1511043"/>
                </a:lnTo>
                <a:lnTo>
                  <a:pt x="29720" y="1477697"/>
                </a:lnTo>
                <a:lnTo>
                  <a:pt x="7852" y="1435408"/>
                </a:lnTo>
                <a:lnTo>
                  <a:pt x="0" y="1386713"/>
                </a:lnTo>
                <a:lnTo>
                  <a:pt x="0" y="154050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25979" y="1363980"/>
            <a:ext cx="1684020" cy="1252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22319" y="3259073"/>
            <a:ext cx="6097905" cy="82804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ct val="91900"/>
              </a:lnSpc>
              <a:spcBef>
                <a:spcPts val="240"/>
              </a:spcBef>
            </a:pPr>
            <a:r>
              <a:rPr sz="1400" b="1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CentOS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(</a:t>
            </a:r>
            <a:r>
              <a:rPr sz="1400" i="1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Community </a:t>
            </a:r>
            <a:r>
              <a:rPr sz="1400" i="1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Enterprise </a:t>
            </a:r>
            <a:r>
              <a:rPr sz="1400" i="1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Operating System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) </a:t>
            </a:r>
            <a:r>
              <a:rPr sz="1400" spc="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is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a Linux</a:t>
            </a:r>
            <a:r>
              <a:rPr sz="1400" spc="-14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distribution  </a:t>
            </a:r>
            <a:r>
              <a:rPr sz="1400" spc="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which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attempts to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provide a free enterprise class computing platform  </a:t>
            </a:r>
            <a:r>
              <a:rPr sz="1400" spc="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which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has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100% binary compatibility with its upstream source, Red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Hat 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Enterprise Linux</a:t>
            </a:r>
            <a:r>
              <a:rPr sz="1400" spc="-6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(RHEL).</a:t>
            </a:r>
            <a:endParaRPr sz="1400" dirty="0">
              <a:latin typeface="Abadi" panose="020B0604020104020204" pitchFamily="34" charset="0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81961" y="4609338"/>
            <a:ext cx="8229600" cy="1541145"/>
          </a:xfrm>
          <a:custGeom>
            <a:avLst/>
            <a:gdLst/>
            <a:ahLst/>
            <a:cxnLst/>
            <a:rect l="l" t="t" r="r" b="b"/>
            <a:pathLst>
              <a:path w="8229600" h="1541145">
                <a:moveTo>
                  <a:pt x="8075548" y="0"/>
                </a:moveTo>
                <a:lnTo>
                  <a:pt x="154050" y="0"/>
                </a:lnTo>
                <a:lnTo>
                  <a:pt x="105355" y="7852"/>
                </a:lnTo>
                <a:lnTo>
                  <a:pt x="63066" y="29720"/>
                </a:lnTo>
                <a:lnTo>
                  <a:pt x="29720" y="63066"/>
                </a:lnTo>
                <a:lnTo>
                  <a:pt x="7852" y="105355"/>
                </a:lnTo>
                <a:lnTo>
                  <a:pt x="0" y="154050"/>
                </a:lnTo>
                <a:lnTo>
                  <a:pt x="0" y="1386687"/>
                </a:lnTo>
                <a:lnTo>
                  <a:pt x="7852" y="1435386"/>
                </a:lnTo>
                <a:lnTo>
                  <a:pt x="29720" y="1477681"/>
                </a:lnTo>
                <a:lnTo>
                  <a:pt x="63066" y="1511035"/>
                </a:lnTo>
                <a:lnTo>
                  <a:pt x="105355" y="1532908"/>
                </a:lnTo>
                <a:lnTo>
                  <a:pt x="154050" y="1540764"/>
                </a:lnTo>
                <a:lnTo>
                  <a:pt x="8075548" y="1540764"/>
                </a:lnTo>
                <a:lnTo>
                  <a:pt x="8124244" y="1532908"/>
                </a:lnTo>
                <a:lnTo>
                  <a:pt x="8166533" y="1511035"/>
                </a:lnTo>
                <a:lnTo>
                  <a:pt x="8199879" y="1477681"/>
                </a:lnTo>
                <a:lnTo>
                  <a:pt x="8221747" y="1435386"/>
                </a:lnTo>
                <a:lnTo>
                  <a:pt x="8229600" y="1386687"/>
                </a:lnTo>
                <a:lnTo>
                  <a:pt x="8229600" y="154050"/>
                </a:lnTo>
                <a:lnTo>
                  <a:pt x="8221747" y="105355"/>
                </a:lnTo>
                <a:lnTo>
                  <a:pt x="8199879" y="63066"/>
                </a:lnTo>
                <a:lnTo>
                  <a:pt x="8166533" y="29720"/>
                </a:lnTo>
                <a:lnTo>
                  <a:pt x="8124244" y="7852"/>
                </a:lnTo>
                <a:lnTo>
                  <a:pt x="807554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81961" y="4609338"/>
            <a:ext cx="8229600" cy="1541145"/>
          </a:xfrm>
          <a:custGeom>
            <a:avLst/>
            <a:gdLst/>
            <a:ahLst/>
            <a:cxnLst/>
            <a:rect l="l" t="t" r="r" b="b"/>
            <a:pathLst>
              <a:path w="8229600" h="1541145">
                <a:moveTo>
                  <a:pt x="0" y="154050"/>
                </a:moveTo>
                <a:lnTo>
                  <a:pt x="7852" y="105355"/>
                </a:lnTo>
                <a:lnTo>
                  <a:pt x="29720" y="63066"/>
                </a:lnTo>
                <a:lnTo>
                  <a:pt x="63066" y="29720"/>
                </a:lnTo>
                <a:lnTo>
                  <a:pt x="105355" y="7852"/>
                </a:lnTo>
                <a:lnTo>
                  <a:pt x="154050" y="0"/>
                </a:lnTo>
                <a:lnTo>
                  <a:pt x="8075548" y="0"/>
                </a:lnTo>
                <a:lnTo>
                  <a:pt x="8124244" y="7852"/>
                </a:lnTo>
                <a:lnTo>
                  <a:pt x="8166533" y="29720"/>
                </a:lnTo>
                <a:lnTo>
                  <a:pt x="8199879" y="63066"/>
                </a:lnTo>
                <a:lnTo>
                  <a:pt x="8221747" y="105355"/>
                </a:lnTo>
                <a:lnTo>
                  <a:pt x="8229600" y="154050"/>
                </a:lnTo>
                <a:lnTo>
                  <a:pt x="8229600" y="1386687"/>
                </a:lnTo>
                <a:lnTo>
                  <a:pt x="8221747" y="1435386"/>
                </a:lnTo>
                <a:lnTo>
                  <a:pt x="8199879" y="1477681"/>
                </a:lnTo>
                <a:lnTo>
                  <a:pt x="8166533" y="1511035"/>
                </a:lnTo>
                <a:lnTo>
                  <a:pt x="8124244" y="1532908"/>
                </a:lnTo>
                <a:lnTo>
                  <a:pt x="8075548" y="1540764"/>
                </a:lnTo>
                <a:lnTo>
                  <a:pt x="154050" y="1540764"/>
                </a:lnTo>
                <a:lnTo>
                  <a:pt x="105355" y="1532908"/>
                </a:lnTo>
                <a:lnTo>
                  <a:pt x="63066" y="1511035"/>
                </a:lnTo>
                <a:lnTo>
                  <a:pt x="29720" y="1477681"/>
                </a:lnTo>
                <a:lnTo>
                  <a:pt x="7852" y="1435386"/>
                </a:lnTo>
                <a:lnTo>
                  <a:pt x="0" y="1386687"/>
                </a:lnTo>
                <a:lnTo>
                  <a:pt x="0" y="154050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25979" y="2971800"/>
            <a:ext cx="1684020" cy="13395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822319" y="5052441"/>
            <a:ext cx="6196330" cy="443711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550"/>
              </a:lnSpc>
              <a:spcBef>
                <a:spcPts val="260"/>
              </a:spcBef>
            </a:pPr>
            <a:r>
              <a:rPr sz="1400" b="1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Fedora </a:t>
            </a:r>
            <a:r>
              <a:rPr sz="1400" spc="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is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an RPM-based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operating system based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on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the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Linux kernel,  developed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by the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community-supported Fedora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Project and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owned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by  </a:t>
            </a:r>
            <a:r>
              <a:rPr sz="1400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Red</a:t>
            </a:r>
            <a:r>
              <a:rPr sz="1400" spc="-1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badi" panose="020B0604020104020204" pitchFamily="34" charset="0"/>
                <a:cs typeface="Century Gothic"/>
              </a:rPr>
              <a:t>Hat.</a:t>
            </a:r>
            <a:endParaRPr sz="1400" dirty="0">
              <a:latin typeface="Abadi" panose="020B0604020104020204" pitchFamily="34" charset="0"/>
              <a:cs typeface="Century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25979" y="4693920"/>
            <a:ext cx="1684020" cy="13258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821429" y="238506"/>
            <a:ext cx="36620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Arial"/>
                <a:cs typeface="Arial"/>
              </a:rPr>
              <a:t>Linux</a:t>
            </a:r>
            <a:r>
              <a:rPr sz="4400" spc="-75" dirty="0">
                <a:latin typeface="Arial"/>
                <a:cs typeface="Arial"/>
              </a:rPr>
              <a:t> </a:t>
            </a:r>
            <a:r>
              <a:rPr sz="4400" dirty="0">
                <a:latin typeface="Arial"/>
                <a:cs typeface="Arial"/>
              </a:rPr>
              <a:t>Flavours</a:t>
            </a:r>
            <a:endParaRPr sz="4400">
              <a:latin typeface="Arial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A9C3B7-00A8-428B-B411-C29E2B510117}"/>
              </a:ext>
            </a:extLst>
          </p:cNvPr>
          <p:cNvSpPr/>
          <p:nvPr/>
        </p:nvSpPr>
        <p:spPr>
          <a:xfrm>
            <a:off x="252963" y="129397"/>
            <a:ext cx="11688418" cy="64569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53890" y="1143000"/>
            <a:ext cx="10622536" cy="51308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2607945" indent="-253365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cs typeface="Arial"/>
              </a:rPr>
              <a:t>Two </a:t>
            </a:r>
            <a:r>
              <a:rPr sz="2400" dirty="0">
                <a:cs typeface="Arial"/>
              </a:rPr>
              <a:t>types of </a:t>
            </a:r>
            <a:r>
              <a:rPr sz="2400" spc="-5" dirty="0">
                <a:cs typeface="Arial"/>
              </a:rPr>
              <a:t>utilities </a:t>
            </a:r>
            <a:r>
              <a:rPr sz="2400" dirty="0">
                <a:cs typeface="Arial"/>
              </a:rPr>
              <a:t>to </a:t>
            </a:r>
            <a:r>
              <a:rPr sz="2400" spc="-5" dirty="0">
                <a:cs typeface="Arial"/>
              </a:rPr>
              <a:t>install packages:  RPM and</a:t>
            </a:r>
            <a:r>
              <a:rPr sz="2400" spc="-35" dirty="0">
                <a:cs typeface="Arial"/>
              </a:rPr>
              <a:t> </a:t>
            </a:r>
            <a:r>
              <a:rPr sz="2400" spc="-5" dirty="0">
                <a:cs typeface="Arial"/>
              </a:rPr>
              <a:t>YUM.</a:t>
            </a:r>
            <a:endParaRPr sz="2400" dirty="0"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00" dirty="0"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045844" algn="l"/>
              </a:tabLst>
            </a:pPr>
            <a:r>
              <a:rPr sz="2400" b="1" spc="-5" dirty="0">
                <a:cs typeface="Arial"/>
              </a:rPr>
              <a:t>RPM</a:t>
            </a:r>
            <a:r>
              <a:rPr lang="en-IN" sz="2400" b="1" dirty="0">
                <a:cs typeface="Arial"/>
              </a:rPr>
              <a:t>- </a:t>
            </a:r>
            <a:r>
              <a:rPr sz="2400" b="1" spc="-5" dirty="0">
                <a:cs typeface="Arial"/>
              </a:rPr>
              <a:t>RPM Package</a:t>
            </a:r>
            <a:r>
              <a:rPr sz="2400" b="1" spc="15" dirty="0">
                <a:cs typeface="Arial"/>
              </a:rPr>
              <a:t> </a:t>
            </a:r>
            <a:r>
              <a:rPr sz="2400" b="1" spc="-5" dirty="0">
                <a:cs typeface="Arial"/>
              </a:rPr>
              <a:t>Manager</a:t>
            </a:r>
            <a:r>
              <a:rPr sz="2400" spc="-5" dirty="0">
                <a:cs typeface="Arial"/>
              </a:rPr>
              <a:t>.</a:t>
            </a:r>
            <a:endParaRPr lang="en-IN" sz="2400" spc="-5" dirty="0">
              <a:cs typeface="Arial"/>
            </a:endParaRPr>
          </a:p>
          <a:p>
            <a:pPr marL="12700">
              <a:lnSpc>
                <a:spcPct val="100000"/>
              </a:lnSpc>
              <a:tabLst>
                <a:tab pos="1045844" algn="l"/>
              </a:tabLst>
            </a:pPr>
            <a:endParaRPr sz="2400" dirty="0">
              <a:cs typeface="Arial"/>
            </a:endParaRPr>
          </a:p>
          <a:p>
            <a:pPr marL="241300" marR="443230" indent="-228600">
              <a:lnSpc>
                <a:spcPct val="70000"/>
              </a:lnSpc>
              <a:spcBef>
                <a:spcPts val="865"/>
              </a:spcBef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cs typeface="Arial"/>
              </a:rPr>
              <a:t>It </a:t>
            </a:r>
            <a:r>
              <a:rPr sz="2400" spc="-5" dirty="0">
                <a:cs typeface="Arial"/>
              </a:rPr>
              <a:t>is an open packaging </a:t>
            </a:r>
            <a:r>
              <a:rPr sz="2400" dirty="0">
                <a:cs typeface="Arial"/>
              </a:rPr>
              <a:t>system </a:t>
            </a:r>
            <a:r>
              <a:rPr sz="2400" spc="-5" dirty="0">
                <a:cs typeface="Arial"/>
              </a:rPr>
              <a:t>available </a:t>
            </a:r>
            <a:r>
              <a:rPr sz="2400" dirty="0">
                <a:cs typeface="Arial"/>
              </a:rPr>
              <a:t>for </a:t>
            </a:r>
            <a:r>
              <a:rPr sz="2400" spc="-5" dirty="0">
                <a:cs typeface="Arial"/>
              </a:rPr>
              <a:t>anyone </a:t>
            </a:r>
            <a:r>
              <a:rPr sz="2400" dirty="0">
                <a:cs typeface="Arial"/>
              </a:rPr>
              <a:t>to  </a:t>
            </a:r>
            <a:r>
              <a:rPr sz="2400" spc="-5" dirty="0">
                <a:cs typeface="Arial"/>
              </a:rPr>
              <a:t>use</a:t>
            </a:r>
            <a:endParaRPr lang="en-IN" sz="2400" spc="-5" dirty="0">
              <a:cs typeface="Arial"/>
            </a:endParaRPr>
          </a:p>
          <a:p>
            <a:pPr marL="12700" marR="443230">
              <a:lnSpc>
                <a:spcPct val="70000"/>
              </a:lnSpc>
              <a:spcBef>
                <a:spcPts val="865"/>
              </a:spcBef>
              <a:tabLst>
                <a:tab pos="241300" algn="l"/>
              </a:tabLst>
            </a:pPr>
            <a:endParaRPr sz="2400" dirty="0">
              <a:cs typeface="Arial"/>
            </a:endParaRPr>
          </a:p>
          <a:p>
            <a:pPr marL="325120" indent="-312420">
              <a:lnSpc>
                <a:spcPts val="2090"/>
              </a:lnSpc>
              <a:buFont typeface="Wingdings"/>
              <a:buChar char=""/>
              <a:tabLst>
                <a:tab pos="324485" algn="l"/>
                <a:tab pos="325120" algn="l"/>
              </a:tabLst>
            </a:pPr>
            <a:r>
              <a:rPr sz="2400" dirty="0">
                <a:cs typeface="Arial"/>
              </a:rPr>
              <a:t>It </a:t>
            </a:r>
            <a:r>
              <a:rPr sz="2400" spc="-5" dirty="0">
                <a:cs typeface="Arial"/>
              </a:rPr>
              <a:t>also maintains </a:t>
            </a:r>
            <a:r>
              <a:rPr sz="2400" dirty="0">
                <a:cs typeface="Arial"/>
              </a:rPr>
              <a:t>a </a:t>
            </a:r>
            <a:r>
              <a:rPr sz="2400" spc="-5" dirty="0">
                <a:cs typeface="Arial"/>
              </a:rPr>
              <a:t>database </a:t>
            </a:r>
            <a:r>
              <a:rPr sz="2400" dirty="0">
                <a:cs typeface="Arial"/>
              </a:rPr>
              <a:t>of </a:t>
            </a:r>
            <a:r>
              <a:rPr sz="2400" spc="-5" dirty="0">
                <a:cs typeface="Arial"/>
              </a:rPr>
              <a:t>all packages and</a:t>
            </a:r>
            <a:r>
              <a:rPr sz="2400" spc="80" dirty="0">
                <a:cs typeface="Arial"/>
              </a:rPr>
              <a:t> </a:t>
            </a:r>
            <a:r>
              <a:rPr sz="2400" spc="-5" dirty="0">
                <a:cs typeface="Arial"/>
              </a:rPr>
              <a:t>their</a:t>
            </a:r>
            <a:endParaRPr sz="2400" dirty="0">
              <a:cs typeface="Arial"/>
            </a:endParaRPr>
          </a:p>
          <a:p>
            <a:pPr marL="241300" marR="5080">
              <a:lnSpc>
                <a:spcPct val="70000"/>
              </a:lnSpc>
              <a:spcBef>
                <a:spcPts val="434"/>
              </a:spcBef>
            </a:pPr>
            <a:r>
              <a:rPr sz="2400" spc="-5" dirty="0">
                <a:cs typeface="Arial"/>
              </a:rPr>
              <a:t>files </a:t>
            </a:r>
            <a:r>
              <a:rPr sz="2400" dirty="0">
                <a:cs typeface="Arial"/>
              </a:rPr>
              <a:t>that </a:t>
            </a:r>
            <a:r>
              <a:rPr sz="2400" spc="-5" dirty="0">
                <a:cs typeface="Arial"/>
              </a:rPr>
              <a:t>can be used </a:t>
            </a:r>
            <a:r>
              <a:rPr sz="2400" dirty="0">
                <a:cs typeface="Arial"/>
              </a:rPr>
              <a:t>for </a:t>
            </a:r>
            <a:r>
              <a:rPr sz="2400" spc="-5" dirty="0">
                <a:cs typeface="Arial"/>
              </a:rPr>
              <a:t>verifying packages and querying  </a:t>
            </a:r>
            <a:r>
              <a:rPr sz="2400" dirty="0">
                <a:cs typeface="Arial"/>
              </a:rPr>
              <a:t>for </a:t>
            </a:r>
            <a:r>
              <a:rPr sz="2400" spc="-5" dirty="0">
                <a:cs typeface="Arial"/>
              </a:rPr>
              <a:t>information about files and/or</a:t>
            </a:r>
            <a:r>
              <a:rPr sz="2400" spc="45" dirty="0">
                <a:cs typeface="Arial"/>
              </a:rPr>
              <a:t> </a:t>
            </a:r>
            <a:r>
              <a:rPr sz="2400" spc="-5" dirty="0">
                <a:cs typeface="Arial"/>
              </a:rPr>
              <a:t>packages</a:t>
            </a:r>
            <a:endParaRPr lang="en-IN" sz="2400" spc="-5" dirty="0">
              <a:cs typeface="Arial"/>
            </a:endParaRPr>
          </a:p>
          <a:p>
            <a:pPr marL="241300" marR="5080">
              <a:lnSpc>
                <a:spcPct val="70000"/>
              </a:lnSpc>
              <a:spcBef>
                <a:spcPts val="434"/>
              </a:spcBef>
            </a:pPr>
            <a:endParaRPr sz="2400" dirty="0">
              <a:cs typeface="Arial"/>
            </a:endParaRPr>
          </a:p>
          <a:p>
            <a:pPr marL="325120" indent="-312420">
              <a:lnSpc>
                <a:spcPts val="2075"/>
              </a:lnSpc>
              <a:buFont typeface="Wingdings"/>
              <a:buChar char=""/>
              <a:tabLst>
                <a:tab pos="324485" algn="l"/>
                <a:tab pos="325120" algn="l"/>
              </a:tabLst>
            </a:pPr>
            <a:r>
              <a:rPr sz="2400" spc="-5" dirty="0">
                <a:cs typeface="Arial"/>
              </a:rPr>
              <a:t>RPM packages typically have file names like</a:t>
            </a:r>
            <a:r>
              <a:rPr sz="2400" spc="110" dirty="0">
                <a:cs typeface="Arial"/>
              </a:rPr>
              <a:t> </a:t>
            </a:r>
            <a:r>
              <a:rPr sz="2400" dirty="0">
                <a:cs typeface="Arial"/>
              </a:rPr>
              <a:t>foo-1.0-</a:t>
            </a:r>
          </a:p>
          <a:p>
            <a:pPr marL="241300" marR="363220" lvl="1">
              <a:lnSpc>
                <a:spcPct val="70000"/>
              </a:lnSpc>
              <a:spcBef>
                <a:spcPts val="430"/>
              </a:spcBef>
              <a:buSzPct val="95833"/>
              <a:buAutoNum type="arabicPeriod"/>
              <a:tabLst>
                <a:tab pos="496570" algn="l"/>
              </a:tabLst>
            </a:pPr>
            <a:r>
              <a:rPr sz="2400" spc="-5" dirty="0">
                <a:cs typeface="Arial"/>
              </a:rPr>
              <a:t>i386.rpm. </a:t>
            </a:r>
            <a:r>
              <a:rPr sz="2400" dirty="0">
                <a:cs typeface="Arial"/>
              </a:rPr>
              <a:t>The </a:t>
            </a:r>
            <a:r>
              <a:rPr sz="2400" spc="-5" dirty="0">
                <a:cs typeface="Arial"/>
              </a:rPr>
              <a:t>file name includes </a:t>
            </a:r>
            <a:r>
              <a:rPr sz="2400" dirty="0">
                <a:cs typeface="Arial"/>
              </a:rPr>
              <a:t>the </a:t>
            </a:r>
            <a:r>
              <a:rPr sz="2400" spc="-5" dirty="0">
                <a:cs typeface="Arial"/>
              </a:rPr>
              <a:t>package name  (foo), version </a:t>
            </a:r>
            <a:r>
              <a:rPr sz="2400" dirty="0">
                <a:cs typeface="Arial"/>
              </a:rPr>
              <a:t>(1.0), </a:t>
            </a:r>
            <a:r>
              <a:rPr sz="2400" spc="-5" dirty="0">
                <a:cs typeface="Arial"/>
              </a:rPr>
              <a:t>release </a:t>
            </a:r>
            <a:r>
              <a:rPr sz="2400" dirty="0">
                <a:cs typeface="Arial"/>
              </a:rPr>
              <a:t>(1), </a:t>
            </a:r>
            <a:r>
              <a:rPr sz="2400" spc="-5" dirty="0">
                <a:cs typeface="Arial"/>
              </a:rPr>
              <a:t>and </a:t>
            </a:r>
            <a:r>
              <a:rPr sz="2400" dirty="0">
                <a:cs typeface="Arial"/>
              </a:rPr>
              <a:t>architecture</a:t>
            </a:r>
            <a:r>
              <a:rPr sz="2400" spc="20" dirty="0">
                <a:cs typeface="Arial"/>
              </a:rPr>
              <a:t> </a:t>
            </a:r>
            <a:r>
              <a:rPr sz="2400" spc="-5" dirty="0">
                <a:cs typeface="Arial"/>
              </a:rPr>
              <a:t>(i386).</a:t>
            </a:r>
            <a:endParaRPr lang="en-IN" sz="2400" spc="-5" dirty="0">
              <a:cs typeface="Arial"/>
            </a:endParaRPr>
          </a:p>
          <a:p>
            <a:pPr marL="241300" marR="363220" lvl="1">
              <a:lnSpc>
                <a:spcPct val="70000"/>
              </a:lnSpc>
              <a:spcBef>
                <a:spcPts val="430"/>
              </a:spcBef>
              <a:buSzPct val="95833"/>
              <a:buAutoNum type="arabicPeriod"/>
              <a:tabLst>
                <a:tab pos="496570" algn="l"/>
              </a:tabLst>
            </a:pPr>
            <a:endParaRPr sz="2400" dirty="0">
              <a:cs typeface="Arial"/>
            </a:endParaRPr>
          </a:p>
          <a:p>
            <a:pPr marL="241300" marR="288925" indent="-228600">
              <a:lnSpc>
                <a:spcPct val="70000"/>
              </a:lnSpc>
              <a:spcBef>
                <a:spcPts val="509"/>
              </a:spcBef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cs typeface="Arial"/>
              </a:rPr>
              <a:t>It </a:t>
            </a:r>
            <a:r>
              <a:rPr sz="2400" spc="-5" dirty="0">
                <a:cs typeface="Arial"/>
              </a:rPr>
              <a:t>can be used </a:t>
            </a:r>
            <a:r>
              <a:rPr sz="2400" dirty="0">
                <a:cs typeface="Arial"/>
              </a:rPr>
              <a:t>to </a:t>
            </a:r>
            <a:r>
              <a:rPr sz="2400" spc="-5" dirty="0">
                <a:cs typeface="Arial"/>
              </a:rPr>
              <a:t>build, install, </a:t>
            </a:r>
            <a:r>
              <a:rPr sz="2400" spc="-35" dirty="0">
                <a:cs typeface="Arial"/>
              </a:rPr>
              <a:t>query, </a:t>
            </a:r>
            <a:r>
              <a:rPr sz="2400" spc="-30" dirty="0">
                <a:cs typeface="Arial"/>
              </a:rPr>
              <a:t>verify, </a:t>
            </a:r>
            <a:r>
              <a:rPr sz="2400" spc="-5" dirty="0">
                <a:cs typeface="Arial"/>
              </a:rPr>
              <a:t>update, and  remove/erase individual software</a:t>
            </a:r>
            <a:r>
              <a:rPr sz="2400" spc="55" dirty="0">
                <a:cs typeface="Arial"/>
              </a:rPr>
              <a:t> </a:t>
            </a:r>
            <a:r>
              <a:rPr sz="2400" spc="-5" dirty="0">
                <a:cs typeface="Arial"/>
              </a:rPr>
              <a:t>packages.</a:t>
            </a:r>
            <a:endParaRPr sz="2400" dirty="0"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39005" y="326516"/>
            <a:ext cx="3713479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u="heavy" dirty="0">
                <a:uFill>
                  <a:solidFill>
                    <a:srgbClr val="44536A"/>
                  </a:solidFill>
                </a:uFill>
                <a:latin typeface="Arial"/>
                <a:cs typeface="Arial"/>
              </a:rPr>
              <a:t>Package</a:t>
            </a:r>
            <a:r>
              <a:rPr sz="2900" u="heavy" spc="-90" dirty="0">
                <a:uFill>
                  <a:solidFill>
                    <a:srgbClr val="44536A"/>
                  </a:solidFill>
                </a:uFill>
                <a:latin typeface="Arial"/>
                <a:cs typeface="Arial"/>
              </a:rPr>
              <a:t> </a:t>
            </a:r>
            <a:r>
              <a:rPr sz="2900" u="heavy" dirty="0">
                <a:uFill>
                  <a:solidFill>
                    <a:srgbClr val="44536A"/>
                  </a:solidFill>
                </a:uFill>
                <a:latin typeface="Arial"/>
                <a:cs typeface="Arial"/>
              </a:rPr>
              <a:t>Management</a:t>
            </a:r>
            <a:endParaRPr sz="2900"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7DC309-A808-4107-9A1F-A212FC108CCC}"/>
              </a:ext>
            </a:extLst>
          </p:cNvPr>
          <p:cNvSpPr/>
          <p:nvPr/>
        </p:nvSpPr>
        <p:spPr>
          <a:xfrm>
            <a:off x="252963" y="129397"/>
            <a:ext cx="11688418" cy="64569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52600" y="1478716"/>
          <a:ext cx="8992234" cy="49375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5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2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4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Command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Description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Example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rpm </a:t>
                      </a:r>
                      <a:r>
                        <a:rPr sz="1800" spc="10" dirty="0">
                          <a:latin typeface="Century Gothic"/>
                          <a:cs typeface="Century Gothic"/>
                        </a:rPr>
                        <a:t>-ivh</a:t>
                      </a:r>
                      <a:r>
                        <a:rPr sz="1800" spc="40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{rpm-file}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Install </a:t>
                      </a:r>
                      <a:r>
                        <a:rPr sz="1800" spc="-10" dirty="0">
                          <a:latin typeface="Century Gothic"/>
                          <a:cs typeface="Century Gothic"/>
                        </a:rPr>
                        <a:t>the</a:t>
                      </a:r>
                      <a:r>
                        <a:rPr sz="1800" spc="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package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366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rpm </a:t>
                      </a:r>
                      <a:r>
                        <a:rPr sz="1800" spc="10" dirty="0">
                          <a:latin typeface="Century Gothic"/>
                          <a:cs typeface="Century Gothic"/>
                        </a:rPr>
                        <a:t>-ivh </a:t>
                      </a:r>
                      <a:r>
                        <a:rPr sz="1800" spc="-10" dirty="0">
                          <a:latin typeface="Century Gothic"/>
                          <a:cs typeface="Century Gothic"/>
                        </a:rPr>
                        <a:t>--test  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moz</a:t>
                      </a:r>
                      <a:r>
                        <a:rPr sz="1800" spc="25" dirty="0">
                          <a:latin typeface="Century Gothic"/>
                          <a:cs typeface="Century Gothic"/>
                        </a:rPr>
                        <a:t>i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l</a:t>
                      </a:r>
                      <a:r>
                        <a:rPr sz="1800" spc="10" dirty="0">
                          <a:latin typeface="Century Gothic"/>
                          <a:cs typeface="Century Gothic"/>
                        </a:rPr>
                        <a:t>l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a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-</a:t>
                      </a:r>
                      <a:r>
                        <a:rPr sz="1800" spc="-10" dirty="0">
                          <a:latin typeface="Century Gothic"/>
                          <a:cs typeface="Century Gothic"/>
                        </a:rPr>
                        <a:t>ma</a:t>
                      </a:r>
                      <a:r>
                        <a:rPr sz="1800" spc="10" dirty="0">
                          <a:latin typeface="Century Gothic"/>
                          <a:cs typeface="Century Gothic"/>
                        </a:rPr>
                        <a:t>i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l-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1</a:t>
                      </a:r>
                      <a:r>
                        <a:rPr sz="1800" spc="-25" dirty="0">
                          <a:latin typeface="Century Gothic"/>
                          <a:cs typeface="Century Gothic"/>
                        </a:rPr>
                        <a:t>.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7</a:t>
                      </a:r>
                      <a:r>
                        <a:rPr sz="1800" spc="-25" dirty="0">
                          <a:latin typeface="Century Gothic"/>
                          <a:cs typeface="Century Gothic"/>
                        </a:rPr>
                        <a:t>.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5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- 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17.i586.rpm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273">
                <a:tc>
                  <a:txBody>
                    <a:bodyPr/>
                    <a:lstStyle/>
                    <a:p>
                      <a:pPr marL="91440" marR="4641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rpm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-Uvh</a:t>
                      </a:r>
                      <a:r>
                        <a:rPr sz="1800" spc="-8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{rpm-  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file}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Century Gothic"/>
                          <a:cs typeface="Century Gothic"/>
                        </a:rPr>
                        <a:t>Upgrade</a:t>
                      </a:r>
                      <a:r>
                        <a:rPr sz="1800" spc="3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package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733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rpm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-Uvh</a:t>
                      </a:r>
                      <a:r>
                        <a:rPr sz="1800" spc="-8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mozilla- 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mail-1.7.6-  12.i586.rpm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19">
                <a:tc>
                  <a:txBody>
                    <a:bodyPr/>
                    <a:lstStyle/>
                    <a:p>
                      <a:pPr marL="91440" marR="464184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rpm </a:t>
                      </a:r>
                      <a:r>
                        <a:rPr sz="1800" spc="5" dirty="0">
                          <a:latin typeface="Century Gothic"/>
                          <a:cs typeface="Century Gothic"/>
                        </a:rPr>
                        <a:t>–Fvh</a:t>
                      </a:r>
                      <a:r>
                        <a:rPr sz="1800" spc="-114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{rpm-  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file}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Freshen </a:t>
                      </a:r>
                      <a:r>
                        <a:rPr sz="1800" spc="-10" dirty="0">
                          <a:latin typeface="Century Gothic"/>
                          <a:cs typeface="Century Gothic"/>
                        </a:rPr>
                        <a:t>the</a:t>
                      </a:r>
                      <a:r>
                        <a:rPr sz="1800" spc="5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Package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11454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rpm </a:t>
                      </a:r>
                      <a:r>
                        <a:rPr sz="1800" spc="5" dirty="0">
                          <a:latin typeface="Century Gothic"/>
                          <a:cs typeface="Century Gothic"/>
                        </a:rPr>
                        <a:t>-Fvh</a:t>
                      </a:r>
                      <a:r>
                        <a:rPr sz="1800" spc="-114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mozilla- 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mail-1.7.6-  12.i586.rpm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rpm</a:t>
                      </a:r>
                      <a:r>
                        <a:rPr sz="18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–e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{package}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Erase/remove/ an installed</a:t>
                      </a:r>
                      <a:r>
                        <a:rPr sz="1800" spc="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package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37820">
                        <a:lnSpc>
                          <a:spcPct val="100000"/>
                        </a:lnSpc>
                        <a:spcBef>
                          <a:spcPts val="330"/>
                        </a:spcBef>
                        <a:tabLst>
                          <a:tab pos="983615" algn="l"/>
                        </a:tabLst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rpm</a:t>
                      </a:r>
                      <a:r>
                        <a:rPr sz="1800" spc="-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–e	moz</a:t>
                      </a:r>
                      <a:r>
                        <a:rPr sz="1800" spc="25" dirty="0">
                          <a:latin typeface="Century Gothic"/>
                          <a:cs typeface="Century Gothic"/>
                        </a:rPr>
                        <a:t>i</a:t>
                      </a:r>
                      <a:r>
                        <a:rPr sz="1800" spc="10" dirty="0">
                          <a:latin typeface="Century Gothic"/>
                          <a:cs typeface="Century Gothic"/>
                        </a:rPr>
                        <a:t>l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la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- 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mail-1.7.6-  12.i586.rpm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4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rpm</a:t>
                      </a:r>
                      <a:r>
                        <a:rPr sz="18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-qa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Display </a:t>
                      </a:r>
                      <a:r>
                        <a:rPr sz="1800" spc="5" dirty="0">
                          <a:latin typeface="Century Gothic"/>
                          <a:cs typeface="Century Gothic"/>
                        </a:rPr>
                        <a:t>list 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all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installed</a:t>
                      </a:r>
                      <a:r>
                        <a:rPr sz="1800" spc="-9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packages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rpm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–qa ,rpm</a:t>
                      </a:r>
                      <a:r>
                        <a:rPr sz="1800" spc="-5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-qa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|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less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24200" y="597766"/>
            <a:ext cx="5714996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u="heavy" spc="-5" dirty="0">
                <a:uFill>
                  <a:solidFill>
                    <a:srgbClr val="44536A"/>
                  </a:solidFill>
                </a:uFill>
                <a:latin typeface="Arial"/>
                <a:cs typeface="Arial"/>
              </a:rPr>
              <a:t>RPM</a:t>
            </a:r>
            <a:r>
              <a:rPr sz="3600" u="heavy" spc="-75" dirty="0">
                <a:uFill>
                  <a:solidFill>
                    <a:srgbClr val="44536A"/>
                  </a:solidFill>
                </a:uFill>
                <a:latin typeface="Arial"/>
                <a:cs typeface="Arial"/>
              </a:rPr>
              <a:t> </a:t>
            </a:r>
            <a:r>
              <a:rPr sz="3600" u="heavy" spc="-5" dirty="0">
                <a:uFill>
                  <a:solidFill>
                    <a:srgbClr val="44536A"/>
                  </a:solidFill>
                </a:uFill>
                <a:latin typeface="Arial"/>
                <a:cs typeface="Arial"/>
              </a:rPr>
              <a:t>COMMAND</a:t>
            </a:r>
            <a:r>
              <a:rPr lang="en-IN" sz="3600" u="heavy" spc="-5" dirty="0">
                <a:uFill>
                  <a:solidFill>
                    <a:srgbClr val="44536A"/>
                  </a:solidFill>
                </a:uFill>
                <a:latin typeface="Arial"/>
                <a:cs typeface="Arial"/>
              </a:rPr>
              <a:t> SHEET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2994" y="6433515"/>
            <a:ext cx="7467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D1EAED"/>
                </a:solidFill>
                <a:latin typeface="Verdana"/>
                <a:cs typeface="Verdana"/>
              </a:rPr>
              <a:t>1</a:t>
            </a:r>
            <a:r>
              <a:rPr sz="1200" spc="5" dirty="0">
                <a:solidFill>
                  <a:srgbClr val="D1EAED"/>
                </a:solidFill>
                <a:latin typeface="Verdana"/>
                <a:cs typeface="Verdana"/>
              </a:rPr>
              <a:t>2</a:t>
            </a:r>
            <a:r>
              <a:rPr sz="1200" spc="-10" dirty="0">
                <a:solidFill>
                  <a:srgbClr val="D1EAED"/>
                </a:solidFill>
                <a:latin typeface="Verdana"/>
                <a:cs typeface="Verdana"/>
              </a:rPr>
              <a:t>/</a:t>
            </a:r>
            <a:r>
              <a:rPr sz="1200" dirty="0">
                <a:solidFill>
                  <a:srgbClr val="D1EAED"/>
                </a:solidFill>
                <a:latin typeface="Verdana"/>
                <a:cs typeface="Verdana"/>
              </a:rPr>
              <a:t>3</a:t>
            </a:r>
            <a:r>
              <a:rPr sz="1200" spc="5" dirty="0">
                <a:solidFill>
                  <a:srgbClr val="D1EAED"/>
                </a:solidFill>
                <a:latin typeface="Verdana"/>
                <a:cs typeface="Verdana"/>
              </a:rPr>
              <a:t>0</a:t>
            </a:r>
            <a:r>
              <a:rPr sz="1200" spc="-10" dirty="0">
                <a:solidFill>
                  <a:srgbClr val="D1EAED"/>
                </a:solidFill>
                <a:latin typeface="Verdana"/>
                <a:cs typeface="Verdana"/>
              </a:rPr>
              <a:t>/</a:t>
            </a:r>
            <a:r>
              <a:rPr sz="1200" dirty="0">
                <a:solidFill>
                  <a:srgbClr val="D1EAED"/>
                </a:solidFill>
                <a:latin typeface="Verdana"/>
                <a:cs typeface="Verdana"/>
              </a:rPr>
              <a:t>09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314304-FE0D-49B2-BFC3-B38BEF89BD5B}"/>
              </a:ext>
            </a:extLst>
          </p:cNvPr>
          <p:cNvSpPr/>
          <p:nvPr/>
        </p:nvSpPr>
        <p:spPr>
          <a:xfrm>
            <a:off x="252963" y="129397"/>
            <a:ext cx="11688418" cy="64569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47800" y="1752600"/>
            <a:ext cx="10072117" cy="2664063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3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i="1" spc="-20" dirty="0">
                <a:cs typeface="Arial"/>
              </a:rPr>
              <a:t>Yellowdog </a:t>
            </a:r>
            <a:r>
              <a:rPr sz="2400" i="1" spc="-5" dirty="0">
                <a:cs typeface="Arial"/>
              </a:rPr>
              <a:t>Update, Modified </a:t>
            </a:r>
            <a:r>
              <a:rPr sz="2400" spc="-5" dirty="0">
                <a:cs typeface="Arial"/>
              </a:rPr>
              <a:t>(YUM) is a </a:t>
            </a:r>
            <a:r>
              <a:rPr sz="2400" dirty="0">
                <a:cs typeface="Arial"/>
              </a:rPr>
              <a:t>package  </a:t>
            </a:r>
            <a:r>
              <a:rPr sz="2400" spc="-5" dirty="0">
                <a:cs typeface="Arial"/>
              </a:rPr>
              <a:t>manager </a:t>
            </a:r>
            <a:r>
              <a:rPr sz="2400" dirty="0">
                <a:cs typeface="Arial"/>
              </a:rPr>
              <a:t>that </a:t>
            </a:r>
            <a:r>
              <a:rPr sz="2400" spc="-10" dirty="0">
                <a:cs typeface="Arial"/>
              </a:rPr>
              <a:t>was </a:t>
            </a:r>
            <a:r>
              <a:rPr sz="2400" dirty="0">
                <a:cs typeface="Arial"/>
              </a:rPr>
              <a:t>developed </a:t>
            </a:r>
            <a:r>
              <a:rPr sz="2400" spc="-5" dirty="0">
                <a:cs typeface="Arial"/>
              </a:rPr>
              <a:t>by Duke </a:t>
            </a:r>
            <a:r>
              <a:rPr sz="2400" dirty="0">
                <a:cs typeface="Arial"/>
              </a:rPr>
              <a:t>University  </a:t>
            </a:r>
            <a:r>
              <a:rPr sz="2400" spc="-5" dirty="0">
                <a:cs typeface="Arial"/>
              </a:rPr>
              <a:t>to improve the </a:t>
            </a:r>
            <a:r>
              <a:rPr sz="2400" dirty="0">
                <a:cs typeface="Arial"/>
              </a:rPr>
              <a:t>installation of</a:t>
            </a:r>
            <a:r>
              <a:rPr sz="2400" spc="15" dirty="0">
                <a:cs typeface="Arial"/>
              </a:rPr>
              <a:t> </a:t>
            </a:r>
            <a:r>
              <a:rPr sz="2400" spc="-5" dirty="0">
                <a:cs typeface="Arial"/>
              </a:rPr>
              <a:t>RPMs.</a:t>
            </a:r>
            <a:endParaRPr sz="2400" dirty="0">
              <a:cs typeface="Arial"/>
            </a:endParaRPr>
          </a:p>
          <a:p>
            <a:pPr marL="241300" indent="-228600" algn="just">
              <a:lnSpc>
                <a:spcPct val="100000"/>
              </a:lnSpc>
              <a:spcBef>
                <a:spcPts val="67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cs typeface="Arial"/>
              </a:rPr>
              <a:t>No mount is</a:t>
            </a:r>
            <a:r>
              <a:rPr sz="2400" spc="15" dirty="0">
                <a:cs typeface="Arial"/>
              </a:rPr>
              <a:t> </a:t>
            </a:r>
            <a:r>
              <a:rPr sz="2400" dirty="0">
                <a:cs typeface="Arial"/>
              </a:rPr>
              <a:t>required.</a:t>
            </a:r>
          </a:p>
          <a:p>
            <a:pPr marL="241300" marR="158750" indent="-228600">
              <a:lnSpc>
                <a:spcPts val="3030"/>
              </a:lnSpc>
              <a:spcBef>
                <a:spcPts val="105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cs typeface="Arial"/>
              </a:rPr>
              <a:t>It </a:t>
            </a:r>
            <a:r>
              <a:rPr sz="2400" spc="-5" dirty="0">
                <a:cs typeface="Arial"/>
              </a:rPr>
              <a:t>will </a:t>
            </a:r>
            <a:r>
              <a:rPr sz="2400" dirty="0">
                <a:cs typeface="Arial"/>
              </a:rPr>
              <a:t>show information </a:t>
            </a:r>
            <a:r>
              <a:rPr sz="2400" spc="-5" dirty="0">
                <a:cs typeface="Arial"/>
              </a:rPr>
              <a:t>about </a:t>
            </a:r>
            <a:r>
              <a:rPr sz="2400" dirty="0">
                <a:cs typeface="Arial"/>
              </a:rPr>
              <a:t>installed and </a:t>
            </a:r>
            <a:r>
              <a:rPr sz="2400" spc="10" dirty="0">
                <a:cs typeface="Arial"/>
              </a:rPr>
              <a:t>non-  </a:t>
            </a:r>
            <a:r>
              <a:rPr sz="2400" dirty="0">
                <a:cs typeface="Arial"/>
              </a:rPr>
              <a:t>installed</a:t>
            </a:r>
            <a:r>
              <a:rPr sz="2400" spc="-10" dirty="0">
                <a:cs typeface="Arial"/>
              </a:rPr>
              <a:t> </a:t>
            </a:r>
            <a:r>
              <a:rPr sz="2400" dirty="0">
                <a:cs typeface="Arial"/>
              </a:rPr>
              <a:t>packages</a:t>
            </a:r>
          </a:p>
          <a:p>
            <a:pPr marL="241300" marR="1355090" indent="-228600">
              <a:lnSpc>
                <a:spcPts val="3020"/>
              </a:lnSpc>
              <a:spcBef>
                <a:spcPts val="100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cs typeface="Arial"/>
              </a:rPr>
              <a:t>YUM </a:t>
            </a:r>
            <a:r>
              <a:rPr sz="2400" dirty="0">
                <a:cs typeface="Arial"/>
              </a:rPr>
              <a:t>installs </a:t>
            </a:r>
            <a:r>
              <a:rPr sz="2400" spc="-5" dirty="0">
                <a:cs typeface="Arial"/>
              </a:rPr>
              <a:t>the required dependencies  </a:t>
            </a:r>
            <a:r>
              <a:rPr sz="2400" dirty="0">
                <a:cs typeface="Arial"/>
              </a:rPr>
              <a:t>automatically</a:t>
            </a: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cs typeface="Arial"/>
              </a:rPr>
              <a:t>For using YUM you need to create</a:t>
            </a:r>
            <a:r>
              <a:rPr sz="2400" spc="20" dirty="0">
                <a:cs typeface="Arial"/>
              </a:rPr>
              <a:t> </a:t>
            </a:r>
            <a:r>
              <a:rPr sz="2400" dirty="0">
                <a:cs typeface="Arial"/>
              </a:rPr>
              <a:t>repositories.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30698" y="609600"/>
            <a:ext cx="11531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sng" spc="-5" dirty="0">
                <a:latin typeface="Arial"/>
                <a:cs typeface="Arial"/>
              </a:rPr>
              <a:t>YUM</a:t>
            </a:r>
            <a:endParaRPr sz="4000" u="sng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2994" y="6433515"/>
            <a:ext cx="7467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D1EAED"/>
                </a:solidFill>
                <a:latin typeface="Verdana"/>
                <a:cs typeface="Verdana"/>
              </a:rPr>
              <a:t>1</a:t>
            </a:r>
            <a:r>
              <a:rPr sz="1200" spc="5" dirty="0">
                <a:solidFill>
                  <a:srgbClr val="D1EAED"/>
                </a:solidFill>
                <a:latin typeface="Verdana"/>
                <a:cs typeface="Verdana"/>
              </a:rPr>
              <a:t>2</a:t>
            </a:r>
            <a:r>
              <a:rPr sz="1200" spc="-10" dirty="0">
                <a:solidFill>
                  <a:srgbClr val="D1EAED"/>
                </a:solidFill>
                <a:latin typeface="Verdana"/>
                <a:cs typeface="Verdana"/>
              </a:rPr>
              <a:t>/</a:t>
            </a:r>
            <a:r>
              <a:rPr sz="1200" dirty="0">
                <a:solidFill>
                  <a:srgbClr val="D1EAED"/>
                </a:solidFill>
                <a:latin typeface="Verdana"/>
                <a:cs typeface="Verdana"/>
              </a:rPr>
              <a:t>3</a:t>
            </a:r>
            <a:r>
              <a:rPr sz="1200" spc="5" dirty="0">
                <a:solidFill>
                  <a:srgbClr val="D1EAED"/>
                </a:solidFill>
                <a:latin typeface="Verdana"/>
                <a:cs typeface="Verdana"/>
              </a:rPr>
              <a:t>0</a:t>
            </a:r>
            <a:r>
              <a:rPr sz="1200" spc="-10" dirty="0">
                <a:solidFill>
                  <a:srgbClr val="D1EAED"/>
                </a:solidFill>
                <a:latin typeface="Verdana"/>
                <a:cs typeface="Verdana"/>
              </a:rPr>
              <a:t>/</a:t>
            </a:r>
            <a:r>
              <a:rPr sz="1200" dirty="0">
                <a:solidFill>
                  <a:srgbClr val="D1EAED"/>
                </a:solidFill>
                <a:latin typeface="Verdana"/>
                <a:cs typeface="Verdana"/>
              </a:rPr>
              <a:t>09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6C6CB5-00EB-44A2-842E-35042F06C107}"/>
              </a:ext>
            </a:extLst>
          </p:cNvPr>
          <p:cNvSpPr/>
          <p:nvPr/>
        </p:nvSpPr>
        <p:spPr>
          <a:xfrm>
            <a:off x="252963" y="129397"/>
            <a:ext cx="11688418" cy="64569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22895" y="1870271"/>
          <a:ext cx="8227694" cy="39418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2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2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2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7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Command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Desciption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Example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marL="91440" marR="2533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yum install</a:t>
                      </a:r>
                      <a:r>
                        <a:rPr sz="1800" spc="-5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{package-  name-1}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Installs </a:t>
                      </a:r>
                      <a:r>
                        <a:rPr sz="1800" spc="-10" dirty="0">
                          <a:latin typeface="Century Gothic"/>
                          <a:cs typeface="Century Gothic"/>
                        </a:rPr>
                        <a:t>the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Package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yum install</a:t>
                      </a:r>
                      <a:r>
                        <a:rPr sz="1800" spc="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10" dirty="0">
                          <a:latin typeface="Century Gothic"/>
                          <a:cs typeface="Century Gothic"/>
                        </a:rPr>
                        <a:t>httpd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yum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10" dirty="0">
                          <a:latin typeface="Century Gothic"/>
                          <a:cs typeface="Century Gothic"/>
                        </a:rPr>
                        <a:t>update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{package-name-1}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5" dirty="0">
                          <a:latin typeface="Century Gothic"/>
                          <a:cs typeface="Century Gothic"/>
                        </a:rPr>
                        <a:t>Updates </a:t>
                      </a:r>
                      <a:r>
                        <a:rPr sz="1800" spc="-10" dirty="0">
                          <a:latin typeface="Century Gothic"/>
                          <a:cs typeface="Century Gothic"/>
                        </a:rPr>
                        <a:t>the</a:t>
                      </a:r>
                      <a:r>
                        <a:rPr sz="1800" spc="6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Package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yum </a:t>
                      </a:r>
                      <a:r>
                        <a:rPr sz="1800" spc="-10" dirty="0">
                          <a:latin typeface="Century Gothic"/>
                          <a:cs typeface="Century Gothic"/>
                        </a:rPr>
                        <a:t>update</a:t>
                      </a:r>
                      <a:r>
                        <a:rPr sz="1800" spc="3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10" dirty="0">
                          <a:latin typeface="Century Gothic"/>
                          <a:cs typeface="Century Gothic"/>
                        </a:rPr>
                        <a:t>httpd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yum </a:t>
                      </a:r>
                      <a:r>
                        <a:rPr sz="1800" spc="5" dirty="0">
                          <a:latin typeface="Century Gothic"/>
                          <a:cs typeface="Century Gothic"/>
                        </a:rPr>
                        <a:t>list</a:t>
                      </a:r>
                      <a:r>
                        <a:rPr sz="1800" spc="-3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installed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List all</a:t>
                      </a:r>
                      <a:r>
                        <a:rPr sz="1800" spc="-4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installed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packages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 marR="59499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yum </a:t>
                      </a:r>
                      <a:r>
                        <a:rPr sz="1800" spc="5" dirty="0">
                          <a:latin typeface="Century Gothic"/>
                          <a:cs typeface="Century Gothic"/>
                        </a:rPr>
                        <a:t>list</a:t>
                      </a:r>
                      <a:r>
                        <a:rPr sz="1800" spc="-9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{package-  name}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79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List a</a:t>
                      </a:r>
                      <a:r>
                        <a:rPr sz="1800" spc="-7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particular  package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yum </a:t>
                      </a:r>
                      <a:r>
                        <a:rPr sz="1800" spc="5" dirty="0">
                          <a:latin typeface="Century Gothic"/>
                          <a:cs typeface="Century Gothic"/>
                        </a:rPr>
                        <a:t>list</a:t>
                      </a:r>
                      <a:r>
                        <a:rPr sz="18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10" dirty="0">
                          <a:latin typeface="Century Gothic"/>
                          <a:cs typeface="Century Gothic"/>
                        </a:rPr>
                        <a:t>httpd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yum </a:t>
                      </a:r>
                      <a:r>
                        <a:rPr sz="1800" spc="5" dirty="0">
                          <a:latin typeface="Century Gothic"/>
                          <a:cs typeface="Century Gothic"/>
                        </a:rPr>
                        <a:t>list</a:t>
                      </a:r>
                      <a:r>
                        <a:rPr sz="18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all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Lists 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all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the</a:t>
                      </a:r>
                      <a:r>
                        <a:rPr sz="18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packages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yum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 remove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{package-name-1}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Removes</a:t>
                      </a:r>
                      <a:r>
                        <a:rPr sz="18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5" dirty="0">
                          <a:latin typeface="Century Gothic"/>
                          <a:cs typeface="Century Gothic"/>
                        </a:rPr>
                        <a:t>package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" dirty="0">
                          <a:latin typeface="Century Gothic"/>
                          <a:cs typeface="Century Gothic"/>
                        </a:rPr>
                        <a:t>yum 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remove</a:t>
                      </a:r>
                      <a:r>
                        <a:rPr sz="18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spc="-10" dirty="0">
                          <a:latin typeface="Century Gothic"/>
                          <a:cs typeface="Century Gothic"/>
                        </a:rPr>
                        <a:t>httpd</a:t>
                      </a:r>
                      <a:endParaRPr sz="18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4942" y="1038421"/>
            <a:ext cx="422211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u="heavy" dirty="0">
                <a:uFill>
                  <a:solidFill>
                    <a:srgbClr val="44536A"/>
                  </a:solidFill>
                </a:uFill>
                <a:latin typeface="Arial"/>
                <a:cs typeface="Arial"/>
              </a:rPr>
              <a:t>YUM COMMAND</a:t>
            </a:r>
            <a:r>
              <a:rPr sz="2900" u="heavy" spc="-95" dirty="0">
                <a:uFill>
                  <a:solidFill>
                    <a:srgbClr val="44536A"/>
                  </a:solidFill>
                </a:uFill>
                <a:latin typeface="Arial"/>
                <a:cs typeface="Arial"/>
              </a:rPr>
              <a:t> </a:t>
            </a:r>
            <a:r>
              <a:rPr sz="2900" u="heavy" dirty="0">
                <a:uFill>
                  <a:solidFill>
                    <a:srgbClr val="44536A"/>
                  </a:solidFill>
                </a:uFill>
                <a:latin typeface="Arial"/>
                <a:cs typeface="Arial"/>
              </a:rPr>
              <a:t>SHEET</a:t>
            </a:r>
            <a:endParaRPr sz="2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2994" y="6433515"/>
            <a:ext cx="7467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D1EAED"/>
                </a:solidFill>
                <a:latin typeface="Verdana"/>
                <a:cs typeface="Verdana"/>
              </a:rPr>
              <a:t>1</a:t>
            </a:r>
            <a:r>
              <a:rPr sz="1200" spc="5" dirty="0">
                <a:solidFill>
                  <a:srgbClr val="D1EAED"/>
                </a:solidFill>
                <a:latin typeface="Verdana"/>
                <a:cs typeface="Verdana"/>
              </a:rPr>
              <a:t>2</a:t>
            </a:r>
            <a:r>
              <a:rPr sz="1200" spc="-10" dirty="0">
                <a:solidFill>
                  <a:srgbClr val="D1EAED"/>
                </a:solidFill>
                <a:latin typeface="Verdana"/>
                <a:cs typeface="Verdana"/>
              </a:rPr>
              <a:t>/</a:t>
            </a:r>
            <a:r>
              <a:rPr sz="1200" dirty="0">
                <a:solidFill>
                  <a:srgbClr val="D1EAED"/>
                </a:solidFill>
                <a:latin typeface="Verdana"/>
                <a:cs typeface="Verdana"/>
              </a:rPr>
              <a:t>3</a:t>
            </a:r>
            <a:r>
              <a:rPr sz="1200" spc="5" dirty="0">
                <a:solidFill>
                  <a:srgbClr val="D1EAED"/>
                </a:solidFill>
                <a:latin typeface="Verdana"/>
                <a:cs typeface="Verdana"/>
              </a:rPr>
              <a:t>0</a:t>
            </a:r>
            <a:r>
              <a:rPr sz="1200" spc="-10" dirty="0">
                <a:solidFill>
                  <a:srgbClr val="D1EAED"/>
                </a:solidFill>
                <a:latin typeface="Verdana"/>
                <a:cs typeface="Verdana"/>
              </a:rPr>
              <a:t>/</a:t>
            </a:r>
            <a:r>
              <a:rPr sz="1200" dirty="0">
                <a:solidFill>
                  <a:srgbClr val="D1EAED"/>
                </a:solidFill>
                <a:latin typeface="Verdana"/>
                <a:cs typeface="Verdana"/>
              </a:rPr>
              <a:t>09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64BEC0-F55A-401A-933D-C0FAB674AB6B}"/>
              </a:ext>
            </a:extLst>
          </p:cNvPr>
          <p:cNvSpPr/>
          <p:nvPr/>
        </p:nvSpPr>
        <p:spPr>
          <a:xfrm>
            <a:off x="252963" y="129397"/>
            <a:ext cx="11688418" cy="64569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16997" y="6537751"/>
            <a:ext cx="195580" cy="1854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spc="5" dirty="0">
                <a:solidFill>
                  <a:srgbClr val="D1EAED"/>
                </a:solidFill>
                <a:latin typeface="Verdana"/>
                <a:cs typeface="Verdana"/>
              </a:rPr>
              <a:t>13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82318" y="929063"/>
            <a:ext cx="8627364" cy="5638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40251" y="326897"/>
            <a:ext cx="47688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"/>
                <a:cs typeface="Arial"/>
              </a:rPr>
              <a:t>FILESYETEM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HIERACHY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3499A6-860A-40B0-831F-ADBD8A4CFBD3}"/>
              </a:ext>
            </a:extLst>
          </p:cNvPr>
          <p:cNvSpPr/>
          <p:nvPr/>
        </p:nvSpPr>
        <p:spPr>
          <a:xfrm>
            <a:off x="252963" y="129397"/>
            <a:ext cx="11688418" cy="64569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03844" y="732817"/>
          <a:ext cx="8199609" cy="5708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6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3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45">
                <a:tc gridSpan="2">
                  <a:txBody>
                    <a:bodyPr/>
                    <a:lstStyle/>
                    <a:p>
                      <a:pPr marL="9480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i="1" spc="-5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Moving around in the file</a:t>
                      </a:r>
                      <a:r>
                        <a:rPr sz="1600" b="1" i="1" spc="8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b="1" i="1" spc="-5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system</a:t>
                      </a:r>
                      <a:endParaRPr sz="1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i="1" spc="-5" dirty="0">
                          <a:latin typeface="Century Gothic"/>
                          <a:cs typeface="Century Gothic"/>
                        </a:rPr>
                        <a:t>Command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10" dirty="0">
                          <a:latin typeface="Century Gothic"/>
                          <a:cs typeface="Century Gothic"/>
                        </a:rPr>
                        <a:t>Action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27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5" dirty="0">
                          <a:latin typeface="Century Gothic"/>
                          <a:cs typeface="Century Gothic"/>
                        </a:rPr>
                        <a:t>pwd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"Print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working directory"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-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show </a:t>
                      </a:r>
                      <a:r>
                        <a:rPr sz="1600" spc="-15" dirty="0">
                          <a:latin typeface="Century Gothic"/>
                          <a:cs typeface="Century Gothic"/>
                        </a:rPr>
                        <a:t>what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dir you're</a:t>
                      </a:r>
                      <a:r>
                        <a:rPr sz="1600" spc="18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in.</a:t>
                      </a:r>
                      <a:endParaRPr sz="1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27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10" dirty="0">
                          <a:latin typeface="Century Gothic"/>
                          <a:cs typeface="Century Gothic"/>
                        </a:rPr>
                        <a:t>ls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List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the contents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of a</a:t>
                      </a:r>
                      <a:r>
                        <a:rPr sz="1600" spc="5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dir.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8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5" dirty="0">
                          <a:latin typeface="Century Gothic"/>
                          <a:cs typeface="Century Gothic"/>
                        </a:rPr>
                        <a:t>ls</a:t>
                      </a:r>
                      <a:r>
                        <a:rPr sz="16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-l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List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the contents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of a dir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and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show additional info of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the</a:t>
                      </a:r>
                      <a:r>
                        <a:rPr sz="1600" spc="12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files.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27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5" dirty="0">
                          <a:latin typeface="Century Gothic"/>
                          <a:cs typeface="Century Gothic"/>
                        </a:rPr>
                        <a:t>ls</a:t>
                      </a:r>
                      <a:r>
                        <a:rPr sz="16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-a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List 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all files,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including hidden</a:t>
                      </a:r>
                      <a:r>
                        <a:rPr sz="16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files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27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cd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Change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directory.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cd</a:t>
                      </a:r>
                      <a:r>
                        <a:rPr sz="1600" spc="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20" dirty="0">
                          <a:latin typeface="Century Gothic"/>
                          <a:cs typeface="Century Gothic"/>
                        </a:rPr>
                        <a:t>..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Go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to the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parent</a:t>
                      </a:r>
                      <a:r>
                        <a:rPr sz="1600" spc="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directory.</a:t>
                      </a:r>
                      <a:endParaRPr sz="1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882">
                <a:tc gridSpan="2">
                  <a:txBody>
                    <a:bodyPr/>
                    <a:lstStyle/>
                    <a:p>
                      <a:pPr marL="11766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i="1" spc="-5" dirty="0">
                          <a:latin typeface="Century Gothic"/>
                          <a:cs typeface="Century Gothic"/>
                        </a:rPr>
                        <a:t>Examining</a:t>
                      </a:r>
                      <a:r>
                        <a:rPr sz="1600" b="1" i="1" spc="5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b="1" i="1" spc="-5" dirty="0">
                          <a:latin typeface="Century Gothic"/>
                          <a:cs typeface="Century Gothic"/>
                        </a:rPr>
                        <a:t>files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8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Century Gothic"/>
                          <a:cs typeface="Century Gothic"/>
                        </a:rPr>
                        <a:t>file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Determine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the type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of a</a:t>
                      </a:r>
                      <a:r>
                        <a:rPr sz="1600" spc="2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file.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08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cat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Displays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the contents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of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the</a:t>
                      </a:r>
                      <a:r>
                        <a:rPr sz="1600" spc="4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file.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8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less and</a:t>
                      </a:r>
                      <a:r>
                        <a:rPr sz="1600" spc="-3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more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View text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files and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paginate them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if</a:t>
                      </a:r>
                      <a:r>
                        <a:rPr sz="1600" spc="3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needed.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13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head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Displays first 10 records of</a:t>
                      </a:r>
                      <a:r>
                        <a:rPr sz="1600" spc="2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file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08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tail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Displays 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last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10 records of 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file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2418">
                <a:tc gridSpan="2">
                  <a:txBody>
                    <a:bodyPr/>
                    <a:lstStyle/>
                    <a:p>
                      <a:pPr marL="120396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i="1" spc="-5" dirty="0">
                          <a:latin typeface="Century Gothic"/>
                          <a:cs typeface="Century Gothic"/>
                        </a:rPr>
                        <a:t>Manipulating files and</a:t>
                      </a:r>
                      <a:r>
                        <a:rPr sz="1600" b="1" i="1" spc="7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b="1" i="1" spc="-10" dirty="0">
                          <a:latin typeface="Century Gothic"/>
                          <a:cs typeface="Century Gothic"/>
                        </a:rPr>
                        <a:t>directories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13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cp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Copy a 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file.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13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mv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dirty="0">
                          <a:latin typeface="Century Gothic"/>
                          <a:cs typeface="Century Gothic"/>
                        </a:rPr>
                        <a:t>Move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or rename a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file.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13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rm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dirty="0">
                          <a:latin typeface="Century Gothic"/>
                          <a:cs typeface="Century Gothic"/>
                        </a:rPr>
                        <a:t>Remove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a</a:t>
                      </a:r>
                      <a:r>
                        <a:rPr sz="1600" spc="-3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file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13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mkdir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Make a</a:t>
                      </a:r>
                      <a:r>
                        <a:rPr sz="1600" spc="-2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directory.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1345">
                <a:tc>
                  <a:txBody>
                    <a:bodyPr/>
                    <a:lstStyle/>
                    <a:p>
                      <a:pPr>
                        <a:lnSpc>
                          <a:spcPts val="1805"/>
                        </a:lnSpc>
                      </a:pPr>
                      <a:r>
                        <a:rPr sz="1200" spc="-300" dirty="0">
                          <a:solidFill>
                            <a:srgbClr val="D1EAED"/>
                          </a:solidFill>
                          <a:latin typeface="Verdana"/>
                          <a:cs typeface="Verdana"/>
                        </a:rPr>
                        <a:t>12</a:t>
                      </a:r>
                      <a:r>
                        <a:rPr sz="2400" spc="-450" baseline="-15625" dirty="0">
                          <a:latin typeface="Century Gothic"/>
                          <a:cs typeface="Century Gothic"/>
                        </a:rPr>
                        <a:t>r</a:t>
                      </a:r>
                      <a:r>
                        <a:rPr sz="1200" spc="-300" dirty="0">
                          <a:solidFill>
                            <a:srgbClr val="D1EAED"/>
                          </a:solidFill>
                          <a:latin typeface="Verdana"/>
                          <a:cs typeface="Verdana"/>
                        </a:rPr>
                        <a:t>/</a:t>
                      </a:r>
                      <a:r>
                        <a:rPr sz="2400" spc="-450" baseline="-15625" dirty="0">
                          <a:latin typeface="Century Gothic"/>
                          <a:cs typeface="Century Gothic"/>
                        </a:rPr>
                        <a:t>m</a:t>
                      </a:r>
                      <a:r>
                        <a:rPr sz="1200" spc="-300" dirty="0">
                          <a:solidFill>
                            <a:srgbClr val="D1EAED"/>
                          </a:solidFill>
                          <a:latin typeface="Verdana"/>
                          <a:cs typeface="Verdana"/>
                        </a:rPr>
                        <a:t>30</a:t>
                      </a:r>
                      <a:r>
                        <a:rPr sz="2400" spc="-450" baseline="-15625" dirty="0">
                          <a:latin typeface="Century Gothic"/>
                          <a:cs typeface="Century Gothic"/>
                        </a:rPr>
                        <a:t>d</a:t>
                      </a:r>
                      <a:r>
                        <a:rPr sz="1200" spc="-300" dirty="0">
                          <a:solidFill>
                            <a:srgbClr val="D1EAED"/>
                          </a:solidFill>
                          <a:latin typeface="Verdana"/>
                          <a:cs typeface="Verdana"/>
                        </a:rPr>
                        <a:t>/0</a:t>
                      </a:r>
                      <a:r>
                        <a:rPr sz="2400" spc="-450" baseline="-15625" dirty="0">
                          <a:latin typeface="Century Gothic"/>
                          <a:cs typeface="Century Gothic"/>
                        </a:rPr>
                        <a:t>ir</a:t>
                      </a:r>
                      <a:r>
                        <a:rPr sz="1200" spc="-300" dirty="0">
                          <a:solidFill>
                            <a:srgbClr val="D1EAED"/>
                          </a:solidFill>
                          <a:latin typeface="Verdana"/>
                          <a:cs typeface="Verdana"/>
                        </a:rPr>
                        <a:t>9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dirty="0">
                          <a:latin typeface="Century Gothic"/>
                          <a:cs typeface="Century Gothic"/>
                        </a:rPr>
                        <a:t>Remove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an empty</a:t>
                      </a:r>
                      <a:r>
                        <a:rPr sz="1600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directory.</a:t>
                      </a:r>
                      <a:endParaRPr sz="1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87BE956-FD11-495E-85C2-A67E9772047B}"/>
              </a:ext>
            </a:extLst>
          </p:cNvPr>
          <p:cNvSpPr/>
          <p:nvPr/>
        </p:nvSpPr>
        <p:spPr>
          <a:xfrm>
            <a:off x="252963" y="129397"/>
            <a:ext cx="11688418" cy="64569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52600" y="1128252"/>
          <a:ext cx="8991600" cy="44608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5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6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407">
                <a:tc gridSpan="2">
                  <a:txBody>
                    <a:bodyPr/>
                    <a:lstStyle/>
                    <a:p>
                      <a:pPr marL="9480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i="1" spc="-5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Moving around in the file</a:t>
                      </a:r>
                      <a:r>
                        <a:rPr sz="1600" b="1" i="1" spc="95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b="1" i="1" spc="-10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system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0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i="1" spc="-5" dirty="0">
                          <a:latin typeface="Century Gothic"/>
                          <a:cs typeface="Century Gothic"/>
                        </a:rPr>
                        <a:t>Command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Action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07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600" b="1" spc="-5" dirty="0">
                          <a:latin typeface="Century Gothic"/>
                          <a:cs typeface="Century Gothic"/>
                        </a:rPr>
                        <a:t>File</a:t>
                      </a:r>
                      <a:r>
                        <a:rPr sz="1600" b="1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b="1" spc="-5" dirty="0">
                          <a:latin typeface="Century Gothic"/>
                          <a:cs typeface="Century Gothic"/>
                        </a:rPr>
                        <a:t>Compression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40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gzip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Compress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the</a:t>
                      </a:r>
                      <a:r>
                        <a:rPr sz="1600" spc="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file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5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gunzip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Uncompress the</a:t>
                      </a:r>
                      <a:r>
                        <a:rPr sz="1600" spc="6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file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40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5" dirty="0">
                          <a:latin typeface="Century Gothic"/>
                          <a:cs typeface="Century Gothic"/>
                        </a:rPr>
                        <a:t>tar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Century Gothic"/>
                          <a:cs typeface="Century Gothic"/>
                        </a:rPr>
                        <a:t>Archive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mutiple 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files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without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compression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4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4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87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5" dirty="0">
                          <a:latin typeface="Century Gothic"/>
                          <a:cs typeface="Century Gothic"/>
                        </a:rPr>
                        <a:t>Disks and</a:t>
                      </a:r>
                      <a:r>
                        <a:rPr sz="1800" b="1" spc="-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b="1" dirty="0">
                          <a:latin typeface="Century Gothic"/>
                          <a:cs typeface="Century Gothic"/>
                        </a:rPr>
                        <a:t>Filesystems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88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df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Show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free disk</a:t>
                      </a:r>
                      <a:r>
                        <a:rPr sz="1600" spc="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space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du</a:t>
                      </a:r>
                      <a:endParaRPr sz="18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Reports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the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sizes of</a:t>
                      </a:r>
                      <a:r>
                        <a:rPr sz="1600" spc="4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directories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40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mount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Make a disk</a:t>
                      </a:r>
                      <a:r>
                        <a:rPr sz="16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accessible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53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umount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Makes a disk inaaccessible</a:t>
                      </a:r>
                      <a:endParaRPr sz="1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602994" y="6433515"/>
            <a:ext cx="7467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D1EAED"/>
                </a:solidFill>
                <a:latin typeface="Verdana"/>
                <a:cs typeface="Verdana"/>
              </a:rPr>
              <a:t>1</a:t>
            </a:r>
            <a:r>
              <a:rPr sz="1200" spc="5" dirty="0">
                <a:solidFill>
                  <a:srgbClr val="D1EAED"/>
                </a:solidFill>
                <a:latin typeface="Verdana"/>
                <a:cs typeface="Verdana"/>
              </a:rPr>
              <a:t>2</a:t>
            </a:r>
            <a:r>
              <a:rPr sz="1200" spc="-10" dirty="0">
                <a:solidFill>
                  <a:srgbClr val="D1EAED"/>
                </a:solidFill>
                <a:latin typeface="Verdana"/>
                <a:cs typeface="Verdana"/>
              </a:rPr>
              <a:t>/</a:t>
            </a:r>
            <a:r>
              <a:rPr sz="1200" dirty="0">
                <a:solidFill>
                  <a:srgbClr val="D1EAED"/>
                </a:solidFill>
                <a:latin typeface="Verdana"/>
                <a:cs typeface="Verdana"/>
              </a:rPr>
              <a:t>3</a:t>
            </a:r>
            <a:r>
              <a:rPr sz="1200" spc="5" dirty="0">
                <a:solidFill>
                  <a:srgbClr val="D1EAED"/>
                </a:solidFill>
                <a:latin typeface="Verdana"/>
                <a:cs typeface="Verdana"/>
              </a:rPr>
              <a:t>0</a:t>
            </a:r>
            <a:r>
              <a:rPr sz="1200" spc="-10" dirty="0">
                <a:solidFill>
                  <a:srgbClr val="D1EAED"/>
                </a:solidFill>
                <a:latin typeface="Verdana"/>
                <a:cs typeface="Verdana"/>
              </a:rPr>
              <a:t>/</a:t>
            </a:r>
            <a:r>
              <a:rPr sz="1200" dirty="0">
                <a:solidFill>
                  <a:srgbClr val="D1EAED"/>
                </a:solidFill>
                <a:latin typeface="Verdana"/>
                <a:cs typeface="Verdana"/>
              </a:rPr>
              <a:t>09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85FCB-E8D2-418E-B3D5-3D5856044E1E}"/>
              </a:ext>
            </a:extLst>
          </p:cNvPr>
          <p:cNvSpPr/>
          <p:nvPr/>
        </p:nvSpPr>
        <p:spPr>
          <a:xfrm>
            <a:off x="252963" y="129397"/>
            <a:ext cx="11688418" cy="64569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14500" y="981605"/>
          <a:ext cx="8763000" cy="5282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518">
                <a:tc gridSpan="2">
                  <a:txBody>
                    <a:bodyPr/>
                    <a:lstStyle/>
                    <a:p>
                      <a:pPr marL="26066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i="1" spc="-5" dirty="0">
                          <a:solidFill>
                            <a:srgbClr val="FFFFFF"/>
                          </a:solidFill>
                          <a:latin typeface="Century Gothic"/>
                          <a:cs typeface="Century Gothic"/>
                        </a:rPr>
                        <a:t>User Management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6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i="1" spc="-5" dirty="0">
                          <a:latin typeface="Century Gothic"/>
                          <a:cs typeface="Century Gothic"/>
                        </a:rPr>
                        <a:t>Command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Action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6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id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Print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real and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effective user id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and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group</a:t>
                      </a:r>
                      <a:r>
                        <a:rPr sz="1600" spc="5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ids.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6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dirty="0">
                          <a:latin typeface="Century Gothic"/>
                          <a:cs typeface="Century Gothic"/>
                        </a:rPr>
                        <a:t>w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Display users logged in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and what they are</a:t>
                      </a:r>
                      <a:r>
                        <a:rPr sz="1600" spc="6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doing.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6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5" dirty="0">
                          <a:latin typeface="Century Gothic"/>
                          <a:cs typeface="Century Gothic"/>
                        </a:rPr>
                        <a:t>who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Display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the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users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logged</a:t>
                      </a:r>
                      <a:r>
                        <a:rPr sz="1600" spc="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in.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6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whoami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Print effective user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id.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6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useradd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Create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a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new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user or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update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default new user</a:t>
                      </a:r>
                      <a:r>
                        <a:rPr sz="1600" spc="6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information.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6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userdel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Delete a user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account and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related</a:t>
                      </a:r>
                      <a:r>
                        <a:rPr sz="1600" spc="4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files.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6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usermod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Modify a user</a:t>
                      </a:r>
                      <a:r>
                        <a:rPr sz="1600" spc="2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account.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6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groupadd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Create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a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new</a:t>
                      </a:r>
                      <a:r>
                        <a:rPr sz="1600" spc="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group.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6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groupdel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Delete a group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6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Groupmod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Modify a</a:t>
                      </a:r>
                      <a:r>
                        <a:rPr sz="1600" spc="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group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6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groups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Print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the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groups a user is</a:t>
                      </a:r>
                      <a:r>
                        <a:rPr sz="1600" spc="3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in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6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passwd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Set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a user's pass</a:t>
                      </a:r>
                      <a:r>
                        <a:rPr sz="1600" spc="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word.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34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su - username su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-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Switching to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user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and</a:t>
                      </a:r>
                      <a:r>
                        <a:rPr sz="1600" spc="8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root.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6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finger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See </a:t>
                      </a:r>
                      <a:r>
                        <a:rPr sz="1600" spc="-15" dirty="0">
                          <a:latin typeface="Century Gothic"/>
                          <a:cs typeface="Century Gothic"/>
                        </a:rPr>
                        <a:t>what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users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are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running on a</a:t>
                      </a:r>
                      <a:r>
                        <a:rPr sz="1600" spc="8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system.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16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chown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Change the owner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of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file(s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)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to another</a:t>
                      </a:r>
                      <a:r>
                        <a:rPr sz="1600" spc="12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user.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60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chgrp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Changes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the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group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ownership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of</a:t>
                      </a:r>
                      <a:r>
                        <a:rPr sz="1600" spc="9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files.</a:t>
                      </a:r>
                      <a:endParaRPr sz="1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602994" y="6433515"/>
            <a:ext cx="6496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D1EAED"/>
                </a:solidFill>
                <a:latin typeface="Verdana"/>
                <a:cs typeface="Verdana"/>
              </a:rPr>
              <a:t>1</a:t>
            </a:r>
            <a:r>
              <a:rPr sz="1200" spc="5" dirty="0">
                <a:solidFill>
                  <a:srgbClr val="D1EAED"/>
                </a:solidFill>
                <a:latin typeface="Verdana"/>
                <a:cs typeface="Verdana"/>
              </a:rPr>
              <a:t>2</a:t>
            </a:r>
            <a:r>
              <a:rPr sz="1200" spc="-10" dirty="0">
                <a:solidFill>
                  <a:srgbClr val="D1EAED"/>
                </a:solidFill>
                <a:latin typeface="Verdana"/>
                <a:cs typeface="Verdana"/>
              </a:rPr>
              <a:t>/</a:t>
            </a:r>
            <a:r>
              <a:rPr sz="1200" dirty="0">
                <a:solidFill>
                  <a:srgbClr val="D1EAED"/>
                </a:solidFill>
                <a:latin typeface="Verdana"/>
                <a:cs typeface="Verdana"/>
              </a:rPr>
              <a:t>3/09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337721-E1BF-44B2-A06A-7E7B26A4E214}"/>
              </a:ext>
            </a:extLst>
          </p:cNvPr>
          <p:cNvSpPr/>
          <p:nvPr/>
        </p:nvSpPr>
        <p:spPr>
          <a:xfrm>
            <a:off x="252963" y="129397"/>
            <a:ext cx="11688418" cy="64569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8451" y="0"/>
            <a:ext cx="147828" cy="228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25449" y="440043"/>
          <a:ext cx="7733967" cy="6054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7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6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8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4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i="1" spc="-5" dirty="0">
                          <a:latin typeface="Century Gothic"/>
                          <a:cs typeface="Century Gothic"/>
                        </a:rPr>
                        <a:t>Command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Action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831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10" dirty="0">
                          <a:latin typeface="Century Gothic"/>
                          <a:cs typeface="Century Gothic"/>
                        </a:rPr>
                        <a:t>Process</a:t>
                      </a:r>
                      <a:r>
                        <a:rPr sz="1600" b="1" spc="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b="1" spc="-5" dirty="0">
                          <a:latin typeface="Century Gothic"/>
                          <a:cs typeface="Century Gothic"/>
                        </a:rPr>
                        <a:t>Commands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299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ps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Lists 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all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processes</a:t>
                      </a:r>
                      <a:endParaRPr sz="1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299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uptime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View the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system</a:t>
                      </a:r>
                      <a:r>
                        <a:rPr sz="1600" spc="5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load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299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top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Monitor</a:t>
                      </a:r>
                      <a:r>
                        <a:rPr sz="1600" spc="2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Processes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6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</a:pPr>
                      <a:r>
                        <a:rPr sz="1600" spc="-15" dirty="0">
                          <a:latin typeface="Calibri"/>
                          <a:cs typeface="Calibri"/>
                        </a:rPr>
                        <a:t>netstat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Netstat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command displays various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network related information</a:t>
                      </a:r>
                      <a:r>
                        <a:rPr sz="1600" spc="18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such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as </a:t>
                      </a:r>
                      <a:r>
                        <a:rPr sz="1600" spc="-15" dirty="0">
                          <a:latin typeface="Century Gothic"/>
                          <a:cs typeface="Century Gothic"/>
                        </a:rPr>
                        <a:t>network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connections, routing tables, interface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statistics</a:t>
                      </a:r>
                      <a:r>
                        <a:rPr sz="1600" spc="17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etc.,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299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free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Display free</a:t>
                      </a:r>
                      <a:r>
                        <a:rPr sz="1600" spc="-2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memory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299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kill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Terminate</a:t>
                      </a:r>
                      <a:r>
                        <a:rPr sz="1600" spc="3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Process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5919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5" dirty="0">
                          <a:latin typeface="Century Gothic"/>
                          <a:cs typeface="Century Gothic"/>
                        </a:rPr>
                        <a:t>Scheduling</a:t>
                      </a:r>
                      <a:r>
                        <a:rPr sz="1600" b="1" spc="4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b="1" spc="-5" dirty="0">
                          <a:latin typeface="Century Gothic"/>
                          <a:cs typeface="Century Gothic"/>
                        </a:rPr>
                        <a:t>Jobs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28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at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Schedule a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job </a:t>
                      </a:r>
                      <a:r>
                        <a:rPr sz="1600" dirty="0">
                          <a:latin typeface="Century Gothic"/>
                          <a:cs typeface="Century Gothic"/>
                        </a:rPr>
                        <a:t>only</a:t>
                      </a:r>
                      <a:r>
                        <a:rPr sz="1600" spc="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once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428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crontab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Scheduling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repeated</a:t>
                      </a:r>
                      <a:r>
                        <a:rPr sz="1600" spc="3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jobs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5919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600" b="1" spc="-10" dirty="0">
                          <a:latin typeface="Century Gothic"/>
                          <a:cs typeface="Century Gothic"/>
                        </a:rPr>
                        <a:t>Hosts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428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uname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Prints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System</a:t>
                      </a:r>
                      <a:r>
                        <a:rPr sz="1600" spc="4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Information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483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hostname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Prints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System</a:t>
                      </a:r>
                      <a:r>
                        <a:rPr sz="1600" spc="4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hostname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483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ifconfig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Set/display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nework</a:t>
                      </a:r>
                      <a:r>
                        <a:rPr sz="1600" spc="6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information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483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ping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Century Gothic"/>
                          <a:cs typeface="Century Gothic"/>
                        </a:rPr>
                        <a:t>Check if host is</a:t>
                      </a:r>
                      <a:r>
                        <a:rPr sz="1600" spc="1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reachable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6953">
                <a:tc>
                  <a:txBody>
                    <a:bodyPr/>
                    <a:lstStyle/>
                    <a:p>
                      <a:pPr marL="91440">
                        <a:lnSpc>
                          <a:spcPts val="1655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traceroute</a:t>
                      </a:r>
                      <a:endParaRPr sz="1600">
                        <a:latin typeface="Century Gothic"/>
                        <a:cs typeface="Century Gothic"/>
                      </a:endParaRPr>
                    </a:p>
                    <a:p>
                      <a:pPr marL="71120">
                        <a:lnSpc>
                          <a:spcPts val="550"/>
                        </a:lnSpc>
                      </a:pPr>
                      <a:r>
                        <a:rPr sz="1200" dirty="0">
                          <a:solidFill>
                            <a:srgbClr val="D1EAED"/>
                          </a:solidFill>
                          <a:latin typeface="Verdana"/>
                          <a:cs typeface="Verdana"/>
                        </a:rPr>
                        <a:t>/09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Century Gothic"/>
                          <a:cs typeface="Century Gothic"/>
                        </a:rPr>
                        <a:t>View </a:t>
                      </a:r>
                      <a:r>
                        <a:rPr sz="1600" spc="-15" dirty="0">
                          <a:latin typeface="Century Gothic"/>
                          <a:cs typeface="Century Gothic"/>
                        </a:rPr>
                        <a:t>network </a:t>
                      </a:r>
                      <a:r>
                        <a:rPr sz="1600" spc="-10" dirty="0">
                          <a:latin typeface="Century Gothic"/>
                          <a:cs typeface="Century Gothic"/>
                        </a:rPr>
                        <a:t>path to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a</a:t>
                      </a:r>
                      <a:r>
                        <a:rPr sz="1600" spc="9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600" spc="-5" dirty="0">
                          <a:latin typeface="Century Gothic"/>
                          <a:cs typeface="Century Gothic"/>
                        </a:rPr>
                        <a:t>host</a:t>
                      </a:r>
                      <a:endParaRPr sz="1600" dirty="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A34FB45-D6AB-4922-9961-6E479EB192F4}"/>
              </a:ext>
            </a:extLst>
          </p:cNvPr>
          <p:cNvSpPr/>
          <p:nvPr/>
        </p:nvSpPr>
        <p:spPr>
          <a:xfrm>
            <a:off x="252963" y="129397"/>
            <a:ext cx="11688418" cy="64569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73116" y="807847"/>
          <a:ext cx="9598406" cy="56256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4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4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30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07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i="1" dirty="0">
                          <a:latin typeface="Century Gothic"/>
                          <a:cs typeface="Century Gothic"/>
                        </a:rPr>
                        <a:t>Command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dirty="0">
                          <a:latin typeface="Century Gothic"/>
                          <a:cs typeface="Century Gothic"/>
                        </a:rPr>
                        <a:t>Action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14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Century Gothic"/>
                          <a:cs typeface="Century Gothic"/>
                        </a:rPr>
                        <a:t>Access</a:t>
                      </a:r>
                      <a:r>
                        <a:rPr sz="1800" spc="-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1800" dirty="0">
                          <a:latin typeface="Century Gothic"/>
                          <a:cs typeface="Century Gothic"/>
                        </a:rPr>
                        <a:t>Files:</a:t>
                      </a: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676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b="1" i="1" spc="-5" dirty="0">
                          <a:latin typeface="Times New Roman"/>
                          <a:cs typeface="Times New Roman"/>
                        </a:rPr>
                        <a:t>/etc/hosts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Contains a list of known hosts (in the local</a:t>
                      </a:r>
                      <a:r>
                        <a:rPr sz="1400" spc="-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network)..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63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892">
                <a:tc gridSpan="2"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systems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456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400" b="1" i="1" dirty="0">
                          <a:latin typeface="Times New Roman"/>
                          <a:cs typeface="Times New Roman"/>
                        </a:rPr>
                        <a:t>/etc/mtab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46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1270">
                        <a:lnSpc>
                          <a:spcPts val="1930"/>
                        </a:lnSpc>
                        <a:spcBef>
                          <a:spcPts val="45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This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changes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continuously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as the file /proc/mount changes. In other words,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when filesystems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are 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mounted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 unmounted, the change is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immediately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reflected in this</a:t>
                      </a:r>
                      <a:r>
                        <a:rPr sz="1400" spc="-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file.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42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</a:pPr>
                      <a:r>
                        <a:rPr sz="1400" b="1" i="1" dirty="0">
                          <a:latin typeface="Times New Roman"/>
                          <a:cs typeface="Times New Roman"/>
                        </a:rPr>
                        <a:t>/etc/fstab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9525">
                        <a:lnSpc>
                          <a:spcPts val="1930"/>
                        </a:lnSpc>
                        <a:spcBef>
                          <a:spcPts val="50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Lists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filesystems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currently "mountable" by the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computer.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This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important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because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when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the 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computer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boots, it runs the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command </a:t>
                      </a:r>
                      <a:r>
                        <a:rPr sz="1400" spc="-5" dirty="0">
                          <a:latin typeface="Courier New"/>
                          <a:cs typeface="Courier New"/>
                        </a:rPr>
                        <a:t>mount -a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, which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takes care of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mounting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every file 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system marked with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 "1" in the next-to-last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column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fstab.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078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5" dirty="0">
                          <a:latin typeface="Century Gothic"/>
                          <a:cs typeface="Century Gothic"/>
                        </a:rPr>
                        <a:t>System Administration</a:t>
                      </a:r>
                      <a:endParaRPr sz="1400">
                        <a:latin typeface="Century Gothic"/>
                        <a:cs typeface="Century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66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9525">
                        <a:lnSpc>
                          <a:spcPct val="100000"/>
                        </a:lnSpc>
                      </a:pPr>
                      <a:r>
                        <a:rPr sz="1400" b="1" i="1" dirty="0">
                          <a:latin typeface="Times New Roman"/>
                          <a:cs typeface="Times New Roman"/>
                        </a:rPr>
                        <a:t>/etc/group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41275">
                        <a:lnSpc>
                          <a:spcPts val="1930"/>
                        </a:lnSpc>
                        <a:spcBef>
                          <a:spcPts val="2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Contains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valid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group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names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included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specified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groups.</a:t>
                      </a:r>
                      <a:r>
                        <a:rPr sz="14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can  be present in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more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than one group if he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performs multiple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tasks. For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example,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is a "user" is the 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administrator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well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as a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member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 the project group "project 1", then his entry in the group  file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will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look like: </a:t>
                      </a:r>
                      <a:r>
                        <a:rPr sz="1400" spc="-5" dirty="0">
                          <a:latin typeface="Courier New"/>
                          <a:cs typeface="Courier New"/>
                        </a:rPr>
                        <a:t>user: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* : </a:t>
                      </a:r>
                      <a:r>
                        <a:rPr sz="1400" spc="-5" dirty="0">
                          <a:latin typeface="Courier New"/>
                          <a:cs typeface="Courier New"/>
                        </a:rPr>
                        <a:t>group-id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:</a:t>
                      </a:r>
                      <a:r>
                        <a:rPr sz="1400" spc="-1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latin typeface="Courier New"/>
                          <a:cs typeface="Courier New"/>
                        </a:rPr>
                        <a:t>project1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18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400" b="1" i="1" dirty="0">
                          <a:latin typeface="Times New Roman"/>
                          <a:cs typeface="Times New Roman"/>
                        </a:rPr>
                        <a:t>etc/passwd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See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"man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passwd".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Holds some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user account info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including passwords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(when not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"shadowed").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549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400" b="1" i="1" dirty="0">
                          <a:latin typeface="Times New Roman"/>
                          <a:cs typeface="Times New Roman"/>
                        </a:rPr>
                        <a:t>/etc/securetty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370840">
                        <a:lnSpc>
                          <a:spcPts val="1930"/>
                        </a:lnSpc>
                        <a:spcBef>
                          <a:spcPts val="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Contains the device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names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 tty lines (one per line, without leading /dev/) on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which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root</a:t>
                      </a:r>
                      <a:r>
                        <a:rPr sz="1400" spc="-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is  allowed to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login.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549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400" b="1" i="1" dirty="0">
                          <a:latin typeface="Times New Roman"/>
                          <a:cs typeface="Times New Roman"/>
                        </a:rPr>
                        <a:t>/etc/shadow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47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234315">
                        <a:lnSpc>
                          <a:spcPts val="1930"/>
                        </a:lnSpc>
                        <a:spcBef>
                          <a:spcPts val="5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Contains the encrypted password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information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 users' accounts and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optionally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the password  aging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information.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89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400" b="1" i="1" dirty="0">
                          <a:latin typeface="Times New Roman"/>
                          <a:cs typeface="Times New Roman"/>
                        </a:rPr>
                        <a:t>/etc/shells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Holds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the list of possible "shells" available to the</a:t>
                      </a:r>
                      <a:r>
                        <a:rPr sz="1400" spc="-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system.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85C5447-1FEA-4C28-99D8-6D6F559B1650}"/>
              </a:ext>
            </a:extLst>
          </p:cNvPr>
          <p:cNvSpPr/>
          <p:nvPr/>
        </p:nvSpPr>
        <p:spPr>
          <a:xfrm>
            <a:off x="252963" y="129397"/>
            <a:ext cx="11688418" cy="64569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6939" y="1807210"/>
            <a:ext cx="10293985" cy="2884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5" dirty="0">
                <a:latin typeface="Arial"/>
                <a:cs typeface="Arial"/>
                <a:hlinkClick r:id="rId2"/>
              </a:rPr>
              <a:t>http://www.linux.org/tutorial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EC7C30"/>
              </a:buClr>
              <a:buFont typeface="Wingdings"/>
              <a:buChar char=""/>
            </a:pPr>
            <a:endParaRPr sz="4050">
              <a:latin typeface="Times New Roman"/>
              <a:cs typeface="Times New Roman"/>
            </a:endParaRPr>
          </a:p>
          <a:p>
            <a:pPr marL="241300" indent="-228600">
              <a:lnSpc>
                <a:spcPts val="3190"/>
              </a:lnSpc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dirty="0">
                <a:latin typeface="Arial"/>
                <a:cs typeface="Arial"/>
              </a:rPr>
              <a:t>https://access.redhat.com/knowledge/docs/Red_Hat_Enterprise</a:t>
            </a:r>
            <a:endParaRPr sz="2800">
              <a:latin typeface="Arial"/>
              <a:cs typeface="Arial"/>
            </a:endParaRPr>
          </a:p>
          <a:p>
            <a:pPr marL="241300">
              <a:lnSpc>
                <a:spcPts val="3190"/>
              </a:lnSpc>
            </a:pPr>
            <a:r>
              <a:rPr sz="2800" dirty="0">
                <a:latin typeface="Arial"/>
                <a:cs typeface="Arial"/>
              </a:rPr>
              <a:t>_Linux/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0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10" dirty="0">
                <a:latin typeface="Arial"/>
                <a:cs typeface="Arial"/>
                <a:hlinkClick r:id="rId3"/>
              </a:rPr>
              <a:t>http://www.linux.com/learn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428615" y="664540"/>
            <a:ext cx="28854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"/>
                <a:cs typeface="Arial"/>
              </a:rPr>
              <a:t>Refere</a:t>
            </a:r>
            <a:r>
              <a:rPr sz="4400" spc="-15" dirty="0">
                <a:latin typeface="Arial"/>
                <a:cs typeface="Arial"/>
              </a:rPr>
              <a:t>n</a:t>
            </a:r>
            <a:r>
              <a:rPr sz="4400" dirty="0">
                <a:latin typeface="Arial"/>
                <a:cs typeface="Arial"/>
              </a:rPr>
              <a:t>ces</a:t>
            </a:r>
            <a:endParaRPr sz="4400"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161DF4-4E2E-48AE-B7E9-CB01940B4832}"/>
              </a:ext>
            </a:extLst>
          </p:cNvPr>
          <p:cNvSpPr/>
          <p:nvPr/>
        </p:nvSpPr>
        <p:spPr>
          <a:xfrm>
            <a:off x="252963" y="129397"/>
            <a:ext cx="11688418" cy="64569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8451" y="0"/>
            <a:ext cx="147828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68451" y="0"/>
            <a:ext cx="147828" cy="228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208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48783" y="3376040"/>
            <a:ext cx="13519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Arial"/>
                <a:cs typeface="Arial"/>
              </a:rPr>
              <a:t>Q &amp;</a:t>
            </a:r>
            <a:r>
              <a:rPr sz="4000" spc="-315" dirty="0">
                <a:latin typeface="Arial"/>
                <a:cs typeface="Arial"/>
              </a:rPr>
              <a:t> </a:t>
            </a:r>
            <a:r>
              <a:rPr sz="4000" spc="-5" dirty="0">
                <a:latin typeface="Arial"/>
                <a:cs typeface="Arial"/>
              </a:rPr>
              <a:t>A</a:t>
            </a:r>
            <a:endParaRPr sz="4000">
              <a:latin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6FF369-0673-4BA1-9195-A05919D5EA09}"/>
              </a:ext>
            </a:extLst>
          </p:cNvPr>
          <p:cNvSpPr/>
          <p:nvPr/>
        </p:nvSpPr>
        <p:spPr>
          <a:xfrm>
            <a:off x="252963" y="129397"/>
            <a:ext cx="11688418" cy="64569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1561</Words>
  <Application>Microsoft Office PowerPoint</Application>
  <PresentationFormat>Widescreen</PresentationFormat>
  <Paragraphs>249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Abadi</vt:lpstr>
      <vt:lpstr>Arial</vt:lpstr>
      <vt:lpstr>Calibri</vt:lpstr>
      <vt:lpstr>Calibri Light</vt:lpstr>
      <vt:lpstr>Century Gothic</vt:lpstr>
      <vt:lpstr>Courier New</vt:lpstr>
      <vt:lpstr>Times New Roman</vt:lpstr>
      <vt:lpstr>Verdana</vt:lpstr>
      <vt:lpstr>Wingdings</vt:lpstr>
      <vt:lpstr>Wingdings 2</vt:lpstr>
      <vt:lpstr>Office Theme</vt:lpstr>
      <vt:lpstr>  Overview of Linux </vt:lpstr>
      <vt:lpstr>What is Linux?</vt:lpstr>
      <vt:lpstr>Difference between Linux and Windows</vt:lpstr>
      <vt:lpstr>Linux Flavours</vt:lpstr>
      <vt:lpstr>Package Management</vt:lpstr>
      <vt:lpstr>RPM COMMAND SHEET</vt:lpstr>
      <vt:lpstr>YUM</vt:lpstr>
      <vt:lpstr>YUM COMMAND SHEET</vt:lpstr>
      <vt:lpstr>FILESYETEM HIERACHY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Overview of Linux </dc:title>
  <dc:creator>Chaitanya Gaajula</dc:creator>
  <cp:lastModifiedBy>Chaitanya Gaajula</cp:lastModifiedBy>
  <cp:revision>3</cp:revision>
  <dcterms:created xsi:type="dcterms:W3CDTF">2021-12-23T15:16:04Z</dcterms:created>
  <dcterms:modified xsi:type="dcterms:W3CDTF">2022-02-05T14:35:04Z</dcterms:modified>
</cp:coreProperties>
</file>