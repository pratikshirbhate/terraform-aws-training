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363" r:id="rId5"/>
    <p:sldId id="345" r:id="rId6"/>
    <p:sldId id="581" r:id="rId7"/>
    <p:sldId id="582" r:id="rId8"/>
    <p:sldId id="583" r:id="rId9"/>
    <p:sldId id="514" r:id="rId10"/>
    <p:sldId id="588" r:id="rId11"/>
    <p:sldId id="545" r:id="rId12"/>
    <p:sldId id="592" r:id="rId13"/>
    <p:sldId id="589" r:id="rId14"/>
    <p:sldId id="590" r:id="rId15"/>
    <p:sldId id="515" r:id="rId16"/>
    <p:sldId id="546" r:id="rId17"/>
    <p:sldId id="516" r:id="rId18"/>
    <p:sldId id="547" r:id="rId19"/>
    <p:sldId id="58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YT3f+jfSBR3u2Kchpn6ZSQ==" hashData="x36HKBVOVxv/AWVlmm5cevcr5ZWEBx9KojBlhzreyhJOZz/ZMjwlCtTMk5tGB3SYdofOq6t9s9OxNSXE0EYLD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4FF"/>
    <a:srgbClr val="4472C4"/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41" autoAdjust="0"/>
    <p:restoredTop sz="94651" autoAdjust="0"/>
  </p:normalViewPr>
  <p:slideViewPr>
    <p:cSldViewPr snapToGrid="0">
      <p:cViewPr varScale="1">
        <p:scale>
          <a:sx n="82" d="100"/>
          <a:sy n="82" d="100"/>
        </p:scale>
        <p:origin x="614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72AFEB-38F6-4274-9A63-A43A273C0CEB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1D150-CEC0-4293-A1E0-FB5D77CA90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98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B7453-DE7F-488F-AE7B-1A1442BCEF84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8460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🧠 History of Artificial Intelligence (AI)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📌 1. The Early Foundations (Before 1950s)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Myth and Philosophy</a:t>
            </a:r>
            <a:r>
              <a:rPr lang="en-IN" dirty="0"/>
              <a:t>: Ancient myths of mechanical men and automata; philosophical ideas of logic and reasoning (Aristotle, Descartes).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Mathematical Logic</a:t>
            </a:r>
            <a:r>
              <a:rPr lang="en-IN" dirty="0"/>
              <a:t>: Work by George Boole, Gottfried Leibniz, and others laid the foundation for symbolic reasoning.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📌 2. Birth of AI (1950s)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Alan Turing (1950)</a:t>
            </a:r>
            <a:r>
              <a:rPr lang="en-IN" dirty="0"/>
              <a:t>: Proposed the idea of a "thinking machine" and the famous </a:t>
            </a:r>
            <a:r>
              <a:rPr lang="en-IN" b="1" dirty="0"/>
              <a:t>Turing Test</a:t>
            </a:r>
            <a:r>
              <a:rPr lang="en-IN" dirty="0"/>
              <a:t> to assess machine intelligence.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1956 – Dartmouth Conference</a:t>
            </a:r>
            <a:r>
              <a:rPr lang="en-IN" dirty="0"/>
              <a:t>: Coined the term </a:t>
            </a:r>
            <a:r>
              <a:rPr lang="en-IN" b="1" dirty="0"/>
              <a:t>“Artificial Intelligence”</a:t>
            </a:r>
            <a:r>
              <a:rPr lang="en-IN" dirty="0"/>
              <a:t>. Organised by </a:t>
            </a:r>
            <a:r>
              <a:rPr lang="en-IN" b="1" dirty="0"/>
              <a:t>John McCarthy</a:t>
            </a:r>
            <a:r>
              <a:rPr lang="en-IN" dirty="0"/>
              <a:t>, </a:t>
            </a:r>
            <a:r>
              <a:rPr lang="en-IN" b="1" dirty="0"/>
              <a:t>Marvin Minsky</a:t>
            </a:r>
            <a:r>
              <a:rPr lang="en-IN" dirty="0"/>
              <a:t>, </a:t>
            </a:r>
            <a:r>
              <a:rPr lang="en-IN" b="1" dirty="0"/>
              <a:t>Nathaniel Rochester</a:t>
            </a:r>
            <a:r>
              <a:rPr lang="en-IN" dirty="0"/>
              <a:t>, and </a:t>
            </a:r>
            <a:r>
              <a:rPr lang="en-IN" b="1" dirty="0"/>
              <a:t>Claude Shannon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📌 3. Early AI Programs (1950s–1960s)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Logic Theorist (1956)</a:t>
            </a:r>
            <a:r>
              <a:rPr lang="en-IN" dirty="0"/>
              <a:t> by Newell and Simon: First program to mimic human problem-solving.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General Problem Solver (1957)</a:t>
            </a:r>
            <a:r>
              <a:rPr lang="en-IN" dirty="0"/>
              <a:t>: Early AI system for solving simple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AI research was funded well and expectations were high.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📌 4. The First AI Winter (1970s)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Progress slowed due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Limited computing power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High cost and over-promised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Funding cuts caused reduced enthusiasm – known as the </a:t>
            </a:r>
            <a:r>
              <a:rPr lang="en-IN" b="1" dirty="0"/>
              <a:t>“AI Winter.”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📌 5. Revival Through Expert Systems (1980s)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Rise of </a:t>
            </a:r>
            <a:r>
              <a:rPr lang="en-IN" b="1" dirty="0"/>
              <a:t>Expert Systems</a:t>
            </a:r>
            <a:r>
              <a:rPr lang="en-IN" dirty="0"/>
              <a:t> (e.g., MYCIN for medical diagnosis):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Used rules to simulate expert knowledge.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Widely adopted in industry.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Renewed commercial interest and funding.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📌 6. The Second AI Winter (Late 1980s–1990s)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Expert systems became too expensive and rigid.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Interest declined again due to limitations in scalability and learning.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📌 7. Modern AI and Machine Learning (2000s–Present)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 + Power = Breakthroughs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Explosion of data (Big Data) and powerful GPUs.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Rise of </a:t>
            </a:r>
            <a:r>
              <a:rPr lang="en-IN" b="1" dirty="0"/>
              <a:t>Machine Learning</a:t>
            </a:r>
            <a:r>
              <a:rPr lang="en-IN" dirty="0"/>
              <a:t>, </a:t>
            </a:r>
            <a:r>
              <a:rPr lang="en-IN" b="1" dirty="0"/>
              <a:t>Deep Learning</a:t>
            </a:r>
            <a:r>
              <a:rPr lang="en-IN" dirty="0"/>
              <a:t>, and </a:t>
            </a:r>
            <a:r>
              <a:rPr lang="en-IN" b="1" dirty="0"/>
              <a:t>Neural Networks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Major milestones: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IBM Watson</a:t>
            </a:r>
            <a:r>
              <a:rPr lang="en-IN" dirty="0"/>
              <a:t> wins Jeopardy! (2011)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AlphaGo</a:t>
            </a:r>
            <a:r>
              <a:rPr lang="en-IN" dirty="0"/>
              <a:t> defeats world Go champion (2016)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Widespread use in </a:t>
            </a:r>
            <a:r>
              <a:rPr lang="en-IN" b="1" dirty="0"/>
              <a:t>self-driving cars, virtual assistants, healthcare, finance</a:t>
            </a:r>
            <a:r>
              <a:rPr lang="en-IN" dirty="0"/>
              <a:t> etc.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📌 8. Today and the Future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Generative AI</a:t>
            </a:r>
            <a:r>
              <a:rPr lang="en-IN" dirty="0"/>
              <a:t> (e.g., ChatGPT, DALL·E) changes how humans interact with machines.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Ethical concerns, regulations, and AI safety are becoming central topics.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Continued research in </a:t>
            </a:r>
            <a:r>
              <a:rPr lang="en-IN" b="1" dirty="0"/>
              <a:t>AGI (Artificial General Intelligence)</a:t>
            </a:r>
            <a:r>
              <a:rPr lang="en-IN" dirty="0"/>
              <a:t>.</a:t>
            </a:r>
          </a:p>
          <a:p>
            <a:pPr>
              <a:buNone/>
            </a:pPr>
            <a:endParaRPr lang="en-IN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D150-CEC0-4293-A1E0-FB5D77CA902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81420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🧠 Biological Neuron vs Artificial Neuron – Notes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🔬 1. Biological Neuron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Basic unit of the human brain and nervous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Specialised cell that transmits electrical and chemical signals.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Consists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Dendrites</a:t>
            </a:r>
            <a:r>
              <a:rPr lang="en-IN" dirty="0"/>
              <a:t> – Receive signals from other neurons.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Cell Body (Soma)</a:t>
            </a:r>
            <a:r>
              <a:rPr lang="en-IN" dirty="0"/>
              <a:t> – Processes incoming signals.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Axon</a:t>
            </a:r>
            <a:r>
              <a:rPr lang="en-IN" dirty="0"/>
              <a:t> – Sends output signals to other neurons.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Synapse</a:t>
            </a:r>
            <a:r>
              <a:rPr lang="en-IN" dirty="0"/>
              <a:t> – Junction where signals are transmitted between neurons.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Signal is triggered when a threshold is reached.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Learns by </a:t>
            </a:r>
            <a:r>
              <a:rPr lang="en-IN" b="1" dirty="0"/>
              <a:t>synaptic plasticity</a:t>
            </a:r>
            <a:r>
              <a:rPr lang="en-IN" dirty="0"/>
              <a:t> – strength of connections changes with experience.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Works slowly (in milliseconds) but is highly energy efficient.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Enables functions like perception, movement, and decision-making.</a:t>
            </a:r>
          </a:p>
          <a:p>
            <a:pPr>
              <a:buFont typeface="Arial" panose="020B0604020202020204" pitchFamily="34" charset="0"/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🤖 2. Artificial Neuron (Perceptron)</a:t>
            </a:r>
          </a:p>
          <a:p>
            <a:pPr>
              <a:buNone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Simplified mathematical model inspired by the biological neuron.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in </a:t>
            </a:r>
            <a:r>
              <a:rPr lang="en-IN" b="1" dirty="0"/>
              <a:t>Artificial Neural Networks (ANNs)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Structure includes: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Inputs (features)</a:t>
            </a:r>
            <a:r>
              <a:rPr lang="en-IN" dirty="0"/>
              <a:t> – Represent data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Weights</a:t>
            </a:r>
            <a:r>
              <a:rPr lang="en-IN" dirty="0"/>
              <a:t> – Indicate the importance of each input.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Summation Function</a:t>
            </a:r>
            <a:r>
              <a:rPr lang="en-IN" dirty="0"/>
              <a:t> – Calculates weighted sum of inputs.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Activation Function</a:t>
            </a:r>
            <a:r>
              <a:rPr lang="en-IN" dirty="0"/>
              <a:t> – Determines output based on the sum (e.g., Sigmoid, </a:t>
            </a:r>
            <a:r>
              <a:rPr lang="en-IN" dirty="0" err="1"/>
              <a:t>ReLU</a:t>
            </a:r>
            <a:r>
              <a:rPr lang="en-IN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Fires (produces an output) when the sum crosses a threshold.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Learns by adjusting weights using algorithms like </a:t>
            </a:r>
            <a:r>
              <a:rPr lang="en-IN" b="1" dirty="0"/>
              <a:t>Gradient Descent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Much faster than biological neurons, but consumes more computational power.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for tasks like image recognition, speech processing, and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E1D150-CEC0-4293-A1E0-FB5D77CA902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3902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DB7453-DE7F-488F-AE7B-1A1442BCEF8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7456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B2EEA-B2A5-465E-9EA6-4A0C06E92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0E2D6-1459-4A3F-8242-64028FF5A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794F2-CA17-4481-90F7-66BD8904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565069-73AB-499C-8161-7A2942D45637}" type="datetime1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7390B-B881-4E63-AD65-F625BDEBF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A17EC-0275-4A7A-9364-4F9D9037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02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18B6D-EC29-4031-8F73-F778F2FE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EBB4B-364C-40C3-BC81-DA6D1FAB2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2DE21-2E98-4C4E-A6A2-5ADFF6E4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7DF27-431F-4019-B39D-D6CDE0CA33A8}" type="datetime1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97247-91B2-40B7-BCA9-18B702C6C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79CCA-AD87-4F34-B5D9-A47FFAF15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70049B-BDDC-4A8A-85E0-73423501BB35}"/>
              </a:ext>
            </a:extLst>
          </p:cNvPr>
          <p:cNvSpPr/>
          <p:nvPr userDrawn="1"/>
        </p:nvSpPr>
        <p:spPr>
          <a:xfrm>
            <a:off x="0" y="0"/>
            <a:ext cx="12192000" cy="68546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E6E6E6"/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8FA271-661A-4676-911C-D87FB663FA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56245" y="265656"/>
            <a:ext cx="1276092" cy="49375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BD34E89-DE9E-4774-A117-CFC35D6FF1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9328233">
            <a:off x="-1263901" y="-1306570"/>
            <a:ext cx="4533900" cy="287655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3A9800E-80CF-426F-A1A5-6BFB0C764E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879482">
            <a:off x="9016698" y="5981228"/>
            <a:ext cx="2763863" cy="1753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513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4CCC5-45C7-4F83-BC46-6F2DEDAD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1DD04A-4707-45CF-A7C8-6D6CF9963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6146C-D997-4DB6-997D-6CA5FBB48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4E627-8620-4014-AD46-223DD186D326}" type="datetime1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8598E-B732-4022-B732-B7CA97069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88FFE-42D8-4E5C-8713-638DE7AF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866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11E61-7E30-4F00-9A5F-3E2FE955F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B2977-84D5-411B-AABD-FFD8ACF9CC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CE82B1-C8F0-4DAC-BB53-A33B4A1378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AB88E-E9F1-411C-83C5-B5F8C5513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8AE8A-C1BC-4726-91FF-DD3795124B98}" type="datetime1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71612-DE48-4546-8C1C-A0D3CDDB4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F9AEE-4C42-4392-9927-78F82796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465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F014B-560F-470C-9B69-20661D9C0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0390E-D399-4DBB-9422-2644116B1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03A2D5-8EA4-4CAB-BDED-EF57145204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E06FC-4C00-41AC-91F3-CB6452C576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C1B037-3B6D-41ED-98B6-EDC0C7427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AEFE2F-3492-454F-812E-8BF7B9B2E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01BC69-B34A-4BEC-920B-5F8BDA5F381E}" type="datetime1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852A6F-DF94-4377-AEC9-6B6F1A2E6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763D0-47EF-4657-A261-4999DCBCD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77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6DD54-B97A-489C-BC28-DA53F8C0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D2AB41-4A22-4676-9A62-2599645A6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E69A1-2A14-40CF-BC61-4EED21322380}" type="datetime1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F143E5-41C3-42D0-886C-9EDCB3F95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D3AD8C-3B55-4419-9C85-D1BB0200A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23ED46-FE1B-4D8A-865F-100EB3DD25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5180"/>
            <a:ext cx="12369236" cy="696835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8739215-4685-4B71-8EE6-3B0A865E15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44380" y="347080"/>
            <a:ext cx="12680757" cy="6334851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AD8E5DAE-438A-41BD-99C3-FF92EE44244E}"/>
              </a:ext>
            </a:extLst>
          </p:cNvPr>
          <p:cNvSpPr txBox="1">
            <a:spLocks/>
          </p:cNvSpPr>
          <p:nvPr userDrawn="1"/>
        </p:nvSpPr>
        <p:spPr>
          <a:xfrm>
            <a:off x="4585027" y="6200181"/>
            <a:ext cx="3021944" cy="3788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200" dirty="0">
                <a:solidFill>
                  <a:schemeClr val="bg1"/>
                </a:solidFill>
                <a:latin typeface="Fieldwork 03 Geo Light" pitchFamily="50" charset="0"/>
              </a:rPr>
              <a:t>Copyright © e-Careers. All Rights Reserved</a:t>
            </a:r>
            <a:endParaRPr lang="en-IN" sz="1200" dirty="0">
              <a:solidFill>
                <a:schemeClr val="bg1"/>
              </a:solidFill>
              <a:latin typeface="Fieldwork 03 Geo Light" pitchFamily="50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850C7B-4590-4CD0-80A5-D56AD0FCD75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8500" y="934744"/>
            <a:ext cx="1775000" cy="70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60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3B256A-06C9-45FF-802C-059CA4E13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6DAFF-B720-4238-BA3B-304071398697}" type="datetime1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9D11DC-F48A-48BA-909C-7CD0254AA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8BF31-C489-4E51-A39E-17515EB63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020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34A5E-ECF4-487D-A16D-96583772A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B76DB-2E61-4705-A499-FDE50FBCB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87F22-C2E7-4F4E-B298-5382AEEBD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3FBD8F-AF97-4FDA-89FA-AB74F0864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CCF19-CEB1-47E5-8190-D44EDD46FA2A}" type="datetime1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FF60E8-7700-48A9-8B11-90529730A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5DDA13-9AF2-478D-BBE2-B33012BC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63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2B1F9-19F1-43E3-BEC4-C3ECBAB92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7D2C74-F78E-4947-879A-96BC37794E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01005-6B76-4F90-8E71-EB035A461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A8E89-FC09-4C92-B056-05A569A0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062A8-0666-4764-AC9D-7064B39F689A}" type="datetime1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5A3F5-12A9-44B9-AAAF-404A697C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66F65-E6DC-494A-B6B5-7048D7B4D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200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71E57-D9C0-46D7-8789-810EF17C2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D44C58-9606-4D3D-9D1F-1169318447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B944F-2234-453D-87AB-89A154389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324B1-8CC0-4DB6-AB85-00C515F866D4}" type="datetime1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57D1C-806C-4647-84B5-DBE96FEFF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C7E9D-75C8-474D-9769-039B1F0D5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314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B6122F-E758-48DC-A91C-873404366A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D80907-5692-4671-A7D1-2393B9406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AF3FF-5B1C-45C7-81A5-A6E195DB0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3E1CDF-F04D-4623-A786-E5ABBEC170F1}" type="datetime1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676AF5-3DA4-47EE-83EC-942211166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97D08-CA17-470E-9EC8-50EB7E14F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184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E8EF8-AACC-4DC1-AF0A-BF5BB08D9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4BC320-A2BE-4289-ADDE-850747DFD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9DA1C-66F5-45CE-B68E-3F14FE4D18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A3944-BD32-4252-ACDE-448DCD95E417}" type="datetime1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CC3449-A6EB-4988-B415-7DAF2342FC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CHAITANYA TRAINING AND CONSULTANCY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DCA8E-3E76-4739-B839-7D0114EC8E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A4791-8969-457F-9C1F-82FDC1B7B0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72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0378FFF-A87F-43F5-A413-BFA3F5C9DE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975" y="377889"/>
            <a:ext cx="12192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C35566-110D-4C39-AF48-7755FF1C12F4}"/>
              </a:ext>
            </a:extLst>
          </p:cNvPr>
          <p:cNvSpPr txBox="1"/>
          <p:nvPr/>
        </p:nvSpPr>
        <p:spPr>
          <a:xfrm>
            <a:off x="1676969" y="3044279"/>
            <a:ext cx="910860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Aptos SemiBold" panose="020B0004020202020204" pitchFamily="34" charset="0"/>
              </a:rPr>
              <a:t>Introduction to AI ,ML and Deep Learning</a:t>
            </a:r>
            <a:endParaRPr lang="en-IN" sz="4400" b="1" dirty="0">
              <a:solidFill>
                <a:schemeClr val="bg1"/>
              </a:solidFill>
              <a:latin typeface="Aptos SemiBold" panose="020B00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5C26C5B-9FBF-2A11-9479-0F2E399C8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DFCB5A-8219-3618-C32A-41E322FD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22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5E4F8A2-5C5D-4349-8185-65DFBBD607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3A7F3E-8FA1-4D78-8681-0E85AA3B8C5C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84FF"/>
                </a:solidFill>
                <a:latin typeface="Aptos" panose="020B0004020202020204" pitchFamily="34" charset="0"/>
              </a:rPr>
              <a:t>Agenda</a:t>
            </a:r>
            <a:endParaRPr lang="en-IN" sz="3200" b="1" dirty="0">
              <a:solidFill>
                <a:srgbClr val="0084FF"/>
              </a:solidFill>
              <a:latin typeface="Aptos" panose="020B000402020202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EED7CC6-1FA8-43FA-A39E-FF2856530A41}"/>
              </a:ext>
            </a:extLst>
          </p:cNvPr>
          <p:cNvSpPr/>
          <p:nvPr/>
        </p:nvSpPr>
        <p:spPr>
          <a:xfrm>
            <a:off x="6718590" y="2824211"/>
            <a:ext cx="5082908" cy="786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buClr>
                <a:srgbClr val="0084FF"/>
              </a:buClr>
              <a:buFont typeface="Wingdings" panose="05000000000000000000" pitchFamily="2" charset="2"/>
              <a:buChar char="ü"/>
            </a:pPr>
            <a:r>
              <a:rPr lang="en-IN" b="1" dirty="0">
                <a:solidFill>
                  <a:srgbClr val="002060"/>
                </a:solidFill>
                <a:latin typeface="Aptos" panose="020B0004020202020204" pitchFamily="34" charset="0"/>
              </a:rPr>
              <a:t>Basics of AI, Machine Learning, and Deep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518448-A87B-421A-9B36-8B0525D8E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97" y="1699583"/>
            <a:ext cx="5729391" cy="421248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0302E8C-1E9D-A988-1192-3EBB2E6C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87CCE-8C69-509C-EF29-C3E2C3A3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09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F852-EDB8-0819-073F-CCD0226D0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4FD415F-89B3-42B3-BD5A-B8D3E480860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8" name="Round Diagonal Corner of Rectangle 9">
            <a:extLst>
              <a:ext uri="{FF2B5EF4-FFF2-40B4-BE49-F238E27FC236}">
                <a16:creationId xmlns:a16="http://schemas.microsoft.com/office/drawing/2014/main" id="{47382C62-8EF7-401B-B826-7D5642A82E15}"/>
              </a:ext>
            </a:extLst>
          </p:cNvPr>
          <p:cNvSpPr/>
          <p:nvPr/>
        </p:nvSpPr>
        <p:spPr>
          <a:xfrm>
            <a:off x="745436" y="850431"/>
            <a:ext cx="10631220" cy="5918117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932D44-2513-AE67-E0A2-6D647B157FBD}"/>
              </a:ext>
            </a:extLst>
          </p:cNvPr>
          <p:cNvSpPr txBox="1"/>
          <p:nvPr/>
        </p:nvSpPr>
        <p:spPr>
          <a:xfrm>
            <a:off x="0" y="236080"/>
            <a:ext cx="12217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History of AI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C8BFEE6-4DD0-E859-0686-B1B9D7641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8870" y="850431"/>
            <a:ext cx="8259592" cy="5918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311308-8EA3-7F47-F7A0-BC6027877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945C92-77FC-17E8-58D5-621C41968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330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BE0E-A611-97F0-6050-E98D9BDA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D7F545E-C5E7-4A37-97E1-EC0A3C1012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EFECEC-737E-5BF5-99E6-8786B4477484}"/>
              </a:ext>
            </a:extLst>
          </p:cNvPr>
          <p:cNvSpPr txBox="1"/>
          <p:nvPr/>
        </p:nvSpPr>
        <p:spPr>
          <a:xfrm>
            <a:off x="0" y="236080"/>
            <a:ext cx="12217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Working of Human Brain</a:t>
            </a:r>
          </a:p>
        </p:txBody>
      </p:sp>
      <p:sp>
        <p:nvSpPr>
          <p:cNvPr id="3" name="Round Diagonal Corner of Rectangle 9">
            <a:extLst>
              <a:ext uri="{FF2B5EF4-FFF2-40B4-BE49-F238E27FC236}">
                <a16:creationId xmlns:a16="http://schemas.microsoft.com/office/drawing/2014/main" id="{8744D12E-A7B9-434C-B1A3-B3007FF232F7}"/>
              </a:ext>
            </a:extLst>
          </p:cNvPr>
          <p:cNvSpPr/>
          <p:nvPr/>
        </p:nvSpPr>
        <p:spPr>
          <a:xfrm>
            <a:off x="1298323" y="1663302"/>
            <a:ext cx="9595353" cy="4064103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425E15-A5CD-415E-B76A-5A6DC1327359}"/>
              </a:ext>
            </a:extLst>
          </p:cNvPr>
          <p:cNvSpPr txBox="1"/>
          <p:nvPr/>
        </p:nvSpPr>
        <p:spPr>
          <a:xfrm>
            <a:off x="2016566" y="2231412"/>
            <a:ext cx="1962893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 ExtraBold" panose="020B0004020202020204" pitchFamily="34" charset="0"/>
                <a:cs typeface="Arial" panose="020B0604020202020204" pitchFamily="34" charset="0"/>
              </a:rPr>
              <a:t>Brain</a:t>
            </a:r>
            <a:endParaRPr kumimoji="0" lang="en-IN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 ExtraBold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C27DE52-93ED-4B59-8D48-93771F4C8B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8169" y="2803243"/>
            <a:ext cx="3959125" cy="202669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AAF350C5-7BEF-4B02-93CB-D2FD6439AB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0980" y="2668686"/>
            <a:ext cx="3020513" cy="23414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DE3769-1697-4E17-9D92-55BA6DA39E06}"/>
              </a:ext>
            </a:extLst>
          </p:cNvPr>
          <p:cNvSpPr txBox="1"/>
          <p:nvPr/>
        </p:nvSpPr>
        <p:spPr>
          <a:xfrm>
            <a:off x="4751177" y="2230939"/>
            <a:ext cx="2714978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 ExtraBold" panose="020B0004020202020204" pitchFamily="34" charset="0"/>
                <a:cs typeface="Arial" panose="020B0604020202020204" pitchFamily="34" charset="0"/>
              </a:rPr>
              <a:t>Neural network</a:t>
            </a:r>
            <a:endParaRPr kumimoji="0" lang="en-IN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 ExtraBold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550EE4-C3E2-4BAB-82FB-FF90E86BF254}"/>
              </a:ext>
            </a:extLst>
          </p:cNvPr>
          <p:cNvSpPr txBox="1"/>
          <p:nvPr/>
        </p:nvSpPr>
        <p:spPr>
          <a:xfrm>
            <a:off x="8332037" y="2207517"/>
            <a:ext cx="1962893" cy="593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 ExtraBold" panose="020B0004020202020204" pitchFamily="34" charset="0"/>
                <a:cs typeface="Arial" panose="020B0604020202020204" pitchFamily="34" charset="0"/>
              </a:rPr>
              <a:t>Neuron</a:t>
            </a:r>
            <a:endParaRPr kumimoji="0" lang="en-IN" altLang="en-US" sz="2400" i="0" u="none" strike="noStrike" cap="none" normalizeH="0" baseline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latin typeface="Aptos ExtraBold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C3EAABC5-C7C8-4E96-9627-5A29CBE4413E}"/>
              </a:ext>
            </a:extLst>
          </p:cNvPr>
          <p:cNvSpPr/>
          <p:nvPr/>
        </p:nvSpPr>
        <p:spPr>
          <a:xfrm>
            <a:off x="4323558" y="3569389"/>
            <a:ext cx="378806" cy="32900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B9AF419-EA4B-425A-8BB6-F59BC31530D6}"/>
              </a:ext>
            </a:extLst>
          </p:cNvPr>
          <p:cNvSpPr/>
          <p:nvPr/>
        </p:nvSpPr>
        <p:spPr>
          <a:xfrm>
            <a:off x="7434666" y="3569389"/>
            <a:ext cx="378806" cy="329004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177046-4282-49D5-BEB9-D62F4D741D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226" y="2943873"/>
            <a:ext cx="2480746" cy="1791109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E1BF81-5A09-F521-6A90-EC72EC668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161A4-659F-4611-70FD-0716B218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494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E6C73-2B00-34CA-076F-7ADE39EAC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7370B2B-D153-4258-9F7E-412E86F6B4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427A377-A537-9ECF-CC19-00520081469C}"/>
              </a:ext>
            </a:extLst>
          </p:cNvPr>
          <p:cNvSpPr txBox="1"/>
          <p:nvPr/>
        </p:nvSpPr>
        <p:spPr>
          <a:xfrm>
            <a:off x="2657855" y="229926"/>
            <a:ext cx="68762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Artificial Neural Networks</a:t>
            </a:r>
          </a:p>
        </p:txBody>
      </p:sp>
      <p:sp>
        <p:nvSpPr>
          <p:cNvPr id="3" name="Round Diagonal Corner of Rectangle 9">
            <a:extLst>
              <a:ext uri="{FF2B5EF4-FFF2-40B4-BE49-F238E27FC236}">
                <a16:creationId xmlns:a16="http://schemas.microsoft.com/office/drawing/2014/main" id="{5FCF8F01-4087-98AC-9151-606B2C327DCA}"/>
              </a:ext>
            </a:extLst>
          </p:cNvPr>
          <p:cNvSpPr/>
          <p:nvPr/>
        </p:nvSpPr>
        <p:spPr>
          <a:xfrm>
            <a:off x="1158225" y="1113559"/>
            <a:ext cx="9875550" cy="5199127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94DB20-55BF-3EED-FDAC-39D49A13C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545" y="1656046"/>
            <a:ext cx="8892909" cy="35459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A48EF6-AB88-A6F3-E2DC-8C2751407E5E}"/>
              </a:ext>
            </a:extLst>
          </p:cNvPr>
          <p:cNvSpPr txBox="1"/>
          <p:nvPr/>
        </p:nvSpPr>
        <p:spPr>
          <a:xfrm>
            <a:off x="1649544" y="5201953"/>
            <a:ext cx="4446455" cy="7275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</a:rPr>
              <a:t>Biological Neuron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9E234-A000-6755-BF96-1A7B4009475B}"/>
              </a:ext>
            </a:extLst>
          </p:cNvPr>
          <p:cNvSpPr txBox="1"/>
          <p:nvPr/>
        </p:nvSpPr>
        <p:spPr>
          <a:xfrm>
            <a:off x="6587320" y="5201953"/>
            <a:ext cx="4446455" cy="72757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lang="en-IN" sz="2400" b="1" dirty="0">
                <a:solidFill>
                  <a:srgbClr val="002060"/>
                </a:solidFill>
                <a:latin typeface="Aptos" panose="020B0004020202020204" pitchFamily="34" charset="0"/>
              </a:rPr>
              <a:t>Artificial Neuron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34572-34B8-8EAE-54B7-48CA75D8A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5043F-43F7-3E17-2A5F-7F5DF6AAD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152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214BC-2287-21E5-1371-3037C9740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5A3E739-ECDE-46A7-9383-456E782391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2AA539-6AB6-4D3F-AF69-15E232710F64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Artificial Intelligence?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48D9302-E8F8-4A0B-9908-7CC7A06AC990}"/>
              </a:ext>
            </a:extLst>
          </p:cNvPr>
          <p:cNvSpPr txBox="1"/>
          <p:nvPr/>
        </p:nvSpPr>
        <p:spPr>
          <a:xfrm>
            <a:off x="477837" y="2483521"/>
            <a:ext cx="6120289" cy="250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Artificial Intelligence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refers to creating intelligent machines that mimic human-like abilities using wide range of techniques, algorithms, and methodologies aimed to perform tasks that typically requires human intelligence.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lang="en-IN" altLang="en-US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 Chess application designed to play 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with humans with set of rules</a:t>
            </a:r>
          </a:p>
        </p:txBody>
      </p:sp>
      <p:sp>
        <p:nvSpPr>
          <p:cNvPr id="21" name="Round Diagonal Corner of Rectangle 9">
            <a:extLst>
              <a:ext uri="{FF2B5EF4-FFF2-40B4-BE49-F238E27FC236}">
                <a16:creationId xmlns:a16="http://schemas.microsoft.com/office/drawing/2014/main" id="{D718B01F-5B53-4620-8BD7-E4B08376C3B2}"/>
              </a:ext>
            </a:extLst>
          </p:cNvPr>
          <p:cNvSpPr/>
          <p:nvPr/>
        </p:nvSpPr>
        <p:spPr>
          <a:xfrm>
            <a:off x="6798733" y="1853920"/>
            <a:ext cx="4966055" cy="4050277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10405FD9-14A8-4E06-A87E-BE8D67EA32E5}"/>
              </a:ext>
            </a:extLst>
          </p:cNvPr>
          <p:cNvSpPr/>
          <p:nvPr/>
        </p:nvSpPr>
        <p:spPr>
          <a:xfrm>
            <a:off x="7199947" y="2181243"/>
            <a:ext cx="4174068" cy="34036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1F41B0E6-19E7-4847-82F7-440D253BFE75}"/>
              </a:ext>
            </a:extLst>
          </p:cNvPr>
          <p:cNvSpPr/>
          <p:nvPr/>
        </p:nvSpPr>
        <p:spPr>
          <a:xfrm>
            <a:off x="7565857" y="2731577"/>
            <a:ext cx="3437467" cy="28511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841FB7A9-E6CC-4322-95FA-C089F151CFFA}"/>
              </a:ext>
            </a:extLst>
          </p:cNvPr>
          <p:cNvSpPr/>
          <p:nvPr/>
        </p:nvSpPr>
        <p:spPr>
          <a:xfrm>
            <a:off x="7811550" y="3281911"/>
            <a:ext cx="2954866" cy="23008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C778EF2F-B7DF-4B36-8C57-206D2711EDD9}"/>
              </a:ext>
            </a:extLst>
          </p:cNvPr>
          <p:cNvSpPr/>
          <p:nvPr/>
        </p:nvSpPr>
        <p:spPr>
          <a:xfrm>
            <a:off x="8070703" y="3874577"/>
            <a:ext cx="2451098" cy="17081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90D3EB-21FD-466A-8538-EA107AFA44E8}"/>
              </a:ext>
            </a:extLst>
          </p:cNvPr>
          <p:cNvSpPr txBox="1"/>
          <p:nvPr/>
        </p:nvSpPr>
        <p:spPr>
          <a:xfrm>
            <a:off x="8089027" y="2275517"/>
            <a:ext cx="2368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Artificial Intelligence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9E1A290-2E74-460E-8823-88B2480AAC35}"/>
              </a:ext>
            </a:extLst>
          </p:cNvPr>
          <p:cNvSpPr txBox="1"/>
          <p:nvPr/>
        </p:nvSpPr>
        <p:spPr>
          <a:xfrm>
            <a:off x="8306406" y="2806746"/>
            <a:ext cx="194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Machine Learning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68E7E58-130D-4F44-BCF7-A0CB2439670E}"/>
              </a:ext>
            </a:extLst>
          </p:cNvPr>
          <p:cNvSpPr txBox="1"/>
          <p:nvPr/>
        </p:nvSpPr>
        <p:spPr>
          <a:xfrm>
            <a:off x="8471721" y="3391462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Deep 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51960E-3134-40A5-8A86-231D7402DCE7}"/>
              </a:ext>
            </a:extLst>
          </p:cNvPr>
          <p:cNvSpPr txBox="1"/>
          <p:nvPr/>
        </p:nvSpPr>
        <p:spPr>
          <a:xfrm>
            <a:off x="8517666" y="4032812"/>
            <a:ext cx="150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Generative 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A1DE61-EF1B-C4A1-5459-E4952A12B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55F8F8-F4A7-AC6C-66B9-7E0F2694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4434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BCBB3-8F2E-7AF1-9076-2025E06E8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B1E5D16-0730-E746-AD54-ABBBB61F23C3}"/>
              </a:ext>
            </a:extLst>
          </p:cNvPr>
          <p:cNvSpPr/>
          <p:nvPr/>
        </p:nvSpPr>
        <p:spPr>
          <a:xfrm>
            <a:off x="0" y="-37538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51A7F7-1134-8580-1385-17A33D3ED36C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Artificial Intelligence?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45971-90A2-1E37-917C-04D90365D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BEE494-8EDE-E1ED-C83D-BED104EB8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7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FCF48B-0832-E670-91F6-D659D55B7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5" y="1561985"/>
            <a:ext cx="12192000" cy="442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6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FFB75-411B-4991-422B-B5ECF9B5C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FC0BB1F-7607-42B2-A240-D3766859BE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C5C333-2C11-44DC-990B-FE44CDF99C84}"/>
              </a:ext>
            </a:extLst>
          </p:cNvPr>
          <p:cNvSpPr txBox="1"/>
          <p:nvPr/>
        </p:nvSpPr>
        <p:spPr>
          <a:xfrm>
            <a:off x="0" y="60577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Examples of Artificial Intelligence in Daily Life</a:t>
            </a:r>
          </a:p>
        </p:txBody>
      </p:sp>
      <p:sp>
        <p:nvSpPr>
          <p:cNvPr id="12" name="Round Diagonal Corner of Rectangle 9">
            <a:extLst>
              <a:ext uri="{FF2B5EF4-FFF2-40B4-BE49-F238E27FC236}">
                <a16:creationId xmlns:a16="http://schemas.microsoft.com/office/drawing/2014/main" id="{07E4D0F7-3E60-45C5-8703-B7ADC8495720}"/>
              </a:ext>
            </a:extLst>
          </p:cNvPr>
          <p:cNvSpPr/>
          <p:nvPr/>
        </p:nvSpPr>
        <p:spPr>
          <a:xfrm>
            <a:off x="887767" y="1294459"/>
            <a:ext cx="10416466" cy="5055541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CA00F3-9A2A-4BED-BF58-D9951533D627}"/>
              </a:ext>
            </a:extLst>
          </p:cNvPr>
          <p:cNvSpPr txBox="1"/>
          <p:nvPr/>
        </p:nvSpPr>
        <p:spPr>
          <a:xfrm>
            <a:off x="1480016" y="1504975"/>
            <a:ext cx="9229367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Virtual Assistants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Siri, Alexa, Google Assistant (respond to voice commands)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Recommendation Systems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Netflix, YouTube, Amazon (suggest content/products)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Email Filters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Gmail spam detection using AI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Navigation Apps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Google Maps, Waze (real-time traffic prediction)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Facial Recognition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Face ID on smartphones, security systems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Chatbots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Used in customer support for instant replies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Self-driving Cars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AI controls steering, braking, and navigation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Language Translation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Google Translate, Microsoft Translator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1860476-745B-CF29-57B6-A11133F3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CB3FE5-8EB5-7041-D1F1-C9D78E4F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43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716F4-56DD-7859-AEC4-828C853B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A5FCCB-A017-54F3-5B93-DE233BEA286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BC0DF-319C-73D6-B2DD-971947192B6F}"/>
              </a:ext>
            </a:extLst>
          </p:cNvPr>
          <p:cNvSpPr txBox="1"/>
          <p:nvPr/>
        </p:nvSpPr>
        <p:spPr>
          <a:xfrm>
            <a:off x="0" y="60577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Examples of Artificial Intelligence in Daily Life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200B92-A34D-B58B-7751-A87140842801}"/>
              </a:ext>
            </a:extLst>
          </p:cNvPr>
          <p:cNvSpPr txBox="1"/>
          <p:nvPr/>
        </p:nvSpPr>
        <p:spPr>
          <a:xfrm>
            <a:off x="1480016" y="1504975"/>
            <a:ext cx="9229367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Virtual Assistants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Siri, Alexa, Google Assistant (respond to voice commands)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Recommendation Systems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Netflix, YouTube, Amazon (suggest content/products)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Email Filters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Gmail spam detection using AI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Navigation Apps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Google Maps, Waze (real-time traffic prediction)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Facial Recognition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Face ID on smartphones, security systems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Chatbots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Used in customer support for instant replies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Self-driving Cars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AI controls steering, braking, and navigation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Language Translation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Google Translate, Microsoft Translator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7F90825-EDF7-788C-F39D-3915D50A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D61800-DB65-B599-D7D9-2311E4A1E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127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0EEB266-80EA-FFEC-8A1E-DBCF96C90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3B07CD-6F1C-AB0A-A4C4-45206BBF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10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3898DB-A98D-0284-9164-6D307D092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47" y="1343361"/>
            <a:ext cx="11828106" cy="49197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7703E8-03D1-BFA0-6DAB-F279B5E510A1}"/>
              </a:ext>
            </a:extLst>
          </p:cNvPr>
          <p:cNvSpPr txBox="1"/>
          <p:nvPr/>
        </p:nvSpPr>
        <p:spPr>
          <a:xfrm>
            <a:off x="3144416" y="475861"/>
            <a:ext cx="54661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ptos" panose="020B0004020202020204" pitchFamily="34" charset="0"/>
              </a:rPr>
              <a:t>How does AI Work ?</a:t>
            </a:r>
          </a:p>
        </p:txBody>
      </p:sp>
    </p:spTree>
    <p:extLst>
      <p:ext uri="{BB962C8B-B14F-4D97-AF65-F5344CB8AC3E}">
        <p14:creationId xmlns:p14="http://schemas.microsoft.com/office/powerpoint/2010/main" val="3666006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35C040-6235-2802-58D3-5CA2E827E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0F571C-810D-D5A2-69B4-3C80E6A0F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11</a:t>
            </a:fld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90DD8-E81A-80D2-FF20-FC887F21D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1251"/>
            <a:ext cx="12192000" cy="40554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4A2A5B4-DAA0-9A7A-B8DD-54E73419A172}"/>
              </a:ext>
            </a:extLst>
          </p:cNvPr>
          <p:cNvSpPr txBox="1"/>
          <p:nvPr/>
        </p:nvSpPr>
        <p:spPr>
          <a:xfrm>
            <a:off x="2649893" y="354563"/>
            <a:ext cx="8490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Aptos" panose="020B0004020202020204" pitchFamily="34" charset="0"/>
              </a:rPr>
              <a:t>AI Example: Intelligent Document Processing</a:t>
            </a:r>
          </a:p>
        </p:txBody>
      </p:sp>
    </p:spTree>
    <p:extLst>
      <p:ext uri="{BB962C8B-B14F-4D97-AF65-F5344CB8AC3E}">
        <p14:creationId xmlns:p14="http://schemas.microsoft.com/office/powerpoint/2010/main" val="1854650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52D54-F01A-7542-D742-E877A314A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6F61103-0F74-42A8-80B0-E7E5979C1A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FC59C-C97C-43F9-BA04-6894715A6C92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Machine Learning?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B1F918-6143-4B6B-B93A-E788732EE066}"/>
              </a:ext>
            </a:extLst>
          </p:cNvPr>
          <p:cNvSpPr txBox="1"/>
          <p:nvPr/>
        </p:nvSpPr>
        <p:spPr>
          <a:xfrm>
            <a:off x="510323" y="2241700"/>
            <a:ext cx="5941372" cy="3099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Machine Learning 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is a subset of AI that unlike using </a:t>
            </a: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human defined rules, it gain insights from data automatically and identify patterns to make future prediction based on many features that a human may not be able to discover.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lang="en-IN" altLang="en-US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 – A Chess application that will play with humans and learn how to win.</a:t>
            </a:r>
          </a:p>
        </p:txBody>
      </p:sp>
      <p:sp>
        <p:nvSpPr>
          <p:cNvPr id="21" name="Round Diagonal Corner of Rectangle 9">
            <a:extLst>
              <a:ext uri="{FF2B5EF4-FFF2-40B4-BE49-F238E27FC236}">
                <a16:creationId xmlns:a16="http://schemas.microsoft.com/office/drawing/2014/main" id="{4E7D9B41-4D06-4AA8-BB57-06FF2AA6AF0C}"/>
              </a:ext>
            </a:extLst>
          </p:cNvPr>
          <p:cNvSpPr/>
          <p:nvPr/>
        </p:nvSpPr>
        <p:spPr>
          <a:xfrm>
            <a:off x="6798733" y="1845042"/>
            <a:ext cx="4966055" cy="4050277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ED01EC-35BA-4D9B-BD45-18EC862FEB19}"/>
              </a:ext>
            </a:extLst>
          </p:cNvPr>
          <p:cNvSpPr txBox="1"/>
          <p:nvPr/>
        </p:nvSpPr>
        <p:spPr>
          <a:xfrm>
            <a:off x="8088026" y="2241700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Artificial Intelligence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9078AB-EB0A-46EA-9402-76FB4C65BC88}"/>
              </a:ext>
            </a:extLst>
          </p:cNvPr>
          <p:cNvSpPr txBox="1"/>
          <p:nvPr/>
        </p:nvSpPr>
        <p:spPr>
          <a:xfrm>
            <a:off x="8339896" y="2797868"/>
            <a:ext cx="2214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Machine Learning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D8271F-9602-4163-8369-25CD3BA5C9C8}"/>
              </a:ext>
            </a:extLst>
          </p:cNvPr>
          <p:cNvSpPr txBox="1"/>
          <p:nvPr/>
        </p:nvSpPr>
        <p:spPr>
          <a:xfrm>
            <a:off x="8553897" y="3382584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Deep learning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114E5-4482-4AE2-93F9-7A1BE268FC00}"/>
              </a:ext>
            </a:extLst>
          </p:cNvPr>
          <p:cNvSpPr txBox="1"/>
          <p:nvPr/>
        </p:nvSpPr>
        <p:spPr>
          <a:xfrm>
            <a:off x="8680897" y="4023934"/>
            <a:ext cx="1747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entury Gothic" panose="020B0502020202020204" pitchFamily="34" charset="0"/>
              </a:rPr>
              <a:t>Generative AI</a:t>
            </a: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4D6399C0-DDB0-4392-B2FC-2299405C1BED}"/>
              </a:ext>
            </a:extLst>
          </p:cNvPr>
          <p:cNvSpPr/>
          <p:nvPr/>
        </p:nvSpPr>
        <p:spPr>
          <a:xfrm>
            <a:off x="7199947" y="2181243"/>
            <a:ext cx="4174068" cy="34036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ounded Rectangle 6">
            <a:extLst>
              <a:ext uri="{FF2B5EF4-FFF2-40B4-BE49-F238E27FC236}">
                <a16:creationId xmlns:a16="http://schemas.microsoft.com/office/drawing/2014/main" id="{606F8A14-6F92-4544-A314-9F22CFE16B48}"/>
              </a:ext>
            </a:extLst>
          </p:cNvPr>
          <p:cNvSpPr/>
          <p:nvPr/>
        </p:nvSpPr>
        <p:spPr>
          <a:xfrm>
            <a:off x="7565857" y="2731577"/>
            <a:ext cx="3437467" cy="28511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7">
            <a:extLst>
              <a:ext uri="{FF2B5EF4-FFF2-40B4-BE49-F238E27FC236}">
                <a16:creationId xmlns:a16="http://schemas.microsoft.com/office/drawing/2014/main" id="{46098BBF-0B41-49E9-B119-DB501EFC6EA3}"/>
              </a:ext>
            </a:extLst>
          </p:cNvPr>
          <p:cNvSpPr/>
          <p:nvPr/>
        </p:nvSpPr>
        <p:spPr>
          <a:xfrm>
            <a:off x="7811550" y="3281911"/>
            <a:ext cx="2954866" cy="23008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8">
            <a:extLst>
              <a:ext uri="{FF2B5EF4-FFF2-40B4-BE49-F238E27FC236}">
                <a16:creationId xmlns:a16="http://schemas.microsoft.com/office/drawing/2014/main" id="{B88105FB-443C-4881-A736-BB54C60B8DC0}"/>
              </a:ext>
            </a:extLst>
          </p:cNvPr>
          <p:cNvSpPr/>
          <p:nvPr/>
        </p:nvSpPr>
        <p:spPr>
          <a:xfrm>
            <a:off x="8070703" y="3874577"/>
            <a:ext cx="2451098" cy="17081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E3A8BC-B874-4AFC-9AE0-F82A8012A157}"/>
              </a:ext>
            </a:extLst>
          </p:cNvPr>
          <p:cNvSpPr txBox="1"/>
          <p:nvPr/>
        </p:nvSpPr>
        <p:spPr>
          <a:xfrm>
            <a:off x="8168780" y="2275517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Artificial Intelligence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309024-9599-4D9C-B27B-AF06756166C6}"/>
              </a:ext>
            </a:extLst>
          </p:cNvPr>
          <p:cNvSpPr txBox="1"/>
          <p:nvPr/>
        </p:nvSpPr>
        <p:spPr>
          <a:xfrm>
            <a:off x="8259934" y="2806746"/>
            <a:ext cx="20377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Machine Learning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3F79F8-7010-45A9-AFDD-9BA8705D2B8A}"/>
              </a:ext>
            </a:extLst>
          </p:cNvPr>
          <p:cNvSpPr txBox="1"/>
          <p:nvPr/>
        </p:nvSpPr>
        <p:spPr>
          <a:xfrm>
            <a:off x="8474331" y="3391462"/>
            <a:ext cx="1564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Deep learning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F94E4B2-F67B-4A06-B2AE-16A25FC8CF5C}"/>
              </a:ext>
            </a:extLst>
          </p:cNvPr>
          <p:cNvSpPr txBox="1"/>
          <p:nvPr/>
        </p:nvSpPr>
        <p:spPr>
          <a:xfrm>
            <a:off x="8518598" y="4032812"/>
            <a:ext cx="150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Generative 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B541888-2435-A7B7-E1B9-9458E5DFE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03FCB2-995D-A34C-7E2B-B94F3FA5B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2211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FAA9D-1F20-397D-C262-414F74F5B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49814D-03C5-4150-9C3B-EE45870699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B89E45-4CE1-4EE6-B9BC-7D685D5B9999}"/>
              </a:ext>
            </a:extLst>
          </p:cNvPr>
          <p:cNvSpPr txBox="1"/>
          <p:nvPr/>
        </p:nvSpPr>
        <p:spPr>
          <a:xfrm>
            <a:off x="0" y="60577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Examples of Machine Learning in Real Life</a:t>
            </a:r>
          </a:p>
        </p:txBody>
      </p:sp>
      <p:sp>
        <p:nvSpPr>
          <p:cNvPr id="12" name="Round Diagonal Corner of Rectangle 9">
            <a:extLst>
              <a:ext uri="{FF2B5EF4-FFF2-40B4-BE49-F238E27FC236}">
                <a16:creationId xmlns:a16="http://schemas.microsoft.com/office/drawing/2014/main" id="{9BCB2FBB-2C92-4EFA-87B5-43632F6E5138}"/>
              </a:ext>
            </a:extLst>
          </p:cNvPr>
          <p:cNvSpPr/>
          <p:nvPr/>
        </p:nvSpPr>
        <p:spPr>
          <a:xfrm>
            <a:off x="736847" y="1294459"/>
            <a:ext cx="10718306" cy="5072474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15A8A4-FC7F-4BAC-AFCC-E923AA19B349}"/>
              </a:ext>
            </a:extLst>
          </p:cNvPr>
          <p:cNvSpPr txBox="1"/>
          <p:nvPr/>
        </p:nvSpPr>
        <p:spPr>
          <a:xfrm>
            <a:off x="1222091" y="1531900"/>
            <a:ext cx="9798486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Spam Detection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Email services use ML to filter spam vs. important messages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Product Recommendations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Amazon, Flipkart suggest products based on user behaviour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Voice Recognition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ML powers Siri, Alexa, and Google Assistant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Fraud Detection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Banks use ML to detect unusual transactions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Predictive Text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Keyboard apps suggest next words as you type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Medical Diagnosis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ML helps in detecting diseases like cancer from scans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Customer Segmentation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Businesses use ML to target marketing campaigns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Stock Market Forecasting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ML models predict price trends and risks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CDC860-B458-A575-8CDA-95D4926FF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3D7B33-1DF0-8F7D-9A42-E62AD316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099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0A07E-3A50-CFAA-B28D-1CA1F3DE4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8CABC2F-5664-46C9-A41D-1FAF9E3B0EB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E71AA3-FBB9-4EC1-89BF-6B35CAE8701D}"/>
              </a:ext>
            </a:extLst>
          </p:cNvPr>
          <p:cNvSpPr txBox="1"/>
          <p:nvPr/>
        </p:nvSpPr>
        <p:spPr>
          <a:xfrm>
            <a:off x="2518963" y="610549"/>
            <a:ext cx="71540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What is Deep Learning?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4B8241-68FC-4D68-B177-7F7B8C5A7B17}"/>
              </a:ext>
            </a:extLst>
          </p:cNvPr>
          <p:cNvSpPr txBox="1"/>
          <p:nvPr/>
        </p:nvSpPr>
        <p:spPr>
          <a:xfrm>
            <a:off x="428959" y="2747988"/>
            <a:ext cx="5990619" cy="214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Deep Learning</a:t>
            </a:r>
            <a:r>
              <a:rPr kumimoji="0" lang="en-IN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is a subset of ML which learns complex patterns and relationship between data using Artificial Neural Network (ANN).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endParaRPr lang="en-IN" altLang="en-US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Example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 – </a:t>
            </a: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A Chess application that will play with itself to learn how to win.</a:t>
            </a:r>
          </a:p>
        </p:txBody>
      </p:sp>
      <p:sp>
        <p:nvSpPr>
          <p:cNvPr id="21" name="Round Diagonal Corner of Rectangle 9">
            <a:extLst>
              <a:ext uri="{FF2B5EF4-FFF2-40B4-BE49-F238E27FC236}">
                <a16:creationId xmlns:a16="http://schemas.microsoft.com/office/drawing/2014/main" id="{6DF6D4C0-9783-433A-90DD-F001053A46AD}"/>
              </a:ext>
            </a:extLst>
          </p:cNvPr>
          <p:cNvSpPr/>
          <p:nvPr/>
        </p:nvSpPr>
        <p:spPr>
          <a:xfrm>
            <a:off x="6790269" y="1847438"/>
            <a:ext cx="5003392" cy="4055291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902938A7-48B7-41AA-A2C2-E072CB883AA3}"/>
              </a:ext>
            </a:extLst>
          </p:cNvPr>
          <p:cNvSpPr/>
          <p:nvPr/>
        </p:nvSpPr>
        <p:spPr>
          <a:xfrm>
            <a:off x="7199947" y="2181243"/>
            <a:ext cx="4174068" cy="340360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ounded Rectangle 6">
            <a:extLst>
              <a:ext uri="{FF2B5EF4-FFF2-40B4-BE49-F238E27FC236}">
                <a16:creationId xmlns:a16="http://schemas.microsoft.com/office/drawing/2014/main" id="{8AC18DAE-9959-492B-810E-33DFB877F94E}"/>
              </a:ext>
            </a:extLst>
          </p:cNvPr>
          <p:cNvSpPr/>
          <p:nvPr/>
        </p:nvSpPr>
        <p:spPr>
          <a:xfrm>
            <a:off x="7565857" y="2731577"/>
            <a:ext cx="3437467" cy="285115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7">
            <a:extLst>
              <a:ext uri="{FF2B5EF4-FFF2-40B4-BE49-F238E27FC236}">
                <a16:creationId xmlns:a16="http://schemas.microsoft.com/office/drawing/2014/main" id="{2BF8EA3D-C792-4B0A-9E08-F4A26FED6C20}"/>
              </a:ext>
            </a:extLst>
          </p:cNvPr>
          <p:cNvSpPr/>
          <p:nvPr/>
        </p:nvSpPr>
        <p:spPr>
          <a:xfrm>
            <a:off x="7811550" y="3281911"/>
            <a:ext cx="2954866" cy="2300817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8">
            <a:extLst>
              <a:ext uri="{FF2B5EF4-FFF2-40B4-BE49-F238E27FC236}">
                <a16:creationId xmlns:a16="http://schemas.microsoft.com/office/drawing/2014/main" id="{F6C75EE5-3D0F-45FF-8D5F-E25C506036EE}"/>
              </a:ext>
            </a:extLst>
          </p:cNvPr>
          <p:cNvSpPr/>
          <p:nvPr/>
        </p:nvSpPr>
        <p:spPr>
          <a:xfrm>
            <a:off x="8070703" y="3874577"/>
            <a:ext cx="2451098" cy="170815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2DEC64-83DD-4B40-AE9C-2BD670844300}"/>
              </a:ext>
            </a:extLst>
          </p:cNvPr>
          <p:cNvSpPr txBox="1"/>
          <p:nvPr/>
        </p:nvSpPr>
        <p:spPr>
          <a:xfrm>
            <a:off x="8168780" y="2275517"/>
            <a:ext cx="2214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Artificial Intelligence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725D3A-682D-4BD2-8515-DA4575083DF5}"/>
              </a:ext>
            </a:extLst>
          </p:cNvPr>
          <p:cNvSpPr txBox="1"/>
          <p:nvPr/>
        </p:nvSpPr>
        <p:spPr>
          <a:xfrm>
            <a:off x="8305331" y="2806746"/>
            <a:ext cx="1946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Machine Learning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3C3C753-4A8B-41FF-84A8-4E54C5C3A7EB}"/>
              </a:ext>
            </a:extLst>
          </p:cNvPr>
          <p:cNvSpPr txBox="1"/>
          <p:nvPr/>
        </p:nvSpPr>
        <p:spPr>
          <a:xfrm>
            <a:off x="8435859" y="3391462"/>
            <a:ext cx="1641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Deep learning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1927A1-AB55-4637-9250-5D89DBBFEE24}"/>
              </a:ext>
            </a:extLst>
          </p:cNvPr>
          <p:cNvSpPr txBox="1"/>
          <p:nvPr/>
        </p:nvSpPr>
        <p:spPr>
          <a:xfrm>
            <a:off x="8518598" y="4032812"/>
            <a:ext cx="1505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ptos" panose="020B0004020202020204" pitchFamily="34" charset="0"/>
              </a:rPr>
              <a:t>Generative 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C127BE-4E3A-A956-BD56-4C34D5705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69E1BA-9B98-2364-3A2C-3BFA3AB8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176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A42D6-23D0-B989-CAA7-CDD9054D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D1F7ABF-D9E1-4536-A762-E3F0D981F7D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E6E6E6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901B4-527A-43F1-854C-04661EFD11E0}"/>
              </a:ext>
            </a:extLst>
          </p:cNvPr>
          <p:cNvSpPr txBox="1"/>
          <p:nvPr/>
        </p:nvSpPr>
        <p:spPr>
          <a:xfrm>
            <a:off x="0" y="60577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0084FF"/>
                </a:solidFill>
                <a:latin typeface="Aptos" panose="020B0004020202020204" pitchFamily="34" charset="0"/>
              </a:rPr>
              <a:t>Examples of Deep Learning in Real Life</a:t>
            </a:r>
          </a:p>
        </p:txBody>
      </p:sp>
      <p:sp>
        <p:nvSpPr>
          <p:cNvPr id="12" name="Round Diagonal Corner of Rectangle 9">
            <a:extLst>
              <a:ext uri="{FF2B5EF4-FFF2-40B4-BE49-F238E27FC236}">
                <a16:creationId xmlns:a16="http://schemas.microsoft.com/office/drawing/2014/main" id="{E086E8AD-03F9-4A07-9DC2-F62CC51B9F7A}"/>
              </a:ext>
            </a:extLst>
          </p:cNvPr>
          <p:cNvSpPr/>
          <p:nvPr/>
        </p:nvSpPr>
        <p:spPr>
          <a:xfrm>
            <a:off x="656949" y="1294459"/>
            <a:ext cx="10878100" cy="5072474"/>
          </a:xfrm>
          <a:prstGeom prst="round2DiagRect">
            <a:avLst>
              <a:gd name="adj1" fmla="val 7137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121195" dist="100508" dir="2700000" sx="99000" sy="99000" algn="ctr" rotWithShape="0">
              <a:srgbClr val="000000">
                <a:alpha val="7758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0DCFD5-53FF-49BF-B921-B1ABD9184463}"/>
              </a:ext>
            </a:extLst>
          </p:cNvPr>
          <p:cNvSpPr txBox="1"/>
          <p:nvPr/>
        </p:nvSpPr>
        <p:spPr>
          <a:xfrm>
            <a:off x="1147692" y="1538030"/>
            <a:ext cx="9954348" cy="4449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Image Recognition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Facebook auto-tags friends in photos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Voice Assistants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Siri and Alexa understand speech using deep learning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Self-Driving Cars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Tesla uses deep learning to detect objects, lanes, and pedestrians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Language Translation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Google Translate uses deep neural networks for accurate translation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Facial Recognition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Used in security systems and smartphone unlocking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Healthcare Diagnostics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Detects diseases like cancer from X-rays and MRIs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Deepfake Technology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Creates realistic fake images and videos</a:t>
            </a:r>
          </a:p>
          <a:p>
            <a:pPr marL="342900" lvl="0" indent="-3429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0084FF"/>
              </a:buClr>
              <a:buFont typeface="Arial" panose="020B0604020202020204" pitchFamily="34" charset="0"/>
              <a:buChar char="•"/>
            </a:pPr>
            <a:r>
              <a:rPr kumimoji="0" lang="en-IN" altLang="en-US" b="1" i="0" u="none" strike="noStrike" cap="none" normalizeH="0" baseline="0" dirty="0">
                <a:ln>
                  <a:noFill/>
                </a:ln>
                <a:solidFill>
                  <a:srgbClr val="002060"/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Chatbots and Virtual Agents </a:t>
            </a:r>
            <a:r>
              <a:rPr kumimoji="0" lang="en-IN" altLang="en-US" i="0" u="none" strike="noStrike" cap="none" normalizeH="0" baseline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ptos" panose="020B0004020202020204" pitchFamily="34" charset="0"/>
                <a:cs typeface="Arial" panose="020B0604020202020204" pitchFamily="34" charset="0"/>
              </a:rPr>
              <a:t>– Generate human-like responses in customer service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931438-CDB1-37FD-8448-EBF314C96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8E003D-CAD6-A307-203D-4636699BD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563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06263-0FB8-415A-A6DD-9D19C7A1D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B8DB0BA6-6294-4E97-A4A9-D62AC9A4C6E2}"/>
              </a:ext>
            </a:extLst>
          </p:cNvPr>
          <p:cNvSpPr txBox="1">
            <a:spLocks/>
          </p:cNvSpPr>
          <p:nvPr/>
        </p:nvSpPr>
        <p:spPr>
          <a:xfrm>
            <a:off x="4585025" y="6174412"/>
            <a:ext cx="3021944" cy="37883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sz="1200" dirty="0">
              <a:solidFill>
                <a:schemeClr val="bg1"/>
              </a:solidFill>
              <a:latin typeface="Fieldwork 03 Geo Light" pitchFamily="50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3F43E6-A9B1-491D-8FFF-1B7570AA4E48}"/>
              </a:ext>
            </a:extLst>
          </p:cNvPr>
          <p:cNvSpPr txBox="1"/>
          <p:nvPr/>
        </p:nvSpPr>
        <p:spPr>
          <a:xfrm>
            <a:off x="1947324" y="2765799"/>
            <a:ext cx="82973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000" b="1" dirty="0">
                <a:solidFill>
                  <a:schemeClr val="bg1"/>
                </a:solidFill>
                <a:latin typeface="Aptos" panose="020B0004020202020204" pitchFamily="34" charset="0"/>
              </a:rPr>
              <a:t>Thank You!</a:t>
            </a:r>
            <a:endParaRPr lang="en-IN" sz="6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0FAF87-2158-A91B-80EB-384F8981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CHAITANYA TRAINING AND CONSULTANCY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A0E55-6299-39BD-9D9F-8BACAD802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A4791-8969-457F-9C1F-82FDC1B7B0C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3745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008268F6CD24A9CC651EB36D7E845" ma:contentTypeVersion="7" ma:contentTypeDescription="Create a new document." ma:contentTypeScope="" ma:versionID="a4ed91bf37f488676fadcf81f195509b">
  <xsd:schema xmlns:xsd="http://www.w3.org/2001/XMLSchema" xmlns:xs="http://www.w3.org/2001/XMLSchema" xmlns:p="http://schemas.microsoft.com/office/2006/metadata/properties" xmlns:ns2="734a16d1-82f5-4338-9faa-bf7250a34154" targetNamespace="http://schemas.microsoft.com/office/2006/metadata/properties" ma:root="true" ma:fieldsID="da8957b0ae9951030c266cdb135950f5" ns2:_="">
    <xsd:import namespace="734a16d1-82f5-4338-9faa-bf7250a3415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a16d1-82f5-4338-9faa-bf7250a341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1F3F2EC-CBAE-4F1D-87C3-6D2E2CF26C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4a16d1-82f5-4338-9faa-bf7250a341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DC7731-4957-4D8F-AEED-DEA7959BADF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F6BF1D0-ADBA-4B50-A1F5-2A5E187ADA71}">
  <ds:schemaRefs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734a16d1-82f5-4338-9faa-bf7250a34154"/>
    <ds:schemaRef ds:uri="http://www.w3.org/XML/1998/namespace"/>
    <ds:schemaRef ds:uri="http://purl.org/dc/elements/1.1/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8149</TotalTime>
  <Words>1349</Words>
  <Application>Microsoft Office PowerPoint</Application>
  <PresentationFormat>Widescreen</PresentationFormat>
  <Paragraphs>198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6" baseType="lpstr">
      <vt:lpstr>Aptos</vt:lpstr>
      <vt:lpstr>Aptos ExtraBold</vt:lpstr>
      <vt:lpstr>Aptos SemiBold</vt:lpstr>
      <vt:lpstr>Arial</vt:lpstr>
      <vt:lpstr>Calibri</vt:lpstr>
      <vt:lpstr>Calibri Light</vt:lpstr>
      <vt:lpstr>Century Gothic</vt:lpstr>
      <vt:lpstr>Fieldwork 03 Geo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Prachi Desai</dc:creator>
  <cp:lastModifiedBy>Chaitanya Gaajula</cp:lastModifiedBy>
  <cp:revision>65</cp:revision>
  <dcterms:created xsi:type="dcterms:W3CDTF">2025-03-28T07:21:33Z</dcterms:created>
  <dcterms:modified xsi:type="dcterms:W3CDTF">2026-01-05T02:50:26Z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0x01010011F008268F6CD24A9CC651EB36D7E845</vt:lpwstr>
  </property>
</Properties>
</file>