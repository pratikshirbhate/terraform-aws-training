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25" r:id="rId2"/>
    <p:sldId id="303" r:id="rId3"/>
    <p:sldId id="304" r:id="rId4"/>
    <p:sldId id="305" r:id="rId5"/>
    <p:sldId id="307" r:id="rId6"/>
    <p:sldId id="306" r:id="rId7"/>
    <p:sldId id="309" r:id="rId8"/>
    <p:sldId id="331" r:id="rId9"/>
    <p:sldId id="312" r:id="rId10"/>
    <p:sldId id="316" r:id="rId11"/>
    <p:sldId id="314" r:id="rId12"/>
    <p:sldId id="310" r:id="rId13"/>
    <p:sldId id="332" r:id="rId14"/>
    <p:sldId id="333" r:id="rId15"/>
    <p:sldId id="334" r:id="rId16"/>
    <p:sldId id="315" r:id="rId17"/>
    <p:sldId id="313" r:id="rId18"/>
    <p:sldId id="32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KIdvGVLuvEBKncS6no6Tyw==" hashData="g0aD7WRbfcp6l2HM8GuuXWHscMIzF9xZ5u5Gflfgh5IigWmXDnGg2eDODJBrEqaTbLdlXPgvpDJ6FTW2+UOl9Q=="/>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F1F13-1625-4643-9F16-D162D28A7180}" type="datetimeFigureOut">
              <a:rPr lang="en-IN" smtClean="0"/>
              <a:t>02-10-2021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73FF97-DC1E-43FD-A01F-45B4D0F08689}" type="slidenum">
              <a:rPr lang="en-IN" smtClean="0"/>
              <a:t>‹#›</a:t>
            </a:fld>
            <a:endParaRPr lang="en-IN"/>
          </a:p>
        </p:txBody>
      </p:sp>
    </p:spTree>
    <p:extLst>
      <p:ext uri="{BB962C8B-B14F-4D97-AF65-F5344CB8AC3E}">
        <p14:creationId xmlns:p14="http://schemas.microsoft.com/office/powerpoint/2010/main" val="3537126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15C8F-B5B4-495B-8D71-4F4E4884CD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BAFD6D-ABBA-442A-98F7-ED056A945D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4FCB51-9F3B-4233-BB62-D64D4DE27D6C}"/>
              </a:ext>
            </a:extLst>
          </p:cNvPr>
          <p:cNvSpPr>
            <a:spLocks noGrp="1"/>
          </p:cNvSpPr>
          <p:nvPr>
            <p:ph type="dt" sz="half" idx="10"/>
          </p:nvPr>
        </p:nvSpPr>
        <p:spPr/>
        <p:txBody>
          <a:bodyPr/>
          <a:lstStyle/>
          <a:p>
            <a:fld id="{0833DBEB-0F8A-4212-BF41-B4CA3ED7E250}" type="datetime1">
              <a:rPr lang="en-IN" smtClean="0"/>
              <a:t>02-10-2021</a:t>
            </a:fld>
            <a:endParaRPr lang="en-IN"/>
          </a:p>
        </p:txBody>
      </p:sp>
      <p:sp>
        <p:nvSpPr>
          <p:cNvPr id="5" name="Footer Placeholder 4">
            <a:extLst>
              <a:ext uri="{FF2B5EF4-FFF2-40B4-BE49-F238E27FC236}">
                <a16:creationId xmlns:a16="http://schemas.microsoft.com/office/drawing/2014/main" id="{5C3B59F4-316B-4B43-884F-6BC011F399A5}"/>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2DA33CBE-0ED1-4595-BB24-A22C3BDBC1C7}"/>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2388423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9AE10-4580-489A-9E80-0D3FFB17FA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8C129D-AE01-4289-8DC8-66D98FA0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F27A79-A4D9-41E1-898A-E7F3418E2C4D}"/>
              </a:ext>
            </a:extLst>
          </p:cNvPr>
          <p:cNvSpPr>
            <a:spLocks noGrp="1"/>
          </p:cNvSpPr>
          <p:nvPr>
            <p:ph type="dt" sz="half" idx="10"/>
          </p:nvPr>
        </p:nvSpPr>
        <p:spPr/>
        <p:txBody>
          <a:bodyPr/>
          <a:lstStyle/>
          <a:p>
            <a:fld id="{7C23AC30-78EC-465A-90E4-8CDDFE8CB907}" type="datetime1">
              <a:rPr lang="en-IN" smtClean="0"/>
              <a:t>02-10-2021</a:t>
            </a:fld>
            <a:endParaRPr lang="en-IN"/>
          </a:p>
        </p:txBody>
      </p:sp>
      <p:sp>
        <p:nvSpPr>
          <p:cNvPr id="5" name="Footer Placeholder 4">
            <a:extLst>
              <a:ext uri="{FF2B5EF4-FFF2-40B4-BE49-F238E27FC236}">
                <a16:creationId xmlns:a16="http://schemas.microsoft.com/office/drawing/2014/main" id="{D57E7765-8197-400F-AAD1-A37EA7073B3C}"/>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59EB0829-44A1-4557-B29B-68778A3A264E}"/>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241273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80C4-902F-42F5-81C6-BCAB3EDB74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5E891C-6177-4BB2-BE14-13264E174A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78784-D29C-4DE7-9B00-2FA09F396D80}"/>
              </a:ext>
            </a:extLst>
          </p:cNvPr>
          <p:cNvSpPr>
            <a:spLocks noGrp="1"/>
          </p:cNvSpPr>
          <p:nvPr>
            <p:ph type="dt" sz="half" idx="10"/>
          </p:nvPr>
        </p:nvSpPr>
        <p:spPr/>
        <p:txBody>
          <a:bodyPr/>
          <a:lstStyle/>
          <a:p>
            <a:fld id="{DD0AD8A1-132A-42FB-A024-D7CE7F4D7247}" type="datetime1">
              <a:rPr lang="en-IN" smtClean="0"/>
              <a:t>02-10-2021</a:t>
            </a:fld>
            <a:endParaRPr lang="en-IN"/>
          </a:p>
        </p:txBody>
      </p:sp>
      <p:sp>
        <p:nvSpPr>
          <p:cNvPr id="5" name="Footer Placeholder 4">
            <a:extLst>
              <a:ext uri="{FF2B5EF4-FFF2-40B4-BE49-F238E27FC236}">
                <a16:creationId xmlns:a16="http://schemas.microsoft.com/office/drawing/2014/main" id="{F2DD6374-98CF-47BC-B9FC-ADF5FBB882C7}"/>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FFECBEE1-CFF8-41FC-8876-E049BF7A5DC3}"/>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2873860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9E307-6AB5-4529-A083-ABE5C9BB55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C037A6-2930-44A4-A886-803FA73BA9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C8ACE6-BC4F-4431-9583-CECE305DF7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EED72A-405A-4591-9C26-AC06C7A19BA6}"/>
              </a:ext>
            </a:extLst>
          </p:cNvPr>
          <p:cNvSpPr>
            <a:spLocks noGrp="1"/>
          </p:cNvSpPr>
          <p:nvPr>
            <p:ph type="dt" sz="half" idx="10"/>
          </p:nvPr>
        </p:nvSpPr>
        <p:spPr/>
        <p:txBody>
          <a:bodyPr/>
          <a:lstStyle/>
          <a:p>
            <a:fld id="{C01782AE-7E28-4E0A-87A6-91C0C29E9C21}" type="datetime1">
              <a:rPr lang="en-IN" smtClean="0"/>
              <a:t>02-10-2021</a:t>
            </a:fld>
            <a:endParaRPr lang="en-IN"/>
          </a:p>
        </p:txBody>
      </p:sp>
      <p:sp>
        <p:nvSpPr>
          <p:cNvPr id="6" name="Footer Placeholder 5">
            <a:extLst>
              <a:ext uri="{FF2B5EF4-FFF2-40B4-BE49-F238E27FC236}">
                <a16:creationId xmlns:a16="http://schemas.microsoft.com/office/drawing/2014/main" id="{E37B375D-C391-4F2F-B064-9D3150A3E9BE}"/>
              </a:ext>
            </a:extLst>
          </p:cNvPr>
          <p:cNvSpPr>
            <a:spLocks noGrp="1"/>
          </p:cNvSpPr>
          <p:nvPr>
            <p:ph type="ftr" sz="quarter" idx="11"/>
          </p:nvPr>
        </p:nvSpPr>
        <p:spPr/>
        <p:txBody>
          <a:bodyPr/>
          <a:lstStyle/>
          <a:p>
            <a:r>
              <a:rPr lang="en-US"/>
              <a:t>CHAITANYA R GAAJULA - ALL COPYRIGHTS RESERVED</a:t>
            </a:r>
            <a:endParaRPr lang="en-IN"/>
          </a:p>
        </p:txBody>
      </p:sp>
      <p:sp>
        <p:nvSpPr>
          <p:cNvPr id="7" name="Slide Number Placeholder 6">
            <a:extLst>
              <a:ext uri="{FF2B5EF4-FFF2-40B4-BE49-F238E27FC236}">
                <a16:creationId xmlns:a16="http://schemas.microsoft.com/office/drawing/2014/main" id="{1A1AA138-C554-454C-91D8-FF30BAE71A0E}"/>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621934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E26FA-0035-46A5-B3F3-988B6330ABC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EC292A-6CCC-45F6-B063-8DA68049B8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A810BC-CEF3-42BC-B015-8C04251722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108482-9DED-4BC9-A18D-188E2ACC96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B58BE-FC60-4F22-BD8E-A688505A90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05E58D-4C00-4BDF-9EE1-D3165BBB49C2}"/>
              </a:ext>
            </a:extLst>
          </p:cNvPr>
          <p:cNvSpPr>
            <a:spLocks noGrp="1"/>
          </p:cNvSpPr>
          <p:nvPr>
            <p:ph type="dt" sz="half" idx="10"/>
          </p:nvPr>
        </p:nvSpPr>
        <p:spPr/>
        <p:txBody>
          <a:bodyPr/>
          <a:lstStyle/>
          <a:p>
            <a:fld id="{FBC50942-B565-4FEF-9EEC-6096EAEC0D2F}" type="datetime1">
              <a:rPr lang="en-IN" smtClean="0"/>
              <a:t>02-10-2021</a:t>
            </a:fld>
            <a:endParaRPr lang="en-IN"/>
          </a:p>
        </p:txBody>
      </p:sp>
      <p:sp>
        <p:nvSpPr>
          <p:cNvPr id="8" name="Footer Placeholder 7">
            <a:extLst>
              <a:ext uri="{FF2B5EF4-FFF2-40B4-BE49-F238E27FC236}">
                <a16:creationId xmlns:a16="http://schemas.microsoft.com/office/drawing/2014/main" id="{C8012DA8-5F20-4C36-980C-91097141B5B2}"/>
              </a:ext>
            </a:extLst>
          </p:cNvPr>
          <p:cNvSpPr>
            <a:spLocks noGrp="1"/>
          </p:cNvSpPr>
          <p:nvPr>
            <p:ph type="ftr" sz="quarter" idx="11"/>
          </p:nvPr>
        </p:nvSpPr>
        <p:spPr/>
        <p:txBody>
          <a:bodyPr/>
          <a:lstStyle/>
          <a:p>
            <a:r>
              <a:rPr lang="en-US"/>
              <a:t>CHAITANYA R GAAJULA - ALL COPYRIGHTS RESERVED</a:t>
            </a:r>
            <a:endParaRPr lang="en-IN"/>
          </a:p>
        </p:txBody>
      </p:sp>
      <p:sp>
        <p:nvSpPr>
          <p:cNvPr id="9" name="Slide Number Placeholder 8">
            <a:extLst>
              <a:ext uri="{FF2B5EF4-FFF2-40B4-BE49-F238E27FC236}">
                <a16:creationId xmlns:a16="http://schemas.microsoft.com/office/drawing/2014/main" id="{37050A3D-5CE5-48D3-B3A2-16798C17D90E}"/>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440802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56A24-530E-4BD1-9CF1-C2AB41BED7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34C777-68CA-4D68-B485-83CF8166A008}"/>
              </a:ext>
            </a:extLst>
          </p:cNvPr>
          <p:cNvSpPr>
            <a:spLocks noGrp="1"/>
          </p:cNvSpPr>
          <p:nvPr>
            <p:ph type="dt" sz="half" idx="10"/>
          </p:nvPr>
        </p:nvSpPr>
        <p:spPr/>
        <p:txBody>
          <a:bodyPr/>
          <a:lstStyle/>
          <a:p>
            <a:fld id="{B3C232EC-43B1-4B61-825A-2883D5572CE9}" type="datetime1">
              <a:rPr lang="en-IN" smtClean="0"/>
              <a:t>02-10-2021</a:t>
            </a:fld>
            <a:endParaRPr lang="en-IN"/>
          </a:p>
        </p:txBody>
      </p:sp>
      <p:sp>
        <p:nvSpPr>
          <p:cNvPr id="4" name="Footer Placeholder 3">
            <a:extLst>
              <a:ext uri="{FF2B5EF4-FFF2-40B4-BE49-F238E27FC236}">
                <a16:creationId xmlns:a16="http://schemas.microsoft.com/office/drawing/2014/main" id="{300EA535-DD8C-4C39-A802-BD0EB329751B}"/>
              </a:ext>
            </a:extLst>
          </p:cNvPr>
          <p:cNvSpPr>
            <a:spLocks noGrp="1"/>
          </p:cNvSpPr>
          <p:nvPr>
            <p:ph type="ftr" sz="quarter" idx="11"/>
          </p:nvPr>
        </p:nvSpPr>
        <p:spPr/>
        <p:txBody>
          <a:bodyPr/>
          <a:lstStyle/>
          <a:p>
            <a:r>
              <a:rPr lang="en-US"/>
              <a:t>CHAITANYA R GAAJULA - ALL COPYRIGHTS RESERVED</a:t>
            </a:r>
            <a:endParaRPr lang="en-IN"/>
          </a:p>
        </p:txBody>
      </p:sp>
      <p:sp>
        <p:nvSpPr>
          <p:cNvPr id="5" name="Slide Number Placeholder 4">
            <a:extLst>
              <a:ext uri="{FF2B5EF4-FFF2-40B4-BE49-F238E27FC236}">
                <a16:creationId xmlns:a16="http://schemas.microsoft.com/office/drawing/2014/main" id="{2D1667D4-EC9A-45CB-ACE9-276A3AE19A48}"/>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3465206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49EFA-14A1-44B8-BFB2-8B5BDCF40B0E}"/>
              </a:ext>
            </a:extLst>
          </p:cNvPr>
          <p:cNvSpPr>
            <a:spLocks noGrp="1"/>
          </p:cNvSpPr>
          <p:nvPr>
            <p:ph type="dt" sz="half" idx="10"/>
          </p:nvPr>
        </p:nvSpPr>
        <p:spPr/>
        <p:txBody>
          <a:bodyPr/>
          <a:lstStyle/>
          <a:p>
            <a:fld id="{9E9D289A-7576-4244-B1E0-1D028F7A48E4}" type="datetime1">
              <a:rPr lang="en-IN" smtClean="0"/>
              <a:t>02-10-2021</a:t>
            </a:fld>
            <a:endParaRPr lang="en-IN"/>
          </a:p>
        </p:txBody>
      </p:sp>
      <p:sp>
        <p:nvSpPr>
          <p:cNvPr id="3" name="Footer Placeholder 2">
            <a:extLst>
              <a:ext uri="{FF2B5EF4-FFF2-40B4-BE49-F238E27FC236}">
                <a16:creationId xmlns:a16="http://schemas.microsoft.com/office/drawing/2014/main" id="{C2867980-B2D3-47F8-85D0-0584A9BF21C4}"/>
              </a:ext>
            </a:extLst>
          </p:cNvPr>
          <p:cNvSpPr>
            <a:spLocks noGrp="1"/>
          </p:cNvSpPr>
          <p:nvPr>
            <p:ph type="ftr" sz="quarter" idx="11"/>
          </p:nvPr>
        </p:nvSpPr>
        <p:spPr/>
        <p:txBody>
          <a:bodyPr/>
          <a:lstStyle/>
          <a:p>
            <a:r>
              <a:rPr lang="en-US"/>
              <a:t>CHAITANYA R GAAJULA - ALL COPYRIGHTS RESERVED</a:t>
            </a:r>
            <a:endParaRPr lang="en-IN"/>
          </a:p>
        </p:txBody>
      </p:sp>
      <p:sp>
        <p:nvSpPr>
          <p:cNvPr id="4" name="Slide Number Placeholder 3">
            <a:extLst>
              <a:ext uri="{FF2B5EF4-FFF2-40B4-BE49-F238E27FC236}">
                <a16:creationId xmlns:a16="http://schemas.microsoft.com/office/drawing/2014/main" id="{2E3B5BFF-103E-4897-B06C-DD52FBD86076}"/>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2241610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E6CFD-54F1-4DE1-A0E9-7B20FB09F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DDF971-FA4B-414D-A5BC-A8A5C99834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73CE81-2274-4BF4-BFCF-55D9162C14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D83D8D-47BF-491E-BE0B-BB4EFF9779C5}"/>
              </a:ext>
            </a:extLst>
          </p:cNvPr>
          <p:cNvSpPr>
            <a:spLocks noGrp="1"/>
          </p:cNvSpPr>
          <p:nvPr>
            <p:ph type="dt" sz="half" idx="10"/>
          </p:nvPr>
        </p:nvSpPr>
        <p:spPr/>
        <p:txBody>
          <a:bodyPr/>
          <a:lstStyle/>
          <a:p>
            <a:fld id="{B619569D-2DCB-405F-841B-4B53A24FD277}" type="datetime1">
              <a:rPr lang="en-IN" smtClean="0"/>
              <a:t>02-10-2021</a:t>
            </a:fld>
            <a:endParaRPr lang="en-IN"/>
          </a:p>
        </p:txBody>
      </p:sp>
      <p:sp>
        <p:nvSpPr>
          <p:cNvPr id="6" name="Footer Placeholder 5">
            <a:extLst>
              <a:ext uri="{FF2B5EF4-FFF2-40B4-BE49-F238E27FC236}">
                <a16:creationId xmlns:a16="http://schemas.microsoft.com/office/drawing/2014/main" id="{C89B2CC6-AE66-488C-ADCA-9766CFA61DEF}"/>
              </a:ext>
            </a:extLst>
          </p:cNvPr>
          <p:cNvSpPr>
            <a:spLocks noGrp="1"/>
          </p:cNvSpPr>
          <p:nvPr>
            <p:ph type="ftr" sz="quarter" idx="11"/>
          </p:nvPr>
        </p:nvSpPr>
        <p:spPr/>
        <p:txBody>
          <a:bodyPr/>
          <a:lstStyle/>
          <a:p>
            <a:r>
              <a:rPr lang="en-US"/>
              <a:t>CHAITANYA R GAAJULA - ALL COPYRIGHTS RESERVED</a:t>
            </a:r>
            <a:endParaRPr lang="en-IN"/>
          </a:p>
        </p:txBody>
      </p:sp>
      <p:sp>
        <p:nvSpPr>
          <p:cNvPr id="7" name="Slide Number Placeholder 6">
            <a:extLst>
              <a:ext uri="{FF2B5EF4-FFF2-40B4-BE49-F238E27FC236}">
                <a16:creationId xmlns:a16="http://schemas.microsoft.com/office/drawing/2014/main" id="{74531103-CE97-4DE5-88C3-4DB7BCCC6BBF}"/>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2891376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4FF6-B00B-40A0-A259-344DDD915C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4BCA7E-DEE9-409D-B523-421E17EF42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22894E-2683-44E6-A911-4AFA143EF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982E47-34EF-4B06-AC0C-6992E9BCB381}"/>
              </a:ext>
            </a:extLst>
          </p:cNvPr>
          <p:cNvSpPr>
            <a:spLocks noGrp="1"/>
          </p:cNvSpPr>
          <p:nvPr>
            <p:ph type="dt" sz="half" idx="10"/>
          </p:nvPr>
        </p:nvSpPr>
        <p:spPr/>
        <p:txBody>
          <a:bodyPr/>
          <a:lstStyle/>
          <a:p>
            <a:fld id="{8D6B31A6-7483-4FF9-9907-5D786B6F1ED8}" type="datetime1">
              <a:rPr lang="en-IN" smtClean="0"/>
              <a:t>02-10-2021</a:t>
            </a:fld>
            <a:endParaRPr lang="en-IN"/>
          </a:p>
        </p:txBody>
      </p:sp>
      <p:sp>
        <p:nvSpPr>
          <p:cNvPr id="6" name="Footer Placeholder 5">
            <a:extLst>
              <a:ext uri="{FF2B5EF4-FFF2-40B4-BE49-F238E27FC236}">
                <a16:creationId xmlns:a16="http://schemas.microsoft.com/office/drawing/2014/main" id="{8FE77784-5648-48FD-8449-741880AEFFC5}"/>
              </a:ext>
            </a:extLst>
          </p:cNvPr>
          <p:cNvSpPr>
            <a:spLocks noGrp="1"/>
          </p:cNvSpPr>
          <p:nvPr>
            <p:ph type="ftr" sz="quarter" idx="11"/>
          </p:nvPr>
        </p:nvSpPr>
        <p:spPr/>
        <p:txBody>
          <a:bodyPr/>
          <a:lstStyle/>
          <a:p>
            <a:r>
              <a:rPr lang="en-US"/>
              <a:t>CHAITANYA R GAAJULA - ALL COPYRIGHTS RESERVED</a:t>
            </a:r>
            <a:endParaRPr lang="en-IN"/>
          </a:p>
        </p:txBody>
      </p:sp>
      <p:sp>
        <p:nvSpPr>
          <p:cNvPr id="7" name="Slide Number Placeholder 6">
            <a:extLst>
              <a:ext uri="{FF2B5EF4-FFF2-40B4-BE49-F238E27FC236}">
                <a16:creationId xmlns:a16="http://schemas.microsoft.com/office/drawing/2014/main" id="{DB4D3BC6-F25B-45B5-82AC-D0C3A07D9DB8}"/>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250371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D5B0-EC7F-4452-8268-0DC60B4849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C1CBBF-3CAA-4671-8A9A-F6B10643D0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21EC8D-22C9-4D95-9593-70ADCB1CEA86}"/>
              </a:ext>
            </a:extLst>
          </p:cNvPr>
          <p:cNvSpPr>
            <a:spLocks noGrp="1"/>
          </p:cNvSpPr>
          <p:nvPr>
            <p:ph type="dt" sz="half" idx="10"/>
          </p:nvPr>
        </p:nvSpPr>
        <p:spPr/>
        <p:txBody>
          <a:bodyPr/>
          <a:lstStyle/>
          <a:p>
            <a:fld id="{69F4CD2B-979E-406A-8102-1E4E2E83FD23}" type="datetime1">
              <a:rPr lang="en-IN" smtClean="0"/>
              <a:t>02-10-2021</a:t>
            </a:fld>
            <a:endParaRPr lang="en-IN"/>
          </a:p>
        </p:txBody>
      </p:sp>
      <p:sp>
        <p:nvSpPr>
          <p:cNvPr id="5" name="Footer Placeholder 4">
            <a:extLst>
              <a:ext uri="{FF2B5EF4-FFF2-40B4-BE49-F238E27FC236}">
                <a16:creationId xmlns:a16="http://schemas.microsoft.com/office/drawing/2014/main" id="{2100E76B-63D9-46BF-AA65-77AA8E68441F}"/>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6C21B895-E6E5-4A26-B530-11AF120A1623}"/>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2686490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A3BE51-7B45-4792-8023-E268C8F6CC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400446-101A-44AC-B6AB-A844D52338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6D0B28-6471-449E-A7EF-236F098ED76B}"/>
              </a:ext>
            </a:extLst>
          </p:cNvPr>
          <p:cNvSpPr>
            <a:spLocks noGrp="1"/>
          </p:cNvSpPr>
          <p:nvPr>
            <p:ph type="dt" sz="half" idx="10"/>
          </p:nvPr>
        </p:nvSpPr>
        <p:spPr/>
        <p:txBody>
          <a:bodyPr/>
          <a:lstStyle/>
          <a:p>
            <a:fld id="{C8B2D2F2-1A1C-48BD-9065-11CC7AA39C64}" type="datetime1">
              <a:rPr lang="en-IN" smtClean="0"/>
              <a:t>02-10-2021</a:t>
            </a:fld>
            <a:endParaRPr lang="en-IN"/>
          </a:p>
        </p:txBody>
      </p:sp>
      <p:sp>
        <p:nvSpPr>
          <p:cNvPr id="5" name="Footer Placeholder 4">
            <a:extLst>
              <a:ext uri="{FF2B5EF4-FFF2-40B4-BE49-F238E27FC236}">
                <a16:creationId xmlns:a16="http://schemas.microsoft.com/office/drawing/2014/main" id="{37FC5D22-FBF5-408C-B5A3-2B9B69F949B4}"/>
              </a:ext>
            </a:extLst>
          </p:cNvPr>
          <p:cNvSpPr>
            <a:spLocks noGrp="1"/>
          </p:cNvSpPr>
          <p:nvPr>
            <p:ph type="ftr" sz="quarter" idx="11"/>
          </p:nvPr>
        </p:nvSpPr>
        <p:spPr/>
        <p:txBody>
          <a:body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BF7BFDE7-4657-4C5B-BFF0-E3B6E39BA739}"/>
              </a:ext>
            </a:extLst>
          </p:cNvPr>
          <p:cNvSpPr>
            <a:spLocks noGrp="1"/>
          </p:cNvSpPr>
          <p:nvPr>
            <p:ph type="sldNum" sz="quarter" idx="12"/>
          </p:nvPr>
        </p:nvSpPr>
        <p:spPr/>
        <p:txBody>
          <a:bodyPr/>
          <a:lstStyle/>
          <a:p>
            <a:fld id="{6448EE71-93D3-4E97-9299-9402DB707BD6}" type="slidenum">
              <a:rPr lang="en-IN" smtClean="0"/>
              <a:t>‹#›</a:t>
            </a:fld>
            <a:endParaRPr lang="en-IN"/>
          </a:p>
        </p:txBody>
      </p:sp>
    </p:spTree>
    <p:extLst>
      <p:ext uri="{BB962C8B-B14F-4D97-AF65-F5344CB8AC3E}">
        <p14:creationId xmlns:p14="http://schemas.microsoft.com/office/powerpoint/2010/main" val="3150623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4AE296-24F6-481D-B015-6CD0A79B4F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F12AD8-5B65-4514-9539-84355B4BD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2ABEDB-2D99-471B-80A7-2AD2A369DF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1DE34-53E2-45DD-9A1F-B6C00078C2E3}" type="datetime1">
              <a:rPr lang="en-IN" smtClean="0"/>
              <a:t>02-10-2021</a:t>
            </a:fld>
            <a:endParaRPr lang="en-IN"/>
          </a:p>
        </p:txBody>
      </p:sp>
      <p:sp>
        <p:nvSpPr>
          <p:cNvPr id="5" name="Footer Placeholder 4">
            <a:extLst>
              <a:ext uri="{FF2B5EF4-FFF2-40B4-BE49-F238E27FC236}">
                <a16:creationId xmlns:a16="http://schemas.microsoft.com/office/drawing/2014/main" id="{ED12184F-10E8-4FC9-8AE5-C2435C3828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R GAAJULA - ALL COPYRIGHTS RESERVED</a:t>
            </a:r>
            <a:endParaRPr lang="en-IN"/>
          </a:p>
        </p:txBody>
      </p:sp>
      <p:sp>
        <p:nvSpPr>
          <p:cNvPr id="6" name="Slide Number Placeholder 5">
            <a:extLst>
              <a:ext uri="{FF2B5EF4-FFF2-40B4-BE49-F238E27FC236}">
                <a16:creationId xmlns:a16="http://schemas.microsoft.com/office/drawing/2014/main" id="{F6AE0585-48C4-4F9C-AEC7-525507DFCA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48EE71-93D3-4E97-9299-9402DB707BD6}" type="slidenum">
              <a:rPr lang="en-IN" smtClean="0"/>
              <a:t>‹#›</a:t>
            </a:fld>
            <a:endParaRPr lang="en-IN"/>
          </a:p>
        </p:txBody>
      </p:sp>
    </p:spTree>
    <p:extLst>
      <p:ext uri="{BB962C8B-B14F-4D97-AF65-F5344CB8AC3E}">
        <p14:creationId xmlns:p14="http://schemas.microsoft.com/office/powerpoint/2010/main" val="1315444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mybucket.s3-accelerate.amazonaws.com/" TargetMode="External"/><Relationship Id="rId2" Type="http://schemas.openxmlformats.org/officeDocument/2006/relationships/hyperlink" Target="http://mybucket.s3.amazonaws.com/"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0575" y="2899886"/>
            <a:ext cx="9144000" cy="615553"/>
          </a:xfrm>
          <a:prstGeom prst="rect">
            <a:avLst/>
          </a:prstGeom>
        </p:spPr>
        <p:txBody>
          <a:bodyPr vert="horz" wrap="square" lIns="0" tIns="0" rIns="0" bIns="0" rtlCol="0">
            <a:spAutoFit/>
          </a:bodyPr>
          <a:lstStyle/>
          <a:p>
            <a:pPr algn="ctr"/>
            <a:r>
              <a:rPr lang="en-US" sz="4000" b="1" dirty="0">
                <a:latin typeface="+mj-lt"/>
                <a:ea typeface="Verdana" panose="020B0604030504040204" pitchFamily="34" charset="0"/>
                <a:cs typeface="Verdana" panose="020B0604030504040204" pitchFamily="34" charset="0"/>
              </a:rPr>
              <a:t>AWS Simple Storage Service (S3)</a:t>
            </a:r>
          </a:p>
        </p:txBody>
      </p:sp>
      <p:sp>
        <p:nvSpPr>
          <p:cNvPr id="3" name="Footer Placeholder 2">
            <a:extLst>
              <a:ext uri="{FF2B5EF4-FFF2-40B4-BE49-F238E27FC236}">
                <a16:creationId xmlns:a16="http://schemas.microsoft.com/office/drawing/2014/main" id="{1DF96F83-3BE3-4F6E-A485-A71B52A399C9}"/>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27879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What is AWS S3</a:t>
            </a:r>
          </a:p>
        </p:txBody>
      </p:sp>
      <p:sp>
        <p:nvSpPr>
          <p:cNvPr id="8" name="Content Placeholder 2"/>
          <p:cNvSpPr>
            <a:spLocks noGrp="1"/>
          </p:cNvSpPr>
          <p:nvPr>
            <p:ph idx="1"/>
          </p:nvPr>
        </p:nvSpPr>
        <p:spPr>
          <a:xfrm>
            <a:off x="609600" y="1066801"/>
            <a:ext cx="10516910" cy="5105399"/>
          </a:xfrm>
        </p:spPr>
        <p:txBody>
          <a:bodyPr>
            <a:normAutofit/>
          </a:bodyPr>
          <a:lstStyle/>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Amazon Simple Storage Service is storage for the Internet.</a:t>
            </a: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Amazon S3 has a simple web services interface that you can use to store and retrieve any amount of data, at any time, from anywhere on the web.</a:t>
            </a: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IN" sz="2000" dirty="0">
                <a:latin typeface="+mj-lt"/>
                <a:ea typeface="Verdana" panose="020B0604030504040204" pitchFamily="34" charset="0"/>
                <a:cs typeface="Verdana" panose="020B0604030504040204" pitchFamily="34" charset="0"/>
              </a:rPr>
              <a:t>Accessible via simple web service interface.</a:t>
            </a:r>
          </a:p>
          <a:p>
            <a:pPr algn="just">
              <a:buFont typeface="Wingdings" panose="05000000000000000000" pitchFamily="2" charset="2"/>
              <a:buChar char="Ø"/>
            </a:pPr>
            <a:endParaRPr lang="en-IN"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IN" sz="2000" dirty="0">
                <a:latin typeface="+mj-lt"/>
                <a:ea typeface="Verdana" panose="020B0604030504040204" pitchFamily="34" charset="0"/>
                <a:cs typeface="Verdana" panose="020B0604030504040204" pitchFamily="34" charset="0"/>
              </a:rPr>
              <a:t>Use alone or with other service of AWS services.</a:t>
            </a:r>
          </a:p>
          <a:p>
            <a:pPr algn="just">
              <a:buFont typeface="Wingdings" panose="05000000000000000000" pitchFamily="2" charset="2"/>
              <a:buChar char="Ø"/>
            </a:pPr>
            <a:endParaRPr lang="en-IN" sz="2000" dirty="0">
              <a:solidFill>
                <a:srgbClr val="FF0000"/>
              </a:solidFill>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Amazon S3 provide </a:t>
            </a:r>
            <a:r>
              <a:rPr lang="en-US" sz="2000" dirty="0">
                <a:solidFill>
                  <a:srgbClr val="00B0F0"/>
                </a:solidFill>
                <a:latin typeface="+mj-lt"/>
                <a:ea typeface="Verdana" panose="020B0604030504040204" pitchFamily="34" charset="0"/>
                <a:cs typeface="Verdana" panose="020B0604030504040204" pitchFamily="34" charset="0"/>
              </a:rPr>
              <a:t>99.999999999% </a:t>
            </a:r>
            <a:r>
              <a:rPr lang="en-US" sz="2000" dirty="0">
                <a:latin typeface="+mj-lt"/>
                <a:ea typeface="Verdana" panose="020B0604030504040204" pitchFamily="34" charset="0"/>
                <a:cs typeface="Verdana" panose="020B0604030504040204" pitchFamily="34" charset="0"/>
              </a:rPr>
              <a:t>[eleven 9’s] durability. If you store 10,000 objects, on average you may lose one of them every 10 million years or so.</a:t>
            </a:r>
          </a:p>
          <a:p>
            <a:pPr lvl="1" algn="just">
              <a:buFont typeface="Wingdings" panose="05000000000000000000" pitchFamily="2" charset="2"/>
              <a:buChar char="Ø"/>
            </a:pPr>
            <a:endParaRPr lang="en-US" sz="2000" dirty="0">
              <a:solidFill>
                <a:srgbClr val="FF0000"/>
              </a:solidFill>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b="1" dirty="0">
              <a:latin typeface="+mj-lt"/>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p:txBody>
      </p:sp>
      <p:sp>
        <p:nvSpPr>
          <p:cNvPr id="2" name="Footer Placeholder 1">
            <a:extLst>
              <a:ext uri="{FF2B5EF4-FFF2-40B4-BE49-F238E27FC236}">
                <a16:creationId xmlns:a16="http://schemas.microsoft.com/office/drawing/2014/main" id="{9A5F1FBF-4632-4E77-BD99-E13FE9C5A05A}"/>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2575363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Advantages</a:t>
            </a:r>
          </a:p>
        </p:txBody>
      </p:sp>
      <p:sp>
        <p:nvSpPr>
          <p:cNvPr id="7" name="Rounded Rectangle 6"/>
          <p:cNvSpPr/>
          <p:nvPr/>
        </p:nvSpPr>
        <p:spPr>
          <a:xfrm>
            <a:off x="1980128" y="1600200"/>
            <a:ext cx="2591475" cy="1524000"/>
          </a:xfrm>
          <a:prstGeom prst="roundRect">
            <a:avLst/>
          </a:prstGeom>
          <a:solidFill>
            <a:schemeClr val="accent6">
              <a:lumMod val="60000"/>
              <a:lumOff val="40000"/>
            </a:schemeClr>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latin typeface="+mj-lt"/>
              </a:rPr>
              <a:t>Create </a:t>
            </a:r>
          </a:p>
          <a:p>
            <a:pPr algn="ctr"/>
            <a:r>
              <a:rPr lang="en-US" dirty="0">
                <a:solidFill>
                  <a:schemeClr val="tx1"/>
                </a:solidFill>
                <a:latin typeface="+mj-lt"/>
              </a:rPr>
              <a:t>Buckets </a:t>
            </a:r>
            <a:endParaRPr lang="en-US" dirty="0">
              <a:solidFill>
                <a:schemeClr val="tx1"/>
              </a:solidFill>
              <a:latin typeface="+mj-lt"/>
              <a:ea typeface="Verdana" panose="020B0604030504040204" pitchFamily="34" charset="0"/>
              <a:cs typeface="Verdana" panose="020B0604030504040204" pitchFamily="34" charset="0"/>
            </a:endParaRPr>
          </a:p>
        </p:txBody>
      </p:sp>
      <p:sp>
        <p:nvSpPr>
          <p:cNvPr id="14" name="Rounded Rectangle 13"/>
          <p:cNvSpPr/>
          <p:nvPr/>
        </p:nvSpPr>
        <p:spPr>
          <a:xfrm>
            <a:off x="4647822" y="1600200"/>
            <a:ext cx="2591475" cy="1524000"/>
          </a:xfrm>
          <a:prstGeom prst="roundRect">
            <a:avLst/>
          </a:prstGeom>
          <a:solidFill>
            <a:schemeClr val="accent6">
              <a:lumMod val="60000"/>
              <a:lumOff val="40000"/>
            </a:schemeClr>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lvl="0" algn="ctr"/>
            <a:r>
              <a:rPr lang="en-US" dirty="0">
                <a:solidFill>
                  <a:schemeClr val="tx1"/>
                </a:solidFill>
                <a:latin typeface="+mj-lt"/>
              </a:rPr>
              <a:t>Store data in</a:t>
            </a:r>
          </a:p>
          <a:p>
            <a:pPr lvl="0" algn="ctr"/>
            <a:r>
              <a:rPr lang="en-US" dirty="0">
                <a:solidFill>
                  <a:schemeClr val="tx1"/>
                </a:solidFill>
                <a:latin typeface="+mj-lt"/>
              </a:rPr>
              <a:t>Buckets </a:t>
            </a:r>
            <a:endParaRPr lang="en-US" dirty="0">
              <a:solidFill>
                <a:schemeClr val="tx1"/>
              </a:solidFill>
              <a:latin typeface="+mj-lt"/>
              <a:ea typeface="Verdana" panose="020B0604030504040204" pitchFamily="34" charset="0"/>
              <a:cs typeface="Verdana" panose="020B0604030504040204" pitchFamily="34" charset="0"/>
            </a:endParaRPr>
          </a:p>
        </p:txBody>
      </p:sp>
      <p:sp>
        <p:nvSpPr>
          <p:cNvPr id="15" name="Rounded Rectangle 14"/>
          <p:cNvSpPr/>
          <p:nvPr/>
        </p:nvSpPr>
        <p:spPr>
          <a:xfrm>
            <a:off x="7315517" y="1600200"/>
            <a:ext cx="2591475" cy="1524000"/>
          </a:xfrm>
          <a:prstGeom prst="roundRect">
            <a:avLst/>
          </a:prstGeom>
          <a:solidFill>
            <a:schemeClr val="accent6">
              <a:lumMod val="60000"/>
              <a:lumOff val="40000"/>
            </a:schemeClr>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lvl="0" algn="ctr"/>
            <a:r>
              <a:rPr lang="en-US" dirty="0">
                <a:solidFill>
                  <a:schemeClr val="tx1"/>
                </a:solidFill>
                <a:latin typeface="+mj-lt"/>
              </a:rPr>
              <a:t>Download </a:t>
            </a:r>
          </a:p>
          <a:p>
            <a:pPr lvl="0" algn="ctr"/>
            <a:r>
              <a:rPr lang="en-US" dirty="0">
                <a:solidFill>
                  <a:schemeClr val="tx1"/>
                </a:solidFill>
                <a:latin typeface="+mj-lt"/>
              </a:rPr>
              <a:t>Data </a:t>
            </a:r>
            <a:endParaRPr lang="en-US" dirty="0">
              <a:solidFill>
                <a:schemeClr val="tx1"/>
              </a:solidFill>
              <a:latin typeface="+mj-lt"/>
              <a:ea typeface="Verdana" panose="020B0604030504040204" pitchFamily="34" charset="0"/>
              <a:cs typeface="Verdana" panose="020B0604030504040204" pitchFamily="34" charset="0"/>
            </a:endParaRPr>
          </a:p>
        </p:txBody>
      </p:sp>
      <p:sp>
        <p:nvSpPr>
          <p:cNvPr id="16" name="Rounded Rectangle 15"/>
          <p:cNvSpPr/>
          <p:nvPr/>
        </p:nvSpPr>
        <p:spPr>
          <a:xfrm>
            <a:off x="4647822" y="3505200"/>
            <a:ext cx="2591475" cy="1524000"/>
          </a:xfrm>
          <a:prstGeom prst="roundRect">
            <a:avLst/>
          </a:prstGeom>
          <a:solidFill>
            <a:schemeClr val="accent6">
              <a:lumMod val="60000"/>
              <a:lumOff val="40000"/>
            </a:schemeClr>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latin typeface="+mj-lt"/>
              </a:rPr>
              <a:t>Standard </a:t>
            </a:r>
          </a:p>
          <a:p>
            <a:pPr algn="ctr"/>
            <a:r>
              <a:rPr lang="en-US" dirty="0">
                <a:solidFill>
                  <a:schemeClr val="tx1"/>
                </a:solidFill>
                <a:latin typeface="+mj-lt"/>
              </a:rPr>
              <a:t>Interfaces </a:t>
            </a:r>
            <a:endParaRPr lang="en-US" dirty="0">
              <a:solidFill>
                <a:schemeClr val="tx1"/>
              </a:solidFill>
              <a:latin typeface="+mj-lt"/>
              <a:ea typeface="Verdana" panose="020B0604030504040204" pitchFamily="34" charset="0"/>
              <a:cs typeface="Verdana" panose="020B0604030504040204" pitchFamily="34" charset="0"/>
            </a:endParaRPr>
          </a:p>
        </p:txBody>
      </p:sp>
      <p:sp>
        <p:nvSpPr>
          <p:cNvPr id="17" name="Rounded Rectangle 16"/>
          <p:cNvSpPr/>
          <p:nvPr/>
        </p:nvSpPr>
        <p:spPr>
          <a:xfrm>
            <a:off x="1980128" y="3505200"/>
            <a:ext cx="2591475" cy="1524000"/>
          </a:xfrm>
          <a:prstGeom prst="roundRect">
            <a:avLst/>
          </a:prstGeom>
          <a:solidFill>
            <a:schemeClr val="accent6">
              <a:lumMod val="60000"/>
              <a:lumOff val="40000"/>
            </a:schemeClr>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latin typeface="+mj-lt"/>
              </a:rPr>
              <a:t>Permissions</a:t>
            </a:r>
            <a:endParaRPr lang="en-US" dirty="0">
              <a:solidFill>
                <a:schemeClr val="tx1"/>
              </a:solidFill>
              <a:latin typeface="+mj-lt"/>
              <a:ea typeface="Verdana" panose="020B0604030504040204" pitchFamily="34" charset="0"/>
              <a:cs typeface="Verdana" panose="020B0604030504040204" pitchFamily="34" charset="0"/>
            </a:endParaRPr>
          </a:p>
        </p:txBody>
      </p:sp>
      <p:sp>
        <p:nvSpPr>
          <p:cNvPr id="8" name="Rounded Rectangle 7"/>
          <p:cNvSpPr/>
          <p:nvPr/>
        </p:nvSpPr>
        <p:spPr>
          <a:xfrm>
            <a:off x="7315517" y="3505200"/>
            <a:ext cx="2591475" cy="1524000"/>
          </a:xfrm>
          <a:prstGeom prst="roundRect">
            <a:avLst/>
          </a:prstGeom>
          <a:solidFill>
            <a:schemeClr val="accent6">
              <a:lumMod val="60000"/>
              <a:lumOff val="40000"/>
            </a:schemeClr>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latin typeface="+mj-lt"/>
              </a:rPr>
              <a:t>Transfer </a:t>
            </a:r>
          </a:p>
          <a:p>
            <a:pPr algn="ctr"/>
            <a:r>
              <a:rPr lang="en-US" dirty="0">
                <a:solidFill>
                  <a:schemeClr val="tx1"/>
                </a:solidFill>
                <a:latin typeface="+mj-lt"/>
              </a:rPr>
              <a:t>Acceleration</a:t>
            </a:r>
            <a:endParaRPr lang="en-US" dirty="0">
              <a:solidFill>
                <a:schemeClr val="tx1"/>
              </a:solidFill>
              <a:latin typeface="+mj-lt"/>
              <a:ea typeface="Verdana" panose="020B0604030504040204" pitchFamily="34" charset="0"/>
              <a:cs typeface="Verdana" panose="020B0604030504040204" pitchFamily="34" charset="0"/>
            </a:endParaRPr>
          </a:p>
        </p:txBody>
      </p:sp>
      <p:sp>
        <p:nvSpPr>
          <p:cNvPr id="2" name="Footer Placeholder 1">
            <a:extLst>
              <a:ext uri="{FF2B5EF4-FFF2-40B4-BE49-F238E27FC236}">
                <a16:creationId xmlns:a16="http://schemas.microsoft.com/office/drawing/2014/main" id="{875C2F2F-7DAE-48F3-A75F-1D256E673088}"/>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269933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15" grpId="0" animBg="1"/>
      <p:bldP spid="16" grpId="0" animBg="1"/>
      <p:bldP spid="1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Concepts: Buckets</a:t>
            </a:r>
          </a:p>
        </p:txBody>
      </p:sp>
      <p:sp>
        <p:nvSpPr>
          <p:cNvPr id="8" name="Content Placeholder 2"/>
          <p:cNvSpPr>
            <a:spLocks noGrp="1"/>
          </p:cNvSpPr>
          <p:nvPr>
            <p:ph idx="1"/>
          </p:nvPr>
        </p:nvSpPr>
        <p:spPr>
          <a:xfrm>
            <a:off x="609600" y="1066801"/>
            <a:ext cx="7696200" cy="5105399"/>
          </a:xfrm>
        </p:spPr>
        <p:txBody>
          <a:bodyPr>
            <a:noAutofit/>
          </a:bodyPr>
          <a:lstStyle/>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 bucket is a container for objects stored in Amazon S3. </a:t>
            </a: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Every object is contained in a bucket.</a:t>
            </a: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IN" sz="2000" dirty="0">
                <a:latin typeface="+mj-lt"/>
                <a:ea typeface="Verdana" panose="020B0604030504040204" pitchFamily="34" charset="0"/>
                <a:cs typeface="Verdana" panose="020B0604030504040204" pitchFamily="34" charset="0"/>
              </a:rPr>
              <a:t>Organise the AWS S3 namespace at the highest level.</a:t>
            </a:r>
          </a:p>
          <a:p>
            <a:pPr algn="just">
              <a:buFont typeface="Wingdings" panose="05000000000000000000" pitchFamily="2" charset="2"/>
              <a:buChar char="Ø"/>
            </a:pPr>
            <a:endParaRPr lang="en-IN" sz="2000" dirty="0">
              <a:latin typeface="+mj-lt"/>
              <a:ea typeface="Verdana" panose="020B0604030504040204" pitchFamily="34" charset="0"/>
              <a:cs typeface="Verdana" panose="020B0604030504040204" pitchFamily="34" charset="0"/>
            </a:endParaRPr>
          </a:p>
          <a:p>
            <a:pPr marL="342900" lvl="1" indent="-342900" algn="just">
              <a:spcBef>
                <a:spcPts val="1000"/>
              </a:spcBef>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Each object in Amazon S3 has a unique HTTP URL.</a:t>
            </a:r>
          </a:p>
          <a:p>
            <a:pPr marL="342900" lvl="1" indent="-342900" algn="just">
              <a:spcBef>
                <a:spcPts val="1000"/>
              </a:spcBef>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IN" sz="2000" dirty="0">
                <a:latin typeface="+mj-lt"/>
                <a:ea typeface="Verdana" panose="020B0604030504040204" pitchFamily="34" charset="0"/>
                <a:cs typeface="Verdana" panose="020B0604030504040204" pitchFamily="34" charset="0"/>
              </a:rPr>
              <a:t>For example, if the object named </a:t>
            </a:r>
            <a:r>
              <a:rPr lang="en-IN" sz="2000" dirty="0">
                <a:solidFill>
                  <a:schemeClr val="accent6">
                    <a:lumMod val="75000"/>
                  </a:schemeClr>
                </a:solidFill>
                <a:latin typeface="+mj-lt"/>
                <a:ea typeface="Verdana" panose="020B0604030504040204" pitchFamily="34" charset="0"/>
                <a:cs typeface="Verdana" panose="020B0604030504040204" pitchFamily="34" charset="0"/>
              </a:rPr>
              <a:t>awsdoc.txt </a:t>
            </a:r>
            <a:r>
              <a:rPr lang="en-IN" sz="2000" dirty="0">
                <a:latin typeface="+mj-lt"/>
                <a:ea typeface="Verdana" panose="020B0604030504040204" pitchFamily="34" charset="0"/>
                <a:cs typeface="Verdana" panose="020B0604030504040204" pitchFamily="34" charset="0"/>
              </a:rPr>
              <a:t>is stored in the “</a:t>
            </a:r>
            <a:r>
              <a:rPr lang="en-IN" sz="2000" dirty="0">
                <a:solidFill>
                  <a:srgbClr val="C00000"/>
                </a:solidFill>
                <a:latin typeface="+mj-lt"/>
                <a:ea typeface="Verdana" panose="020B0604030504040204" pitchFamily="34" charset="0"/>
                <a:cs typeface="Verdana" panose="020B0604030504040204" pitchFamily="34" charset="0"/>
              </a:rPr>
              <a:t>awss3</a:t>
            </a:r>
            <a:r>
              <a:rPr lang="en-IN" sz="2000" dirty="0">
                <a:latin typeface="+mj-lt"/>
                <a:ea typeface="Verdana" panose="020B0604030504040204" pitchFamily="34" charset="0"/>
                <a:cs typeface="Verdana" panose="020B0604030504040204" pitchFamily="34" charset="0"/>
              </a:rPr>
              <a:t>” bucket, then it is addressable using the URL </a:t>
            </a:r>
            <a:r>
              <a:rPr lang="en-IN" sz="2000" dirty="0">
                <a:solidFill>
                  <a:srgbClr val="0000FF"/>
                </a:solidFill>
                <a:latin typeface="+mj-lt"/>
                <a:ea typeface="Verdana" panose="020B0604030504040204" pitchFamily="34" charset="0"/>
                <a:cs typeface="Verdana" panose="020B0604030504040204" pitchFamily="34" charset="0"/>
              </a:rPr>
              <a:t>https://s3.amazonaws.com/</a:t>
            </a:r>
            <a:r>
              <a:rPr lang="en-IN" sz="2000" dirty="0">
                <a:solidFill>
                  <a:srgbClr val="C00000"/>
                </a:solidFill>
                <a:latin typeface="+mj-lt"/>
                <a:ea typeface="Verdana" panose="020B0604030504040204" pitchFamily="34" charset="0"/>
                <a:cs typeface="Verdana" panose="020B0604030504040204" pitchFamily="34" charset="0"/>
              </a:rPr>
              <a:t>awss3</a:t>
            </a:r>
            <a:r>
              <a:rPr lang="en-IN" sz="2000" dirty="0">
                <a:solidFill>
                  <a:srgbClr val="0000FF"/>
                </a:solidFill>
                <a:latin typeface="+mj-lt"/>
                <a:ea typeface="Verdana" panose="020B0604030504040204" pitchFamily="34" charset="0"/>
                <a:cs typeface="Verdana" panose="020B0604030504040204" pitchFamily="34" charset="0"/>
              </a:rPr>
              <a:t>/</a:t>
            </a:r>
            <a:r>
              <a:rPr lang="en-IN" sz="2000" dirty="0">
                <a:solidFill>
                  <a:schemeClr val="accent6">
                    <a:lumMod val="75000"/>
                  </a:schemeClr>
                </a:solidFill>
                <a:latin typeface="+mj-lt"/>
                <a:ea typeface="Verdana" panose="020B0604030504040204" pitchFamily="34" charset="0"/>
                <a:cs typeface="Verdana" panose="020B0604030504040204" pitchFamily="34" charset="0"/>
              </a:rPr>
              <a:t>awsdoc.txt</a:t>
            </a:r>
          </a:p>
          <a:p>
            <a:pPr algn="just">
              <a:buFont typeface="Wingdings" panose="05000000000000000000" pitchFamily="2" charset="2"/>
              <a:buChar char="Ø"/>
            </a:pPr>
            <a:endParaRPr lang="en-IN" sz="2000" dirty="0">
              <a:solidFill>
                <a:srgbClr val="0000FF"/>
              </a:solidFill>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000" dirty="0">
                <a:latin typeface="+mj-lt"/>
              </a:rPr>
              <a:t>You can choose any AWS region that is geographically close to you to optimize latency, minimize costs, or address regulatory requirements. </a:t>
            </a:r>
            <a:endParaRPr lang="en-US" sz="2000" dirty="0">
              <a:solidFill>
                <a:srgbClr val="FF0000"/>
              </a:solidFill>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dirty="0">
              <a:solidFill>
                <a:srgbClr val="FF0000"/>
              </a:solidFill>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b="1" dirty="0">
              <a:latin typeface="+mj-lt"/>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595" y="1650218"/>
            <a:ext cx="2965166" cy="3074182"/>
          </a:xfrm>
          <a:prstGeom prst="rect">
            <a:avLst/>
          </a:prstGeom>
        </p:spPr>
      </p:pic>
      <p:sp>
        <p:nvSpPr>
          <p:cNvPr id="2" name="Footer Placeholder 1">
            <a:extLst>
              <a:ext uri="{FF2B5EF4-FFF2-40B4-BE49-F238E27FC236}">
                <a16:creationId xmlns:a16="http://schemas.microsoft.com/office/drawing/2014/main" id="{11EC1D61-C5A9-4D0A-A935-D9F06DB92EB8}"/>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581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1965" y="1189036"/>
            <a:ext cx="7698205" cy="5135564"/>
          </a:xfrm>
        </p:spPr>
        <p:txBody>
          <a:bodyPr>
            <a:normAutofit/>
          </a:bodyPr>
          <a:lstStyle/>
          <a:p>
            <a:pPr>
              <a:buFont typeface="Wingdings" panose="05000000000000000000" pitchFamily="2" charset="2"/>
              <a:buChar char="Ø"/>
            </a:pPr>
            <a:r>
              <a:rPr lang="en-IN" sz="2000" dirty="0">
                <a:latin typeface="+mj-lt"/>
                <a:ea typeface="Verdana" panose="020B0604030504040204" pitchFamily="34" charset="0"/>
                <a:cs typeface="Verdana" panose="020B0604030504040204" pitchFamily="34" charset="0"/>
              </a:rPr>
              <a:t>Objects are fundamental entities stored in S3.</a:t>
            </a:r>
          </a:p>
          <a:p>
            <a:pPr>
              <a:buFont typeface="Wingdings" panose="05000000000000000000" pitchFamily="2" charset="2"/>
              <a:buChar char="Ø"/>
            </a:pPr>
            <a:endParaRPr lang="en-IN" sz="2000" dirty="0">
              <a:latin typeface="+mj-lt"/>
              <a:ea typeface="Verdana" panose="020B0604030504040204" pitchFamily="34" charset="0"/>
              <a:cs typeface="Verdana" panose="020B0604030504040204" pitchFamily="34" charset="0"/>
            </a:endParaRPr>
          </a:p>
          <a:p>
            <a:pPr>
              <a:buFont typeface="Wingdings" panose="05000000000000000000" pitchFamily="2" charset="2"/>
              <a:buChar char="Ø"/>
            </a:pPr>
            <a:r>
              <a:rPr lang="en-IN" sz="2000" dirty="0">
                <a:latin typeface="+mj-lt"/>
                <a:ea typeface="Verdana" panose="020B0604030504040204" pitchFamily="34" charset="0"/>
                <a:cs typeface="Verdana" panose="020B0604030504040204" pitchFamily="34" charset="0"/>
              </a:rPr>
              <a:t>Object is uniquely identified within a bucket by key(name) and a version ID.</a:t>
            </a:r>
          </a:p>
          <a:p>
            <a:pPr>
              <a:buFont typeface="Wingdings" panose="05000000000000000000" pitchFamily="2" charset="2"/>
              <a:buChar char="Ø"/>
            </a:pPr>
            <a:endParaRPr lang="en-IN" sz="2000" dirty="0">
              <a:latin typeface="+mj-lt"/>
              <a:ea typeface="Verdana" panose="020B0604030504040204" pitchFamily="34" charset="0"/>
              <a:cs typeface="Verdana" panose="020B0604030504040204" pitchFamily="34" charset="0"/>
            </a:endParaRPr>
          </a:p>
          <a:p>
            <a:pP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Each object in Amazon S3 has a unique HTTP URL.</a:t>
            </a:r>
            <a:endParaRPr lang="en-IN" sz="2000" dirty="0">
              <a:latin typeface="+mj-lt"/>
              <a:ea typeface="Verdana" panose="020B0604030504040204" pitchFamily="34" charset="0"/>
              <a:cs typeface="Verdana" panose="020B0604030504040204" pitchFamily="34" charset="0"/>
            </a:endParaRPr>
          </a:p>
          <a:p>
            <a:pPr lvl="1">
              <a:buFont typeface="Wingdings" panose="05000000000000000000" pitchFamily="2" charset="2"/>
              <a:buChar char="Ø"/>
            </a:pPr>
            <a:endParaRPr lang="en-IN" sz="2000" dirty="0">
              <a:latin typeface="+mj-lt"/>
              <a:ea typeface="Verdana" panose="020B0604030504040204" pitchFamily="34" charset="0"/>
              <a:cs typeface="Verdana" panose="020B0604030504040204" pitchFamily="34" charset="0"/>
            </a:endParaRPr>
          </a:p>
          <a:p>
            <a:pPr>
              <a:buClr>
                <a:schemeClr val="dk1"/>
              </a:buClr>
              <a:buSzPct val="100000"/>
              <a:buFont typeface="Wingdings" panose="05000000000000000000" pitchFamily="2" charset="2"/>
              <a:buChar char="Ø"/>
            </a:pPr>
            <a:r>
              <a:rPr lang="en" sz="2000" dirty="0">
                <a:latin typeface="+mj-lt"/>
                <a:ea typeface="Verdana" panose="020B0604030504040204" pitchFamily="34" charset="0"/>
                <a:cs typeface="Verdana" panose="020B0604030504040204" pitchFamily="34" charset="0"/>
              </a:rPr>
              <a:t>Objects can be </a:t>
            </a:r>
            <a:r>
              <a:rPr lang="en-US" sz="2000" dirty="0">
                <a:latin typeface="+mj-lt"/>
                <a:ea typeface="Verdana" panose="020B0604030504040204" pitchFamily="34" charset="0"/>
                <a:cs typeface="Verdana" panose="020B0604030504040204" pitchFamily="34" charset="0"/>
              </a:rPr>
              <a:t>1 byte to 5 terabytes (</a:t>
            </a:r>
            <a:r>
              <a:rPr lang="en-US" sz="2000" dirty="0" err="1">
                <a:latin typeface="+mj-lt"/>
                <a:ea typeface="Verdana" panose="020B0604030504040204" pitchFamily="34" charset="0"/>
                <a:cs typeface="Verdana" panose="020B0604030504040204" pitchFamily="34" charset="0"/>
              </a:rPr>
              <a:t>TiB</a:t>
            </a:r>
            <a:r>
              <a:rPr lang="en-US" sz="2000" dirty="0">
                <a:latin typeface="+mj-lt"/>
                <a:ea typeface="Verdana" panose="020B0604030504040204" pitchFamily="34" charset="0"/>
                <a:cs typeface="Verdana" panose="020B0604030504040204" pitchFamily="34" charset="0"/>
              </a:rPr>
              <a:t>)</a:t>
            </a:r>
            <a:r>
              <a:rPr lang="en" sz="2000" dirty="0">
                <a:latin typeface="+mj-lt"/>
                <a:ea typeface="Verdana" panose="020B0604030504040204" pitchFamily="34" charset="0"/>
                <a:cs typeface="Verdana" panose="020B0604030504040204" pitchFamily="34" charset="0"/>
              </a:rPr>
              <a:t>.</a:t>
            </a:r>
          </a:p>
          <a:p>
            <a:pPr>
              <a:buClr>
                <a:schemeClr val="dk1"/>
              </a:buClr>
              <a:buSzPct val="100000"/>
              <a:buFont typeface="Wingdings" panose="05000000000000000000" pitchFamily="2" charset="2"/>
              <a:buChar char="Ø"/>
            </a:pPr>
            <a:endParaRPr lang="en" sz="2000" dirty="0">
              <a:solidFill>
                <a:srgbClr val="FF0000"/>
              </a:solidFill>
              <a:latin typeface="+mj-lt"/>
              <a:ea typeface="Verdana" panose="020B0604030504040204" pitchFamily="34" charset="0"/>
              <a:cs typeface="Verdana" panose="020B0604030504040204" pitchFamily="34" charset="0"/>
            </a:endParaRPr>
          </a:p>
          <a:p>
            <a:pPr>
              <a:buClr>
                <a:schemeClr val="dk1"/>
              </a:buClr>
              <a:buSzPct val="100000"/>
              <a:buFont typeface="Wingdings" panose="05000000000000000000" pitchFamily="2" charset="2"/>
              <a:buChar char="Ø"/>
            </a:pPr>
            <a:r>
              <a:rPr lang="en" sz="2000" dirty="0">
                <a:latin typeface="+mj-lt"/>
                <a:ea typeface="Verdana" panose="020B0604030504040204" pitchFamily="34" charset="0"/>
                <a:cs typeface="Verdana" panose="020B0604030504040204" pitchFamily="34" charset="0"/>
              </a:rPr>
              <a:t>Objects of differing storage classes can exist in the same bucket.</a:t>
            </a:r>
          </a:p>
          <a:p>
            <a:pPr>
              <a:buFont typeface="Wingdings" panose="05000000000000000000" pitchFamily="2" charset="2"/>
              <a:buChar char="Ø"/>
            </a:pPr>
            <a:endParaRPr lang="en-US" sz="2000" dirty="0">
              <a:latin typeface="+mj-lt"/>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Concepts: Objects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06375" y="1752600"/>
            <a:ext cx="2939913" cy="3048000"/>
          </a:xfrm>
          <a:prstGeom prst="rect">
            <a:avLst/>
          </a:prstGeom>
        </p:spPr>
      </p:pic>
      <p:sp>
        <p:nvSpPr>
          <p:cNvPr id="2" name="Footer Placeholder 1">
            <a:extLst>
              <a:ext uri="{FF2B5EF4-FFF2-40B4-BE49-F238E27FC236}">
                <a16:creationId xmlns:a16="http://schemas.microsoft.com/office/drawing/2014/main" id="{07130299-6889-4C9C-ABB5-B27C152F62A8}"/>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263383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Concepts: Endpoints</a:t>
            </a:r>
          </a:p>
        </p:txBody>
      </p:sp>
      <p:sp>
        <p:nvSpPr>
          <p:cNvPr id="8" name="Content Placeholder 2"/>
          <p:cNvSpPr>
            <a:spLocks noGrp="1"/>
          </p:cNvSpPr>
          <p:nvPr>
            <p:ph idx="1"/>
          </p:nvPr>
        </p:nvSpPr>
        <p:spPr>
          <a:xfrm>
            <a:off x="609600" y="1066801"/>
            <a:ext cx="10516910" cy="5105399"/>
          </a:xfrm>
        </p:spPr>
        <p:txBody>
          <a:bodyPr>
            <a:normAutofit/>
          </a:bodyPr>
          <a:lstStyle/>
          <a:p>
            <a:pPr algn="just">
              <a:buFont typeface="Wingdings" panose="05000000000000000000" pitchFamily="2" charset="2"/>
              <a:buChar char="Ø"/>
            </a:pPr>
            <a:r>
              <a:rPr lang="en-US" sz="2200" dirty="0">
                <a:latin typeface="+mj-lt"/>
              </a:rPr>
              <a:t>If you create a client by specifying the US East (N. Virginia) Region, it uses the following endpoint to communicate with Amazon S3</a:t>
            </a:r>
          </a:p>
          <a:p>
            <a:pPr marL="457200" lvl="1" indent="0" algn="just">
              <a:buNone/>
            </a:pPr>
            <a:r>
              <a:rPr lang="en-US" sz="2200" dirty="0">
                <a:latin typeface="+mj-lt"/>
              </a:rPr>
              <a:t>&lt;</a:t>
            </a:r>
            <a:r>
              <a:rPr lang="en-US" sz="2200" dirty="0">
                <a:solidFill>
                  <a:srgbClr val="00B0F0"/>
                </a:solidFill>
                <a:latin typeface="+mj-lt"/>
              </a:rPr>
              <a:t>s3.amazonaws.com</a:t>
            </a:r>
            <a:r>
              <a:rPr lang="en-US" sz="2200" dirty="0">
                <a:latin typeface="+mj-lt"/>
              </a:rPr>
              <a:t>&gt;</a:t>
            </a:r>
          </a:p>
          <a:p>
            <a:pPr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marL="0" indent="0" algn="just">
              <a:buNone/>
            </a:pPr>
            <a:endParaRPr lang="en-US" sz="2200" dirty="0">
              <a:latin typeface="+mj-lt"/>
              <a:ea typeface="Verdana" panose="020B0604030504040204" pitchFamily="34" charset="0"/>
              <a:cs typeface="Verdana" panose="020B0604030504040204" pitchFamily="34" charset="0"/>
            </a:endParaRPr>
          </a:p>
          <a:p>
            <a:pPr marL="342900" lvl="1" indent="-342900" algn="just">
              <a:buFont typeface="Wingdings" panose="05000000000000000000" pitchFamily="2" charset="2"/>
              <a:buChar char="Ø"/>
            </a:pPr>
            <a:r>
              <a:rPr lang="en-US" sz="2200" dirty="0">
                <a:latin typeface="+mj-lt"/>
              </a:rPr>
              <a:t>If you create a client by specifying any other AWS Region, each of these regions maps to the region- speciﬁc endpoint:</a:t>
            </a:r>
          </a:p>
          <a:p>
            <a:pPr marL="457200" lvl="1" indent="0" algn="just">
              <a:buNone/>
            </a:pPr>
            <a:r>
              <a:rPr lang="en-US" sz="2200" dirty="0">
                <a:latin typeface="+mj-lt"/>
              </a:rPr>
              <a:t>&lt;</a:t>
            </a:r>
            <a:r>
              <a:rPr lang="en-US" sz="2200" dirty="0">
                <a:solidFill>
                  <a:srgbClr val="00B0F0"/>
                </a:solidFill>
                <a:latin typeface="+mj-lt"/>
              </a:rPr>
              <a:t>s3-</a:t>
            </a:r>
            <a:r>
              <a:rPr lang="en-US" sz="2200" i="1" dirty="0">
                <a:solidFill>
                  <a:srgbClr val="00B0F0"/>
                </a:solidFill>
                <a:latin typeface="+mj-lt"/>
              </a:rPr>
              <a:t>&lt;region&gt;</a:t>
            </a:r>
            <a:r>
              <a:rPr lang="en-US" sz="2200" dirty="0">
                <a:solidFill>
                  <a:srgbClr val="00B0F0"/>
                </a:solidFill>
                <a:latin typeface="+mj-lt"/>
              </a:rPr>
              <a:t>.amazonaws.com</a:t>
            </a:r>
            <a:r>
              <a:rPr lang="en-US" sz="2200" dirty="0">
                <a:latin typeface="+mj-lt"/>
              </a:rPr>
              <a:t>&gt;</a:t>
            </a:r>
          </a:p>
          <a:p>
            <a:pPr marL="457200" lvl="1" indent="0" algn="just">
              <a:buNone/>
            </a:pPr>
            <a:r>
              <a:rPr lang="en-US" sz="2200" b="1" dirty="0">
                <a:latin typeface="+mj-lt"/>
              </a:rPr>
              <a:t>Example : </a:t>
            </a:r>
            <a:r>
              <a:rPr lang="en-US" sz="2200" dirty="0">
                <a:solidFill>
                  <a:srgbClr val="00B0F0"/>
                </a:solidFill>
                <a:latin typeface="+mj-lt"/>
              </a:rPr>
              <a:t>s3-eu-west-1.amazonaws.com</a:t>
            </a:r>
            <a:r>
              <a:rPr lang="en-US" sz="2200" dirty="0">
                <a:latin typeface="+mj-lt"/>
              </a:rPr>
              <a:t> (for eu-west-1 region)</a:t>
            </a:r>
          </a:p>
          <a:p>
            <a:pPr lvl="1"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200" dirty="0">
              <a:solidFill>
                <a:srgbClr val="FF0000"/>
              </a:solidFill>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200" dirty="0">
              <a:solidFill>
                <a:srgbClr val="FF0000"/>
              </a:solidFill>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200" b="1" dirty="0">
              <a:latin typeface="+mj-lt"/>
            </a:endParaRPr>
          </a:p>
          <a:p>
            <a:pPr lvl="1"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lvl="1"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p:txBody>
      </p:sp>
      <p:sp>
        <p:nvSpPr>
          <p:cNvPr id="2" name="Footer Placeholder 1">
            <a:extLst>
              <a:ext uri="{FF2B5EF4-FFF2-40B4-BE49-F238E27FC236}">
                <a16:creationId xmlns:a16="http://schemas.microsoft.com/office/drawing/2014/main" id="{430C29B4-19C9-4172-94FD-FE062AC419D5}"/>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2934074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390" y="990601"/>
            <a:ext cx="10898010" cy="5135564"/>
          </a:xfrm>
        </p:spPr>
        <p:txBody>
          <a:bodyPr>
            <a:noAutofit/>
          </a:bodyPr>
          <a:lstStyle/>
          <a:p>
            <a:pPr>
              <a:buFont typeface="Wingdings" panose="05000000000000000000" pitchFamily="2" charset="2"/>
              <a:buChar char="Ø"/>
            </a:pPr>
            <a:r>
              <a:rPr lang="en-US" sz="2000" dirty="0">
                <a:latin typeface="+mj-lt"/>
              </a:rPr>
              <a:t>Amazon S3 provides read-after-write consistency for PUTS of new objects in your S3 bucket.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Amazon S3 oﬀers eventual consistency for overwrite PUTS and DELETES.</a:t>
            </a:r>
          </a:p>
          <a:p>
            <a:pPr>
              <a:buFont typeface="Wingdings" panose="05000000000000000000" pitchFamily="2" charset="2"/>
              <a:buChar char="Ø"/>
            </a:pPr>
            <a:endParaRPr lang="en-US" sz="2000" dirty="0">
              <a:latin typeface="+mj-lt"/>
            </a:endParaRPr>
          </a:p>
          <a:p>
            <a:pPr algn="just">
              <a:buFont typeface="Wingdings" panose="05000000000000000000" pitchFamily="2" charset="2"/>
              <a:buChar char="Ø"/>
            </a:pPr>
            <a:r>
              <a:rPr lang="en-US" sz="2000" dirty="0">
                <a:latin typeface="+mj-lt"/>
              </a:rPr>
              <a:t>If a PUT request is successful, your data is safely stored. However, information about the changes must replicate across Amazon S3, which can take some time, and so you might observe the following behaviors:</a:t>
            </a:r>
          </a:p>
          <a:p>
            <a:pPr lvl="1" algn="just">
              <a:buFont typeface="Wingdings" panose="05000000000000000000" pitchFamily="2" charset="2"/>
              <a:buChar char="Ø"/>
            </a:pPr>
            <a:r>
              <a:rPr lang="en-US" sz="2000" dirty="0">
                <a:latin typeface="+mj-lt"/>
              </a:rPr>
              <a:t>A process writes a new object to Amazon S3 and immediately lists keys within its bucket. Until the change is fully propagated, the object might not appear in the list.</a:t>
            </a:r>
          </a:p>
          <a:p>
            <a:pPr lvl="1" algn="just">
              <a:buFont typeface="Wingdings" panose="05000000000000000000" pitchFamily="2" charset="2"/>
              <a:buChar char="Ø"/>
            </a:pPr>
            <a:r>
              <a:rPr lang="en-US" sz="2000" dirty="0">
                <a:latin typeface="+mj-lt"/>
              </a:rPr>
              <a:t>A process replaces an existing object and immediately attempts to read it. Until the change is fully propagated, Amazon S3 might return the prior data.</a:t>
            </a:r>
          </a:p>
          <a:p>
            <a:pPr lvl="1" algn="just">
              <a:buFont typeface="Wingdings" panose="05000000000000000000" pitchFamily="2" charset="2"/>
              <a:buChar char="Ø"/>
            </a:pPr>
            <a:r>
              <a:rPr lang="en-US" sz="2000" dirty="0">
                <a:latin typeface="+mj-lt"/>
              </a:rPr>
              <a:t>A process deletes an existing object and immediately attempts to read it. Until the deletion is fully propagated, Amazon S3 might return the deleted data.</a:t>
            </a:r>
          </a:p>
          <a:p>
            <a:pPr lvl="1" algn="just">
              <a:buFont typeface="Wingdings" panose="05000000000000000000" pitchFamily="2" charset="2"/>
              <a:buChar char="Ø"/>
            </a:pPr>
            <a:r>
              <a:rPr lang="en-US" sz="2000" dirty="0">
                <a:latin typeface="+mj-lt"/>
              </a:rPr>
              <a:t>A process deletes an existing object and immediately lists keys within its bucket. Until the deletion is fully propagated, Amazon S3 might list the deleted object.</a:t>
            </a:r>
          </a:p>
          <a:p>
            <a:pPr>
              <a:buFont typeface="Wingdings" panose="05000000000000000000" pitchFamily="2" charset="2"/>
              <a:buChar char="Ø"/>
            </a:pPr>
            <a:endParaRPr lang="en-US" sz="2000" dirty="0">
              <a:latin typeface="+mj-lt"/>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Data Consistency Model</a:t>
            </a:r>
          </a:p>
        </p:txBody>
      </p:sp>
      <p:sp>
        <p:nvSpPr>
          <p:cNvPr id="2" name="Footer Placeholder 1">
            <a:extLst>
              <a:ext uri="{FF2B5EF4-FFF2-40B4-BE49-F238E27FC236}">
                <a16:creationId xmlns:a16="http://schemas.microsoft.com/office/drawing/2014/main" id="{99D7BB20-6CC0-4829-9926-894FF5AA9F98}"/>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29637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0F265-8920-49EA-9E57-A7C6D600B186}"/>
              </a:ext>
            </a:extLst>
          </p:cNvPr>
          <p:cNvSpPr>
            <a:spLocks noGrp="1"/>
          </p:cNvSpPr>
          <p:nvPr>
            <p:ph type="title"/>
          </p:nvPr>
        </p:nvSpPr>
        <p:spPr/>
        <p:txBody>
          <a:bodyPr>
            <a:normAutofit/>
          </a:bodyPr>
          <a:lstStyle/>
          <a:p>
            <a:r>
              <a:rPr lang="en-IN" sz="4000" dirty="0"/>
              <a:t>AWS S3: Storage Types</a:t>
            </a:r>
          </a:p>
        </p:txBody>
      </p:sp>
      <p:pic>
        <p:nvPicPr>
          <p:cNvPr id="10" name="Content Placeholder 9">
            <a:extLst>
              <a:ext uri="{FF2B5EF4-FFF2-40B4-BE49-F238E27FC236}">
                <a16:creationId xmlns:a16="http://schemas.microsoft.com/office/drawing/2014/main" id="{E8C0E9A8-12C5-4A26-8C59-DEB37B4E2E94}"/>
              </a:ext>
            </a:extLst>
          </p:cNvPr>
          <p:cNvPicPr>
            <a:picLocks noGrp="1" noChangeAspect="1"/>
          </p:cNvPicPr>
          <p:nvPr>
            <p:ph idx="1"/>
          </p:nvPr>
        </p:nvPicPr>
        <p:blipFill>
          <a:blip r:embed="rId2"/>
          <a:stretch>
            <a:fillRect/>
          </a:stretch>
        </p:blipFill>
        <p:spPr>
          <a:xfrm>
            <a:off x="838200" y="1768503"/>
            <a:ext cx="9868233" cy="4343372"/>
          </a:xfrm>
          <a:prstGeom prst="rect">
            <a:avLst/>
          </a:prstGeom>
          <a:ln w="6350">
            <a:solidFill>
              <a:schemeClr val="tx1"/>
            </a:solidFill>
          </a:ln>
        </p:spPr>
      </p:pic>
      <p:sp>
        <p:nvSpPr>
          <p:cNvPr id="3" name="Footer Placeholder 2">
            <a:extLst>
              <a:ext uri="{FF2B5EF4-FFF2-40B4-BE49-F238E27FC236}">
                <a16:creationId xmlns:a16="http://schemas.microsoft.com/office/drawing/2014/main" id="{B93F8332-CE36-4022-B8AD-477035890ED5}"/>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798297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Versioning</a:t>
            </a: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398" y="914400"/>
            <a:ext cx="3506112"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2"/>
          <p:cNvSpPr>
            <a:spLocks noGrp="1"/>
          </p:cNvSpPr>
          <p:nvPr>
            <p:ph idx="1"/>
          </p:nvPr>
        </p:nvSpPr>
        <p:spPr>
          <a:xfrm>
            <a:off x="322441" y="1028700"/>
            <a:ext cx="6936007" cy="2133599"/>
          </a:xfrm>
        </p:spPr>
        <p:txBody>
          <a:bodyPr>
            <a:noAutofit/>
          </a:bodyPr>
          <a:lstStyle/>
          <a:p>
            <a:pPr algn="just">
              <a:buFont typeface="Wingdings" panose="05000000000000000000" pitchFamily="2" charset="2"/>
              <a:buChar char="Ø"/>
            </a:pPr>
            <a:r>
              <a:rPr lang="en-US" sz="2000" dirty="0">
                <a:latin typeface="+mj-lt"/>
              </a:rPr>
              <a:t>When you PUT an object in a versioning-enabled bucket, the noncurrent version is not overwritten.</a:t>
            </a:r>
          </a:p>
          <a:p>
            <a:pPr algn="just">
              <a:buFont typeface="Wingdings" panose="05000000000000000000" pitchFamily="2" charset="2"/>
              <a:buChar char="Ø"/>
            </a:pPr>
            <a:endParaRPr lang="en-US" sz="2000" dirty="0">
              <a:latin typeface="+mj-lt"/>
            </a:endParaRPr>
          </a:p>
          <a:p>
            <a:pPr algn="just">
              <a:buFont typeface="Wingdings" panose="05000000000000000000" pitchFamily="2" charset="2"/>
              <a:buChar char="Ø"/>
            </a:pPr>
            <a:r>
              <a:rPr lang="en-US" sz="2000" dirty="0">
                <a:latin typeface="+mj-lt"/>
              </a:rPr>
              <a:t>When a new version of photo.gif is PUT into a bucket that already contains an object with the same name, the original object                (ID = 111111) remains in the bucket, Amazon S3 generates a new version ID (121212), and adds the newer version to the bucket.</a:t>
            </a:r>
          </a:p>
        </p:txBody>
      </p:sp>
      <p:pic>
        <p:nvPicPr>
          <p:cNvPr id="11" name="image10.png"/>
          <p:cNvPicPr/>
          <p:nvPr/>
        </p:nvPicPr>
        <p:blipFill>
          <a:blip r:embed="rId3" cstate="print"/>
          <a:stretch>
            <a:fillRect/>
          </a:stretch>
        </p:blipFill>
        <p:spPr>
          <a:xfrm>
            <a:off x="7544178" y="3352800"/>
            <a:ext cx="3658552" cy="2877548"/>
          </a:xfrm>
          <a:prstGeom prst="rect">
            <a:avLst/>
          </a:prstGeom>
        </p:spPr>
      </p:pic>
      <p:sp>
        <p:nvSpPr>
          <p:cNvPr id="12" name="Content Placeholder 2"/>
          <p:cNvSpPr txBox="1">
            <a:spLocks/>
          </p:cNvSpPr>
          <p:nvPr/>
        </p:nvSpPr>
        <p:spPr>
          <a:xfrm>
            <a:off x="322441" y="3724774"/>
            <a:ext cx="6936007" cy="213359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Ø"/>
            </a:pPr>
            <a:r>
              <a:rPr lang="en-US" sz="2000" dirty="0">
                <a:latin typeface="+mj-lt"/>
              </a:rPr>
              <a:t>When you DELETE an object, all versions remain in the bucket and Amazon S3 inserts a delete marker.</a:t>
            </a:r>
          </a:p>
          <a:p>
            <a:pPr algn="just">
              <a:buFont typeface="Wingdings" panose="05000000000000000000" pitchFamily="2" charset="2"/>
              <a:buChar char="Ø"/>
            </a:pPr>
            <a:endParaRPr lang="en-US" sz="2000" dirty="0">
              <a:latin typeface="+mj-lt"/>
            </a:endParaRPr>
          </a:p>
          <a:p>
            <a:pPr algn="just">
              <a:buFont typeface="Wingdings" panose="05000000000000000000" pitchFamily="2" charset="2"/>
              <a:buChar char="Ø"/>
            </a:pPr>
            <a:r>
              <a:rPr lang="en-US" sz="2000" dirty="0">
                <a:latin typeface="+mj-lt"/>
              </a:rPr>
              <a:t>The delete marker becomes the current version of the object. </a:t>
            </a:r>
          </a:p>
          <a:p>
            <a:pPr algn="just">
              <a:buFont typeface="Wingdings" panose="05000000000000000000" pitchFamily="2" charset="2"/>
              <a:buChar char="Ø"/>
            </a:pPr>
            <a:endParaRPr lang="en-US" sz="2000" dirty="0">
              <a:latin typeface="+mj-lt"/>
            </a:endParaRPr>
          </a:p>
          <a:p>
            <a:pPr algn="just">
              <a:buFont typeface="Wingdings" panose="05000000000000000000" pitchFamily="2" charset="2"/>
              <a:buChar char="Ø"/>
            </a:pPr>
            <a:r>
              <a:rPr lang="en-US" sz="2000" dirty="0">
                <a:latin typeface="+mj-lt"/>
              </a:rPr>
              <a:t>When the current version is a delete marker returns a “404 not found” error.</a:t>
            </a:r>
          </a:p>
        </p:txBody>
      </p:sp>
      <p:sp>
        <p:nvSpPr>
          <p:cNvPr id="2" name="Footer Placeholder 1">
            <a:extLst>
              <a:ext uri="{FF2B5EF4-FFF2-40B4-BE49-F238E27FC236}">
                <a16:creationId xmlns:a16="http://schemas.microsoft.com/office/drawing/2014/main" id="{FB596240-0DED-4A1F-8E3D-B29952C76D8E}"/>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103897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390" y="990601"/>
            <a:ext cx="5716489" cy="5135564"/>
          </a:xfrm>
        </p:spPr>
        <p:txBody>
          <a:bodyPr>
            <a:normAutofit/>
          </a:bodyPr>
          <a:lstStyle/>
          <a:p>
            <a:pPr>
              <a:buFont typeface="Wingdings" panose="05000000000000000000" pitchFamily="2" charset="2"/>
              <a:buChar char="Ø"/>
            </a:pPr>
            <a:r>
              <a:rPr lang="en-US" sz="2000" dirty="0">
                <a:latin typeface="+mj-lt"/>
              </a:rPr>
              <a:t>You can host a static website on Amazon Simple Storage Service (Amazon S3).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To conﬁgure a bucket for static website hosting, you add a website conﬁguration to your bucket.</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To host a static website on Amazon S3, you need only provide the name of the index document.</a:t>
            </a:r>
          </a:p>
          <a:p>
            <a:pPr>
              <a:buFont typeface="Wingdings" panose="05000000000000000000" pitchFamily="2" charset="2"/>
              <a:buChar char="Ø"/>
            </a:pPr>
            <a:endParaRPr lang="en-US" sz="2000" dirty="0">
              <a:latin typeface="+mj-lt"/>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Hosting a Static Website</a:t>
            </a:r>
          </a:p>
        </p:txBody>
      </p:sp>
      <p:pic>
        <p:nvPicPr>
          <p:cNvPr id="4098" name="Picture 2" descr="Image result for websites host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638" y="1109090"/>
            <a:ext cx="4439806" cy="292951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C62D73D0-8C6E-4088-BEEF-420C37640E1E}"/>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2141877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390" y="1066800"/>
            <a:ext cx="7669035" cy="5135564"/>
          </a:xfrm>
        </p:spPr>
        <p:txBody>
          <a:bodyPr>
            <a:normAutofit/>
          </a:bodyPr>
          <a:lstStyle/>
          <a:p>
            <a:pPr algn="just">
              <a:buFont typeface="Wingdings" panose="05000000000000000000" pitchFamily="2" charset="2"/>
              <a:buChar char="Ø"/>
            </a:pPr>
            <a:r>
              <a:rPr lang="en-US" sz="2000" dirty="0">
                <a:latin typeface="+mj-lt"/>
              </a:rPr>
              <a:t>You can protect data in transit by using encryption.</a:t>
            </a:r>
          </a:p>
          <a:p>
            <a:pPr algn="just">
              <a:buFont typeface="Wingdings" panose="05000000000000000000" pitchFamily="2" charset="2"/>
              <a:buChar char="Ø"/>
            </a:pPr>
            <a:endParaRPr lang="en-US" sz="2000" dirty="0">
              <a:latin typeface="+mj-lt"/>
            </a:endParaRPr>
          </a:p>
          <a:p>
            <a:pPr algn="just">
              <a:buFont typeface="Wingdings" panose="05000000000000000000" pitchFamily="2" charset="2"/>
              <a:buChar char="Ø"/>
            </a:pPr>
            <a:r>
              <a:rPr lang="en-US" sz="2000" dirty="0">
                <a:latin typeface="+mj-lt"/>
              </a:rPr>
              <a:t>You have the following options of protecting data at rest in Amazon S3.</a:t>
            </a:r>
          </a:p>
          <a:p>
            <a:pPr marL="0" indent="0" algn="just">
              <a:buNone/>
            </a:pPr>
            <a:endParaRPr lang="en-US" sz="2000" dirty="0">
              <a:latin typeface="+mj-lt"/>
            </a:endParaRPr>
          </a:p>
          <a:p>
            <a:pPr lvl="1" algn="just"/>
            <a:r>
              <a:rPr lang="en-US" sz="2000" b="1" dirty="0">
                <a:latin typeface="+mj-lt"/>
              </a:rPr>
              <a:t>Use Server-Side Encryption </a:t>
            </a:r>
            <a:r>
              <a:rPr lang="en-US" sz="2000" dirty="0">
                <a:latin typeface="+mj-lt"/>
              </a:rPr>
              <a:t>– You request Amazon S3 to encrypt your object before saving it on disks in its data centers and decrypt it when you download the objects.</a:t>
            </a:r>
          </a:p>
          <a:p>
            <a:pPr lvl="1" algn="just"/>
            <a:endParaRPr lang="en-US" sz="2000" dirty="0">
              <a:latin typeface="+mj-lt"/>
            </a:endParaRPr>
          </a:p>
          <a:p>
            <a:pPr lvl="1" algn="just"/>
            <a:r>
              <a:rPr lang="en-US" sz="2000" b="1" dirty="0">
                <a:latin typeface="+mj-lt"/>
              </a:rPr>
              <a:t>Use Client-Side Encryption </a:t>
            </a:r>
            <a:r>
              <a:rPr lang="en-US" sz="2000" dirty="0">
                <a:latin typeface="+mj-lt"/>
              </a:rPr>
              <a:t>– You can encrypt data client-side and upload the encrypted data to Amazon S3. </a:t>
            </a: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Data Protection</a:t>
            </a:r>
          </a:p>
        </p:txBody>
      </p:sp>
      <p:pic>
        <p:nvPicPr>
          <p:cNvPr id="2050" name="Picture 2" descr="Image result for Encryp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91737" y="990600"/>
            <a:ext cx="4471562" cy="33528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2E2262F-84A9-42E6-AFFF-79F5240AA19A}"/>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2375478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350" y="838199"/>
            <a:ext cx="8562975" cy="5343525"/>
          </a:xfrm>
        </p:spPr>
        <p:txBody>
          <a:bodyPr>
            <a:noAutofit/>
          </a:bodyPr>
          <a:lstStyle/>
          <a:p>
            <a:pPr>
              <a:buFont typeface="Wingdings" panose="05000000000000000000" pitchFamily="2" charset="2"/>
              <a:buChar char="Ø"/>
            </a:pPr>
            <a:r>
              <a:rPr lang="en-US" sz="2000" dirty="0">
                <a:latin typeface="+mj-lt"/>
              </a:rPr>
              <a:t>Amazon S3 Transfer Acceleration enables fast, easy, and secure transfers of ﬁles.</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Transfer Acceleration takes advantage of Amazon CloudFront’s globally distributed edge locations.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When using Transfer Acceleration, additional data transfer charges may apply.</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After enabling Amazon S3 Transfer Acceleration feature a new name will be generated.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Using the Transfer Acceleration, allows to speed up upload by multiple times.</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r>
              <a:rPr lang="en-US" sz="2000" dirty="0">
                <a:latin typeface="+mj-lt"/>
              </a:rPr>
              <a:t>Example, </a:t>
            </a:r>
          </a:p>
          <a:p>
            <a:pPr lvl="1"/>
            <a:r>
              <a:rPr lang="en-US" sz="2000" dirty="0">
                <a:latin typeface="+mj-lt"/>
              </a:rPr>
              <a:t>If the bucket’s initial name was </a:t>
            </a:r>
            <a:r>
              <a:rPr lang="en-US" sz="2000" dirty="0">
                <a:latin typeface="+mj-lt"/>
                <a:hlinkClick r:id="rId2"/>
              </a:rPr>
              <a:t>mybucket.s3.amazonaws.com</a:t>
            </a:r>
            <a:r>
              <a:rPr lang="en-US" sz="2000" dirty="0">
                <a:latin typeface="+mj-lt"/>
              </a:rPr>
              <a:t> </a:t>
            </a:r>
          </a:p>
          <a:p>
            <a:pPr lvl="1"/>
            <a:r>
              <a:rPr lang="en-US" sz="2000" dirty="0">
                <a:latin typeface="+mj-lt"/>
              </a:rPr>
              <a:t>The new one will be </a:t>
            </a:r>
            <a:r>
              <a:rPr lang="en-US" sz="2000" dirty="0">
                <a:latin typeface="+mj-lt"/>
                <a:hlinkClick r:id="rId3"/>
              </a:rPr>
              <a:t>mybucket.</a:t>
            </a:r>
            <a:r>
              <a:rPr lang="en-US" sz="2000" dirty="0">
                <a:solidFill>
                  <a:srgbClr val="00B0F0"/>
                </a:solidFill>
                <a:latin typeface="+mj-lt"/>
                <a:hlinkClick r:id="rId3"/>
              </a:rPr>
              <a:t>s3-accelerate</a:t>
            </a:r>
            <a:r>
              <a:rPr lang="en-US" sz="2000" dirty="0">
                <a:latin typeface="+mj-lt"/>
                <a:hlinkClick r:id="rId3"/>
              </a:rPr>
              <a:t>.amazonaws.com</a:t>
            </a:r>
            <a:endParaRPr lang="en-US" sz="2000" dirty="0">
              <a:latin typeface="+mj-lt"/>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Transfer Acceleration</a:t>
            </a:r>
          </a:p>
        </p:txBody>
      </p:sp>
      <p:pic>
        <p:nvPicPr>
          <p:cNvPr id="1026" name="Picture 2" descr="http://static1.tothenew.com/blog/wp-content/uploads/2016/04/Selection_13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96300" y="2615086"/>
            <a:ext cx="3562350" cy="205935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6A6320A-F3FF-4216-B556-B8AA1AD18F08}"/>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048693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9B45E-F2D3-4AE7-B9FE-75F0F4DBAC3D}"/>
              </a:ext>
            </a:extLst>
          </p:cNvPr>
          <p:cNvSpPr>
            <a:spLocks noGrp="1"/>
          </p:cNvSpPr>
          <p:nvPr>
            <p:ph type="title"/>
          </p:nvPr>
        </p:nvSpPr>
        <p:spPr/>
        <p:txBody>
          <a:bodyPr/>
          <a:lstStyle/>
          <a:p>
            <a:r>
              <a:rPr lang="en-IN" dirty="0"/>
              <a:t> S3 Permissions: Block Public Access</a:t>
            </a:r>
          </a:p>
        </p:txBody>
      </p:sp>
      <p:pic>
        <p:nvPicPr>
          <p:cNvPr id="4" name="Content Placeholder 3">
            <a:extLst>
              <a:ext uri="{FF2B5EF4-FFF2-40B4-BE49-F238E27FC236}">
                <a16:creationId xmlns:a16="http://schemas.microsoft.com/office/drawing/2014/main" id="{8A3320AE-FB54-44D8-8CFA-1EA59786EE94}"/>
              </a:ext>
            </a:extLst>
          </p:cNvPr>
          <p:cNvPicPr>
            <a:picLocks noGrp="1" noChangeAspect="1"/>
          </p:cNvPicPr>
          <p:nvPr>
            <p:ph idx="1"/>
          </p:nvPr>
        </p:nvPicPr>
        <p:blipFill>
          <a:blip r:embed="rId2"/>
          <a:stretch>
            <a:fillRect/>
          </a:stretch>
        </p:blipFill>
        <p:spPr>
          <a:xfrm>
            <a:off x="838200" y="1861598"/>
            <a:ext cx="10515600" cy="4279392"/>
          </a:xfrm>
          <a:prstGeom prst="rect">
            <a:avLst/>
          </a:prstGeom>
        </p:spPr>
      </p:pic>
      <p:sp>
        <p:nvSpPr>
          <p:cNvPr id="3" name="Footer Placeholder 2">
            <a:extLst>
              <a:ext uri="{FF2B5EF4-FFF2-40B4-BE49-F238E27FC236}">
                <a16:creationId xmlns:a16="http://schemas.microsoft.com/office/drawing/2014/main" id="{CE1A2F9D-1C4C-4816-9E17-82CB44DC410D}"/>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586610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1FA00-3A5E-4A2D-A6CB-EE598F249C60}"/>
              </a:ext>
            </a:extLst>
          </p:cNvPr>
          <p:cNvSpPr>
            <a:spLocks noGrp="1"/>
          </p:cNvSpPr>
          <p:nvPr>
            <p:ph type="title"/>
          </p:nvPr>
        </p:nvSpPr>
        <p:spPr/>
        <p:txBody>
          <a:bodyPr/>
          <a:lstStyle/>
          <a:p>
            <a:r>
              <a:rPr lang="en-IN" dirty="0"/>
              <a:t> S3 Permissions: Access Control List</a:t>
            </a:r>
          </a:p>
        </p:txBody>
      </p:sp>
      <p:pic>
        <p:nvPicPr>
          <p:cNvPr id="4" name="Content Placeholder 3">
            <a:extLst>
              <a:ext uri="{FF2B5EF4-FFF2-40B4-BE49-F238E27FC236}">
                <a16:creationId xmlns:a16="http://schemas.microsoft.com/office/drawing/2014/main" id="{C521FD3B-3D30-4FD9-91E5-9A11B7096297}"/>
              </a:ext>
            </a:extLst>
          </p:cNvPr>
          <p:cNvPicPr>
            <a:picLocks noGrp="1" noChangeAspect="1"/>
          </p:cNvPicPr>
          <p:nvPr>
            <p:ph idx="1"/>
          </p:nvPr>
        </p:nvPicPr>
        <p:blipFill>
          <a:blip r:embed="rId2"/>
          <a:stretch>
            <a:fillRect/>
          </a:stretch>
        </p:blipFill>
        <p:spPr>
          <a:xfrm>
            <a:off x="838200" y="1869112"/>
            <a:ext cx="10515600" cy="4264363"/>
          </a:xfrm>
          <a:prstGeom prst="rect">
            <a:avLst/>
          </a:prstGeom>
        </p:spPr>
      </p:pic>
      <p:sp>
        <p:nvSpPr>
          <p:cNvPr id="3" name="Footer Placeholder 2">
            <a:extLst>
              <a:ext uri="{FF2B5EF4-FFF2-40B4-BE49-F238E27FC236}">
                <a16:creationId xmlns:a16="http://schemas.microsoft.com/office/drawing/2014/main" id="{209D01D2-EBB6-497F-B0A5-C830D01C1CC7}"/>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47947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FEC6C-4AAA-4825-90FC-D95BA9D38406}"/>
              </a:ext>
            </a:extLst>
          </p:cNvPr>
          <p:cNvSpPr>
            <a:spLocks noGrp="1"/>
          </p:cNvSpPr>
          <p:nvPr>
            <p:ph type="title"/>
          </p:nvPr>
        </p:nvSpPr>
        <p:spPr/>
        <p:txBody>
          <a:bodyPr/>
          <a:lstStyle/>
          <a:p>
            <a:r>
              <a:rPr lang="en-IN" dirty="0"/>
              <a:t> S3 Permissions: Bucket Policy</a:t>
            </a:r>
          </a:p>
        </p:txBody>
      </p:sp>
      <p:pic>
        <p:nvPicPr>
          <p:cNvPr id="4" name="Content Placeholder 3">
            <a:extLst>
              <a:ext uri="{FF2B5EF4-FFF2-40B4-BE49-F238E27FC236}">
                <a16:creationId xmlns:a16="http://schemas.microsoft.com/office/drawing/2014/main" id="{10630874-D2E7-4E6E-9BFC-0F8BE1080F99}"/>
              </a:ext>
            </a:extLst>
          </p:cNvPr>
          <p:cNvPicPr>
            <a:picLocks noGrp="1" noChangeAspect="1"/>
          </p:cNvPicPr>
          <p:nvPr>
            <p:ph idx="1"/>
          </p:nvPr>
        </p:nvPicPr>
        <p:blipFill>
          <a:blip r:embed="rId2"/>
          <a:stretch>
            <a:fillRect/>
          </a:stretch>
        </p:blipFill>
        <p:spPr>
          <a:xfrm>
            <a:off x="885925" y="1825625"/>
            <a:ext cx="10420149" cy="4351338"/>
          </a:xfrm>
          <a:prstGeom prst="rect">
            <a:avLst/>
          </a:prstGeom>
        </p:spPr>
      </p:pic>
      <p:sp>
        <p:nvSpPr>
          <p:cNvPr id="3" name="Footer Placeholder 2">
            <a:extLst>
              <a:ext uri="{FF2B5EF4-FFF2-40B4-BE49-F238E27FC236}">
                <a16:creationId xmlns:a16="http://schemas.microsoft.com/office/drawing/2014/main" id="{350CB996-BB6F-426D-84FB-E58E83F586F4}"/>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735376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255" y="1076327"/>
            <a:ext cx="6969278" cy="4190998"/>
          </a:xfrm>
        </p:spPr>
        <p:txBody>
          <a:bodyPr>
            <a:normAutofit/>
          </a:bodyPr>
          <a:lstStyle/>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Cross-region replication &amp; Same Region is a bucket-level feature that enables automatic, asynchronous copying of objects across buckets in different AWS regions and same AWS Region</a:t>
            </a: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Amazon S3 replicates the new objects created after enabling the replication configuration.</a:t>
            </a: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Amazon S3 does not replicate objects in the source bucket for which the bucket owner does not have permissions.</a:t>
            </a:r>
          </a:p>
          <a:p>
            <a:pPr algn="just">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Objects in the source bucket that are replicas, created by another cross-region replication, are not replicated.</a:t>
            </a:r>
            <a:endParaRPr lang="en-IN" sz="2000" dirty="0">
              <a:latin typeface="+mj-lt"/>
              <a:ea typeface="Verdana" panose="020B0604030504040204" pitchFamily="34" charset="0"/>
              <a:cs typeface="Verdana" panose="020B0604030504040204" pitchFamily="34" charset="0"/>
            </a:endParaRPr>
          </a:p>
          <a:p>
            <a:pPr>
              <a:buFont typeface="Wingdings" panose="05000000000000000000" pitchFamily="2" charset="2"/>
              <a:buChar char="Ø"/>
            </a:pPr>
            <a:endParaRPr lang="en-US" sz="2000" dirty="0">
              <a:latin typeface="+mj-lt"/>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a:t>
            </a:r>
            <a:r>
              <a:rPr lang="en-IN" sz="3200" b="1" dirty="0">
                <a:latin typeface="+mj-lt"/>
                <a:ea typeface="Verdana" panose="020B0604030504040204" pitchFamily="34" charset="0"/>
                <a:cs typeface="Verdana" panose="020B0604030504040204" pitchFamily="34" charset="0"/>
              </a:rPr>
              <a:t>Cross-Region &amp; Same Region Replication</a:t>
            </a:r>
            <a:endParaRPr lang="en-US" sz="3200" b="1" dirty="0">
              <a:latin typeface="+mj-lt"/>
              <a:ea typeface="Verdana" panose="020B0604030504040204" pitchFamily="34" charset="0"/>
              <a:cs typeface="Verdana" panose="020B0604030504040204" pitchFamily="34" charset="0"/>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96533" y="1066801"/>
            <a:ext cx="4568212" cy="2924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Footer Placeholder 1">
            <a:extLst>
              <a:ext uri="{FF2B5EF4-FFF2-40B4-BE49-F238E27FC236}">
                <a16:creationId xmlns:a16="http://schemas.microsoft.com/office/drawing/2014/main" id="{B0A6E0F3-BFDA-4A0B-AFC6-B60940AFABC7}"/>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926269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390" y="1066801"/>
            <a:ext cx="10898010" cy="2438399"/>
          </a:xfrm>
        </p:spPr>
        <p:txBody>
          <a:bodyPr>
            <a:normAutofit/>
          </a:bodyPr>
          <a:lstStyle/>
          <a:p>
            <a:pP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Lifecycle configuration enables you to specify the lifecycle management of objects in a bucket. </a:t>
            </a:r>
          </a:p>
          <a:p>
            <a:pP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These actions can be classified as follows:</a:t>
            </a:r>
          </a:p>
          <a:p>
            <a:pPr lvl="1" algn="just">
              <a:buFont typeface="Wingdings" panose="05000000000000000000" pitchFamily="2" charset="2"/>
              <a:buChar char="Ø"/>
            </a:pPr>
            <a:r>
              <a:rPr lang="en-US" sz="1800" b="1" dirty="0">
                <a:latin typeface="+mj-lt"/>
                <a:ea typeface="Verdana" panose="020B0604030504040204" pitchFamily="34" charset="0"/>
                <a:cs typeface="Verdana" panose="020B0604030504040204" pitchFamily="34" charset="0"/>
              </a:rPr>
              <a:t>Transition actions</a:t>
            </a:r>
            <a:r>
              <a:rPr lang="en-US" sz="1800" dirty="0">
                <a:latin typeface="+mj-lt"/>
                <a:ea typeface="Verdana" panose="020B0604030504040204" pitchFamily="34" charset="0"/>
                <a:cs typeface="Verdana" panose="020B0604030504040204" pitchFamily="34" charset="0"/>
              </a:rPr>
              <a:t>:	You define when objects transition to another storage class. </a:t>
            </a:r>
          </a:p>
          <a:p>
            <a:pPr lvl="2" algn="just"/>
            <a:r>
              <a:rPr lang="en-US" sz="1800" dirty="0">
                <a:latin typeface="+mj-lt"/>
                <a:ea typeface="Verdana" panose="020B0604030504040204" pitchFamily="34" charset="0"/>
                <a:cs typeface="Verdana" panose="020B0604030504040204" pitchFamily="34" charset="0"/>
              </a:rPr>
              <a:t>Transition objects to the STANDARD_IA storage class 30 days after creation</a:t>
            </a:r>
          </a:p>
          <a:p>
            <a:pPr lvl="2" algn="just"/>
            <a:r>
              <a:rPr lang="en-US" sz="1800" dirty="0">
                <a:latin typeface="+mj-lt"/>
                <a:ea typeface="Verdana" panose="020B0604030504040204" pitchFamily="34" charset="0"/>
                <a:cs typeface="Verdana" panose="020B0604030504040204" pitchFamily="34" charset="0"/>
              </a:rPr>
              <a:t>Archive objects to the GLACIER storage class one year after creation.</a:t>
            </a:r>
          </a:p>
          <a:p>
            <a:pPr lvl="1" algn="just">
              <a:buFont typeface="Wingdings" panose="05000000000000000000" pitchFamily="2" charset="2"/>
              <a:buChar char="Ø"/>
            </a:pPr>
            <a:r>
              <a:rPr lang="en-US" sz="1800" b="1" dirty="0">
                <a:latin typeface="+mj-lt"/>
                <a:ea typeface="Verdana" panose="020B0604030504040204" pitchFamily="34" charset="0"/>
                <a:cs typeface="Verdana" panose="020B0604030504040204" pitchFamily="34" charset="0"/>
              </a:rPr>
              <a:t>Expiration actions</a:t>
            </a:r>
            <a:r>
              <a:rPr lang="en-US" sz="1800" dirty="0">
                <a:latin typeface="+mj-lt"/>
                <a:ea typeface="Verdana" panose="020B0604030504040204" pitchFamily="34" charset="0"/>
                <a:cs typeface="Verdana" panose="020B0604030504040204" pitchFamily="34" charset="0"/>
              </a:rPr>
              <a:t>:	You specify when the objects expire. </a:t>
            </a:r>
          </a:p>
          <a:p>
            <a:pPr>
              <a:buFont typeface="Wingdings" panose="05000000000000000000" pitchFamily="2" charset="2"/>
              <a:buChar char="Ø"/>
            </a:pPr>
            <a:endParaRPr lang="en-US" sz="1800" dirty="0">
              <a:latin typeface="+mj-lt"/>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S3: Life Cycle Management</a:t>
            </a:r>
          </a:p>
        </p:txBody>
      </p:sp>
      <p:pic>
        <p:nvPicPr>
          <p:cNvPr id="5" name="Shape 208"/>
          <p:cNvPicPr preferRelativeResize="0"/>
          <p:nvPr/>
        </p:nvPicPr>
        <p:blipFill>
          <a:blip r:embed="rId2" cstate="print">
            <a:alphaModFix/>
          </a:blip>
          <a:stretch>
            <a:fillRect/>
          </a:stretch>
        </p:blipFill>
        <p:spPr>
          <a:xfrm>
            <a:off x="2365147" y="3657600"/>
            <a:ext cx="7236966" cy="2384232"/>
          </a:xfrm>
          <a:prstGeom prst="rect">
            <a:avLst/>
          </a:prstGeom>
          <a:noFill/>
          <a:ln>
            <a:noFill/>
          </a:ln>
        </p:spPr>
      </p:pic>
      <p:sp>
        <p:nvSpPr>
          <p:cNvPr id="2" name="Footer Placeholder 1">
            <a:extLst>
              <a:ext uri="{FF2B5EF4-FFF2-40B4-BE49-F238E27FC236}">
                <a16:creationId xmlns:a16="http://schemas.microsoft.com/office/drawing/2014/main" id="{1D3AE508-2C8F-4263-8B61-E825E1D775DA}"/>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3955693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F69D0-D852-4F80-B4E6-E6E798E03EF6}"/>
              </a:ext>
            </a:extLst>
          </p:cNvPr>
          <p:cNvSpPr>
            <a:spLocks noGrp="1"/>
          </p:cNvSpPr>
          <p:nvPr>
            <p:ph idx="1"/>
          </p:nvPr>
        </p:nvSpPr>
        <p:spPr>
          <a:xfrm>
            <a:off x="0" y="815975"/>
            <a:ext cx="10515600" cy="4351338"/>
          </a:xfrm>
        </p:spPr>
        <p:txBody>
          <a:bodyPr>
            <a:normAutofit/>
          </a:bodyPr>
          <a:lstStyle/>
          <a:p>
            <a:endParaRPr lang="en-IN" sz="4000" dirty="0">
              <a:latin typeface="+mj-lt"/>
            </a:endParaRPr>
          </a:p>
          <a:p>
            <a:endParaRPr lang="en-IN" sz="4000" dirty="0">
              <a:latin typeface="+mj-lt"/>
            </a:endParaRPr>
          </a:p>
          <a:p>
            <a:pPr marL="0" indent="0">
              <a:buNone/>
            </a:pPr>
            <a:r>
              <a:rPr lang="en-IN" sz="4000" dirty="0">
                <a:latin typeface="+mj-lt"/>
              </a:rPr>
              <a:t>                                    </a:t>
            </a:r>
          </a:p>
          <a:p>
            <a:pPr marL="0" indent="0">
              <a:buNone/>
            </a:pPr>
            <a:r>
              <a:rPr lang="en-IN" sz="4000" dirty="0">
                <a:latin typeface="+mj-lt"/>
              </a:rPr>
              <a:t>                                        THANK YOU</a:t>
            </a:r>
          </a:p>
        </p:txBody>
      </p:sp>
      <p:sp>
        <p:nvSpPr>
          <p:cNvPr id="4" name="Footer Placeholder 3">
            <a:extLst>
              <a:ext uri="{FF2B5EF4-FFF2-40B4-BE49-F238E27FC236}">
                <a16:creationId xmlns:a16="http://schemas.microsoft.com/office/drawing/2014/main" id="{1633B154-42A7-45CF-8082-ECB2547E89B5}"/>
              </a:ext>
            </a:extLst>
          </p:cNvPr>
          <p:cNvSpPr>
            <a:spLocks noGrp="1"/>
          </p:cNvSpPr>
          <p:nvPr>
            <p:ph type="ftr" sz="quarter" idx="11"/>
          </p:nvPr>
        </p:nvSpPr>
        <p:spPr/>
        <p:txBody>
          <a:bodyPr/>
          <a:lstStyle/>
          <a:p>
            <a:r>
              <a:rPr lang="en-US"/>
              <a:t>CHAITANYA R GAAJULA - ALL COPYRIGHTS RESERVED</a:t>
            </a:r>
            <a:endParaRPr lang="en-IN"/>
          </a:p>
        </p:txBody>
      </p:sp>
    </p:spTree>
    <p:extLst>
      <p:ext uri="{BB962C8B-B14F-4D97-AF65-F5344CB8AC3E}">
        <p14:creationId xmlns:p14="http://schemas.microsoft.com/office/powerpoint/2010/main" val="1736923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1246</Words>
  <Application>Microsoft Office PowerPoint</Application>
  <PresentationFormat>Widescreen</PresentationFormat>
  <Paragraphs>166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PowerPoint Presentation</vt:lpstr>
      <vt:lpstr>What is AWS S3</vt:lpstr>
      <vt:lpstr>AWS S3: Advantages</vt:lpstr>
      <vt:lpstr>AWS S3 Concepts: Buckets</vt:lpstr>
      <vt:lpstr>AWS S3 Concepts: Objects</vt:lpstr>
      <vt:lpstr>AWS S3 Concepts: Endpoints</vt:lpstr>
      <vt:lpstr>AWS S3: Data Consistency Model</vt:lpstr>
      <vt:lpstr>AWS S3: Storage Types</vt:lpstr>
      <vt:lpstr>AWS S3: Versioning</vt:lpstr>
      <vt:lpstr>AWS S3: Hosting a Static Website</vt:lpstr>
      <vt:lpstr>AWS S3: Data Protection</vt:lpstr>
      <vt:lpstr>AWS S3: Transfer Acceleration</vt:lpstr>
      <vt:lpstr> S3 Permissions: Block Public Access</vt:lpstr>
      <vt:lpstr> S3 Permissions: Access Control List</vt:lpstr>
      <vt:lpstr> S3 Permissions: Bucket Policy</vt:lpstr>
      <vt:lpstr>AWS S3: Cross-Region &amp; Same Region Replication</vt:lpstr>
      <vt:lpstr>AWS S3: Life Cycle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Chaitanya Gaajula</dc:creator>
  <cp:lastModifiedBy>Chaitanya Gaajula</cp:lastModifiedBy>
  <cp:revision>14</cp:revision>
  <dcterms:created xsi:type="dcterms:W3CDTF">2020-05-31T14:45:12Z</dcterms:created>
  <dcterms:modified xsi:type="dcterms:W3CDTF">2021-10-02T14:08:33Z</dcterms:modified>
</cp:coreProperties>
</file>