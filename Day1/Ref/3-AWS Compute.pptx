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8" r:id="rId2"/>
    <p:sldId id="282" r:id="rId3"/>
    <p:sldId id="283" r:id="rId4"/>
    <p:sldId id="284" r:id="rId5"/>
    <p:sldId id="285" r:id="rId6"/>
    <p:sldId id="291" r:id="rId7"/>
    <p:sldId id="286" r:id="rId8"/>
    <p:sldId id="312" r:id="rId9"/>
    <p:sldId id="294" r:id="rId10"/>
    <p:sldId id="313" r:id="rId11"/>
    <p:sldId id="288" r:id="rId12"/>
    <p:sldId id="314" r:id="rId13"/>
    <p:sldId id="317" r:id="rId14"/>
    <p:sldId id="292" r:id="rId15"/>
    <p:sldId id="295" r:id="rId16"/>
    <p:sldId id="297" r:id="rId17"/>
    <p:sldId id="298" r:id="rId18"/>
    <p:sldId id="289" r:id="rId19"/>
    <p:sldId id="316" r:id="rId20"/>
    <p:sldId id="296" r:id="rId21"/>
    <p:sldId id="315" r:id="rId22"/>
    <p:sldId id="303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REA2uUaZ+Azvf7QetuHYrw==" hashData="BQBh4d1xhltJFGu76ZqV9weZ7x4fi5ds7pWOB7bFDOjwyoMHAi/dvXlV91H6DqyoAvPna7oI0W7Pl2XzWWL6C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2AC72-39D7-4357-B16E-69FD701EC377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C0F2E-31B2-45D2-9395-C361FD3DF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18F134-29C8-4065-8DE2-523326C76F36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468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BB5C-A0F6-428F-B7BF-96ABFD9AB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5B2FAB-1BCE-4AE2-9DB7-22C634155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75672-3BCA-40C8-84EB-5BC1F63B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0954-A7AD-4F11-9F77-74D7CA80DE89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AF258-BF08-4633-AD55-DF4C200E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E8190-8315-42CB-879E-8A4BCF0EA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EEC0-E173-449B-9E0C-DCDDDBB44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88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FEA1-96F3-4399-86BB-408A97D1B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50D9C-30C6-4E9A-BCF7-7E195C909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A5A9C-27A8-4B0D-8E79-2714E9DCF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0954-A7AD-4F11-9F77-74D7CA80DE89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7131D-ADFE-49DF-A663-334D5751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70B22-35DF-4DBD-BD8F-6D5CC2F69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EEC0-E173-449B-9E0C-DCDDDBB44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050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F547B-15F4-4389-A415-2A59C65CD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0AE48-65E1-4380-AB71-C99364251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2554E-A628-45D4-B117-2D35BBE7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0954-A7AD-4F11-9F77-74D7CA80DE89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AEE7D-5962-4F0C-A952-B1B06A44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C9A6A-07E6-4984-801B-2C8056149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EEC0-E173-449B-9E0C-DCDDDBB44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681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743A2-6555-4C07-B183-309CDDEB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131EE-79FE-4C4F-8B07-3FD95A164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03148F-CB43-4D9F-9F1E-78BA3C87D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E7EF1-0CCA-46CA-985C-31355731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0954-A7AD-4F11-9F77-74D7CA80DE89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64B28-51E2-4E74-AE66-D44AB1757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1C723-AF6A-4F87-A906-58063813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EEC0-E173-449B-9E0C-DCDDDBB44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12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AFE8-64C3-4669-A9E7-2C23FC239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7831F-0FC2-4126-BD5B-15A622195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54313-96E7-4207-9B62-61B36C959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FF412-7A56-4B86-8CFD-E0A80E7B5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85C23-C662-436A-99D8-00CC1BB6D5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C929EE-DDE4-4E62-9100-C87A94718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0954-A7AD-4F11-9F77-74D7CA80DE89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A0FF0-D1D5-4BB0-B0F8-1BA3D1B1C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0EB1E-7517-42D6-9890-0EC796131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EEC0-E173-449B-9E0C-DCDDDBB44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736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A80AD-1C6D-4FF7-9E96-899313CDE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850E94-3A2E-4C63-B45E-1946BDCB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0954-A7AD-4F11-9F77-74D7CA80DE89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9817C-39A7-4BDC-8BB4-5B90B7B3E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CD427-E6EC-46D5-AB93-903913691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EEC0-E173-449B-9E0C-DCDDDBB44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77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5CB3BB-9B71-46DF-AAC9-E43E7AF0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0954-A7AD-4F11-9F77-74D7CA80DE89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D64EC-75FC-4921-BCED-9A7C1ADA1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98A29-EC79-43DC-AAF0-35A64025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EEC0-E173-449B-9E0C-DCDDDBB44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21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157F-9CD5-4660-A7F5-E6AF5D570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BB89B-33AF-49F8-8453-FD2FD142B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81B0F-31A1-47C7-BB42-7FC42BE3C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B2D52-8AE1-4335-A4A6-ABE331C2C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0954-A7AD-4F11-9F77-74D7CA80DE89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049A6-D956-460D-BE0F-319E65FB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4F9B6-8377-4282-A258-C9CF4D45A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EEC0-E173-449B-9E0C-DCDDDBB44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88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A265C-A1E6-458A-B874-DCFF614C7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8BE3DA-A6CA-4F34-AB01-D8E348111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8282F-F9B0-4021-8AA2-05D09DD5C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8B51E-89BE-4D0D-9CA5-DDC79549E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0954-A7AD-4F11-9F77-74D7CA80DE89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79306-1BBB-42B8-B243-42AC140E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D7F05-C5D1-4FAD-A280-735F1AC3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EEC0-E173-449B-9E0C-DCDDDBB44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04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4F62D-2C34-4864-B502-E78A2684D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60772-F448-4715-AE98-5E522D8C1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ABAC9-5D37-4832-827E-CFFC818A9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0954-A7AD-4F11-9F77-74D7CA80DE89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D545C-2A44-4B91-9FB4-157B248EF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59E97-9083-4828-9065-9BBEB578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EEC0-E173-449B-9E0C-DCDDDBB44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869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803CE5-04A5-418C-AD54-E8F8F19D1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9213E-A1AD-4619-9FBD-9E75328F9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228CA-133F-400F-85CC-DA6B691C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0954-A7AD-4F11-9F77-74D7CA80DE89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41FC6-ECAE-4A49-9536-0DCCB65FA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93073-AE9F-4985-A8B2-805BB811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8EEC0-E173-449B-9E0C-DCDDDBB44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76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FA3F4-995B-47F8-A65A-9015A5F58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3ADC2-B601-445B-A2E1-3F441498C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27F99-F51B-4373-9492-7F3BD445A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F0954-A7AD-4F11-9F77-74D7CA80DE89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FAC9D-0416-422B-BB18-EF2B1D93C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09333-1B21-43F8-BF4B-80E366610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8EEC0-E173-449B-9E0C-DCDDDBB44B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32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5616" y="2926969"/>
            <a:ext cx="776498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400" dirty="0">
                <a:ea typeface="Verdana" panose="020B0604030504040204" pitchFamily="34" charset="0"/>
                <a:cs typeface="Verdana" panose="020B0604030504040204" pitchFamily="34" charset="0"/>
              </a:rPr>
              <a:t>AWS Compute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1E507-409C-47FF-8BB0-E053B880E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684390" y="1219200"/>
            <a:ext cx="10670779" cy="4876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bject 8"/>
          <p:cNvSpPr/>
          <p:nvPr/>
        </p:nvSpPr>
        <p:spPr>
          <a:xfrm>
            <a:off x="913050" y="2514601"/>
            <a:ext cx="1905496" cy="2133600"/>
          </a:xfrm>
          <a:custGeom>
            <a:avLst/>
            <a:gdLst/>
            <a:ahLst/>
            <a:cxnLst/>
            <a:rect l="l" t="t" r="r" b="b"/>
            <a:pathLst>
              <a:path w="1096010" h="1000125">
                <a:moveTo>
                  <a:pt x="997585" y="0"/>
                </a:moveTo>
                <a:lnTo>
                  <a:pt x="84547" y="935"/>
                </a:lnTo>
                <a:lnTo>
                  <a:pt x="45217" y="15484"/>
                </a:lnTo>
                <a:lnTo>
                  <a:pt x="16002" y="44420"/>
                </a:lnTo>
                <a:lnTo>
                  <a:pt x="1077" y="83572"/>
                </a:lnTo>
                <a:lnTo>
                  <a:pt x="0" y="98171"/>
                </a:lnTo>
                <a:lnTo>
                  <a:pt x="935" y="915186"/>
                </a:lnTo>
                <a:lnTo>
                  <a:pt x="15483" y="954523"/>
                </a:lnTo>
                <a:lnTo>
                  <a:pt x="44417" y="983741"/>
                </a:lnTo>
                <a:lnTo>
                  <a:pt x="83562" y="998666"/>
                </a:lnTo>
                <a:lnTo>
                  <a:pt x="98158" y="999744"/>
                </a:lnTo>
                <a:lnTo>
                  <a:pt x="1011207" y="998806"/>
                </a:lnTo>
                <a:lnTo>
                  <a:pt x="1050540" y="984256"/>
                </a:lnTo>
                <a:lnTo>
                  <a:pt x="1079755" y="955320"/>
                </a:lnTo>
                <a:lnTo>
                  <a:pt x="1094678" y="916170"/>
                </a:lnTo>
                <a:lnTo>
                  <a:pt x="1095756" y="901573"/>
                </a:lnTo>
                <a:lnTo>
                  <a:pt x="1094818" y="84548"/>
                </a:lnTo>
                <a:lnTo>
                  <a:pt x="1080268" y="45215"/>
                </a:lnTo>
                <a:lnTo>
                  <a:pt x="1051332" y="16000"/>
                </a:lnTo>
                <a:lnTo>
                  <a:pt x="1012182" y="1077"/>
                </a:lnTo>
                <a:lnTo>
                  <a:pt x="9975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4"/>
          <p:cNvSpPr/>
          <p:nvPr/>
        </p:nvSpPr>
        <p:spPr>
          <a:xfrm>
            <a:off x="1503897" y="2992013"/>
            <a:ext cx="98703" cy="651388"/>
          </a:xfrm>
          <a:custGeom>
            <a:avLst/>
            <a:gdLst/>
            <a:ahLst/>
            <a:cxnLst/>
            <a:rect l="l" t="t" r="r" b="b"/>
            <a:pathLst>
              <a:path w="80009" h="502285">
                <a:moveTo>
                  <a:pt x="0" y="0"/>
                </a:moveTo>
                <a:lnTo>
                  <a:pt x="0" y="501926"/>
                </a:lnTo>
                <a:lnTo>
                  <a:pt x="79467" y="484033"/>
                </a:lnTo>
                <a:lnTo>
                  <a:pt x="79467" y="16827"/>
                </a:lnTo>
                <a:lnTo>
                  <a:pt x="0" y="0"/>
                </a:lnTo>
                <a:close/>
              </a:path>
            </a:pathLst>
          </a:custGeom>
          <a:solidFill>
            <a:srgbClr val="F474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5"/>
          <p:cNvSpPr/>
          <p:nvPr/>
        </p:nvSpPr>
        <p:spPr>
          <a:xfrm>
            <a:off x="1583387" y="2953072"/>
            <a:ext cx="120637" cy="753504"/>
          </a:xfrm>
          <a:custGeom>
            <a:avLst/>
            <a:gdLst/>
            <a:ahLst/>
            <a:cxnLst/>
            <a:rect l="l" t="t" r="r" b="b"/>
            <a:pathLst>
              <a:path w="97790" h="581025">
                <a:moveTo>
                  <a:pt x="0" y="0"/>
                </a:moveTo>
                <a:lnTo>
                  <a:pt x="0" y="580846"/>
                </a:lnTo>
                <a:lnTo>
                  <a:pt x="97480" y="552435"/>
                </a:lnTo>
                <a:lnTo>
                  <a:pt x="97480" y="27358"/>
                </a:lnTo>
                <a:lnTo>
                  <a:pt x="0" y="0"/>
                </a:lnTo>
                <a:close/>
              </a:path>
            </a:pathLst>
          </a:custGeom>
          <a:solidFill>
            <a:srgbClr val="F474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6"/>
          <p:cNvSpPr/>
          <p:nvPr/>
        </p:nvSpPr>
        <p:spPr>
          <a:xfrm>
            <a:off x="1680892" y="2904666"/>
            <a:ext cx="155887" cy="879499"/>
          </a:xfrm>
          <a:custGeom>
            <a:avLst/>
            <a:gdLst/>
            <a:ahLst/>
            <a:cxnLst/>
            <a:rect l="l" t="t" r="r" b="b"/>
            <a:pathLst>
              <a:path w="126365" h="678180">
                <a:moveTo>
                  <a:pt x="0" y="0"/>
                </a:moveTo>
                <a:lnTo>
                  <a:pt x="0" y="677656"/>
                </a:lnTo>
                <a:lnTo>
                  <a:pt x="126097" y="631357"/>
                </a:lnTo>
                <a:lnTo>
                  <a:pt x="126097" y="45251"/>
                </a:lnTo>
                <a:lnTo>
                  <a:pt x="0" y="0"/>
                </a:lnTo>
                <a:close/>
              </a:path>
            </a:pathLst>
          </a:custGeom>
          <a:solidFill>
            <a:srgbClr val="F474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7"/>
          <p:cNvSpPr/>
          <p:nvPr/>
        </p:nvSpPr>
        <p:spPr>
          <a:xfrm>
            <a:off x="1807021" y="2846795"/>
            <a:ext cx="412830" cy="1034318"/>
          </a:xfrm>
          <a:custGeom>
            <a:avLst/>
            <a:gdLst/>
            <a:ahLst/>
            <a:cxnLst/>
            <a:rect l="l" t="t" r="r" b="b"/>
            <a:pathLst>
              <a:path w="334644" h="797560">
                <a:moveTo>
                  <a:pt x="6435" y="0"/>
                </a:moveTo>
                <a:lnTo>
                  <a:pt x="0" y="0"/>
                </a:lnTo>
                <a:lnTo>
                  <a:pt x="0" y="797088"/>
                </a:lnTo>
                <a:lnTo>
                  <a:pt x="1058" y="797088"/>
                </a:lnTo>
                <a:lnTo>
                  <a:pt x="334649" y="632483"/>
                </a:lnTo>
                <a:lnTo>
                  <a:pt x="334649" y="160924"/>
                </a:lnTo>
                <a:lnTo>
                  <a:pt x="6435" y="0"/>
                </a:lnTo>
                <a:close/>
              </a:path>
            </a:pathLst>
          </a:custGeom>
          <a:solidFill>
            <a:srgbClr val="F474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8"/>
          <p:cNvSpPr/>
          <p:nvPr/>
        </p:nvSpPr>
        <p:spPr>
          <a:xfrm>
            <a:off x="1740244" y="2819400"/>
            <a:ext cx="83036" cy="1034318"/>
          </a:xfrm>
          <a:custGeom>
            <a:avLst/>
            <a:gdLst/>
            <a:ahLst/>
            <a:cxnLst/>
            <a:rect l="l" t="t" r="r" b="b"/>
            <a:pathLst>
              <a:path w="67309" h="797560">
                <a:moveTo>
                  <a:pt x="66760" y="0"/>
                </a:moveTo>
                <a:lnTo>
                  <a:pt x="60087" y="0"/>
                </a:lnTo>
                <a:lnTo>
                  <a:pt x="0" y="28409"/>
                </a:lnTo>
                <a:lnTo>
                  <a:pt x="0" y="763938"/>
                </a:lnTo>
                <a:lnTo>
                  <a:pt x="65725" y="797088"/>
                </a:lnTo>
                <a:lnTo>
                  <a:pt x="66760" y="797088"/>
                </a:lnTo>
                <a:lnTo>
                  <a:pt x="66760" y="0"/>
                </a:lnTo>
                <a:close/>
              </a:path>
            </a:pathLst>
          </a:custGeom>
          <a:solidFill>
            <a:srgbClr val="994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9"/>
          <p:cNvSpPr/>
          <p:nvPr/>
        </p:nvSpPr>
        <p:spPr>
          <a:xfrm>
            <a:off x="1628967" y="2904666"/>
            <a:ext cx="64234" cy="877852"/>
          </a:xfrm>
          <a:custGeom>
            <a:avLst/>
            <a:gdLst/>
            <a:ahLst/>
            <a:cxnLst/>
            <a:rect l="l" t="t" r="r" b="b"/>
            <a:pathLst>
              <a:path w="52069" h="676910">
                <a:moveTo>
                  <a:pt x="51912" y="0"/>
                </a:moveTo>
                <a:lnTo>
                  <a:pt x="0" y="25254"/>
                </a:lnTo>
                <a:lnTo>
                  <a:pt x="0" y="651349"/>
                </a:lnTo>
                <a:lnTo>
                  <a:pt x="51912" y="676604"/>
                </a:lnTo>
                <a:lnTo>
                  <a:pt x="51912" y="0"/>
                </a:lnTo>
                <a:close/>
              </a:path>
            </a:pathLst>
          </a:custGeom>
          <a:solidFill>
            <a:srgbClr val="994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0"/>
          <p:cNvSpPr/>
          <p:nvPr/>
        </p:nvSpPr>
        <p:spPr>
          <a:xfrm>
            <a:off x="1542054" y="2953072"/>
            <a:ext cx="51701" cy="752680"/>
          </a:xfrm>
          <a:custGeom>
            <a:avLst/>
            <a:gdLst/>
            <a:ahLst/>
            <a:cxnLst/>
            <a:rect l="l" t="t" r="r" b="b"/>
            <a:pathLst>
              <a:path w="41909" h="580389">
                <a:moveTo>
                  <a:pt x="41322" y="0"/>
                </a:moveTo>
                <a:lnTo>
                  <a:pt x="0" y="19996"/>
                </a:lnTo>
                <a:lnTo>
                  <a:pt x="0" y="559801"/>
                </a:lnTo>
                <a:lnTo>
                  <a:pt x="41322" y="579793"/>
                </a:lnTo>
                <a:lnTo>
                  <a:pt x="41322" y="0"/>
                </a:lnTo>
                <a:close/>
              </a:path>
            </a:pathLst>
          </a:custGeom>
          <a:solidFill>
            <a:srgbClr val="994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1"/>
          <p:cNvSpPr/>
          <p:nvPr/>
        </p:nvSpPr>
        <p:spPr>
          <a:xfrm>
            <a:off x="1471043" y="2992013"/>
            <a:ext cx="45731" cy="653036"/>
          </a:xfrm>
          <a:custGeom>
            <a:avLst/>
            <a:gdLst/>
            <a:ahLst/>
            <a:cxnLst/>
            <a:rect l="l" t="t" r="r" b="b"/>
            <a:pathLst>
              <a:path w="33019" h="503555">
                <a:moveTo>
                  <a:pt x="32846" y="0"/>
                </a:moveTo>
                <a:lnTo>
                  <a:pt x="0" y="15775"/>
                </a:lnTo>
                <a:lnTo>
                  <a:pt x="0" y="486136"/>
                </a:lnTo>
                <a:lnTo>
                  <a:pt x="32846" y="502977"/>
                </a:lnTo>
                <a:lnTo>
                  <a:pt x="32846" y="0"/>
                </a:lnTo>
                <a:close/>
              </a:path>
            </a:pathLst>
          </a:custGeom>
          <a:solidFill>
            <a:srgbClr val="994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3"/>
          <p:cNvSpPr txBox="1"/>
          <p:nvPr/>
        </p:nvSpPr>
        <p:spPr>
          <a:xfrm>
            <a:off x="1421753" y="3866227"/>
            <a:ext cx="95021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7325" marR="5080" indent="-175260">
              <a:lnSpc>
                <a:spcPct val="100000"/>
              </a:lnSpc>
            </a:pPr>
            <a:r>
              <a:rPr sz="1600" b="1" spc="-5" dirty="0">
                <a:solidFill>
                  <a:srgbClr val="46464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Amazon EC2</a:t>
            </a:r>
            <a:endParaRPr sz="16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65489" y="2667000"/>
            <a:ext cx="1600617" cy="1828800"/>
          </a:xfrm>
          <a:prstGeom prst="roundRect">
            <a:avLst/>
          </a:prstGeom>
          <a:noFill/>
          <a:ln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bject 6"/>
          <p:cNvSpPr/>
          <p:nvPr/>
        </p:nvSpPr>
        <p:spPr>
          <a:xfrm>
            <a:off x="2970986" y="1600201"/>
            <a:ext cx="8003084" cy="4190999"/>
          </a:xfrm>
          <a:custGeom>
            <a:avLst/>
            <a:gdLst/>
            <a:ahLst/>
            <a:cxnLst/>
            <a:rect l="l" t="t" r="r" b="b"/>
            <a:pathLst>
              <a:path w="6227445" h="2362200">
                <a:moveTo>
                  <a:pt x="0" y="231901"/>
                </a:moveTo>
                <a:lnTo>
                  <a:pt x="6743" y="176192"/>
                </a:lnTo>
                <a:lnTo>
                  <a:pt x="25895" y="125356"/>
                </a:lnTo>
                <a:lnTo>
                  <a:pt x="55842" y="81007"/>
                </a:lnTo>
                <a:lnTo>
                  <a:pt x="94969" y="44760"/>
                </a:lnTo>
                <a:lnTo>
                  <a:pt x="141660" y="18232"/>
                </a:lnTo>
                <a:lnTo>
                  <a:pt x="194300" y="3036"/>
                </a:lnTo>
                <a:lnTo>
                  <a:pt x="231901" y="0"/>
                </a:lnTo>
                <a:lnTo>
                  <a:pt x="5995162" y="0"/>
                </a:lnTo>
                <a:lnTo>
                  <a:pt x="6050871" y="6743"/>
                </a:lnTo>
                <a:lnTo>
                  <a:pt x="6101707" y="25895"/>
                </a:lnTo>
                <a:lnTo>
                  <a:pt x="6146056" y="55842"/>
                </a:lnTo>
                <a:lnTo>
                  <a:pt x="6182303" y="94969"/>
                </a:lnTo>
                <a:lnTo>
                  <a:pt x="6208831" y="141660"/>
                </a:lnTo>
                <a:lnTo>
                  <a:pt x="6224027" y="194300"/>
                </a:lnTo>
                <a:lnTo>
                  <a:pt x="6227064" y="231901"/>
                </a:lnTo>
                <a:lnTo>
                  <a:pt x="6227064" y="2130298"/>
                </a:lnTo>
                <a:lnTo>
                  <a:pt x="6220320" y="2186007"/>
                </a:lnTo>
                <a:lnTo>
                  <a:pt x="6201168" y="2236843"/>
                </a:lnTo>
                <a:lnTo>
                  <a:pt x="6171221" y="2281192"/>
                </a:lnTo>
                <a:lnTo>
                  <a:pt x="6132094" y="2317439"/>
                </a:lnTo>
                <a:lnTo>
                  <a:pt x="6085403" y="2343967"/>
                </a:lnTo>
                <a:lnTo>
                  <a:pt x="6032763" y="2359163"/>
                </a:lnTo>
                <a:lnTo>
                  <a:pt x="5995162" y="2362200"/>
                </a:lnTo>
                <a:lnTo>
                  <a:pt x="231901" y="2362200"/>
                </a:lnTo>
                <a:lnTo>
                  <a:pt x="176192" y="2355456"/>
                </a:lnTo>
                <a:lnTo>
                  <a:pt x="125356" y="2336304"/>
                </a:lnTo>
                <a:lnTo>
                  <a:pt x="81007" y="2306357"/>
                </a:lnTo>
                <a:lnTo>
                  <a:pt x="44760" y="2267230"/>
                </a:lnTo>
                <a:lnTo>
                  <a:pt x="18232" y="2220539"/>
                </a:lnTo>
                <a:lnTo>
                  <a:pt x="3036" y="2167899"/>
                </a:lnTo>
                <a:lnTo>
                  <a:pt x="0" y="2130298"/>
                </a:lnTo>
                <a:lnTo>
                  <a:pt x="0" y="231901"/>
                </a:lnTo>
                <a:close/>
              </a:path>
            </a:pathLst>
          </a:custGeom>
          <a:ln w="19811">
            <a:solidFill>
              <a:srgbClr val="464646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99645" y="1981200"/>
            <a:ext cx="7545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199645" y="1905000"/>
            <a:ext cx="76219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Amazon Elastic Compute Cloud (Amazon EC2) provides scalable computing capacity in the Amazon Web Services (AWS) cloud.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It provides you with complete control of your computing resources and lets you run on Amazon’s proven computing environment.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Amazon EC2 reduces the time required to obtain and boot new server instances (EC2 instances) to minutes.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Amazon EC2 changes the economics of computing by allowing you to pay only for capacity that you actually use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What is EC2?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8C95BA-E631-4D79-A90A-70CDC966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79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Benefits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830" y="1600200"/>
            <a:ext cx="2591475" cy="1524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Elastic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Web-Scale Computing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4525" y="1600200"/>
            <a:ext cx="2591475" cy="1524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Completely Controlled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19" y="1600200"/>
            <a:ext cx="2591475" cy="1524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Flexible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Cloud Hosting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9914" y="1600200"/>
            <a:ext cx="2591475" cy="1524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Integrated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32567" y="3505200"/>
            <a:ext cx="2591475" cy="1524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Reliable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262" y="3505200"/>
            <a:ext cx="2591475" cy="1524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Secure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7957" y="3505200"/>
            <a:ext cx="2591475" cy="1524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Inexpensive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6A4054-41E5-4DD7-9260-CF0AD27F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25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390" y="1676400"/>
            <a:ext cx="1676837" cy="1524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Instances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447" y="1687286"/>
            <a:ext cx="1669126" cy="151311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8215" y="1687286"/>
            <a:ext cx="1669125" cy="151311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Instance 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51272" y="1687286"/>
            <a:ext cx="1669125" cy="1524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Key </a:t>
            </a:r>
          </a:p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Pair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066" y="3505200"/>
            <a:ext cx="1698192" cy="1524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Tags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22808" y="3502231"/>
            <a:ext cx="1676335" cy="151311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VPC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8242" y="3491345"/>
            <a:ext cx="1683145" cy="151311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Security</a:t>
            </a:r>
          </a:p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Group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59010" y="3491345"/>
            <a:ext cx="1684548" cy="1524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6618" y="1676400"/>
            <a:ext cx="1676836" cy="1524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Instance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700" y="3505200"/>
            <a:ext cx="1684548" cy="1524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Regions </a:t>
            </a:r>
          </a:p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&amp; </a:t>
            </a:r>
          </a:p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AZs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49674" y="1676400"/>
            <a:ext cx="1676836" cy="1524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EBS Volumes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D5D69C-F2EE-4ECD-8263-AAC2ADB4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88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How to access EC2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0610" y="1600200"/>
            <a:ext cx="10365899" cy="1066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Web-based User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46589" y="3124200"/>
            <a:ext cx="9186759" cy="1066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Command Line Interface (CLI)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50753" y="4572000"/>
            <a:ext cx="7732459" cy="1066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Windows PowerShell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00B6D4-CB18-4C04-97FE-6E4BCD264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21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Instance Types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2C0C9E-5AD0-44B7-9CC4-91EE7C340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  <p:pic>
        <p:nvPicPr>
          <p:cNvPr id="1026" name="Picture 2" descr="ec2-instance-types-diagram">
            <a:extLst>
              <a:ext uri="{FF2B5EF4-FFF2-40B4-BE49-F238E27FC236}">
                <a16:creationId xmlns:a16="http://schemas.microsoft.com/office/drawing/2014/main" id="{5BEA53F2-3333-4F5D-B1E0-2BCE95A60B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1044575"/>
            <a:ext cx="8868705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682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4"/>
          <p:cNvSpPr/>
          <p:nvPr/>
        </p:nvSpPr>
        <p:spPr>
          <a:xfrm>
            <a:off x="429880" y="1608650"/>
            <a:ext cx="1580927" cy="4038600"/>
          </a:xfrm>
          <a:custGeom>
            <a:avLst/>
            <a:gdLst/>
            <a:ahLst/>
            <a:cxnLst/>
            <a:rect l="l" t="t" r="r" b="b"/>
            <a:pathLst>
              <a:path w="1580514" h="3115310">
                <a:moveTo>
                  <a:pt x="1422400" y="0"/>
                </a:moveTo>
                <a:lnTo>
                  <a:pt x="149233" y="241"/>
                </a:lnTo>
                <a:lnTo>
                  <a:pt x="107061" y="8399"/>
                </a:lnTo>
                <a:lnTo>
                  <a:pt x="69706" y="26962"/>
                </a:lnTo>
                <a:lnTo>
                  <a:pt x="38780" y="54317"/>
                </a:lnTo>
                <a:lnTo>
                  <a:pt x="15895" y="88853"/>
                </a:lnTo>
                <a:lnTo>
                  <a:pt x="2662" y="128956"/>
                </a:lnTo>
                <a:lnTo>
                  <a:pt x="0" y="157987"/>
                </a:lnTo>
                <a:lnTo>
                  <a:pt x="238" y="2965877"/>
                </a:lnTo>
                <a:lnTo>
                  <a:pt x="8390" y="3008030"/>
                </a:lnTo>
                <a:lnTo>
                  <a:pt x="26954" y="3045370"/>
                </a:lnTo>
                <a:lnTo>
                  <a:pt x="54317" y="3076286"/>
                </a:lnTo>
                <a:lnTo>
                  <a:pt x="88867" y="3099164"/>
                </a:lnTo>
                <a:lnTo>
                  <a:pt x="128990" y="3112393"/>
                </a:lnTo>
                <a:lnTo>
                  <a:pt x="158038" y="3115056"/>
                </a:lnTo>
                <a:lnTo>
                  <a:pt x="1431121" y="3114819"/>
                </a:lnTo>
                <a:lnTo>
                  <a:pt x="1473296" y="3106680"/>
                </a:lnTo>
                <a:lnTo>
                  <a:pt x="1510658" y="3088130"/>
                </a:lnTo>
                <a:lnTo>
                  <a:pt x="1541593" y="3060783"/>
                </a:lnTo>
                <a:lnTo>
                  <a:pt x="1564486" y="3026252"/>
                </a:lnTo>
                <a:lnTo>
                  <a:pt x="1577724" y="2986151"/>
                </a:lnTo>
                <a:lnTo>
                  <a:pt x="1580388" y="2957118"/>
                </a:lnTo>
                <a:lnTo>
                  <a:pt x="1580287" y="854074"/>
                </a:lnTo>
                <a:lnTo>
                  <a:pt x="1580149" y="149226"/>
                </a:lnTo>
                <a:lnTo>
                  <a:pt x="1571999" y="107061"/>
                </a:lnTo>
                <a:lnTo>
                  <a:pt x="1553439" y="69709"/>
                </a:lnTo>
                <a:lnTo>
                  <a:pt x="1526083" y="38783"/>
                </a:lnTo>
                <a:lnTo>
                  <a:pt x="1491544" y="15896"/>
                </a:lnTo>
                <a:lnTo>
                  <a:pt x="1451436" y="2662"/>
                </a:lnTo>
                <a:lnTo>
                  <a:pt x="1422400" y="0"/>
                </a:lnTo>
                <a:close/>
              </a:path>
            </a:pathLst>
          </a:custGeom>
          <a:solidFill>
            <a:srgbClr val="F7DBCD"/>
          </a:solid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object 15"/>
          <p:cNvSpPr txBox="1"/>
          <p:nvPr/>
        </p:nvSpPr>
        <p:spPr>
          <a:xfrm>
            <a:off x="608171" y="1837251"/>
            <a:ext cx="1172515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25"/>
              </a:lnSpc>
            </a:pPr>
            <a:r>
              <a:rPr sz="1000" b="1" spc="-1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</a:t>
            </a:r>
            <a:r>
              <a:rPr sz="1000" b="1" spc="-1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n-</a:t>
            </a:r>
            <a:r>
              <a:rPr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De</a:t>
            </a:r>
            <a:r>
              <a:rPr sz="1000" b="1" spc="-1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sz="1000" b="1" spc="-1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n</a:t>
            </a:r>
            <a:r>
              <a:rPr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  <a:endParaRPr sz="1000" b="1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ctr">
              <a:lnSpc>
                <a:spcPts val="1825"/>
              </a:lnSpc>
            </a:pPr>
            <a:r>
              <a:rPr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Ins</a:t>
            </a:r>
            <a:r>
              <a:rPr sz="1000" b="1" spc="-1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ances</a:t>
            </a:r>
            <a:endParaRPr sz="1000" b="1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object 16"/>
          <p:cNvSpPr/>
          <p:nvPr/>
        </p:nvSpPr>
        <p:spPr>
          <a:xfrm>
            <a:off x="527441" y="3054164"/>
            <a:ext cx="1382628" cy="21442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object 17"/>
          <p:cNvSpPr/>
          <p:nvPr/>
        </p:nvSpPr>
        <p:spPr>
          <a:xfrm>
            <a:off x="585369" y="3950315"/>
            <a:ext cx="1265249" cy="37334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object 18"/>
          <p:cNvSpPr/>
          <p:nvPr/>
        </p:nvSpPr>
        <p:spPr>
          <a:xfrm>
            <a:off x="589184" y="2406057"/>
            <a:ext cx="1263979" cy="2715667"/>
          </a:xfrm>
          <a:custGeom>
            <a:avLst/>
            <a:gdLst/>
            <a:ahLst/>
            <a:cxnLst/>
            <a:rect l="l" t="t" r="r" b="b"/>
            <a:pathLst>
              <a:path w="1263650" h="2025650">
                <a:moveTo>
                  <a:pt x="1137026" y="0"/>
                </a:moveTo>
                <a:lnTo>
                  <a:pt x="125294" y="4"/>
                </a:lnTo>
                <a:lnTo>
                  <a:pt x="82999" y="7637"/>
                </a:lnTo>
                <a:lnTo>
                  <a:pt x="46887" y="28128"/>
                </a:lnTo>
                <a:lnTo>
                  <a:pt x="19480" y="58944"/>
                </a:lnTo>
                <a:lnTo>
                  <a:pt x="3299" y="97550"/>
                </a:lnTo>
                <a:lnTo>
                  <a:pt x="0" y="1900067"/>
                </a:lnTo>
                <a:lnTo>
                  <a:pt x="960" y="1914700"/>
                </a:lnTo>
                <a:lnTo>
                  <a:pt x="13152" y="1955224"/>
                </a:lnTo>
                <a:lnTo>
                  <a:pt x="37349" y="1988723"/>
                </a:lnTo>
                <a:lnTo>
                  <a:pt x="71030" y="2012673"/>
                </a:lnTo>
                <a:lnTo>
                  <a:pt x="111675" y="2024554"/>
                </a:lnTo>
                <a:lnTo>
                  <a:pt x="126335" y="2025395"/>
                </a:lnTo>
                <a:lnTo>
                  <a:pt x="1138110" y="2025391"/>
                </a:lnTo>
                <a:lnTo>
                  <a:pt x="1180425" y="2017753"/>
                </a:lnTo>
                <a:lnTo>
                  <a:pt x="1216534" y="1997267"/>
                </a:lnTo>
                <a:lnTo>
                  <a:pt x="1243925" y="1966455"/>
                </a:lnTo>
                <a:lnTo>
                  <a:pt x="1260091" y="1927839"/>
                </a:lnTo>
                <a:lnTo>
                  <a:pt x="1263387" y="125304"/>
                </a:lnTo>
                <a:lnTo>
                  <a:pt x="1262427" y="110685"/>
                </a:lnTo>
                <a:lnTo>
                  <a:pt x="1250243" y="70184"/>
                </a:lnTo>
                <a:lnTo>
                  <a:pt x="1226054" y="36688"/>
                </a:lnTo>
                <a:lnTo>
                  <a:pt x="1192369" y="12730"/>
                </a:lnTo>
                <a:lnTo>
                  <a:pt x="1151700" y="842"/>
                </a:lnTo>
                <a:lnTo>
                  <a:pt x="1137026" y="0"/>
                </a:lnTo>
                <a:close/>
              </a:path>
            </a:pathLst>
          </a:custGeom>
          <a:solidFill>
            <a:srgbClr val="E98E30"/>
          </a:solid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object 19"/>
          <p:cNvSpPr/>
          <p:nvPr/>
        </p:nvSpPr>
        <p:spPr>
          <a:xfrm>
            <a:off x="589180" y="2406057"/>
            <a:ext cx="1263979" cy="2715667"/>
          </a:xfrm>
          <a:custGeom>
            <a:avLst/>
            <a:gdLst/>
            <a:ahLst/>
            <a:cxnLst/>
            <a:rect l="l" t="t" r="r" b="b"/>
            <a:pathLst>
              <a:path w="1263650" h="2025650">
                <a:moveTo>
                  <a:pt x="0" y="126364"/>
                </a:moveTo>
                <a:lnTo>
                  <a:pt x="7294" y="83972"/>
                </a:lnTo>
                <a:lnTo>
                  <a:pt x="27497" y="47681"/>
                </a:lnTo>
                <a:lnTo>
                  <a:pt x="58086" y="20026"/>
                </a:lnTo>
                <a:lnTo>
                  <a:pt x="96539" y="3539"/>
                </a:lnTo>
                <a:lnTo>
                  <a:pt x="1137031" y="0"/>
                </a:lnTo>
                <a:lnTo>
                  <a:pt x="1151705" y="842"/>
                </a:lnTo>
                <a:lnTo>
                  <a:pt x="1192374" y="12730"/>
                </a:lnTo>
                <a:lnTo>
                  <a:pt x="1226058" y="36688"/>
                </a:lnTo>
                <a:lnTo>
                  <a:pt x="1250248" y="70184"/>
                </a:lnTo>
                <a:lnTo>
                  <a:pt x="1262432" y="110685"/>
                </a:lnTo>
                <a:lnTo>
                  <a:pt x="1263396" y="1899005"/>
                </a:lnTo>
                <a:lnTo>
                  <a:pt x="1262555" y="1913669"/>
                </a:lnTo>
                <a:lnTo>
                  <a:pt x="1250690" y="1954326"/>
                </a:lnTo>
                <a:lnTo>
                  <a:pt x="1226761" y="1988019"/>
                </a:lnTo>
                <a:lnTo>
                  <a:pt x="1193279" y="2012227"/>
                </a:lnTo>
                <a:lnTo>
                  <a:pt x="1152754" y="2024428"/>
                </a:lnTo>
                <a:lnTo>
                  <a:pt x="126339" y="2025395"/>
                </a:lnTo>
                <a:lnTo>
                  <a:pt x="111679" y="2024554"/>
                </a:lnTo>
                <a:lnTo>
                  <a:pt x="71034" y="2012673"/>
                </a:lnTo>
                <a:lnTo>
                  <a:pt x="37353" y="1988723"/>
                </a:lnTo>
                <a:lnTo>
                  <a:pt x="13156" y="1955224"/>
                </a:lnTo>
                <a:lnTo>
                  <a:pt x="964" y="1914700"/>
                </a:lnTo>
                <a:lnTo>
                  <a:pt x="0" y="12636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object 20"/>
          <p:cNvSpPr txBox="1"/>
          <p:nvPr/>
        </p:nvSpPr>
        <p:spPr>
          <a:xfrm>
            <a:off x="698886" y="3551007"/>
            <a:ext cx="104103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ay</a:t>
            </a:r>
            <a:r>
              <a:rPr sz="1000" b="1" spc="-1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by</a:t>
            </a:r>
            <a:r>
              <a:rPr sz="1000" b="1" spc="-1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the</a:t>
            </a:r>
            <a:r>
              <a:rPr sz="1000" b="1" spc="-2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h</a:t>
            </a: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ur</a:t>
            </a:r>
            <a:endParaRPr sz="1000" b="1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object 21"/>
          <p:cNvSpPr/>
          <p:nvPr/>
        </p:nvSpPr>
        <p:spPr>
          <a:xfrm>
            <a:off x="2667695" y="1608650"/>
            <a:ext cx="1579656" cy="4038600"/>
          </a:xfrm>
          <a:custGeom>
            <a:avLst/>
            <a:gdLst/>
            <a:ahLst/>
            <a:cxnLst/>
            <a:rect l="l" t="t" r="r" b="b"/>
            <a:pathLst>
              <a:path w="1579245" h="3115310">
                <a:moveTo>
                  <a:pt x="1421002" y="0"/>
                </a:moveTo>
                <a:lnTo>
                  <a:pt x="149211" y="233"/>
                </a:lnTo>
                <a:lnTo>
                  <a:pt x="107072" y="8363"/>
                </a:lnTo>
                <a:lnTo>
                  <a:pt x="69728" y="26914"/>
                </a:lnTo>
                <a:lnTo>
                  <a:pt x="38800" y="54271"/>
                </a:lnTo>
                <a:lnTo>
                  <a:pt x="15905" y="88818"/>
                </a:lnTo>
                <a:lnTo>
                  <a:pt x="2664" y="128940"/>
                </a:lnTo>
                <a:lnTo>
                  <a:pt x="0" y="157987"/>
                </a:lnTo>
                <a:lnTo>
                  <a:pt x="231" y="2965737"/>
                </a:lnTo>
                <a:lnTo>
                  <a:pt x="8352" y="3007924"/>
                </a:lnTo>
                <a:lnTo>
                  <a:pt x="26893" y="3045299"/>
                </a:lnTo>
                <a:lnTo>
                  <a:pt x="54237" y="3076245"/>
                </a:lnTo>
                <a:lnTo>
                  <a:pt x="88761" y="3099147"/>
                </a:lnTo>
                <a:lnTo>
                  <a:pt x="128847" y="3112391"/>
                </a:lnTo>
                <a:lnTo>
                  <a:pt x="157861" y="3115056"/>
                </a:lnTo>
                <a:lnTo>
                  <a:pt x="1429611" y="3114824"/>
                </a:lnTo>
                <a:lnTo>
                  <a:pt x="1471761" y="3106705"/>
                </a:lnTo>
                <a:lnTo>
                  <a:pt x="1509114" y="3088164"/>
                </a:lnTo>
                <a:lnTo>
                  <a:pt x="1540051" y="3060816"/>
                </a:lnTo>
                <a:lnTo>
                  <a:pt x="1562953" y="3026277"/>
                </a:lnTo>
                <a:lnTo>
                  <a:pt x="1576198" y="2986162"/>
                </a:lnTo>
                <a:lnTo>
                  <a:pt x="1578864" y="2957118"/>
                </a:lnTo>
                <a:lnTo>
                  <a:pt x="1578765" y="854116"/>
                </a:lnTo>
                <a:lnTo>
                  <a:pt x="1578630" y="149326"/>
                </a:lnTo>
                <a:lnTo>
                  <a:pt x="1570501" y="107136"/>
                </a:lnTo>
                <a:lnTo>
                  <a:pt x="1551956" y="69759"/>
                </a:lnTo>
                <a:lnTo>
                  <a:pt x="1524613" y="38812"/>
                </a:lnTo>
                <a:lnTo>
                  <a:pt x="1490092" y="15908"/>
                </a:lnTo>
                <a:lnTo>
                  <a:pt x="1450012" y="2665"/>
                </a:lnTo>
                <a:lnTo>
                  <a:pt x="1421002" y="0"/>
                </a:lnTo>
                <a:close/>
              </a:path>
            </a:pathLst>
          </a:custGeom>
          <a:solidFill>
            <a:srgbClr val="F7DBCD"/>
          </a:solid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object 22"/>
          <p:cNvSpPr txBox="1"/>
          <p:nvPr/>
        </p:nvSpPr>
        <p:spPr>
          <a:xfrm>
            <a:off x="3124200" y="1837249"/>
            <a:ext cx="686594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034">
              <a:lnSpc>
                <a:spcPts val="1825"/>
              </a:lnSpc>
            </a:pPr>
            <a:r>
              <a:rPr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Reserved</a:t>
            </a:r>
          </a:p>
          <a:p>
            <a:pPr marL="12700">
              <a:lnSpc>
                <a:spcPts val="1825"/>
              </a:lnSpc>
            </a:pPr>
            <a:r>
              <a:rPr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Instances</a:t>
            </a:r>
          </a:p>
        </p:txBody>
      </p:sp>
      <p:sp>
        <p:nvSpPr>
          <p:cNvPr id="13" name="object 23"/>
          <p:cNvSpPr/>
          <p:nvPr/>
        </p:nvSpPr>
        <p:spPr>
          <a:xfrm>
            <a:off x="2763732" y="3055701"/>
            <a:ext cx="1382627" cy="10576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object 24"/>
          <p:cNvSpPr/>
          <p:nvPr/>
        </p:nvSpPr>
        <p:spPr>
          <a:xfrm>
            <a:off x="2803368" y="3105955"/>
            <a:ext cx="1303358" cy="9784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object 25"/>
          <p:cNvSpPr/>
          <p:nvPr/>
        </p:nvSpPr>
        <p:spPr>
          <a:xfrm>
            <a:off x="2825470" y="2446851"/>
            <a:ext cx="1263979" cy="1589913"/>
          </a:xfrm>
          <a:custGeom>
            <a:avLst/>
            <a:gdLst/>
            <a:ahLst/>
            <a:cxnLst/>
            <a:rect l="l" t="t" r="r" b="b"/>
            <a:pathLst>
              <a:path w="1263650" h="939164">
                <a:moveTo>
                  <a:pt x="1169542" y="0"/>
                </a:moveTo>
                <a:lnTo>
                  <a:pt x="87201" y="232"/>
                </a:lnTo>
                <a:lnTo>
                  <a:pt x="46882" y="12589"/>
                </a:lnTo>
                <a:lnTo>
                  <a:pt x="16665" y="40463"/>
                </a:lnTo>
                <a:lnTo>
                  <a:pt x="1126" y="79275"/>
                </a:lnTo>
                <a:lnTo>
                  <a:pt x="0" y="93852"/>
                </a:lnTo>
                <a:lnTo>
                  <a:pt x="232" y="851582"/>
                </a:lnTo>
                <a:lnTo>
                  <a:pt x="12589" y="891901"/>
                </a:lnTo>
                <a:lnTo>
                  <a:pt x="40463" y="922118"/>
                </a:lnTo>
                <a:lnTo>
                  <a:pt x="79275" y="937657"/>
                </a:lnTo>
                <a:lnTo>
                  <a:pt x="93852" y="938783"/>
                </a:lnTo>
                <a:lnTo>
                  <a:pt x="1176194" y="938551"/>
                </a:lnTo>
                <a:lnTo>
                  <a:pt x="1216513" y="926194"/>
                </a:lnTo>
                <a:lnTo>
                  <a:pt x="1246730" y="898320"/>
                </a:lnTo>
                <a:lnTo>
                  <a:pt x="1262269" y="859508"/>
                </a:lnTo>
                <a:lnTo>
                  <a:pt x="1263396" y="844931"/>
                </a:lnTo>
                <a:lnTo>
                  <a:pt x="1263163" y="87201"/>
                </a:lnTo>
                <a:lnTo>
                  <a:pt x="1250806" y="46882"/>
                </a:lnTo>
                <a:lnTo>
                  <a:pt x="1222932" y="16665"/>
                </a:lnTo>
                <a:lnTo>
                  <a:pt x="1184120" y="1126"/>
                </a:lnTo>
                <a:lnTo>
                  <a:pt x="1169542" y="0"/>
                </a:lnTo>
                <a:close/>
              </a:path>
            </a:pathLst>
          </a:custGeom>
          <a:solidFill>
            <a:srgbClr val="E98E30"/>
          </a:solid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object 26"/>
          <p:cNvSpPr/>
          <p:nvPr/>
        </p:nvSpPr>
        <p:spPr>
          <a:xfrm>
            <a:off x="2825470" y="2406057"/>
            <a:ext cx="1263979" cy="1630707"/>
          </a:xfrm>
          <a:custGeom>
            <a:avLst/>
            <a:gdLst/>
            <a:ahLst/>
            <a:cxnLst/>
            <a:rect l="l" t="t" r="r" b="b"/>
            <a:pathLst>
              <a:path w="1263650" h="939164">
                <a:moveTo>
                  <a:pt x="0" y="93852"/>
                </a:moveTo>
                <a:lnTo>
                  <a:pt x="9628" y="52411"/>
                </a:lnTo>
                <a:lnTo>
                  <a:pt x="35461" y="20382"/>
                </a:lnTo>
                <a:lnTo>
                  <a:pt x="72922" y="2344"/>
                </a:lnTo>
                <a:lnTo>
                  <a:pt x="1169542" y="0"/>
                </a:lnTo>
                <a:lnTo>
                  <a:pt x="1184120" y="1126"/>
                </a:lnTo>
                <a:lnTo>
                  <a:pt x="1222932" y="16665"/>
                </a:lnTo>
                <a:lnTo>
                  <a:pt x="1250806" y="46882"/>
                </a:lnTo>
                <a:lnTo>
                  <a:pt x="1263163" y="87201"/>
                </a:lnTo>
                <a:lnTo>
                  <a:pt x="1263396" y="844931"/>
                </a:lnTo>
                <a:lnTo>
                  <a:pt x="1262269" y="859508"/>
                </a:lnTo>
                <a:lnTo>
                  <a:pt x="1246730" y="898320"/>
                </a:lnTo>
                <a:lnTo>
                  <a:pt x="1216513" y="926194"/>
                </a:lnTo>
                <a:lnTo>
                  <a:pt x="1176194" y="938551"/>
                </a:lnTo>
                <a:lnTo>
                  <a:pt x="93852" y="938783"/>
                </a:lnTo>
                <a:lnTo>
                  <a:pt x="79275" y="937657"/>
                </a:lnTo>
                <a:lnTo>
                  <a:pt x="40463" y="922118"/>
                </a:lnTo>
                <a:lnTo>
                  <a:pt x="12589" y="891901"/>
                </a:lnTo>
                <a:lnTo>
                  <a:pt x="232" y="851582"/>
                </a:lnTo>
                <a:lnTo>
                  <a:pt x="0" y="93852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object 27"/>
          <p:cNvSpPr txBox="1"/>
          <p:nvPr/>
        </p:nvSpPr>
        <p:spPr>
          <a:xfrm>
            <a:off x="2933442" y="2577406"/>
            <a:ext cx="1079781" cy="1077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905" algn="just">
              <a:lnSpc>
                <a:spcPts val="1190"/>
              </a:lnSpc>
            </a:pP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urchase</a:t>
            </a:r>
            <a:r>
              <a:rPr sz="1000" b="1" spc="-2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at significant discount</a:t>
            </a:r>
            <a:r>
              <a:rPr lang="en-US"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(up to 75%).</a:t>
            </a:r>
          </a:p>
          <a:p>
            <a:pPr marL="12700" marR="5080" indent="-1905" algn="just">
              <a:lnSpc>
                <a:spcPts val="1190"/>
              </a:lnSpc>
            </a:pPr>
            <a:endParaRPr lang="en-US" sz="1000" b="1" dirty="0">
              <a:solidFill>
                <a:srgbClr val="FFFFFF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2700" marR="5080" indent="-1905" algn="just">
              <a:lnSpc>
                <a:spcPts val="1190"/>
              </a:lnSpc>
            </a:pPr>
            <a:r>
              <a:rPr lang="en-US"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Instances are always available</a:t>
            </a:r>
          </a:p>
          <a:p>
            <a:pPr marL="12700" marR="5080" indent="-1905" algn="just">
              <a:lnSpc>
                <a:spcPts val="1190"/>
              </a:lnSpc>
            </a:pP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en-US" sz="1000" b="1" dirty="0">
              <a:solidFill>
                <a:srgbClr val="FFFFFF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object 28"/>
          <p:cNvSpPr/>
          <p:nvPr/>
        </p:nvSpPr>
        <p:spPr>
          <a:xfrm>
            <a:off x="2763732" y="4139252"/>
            <a:ext cx="1382627" cy="10591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object 29"/>
          <p:cNvSpPr/>
          <p:nvPr/>
        </p:nvSpPr>
        <p:spPr>
          <a:xfrm>
            <a:off x="2838429" y="4416620"/>
            <a:ext cx="1269810" cy="5257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0" name="object 30"/>
          <p:cNvSpPr/>
          <p:nvPr/>
        </p:nvSpPr>
        <p:spPr>
          <a:xfrm>
            <a:off x="2825470" y="4181162"/>
            <a:ext cx="1263979" cy="940435"/>
          </a:xfrm>
          <a:custGeom>
            <a:avLst/>
            <a:gdLst/>
            <a:ahLst/>
            <a:cxnLst/>
            <a:rect l="l" t="t" r="r" b="b"/>
            <a:pathLst>
              <a:path w="1263650" h="940435">
                <a:moveTo>
                  <a:pt x="1169542" y="0"/>
                </a:moveTo>
                <a:lnTo>
                  <a:pt x="87102" y="239"/>
                </a:lnTo>
                <a:lnTo>
                  <a:pt x="46825" y="12627"/>
                </a:lnTo>
                <a:lnTo>
                  <a:pt x="16643" y="40524"/>
                </a:lnTo>
                <a:lnTo>
                  <a:pt x="1124" y="79379"/>
                </a:lnTo>
                <a:lnTo>
                  <a:pt x="0" y="93980"/>
                </a:lnTo>
                <a:lnTo>
                  <a:pt x="242" y="853081"/>
                </a:lnTo>
                <a:lnTo>
                  <a:pt x="12635" y="893423"/>
                </a:lnTo>
                <a:lnTo>
                  <a:pt x="40506" y="923645"/>
                </a:lnTo>
                <a:lnTo>
                  <a:pt x="79289" y="939182"/>
                </a:lnTo>
                <a:lnTo>
                  <a:pt x="93852" y="940307"/>
                </a:lnTo>
                <a:lnTo>
                  <a:pt x="1176332" y="940065"/>
                </a:lnTo>
                <a:lnTo>
                  <a:pt x="1216592" y="927651"/>
                </a:lnTo>
                <a:lnTo>
                  <a:pt x="1246760" y="899731"/>
                </a:lnTo>
                <a:lnTo>
                  <a:pt x="1262271" y="860872"/>
                </a:lnTo>
                <a:lnTo>
                  <a:pt x="1263396" y="846277"/>
                </a:lnTo>
                <a:lnTo>
                  <a:pt x="1263156" y="87213"/>
                </a:lnTo>
                <a:lnTo>
                  <a:pt x="1250773" y="46864"/>
                </a:lnTo>
                <a:lnTo>
                  <a:pt x="1222901" y="16650"/>
                </a:lnTo>
                <a:lnTo>
                  <a:pt x="1184110" y="1124"/>
                </a:lnTo>
                <a:lnTo>
                  <a:pt x="1169542" y="0"/>
                </a:lnTo>
                <a:close/>
              </a:path>
            </a:pathLst>
          </a:custGeom>
          <a:solidFill>
            <a:srgbClr val="E98E30"/>
          </a:solid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object 31"/>
          <p:cNvSpPr/>
          <p:nvPr/>
        </p:nvSpPr>
        <p:spPr>
          <a:xfrm>
            <a:off x="2825470" y="4181162"/>
            <a:ext cx="1263979" cy="940435"/>
          </a:xfrm>
          <a:custGeom>
            <a:avLst/>
            <a:gdLst/>
            <a:ahLst/>
            <a:cxnLst/>
            <a:rect l="l" t="t" r="r" b="b"/>
            <a:pathLst>
              <a:path w="1263650" h="940435">
                <a:moveTo>
                  <a:pt x="0" y="93980"/>
                </a:moveTo>
                <a:lnTo>
                  <a:pt x="9615" y="52482"/>
                </a:lnTo>
                <a:lnTo>
                  <a:pt x="35418" y="20427"/>
                </a:lnTo>
                <a:lnTo>
                  <a:pt x="72837" y="2364"/>
                </a:lnTo>
                <a:lnTo>
                  <a:pt x="1169542" y="0"/>
                </a:lnTo>
                <a:lnTo>
                  <a:pt x="1184110" y="1124"/>
                </a:lnTo>
                <a:lnTo>
                  <a:pt x="1222901" y="16650"/>
                </a:lnTo>
                <a:lnTo>
                  <a:pt x="1250773" y="46864"/>
                </a:lnTo>
                <a:lnTo>
                  <a:pt x="1263156" y="87213"/>
                </a:lnTo>
                <a:lnTo>
                  <a:pt x="1263396" y="846277"/>
                </a:lnTo>
                <a:lnTo>
                  <a:pt x="1262271" y="860872"/>
                </a:lnTo>
                <a:lnTo>
                  <a:pt x="1246760" y="899731"/>
                </a:lnTo>
                <a:lnTo>
                  <a:pt x="1216592" y="927651"/>
                </a:lnTo>
                <a:lnTo>
                  <a:pt x="1176332" y="940065"/>
                </a:lnTo>
                <a:lnTo>
                  <a:pt x="93852" y="940307"/>
                </a:lnTo>
                <a:lnTo>
                  <a:pt x="79289" y="939182"/>
                </a:lnTo>
                <a:lnTo>
                  <a:pt x="40506" y="923645"/>
                </a:lnTo>
                <a:lnTo>
                  <a:pt x="12635" y="893423"/>
                </a:lnTo>
                <a:lnTo>
                  <a:pt x="242" y="853081"/>
                </a:lnTo>
                <a:lnTo>
                  <a:pt x="0" y="9398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2" name="object 32"/>
          <p:cNvSpPr txBox="1"/>
          <p:nvPr/>
        </p:nvSpPr>
        <p:spPr>
          <a:xfrm>
            <a:off x="2953201" y="4487991"/>
            <a:ext cx="100864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9880" marR="5080" indent="-297180" algn="just">
              <a:lnSpc>
                <a:spcPts val="1190"/>
              </a:lnSpc>
            </a:pP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-</a:t>
            </a:r>
            <a:r>
              <a:rPr sz="1000" b="1" spc="-1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y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sz="1000" b="1" spc="-1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to</a:t>
            </a:r>
            <a:r>
              <a:rPr sz="1000" b="1" spc="-2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endParaRPr lang="en-US" sz="1000" b="1" dirty="0">
              <a:solidFill>
                <a:srgbClr val="FFFFFF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09880" marR="5080" indent="-297180" algn="just">
              <a:lnSpc>
                <a:spcPts val="1190"/>
              </a:lnSpc>
            </a:pPr>
            <a:r>
              <a:rPr sz="1000" b="1" spc="-1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y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 </a:t>
            </a:r>
            <a:r>
              <a:rPr lang="en-US"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er</a:t>
            </a:r>
            <a:r>
              <a:rPr sz="1000" b="1" spc="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1000" b="1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object 40"/>
          <p:cNvSpPr/>
          <p:nvPr/>
        </p:nvSpPr>
        <p:spPr>
          <a:xfrm>
            <a:off x="4954291" y="1608650"/>
            <a:ext cx="1580927" cy="4030150"/>
          </a:xfrm>
          <a:custGeom>
            <a:avLst/>
            <a:gdLst/>
            <a:ahLst/>
            <a:cxnLst/>
            <a:rect l="l" t="t" r="r" b="b"/>
            <a:pathLst>
              <a:path w="1580515" h="3115310">
                <a:moveTo>
                  <a:pt x="1422400" y="0"/>
                </a:moveTo>
                <a:lnTo>
                  <a:pt x="149226" y="238"/>
                </a:lnTo>
                <a:lnTo>
                  <a:pt x="107061" y="8388"/>
                </a:lnTo>
                <a:lnTo>
                  <a:pt x="69709" y="26948"/>
                </a:lnTo>
                <a:lnTo>
                  <a:pt x="38783" y="54304"/>
                </a:lnTo>
                <a:lnTo>
                  <a:pt x="15896" y="88843"/>
                </a:lnTo>
                <a:lnTo>
                  <a:pt x="2662" y="128951"/>
                </a:lnTo>
                <a:lnTo>
                  <a:pt x="0" y="157987"/>
                </a:lnTo>
                <a:lnTo>
                  <a:pt x="236" y="2965837"/>
                </a:lnTo>
                <a:lnTo>
                  <a:pt x="8378" y="3007999"/>
                </a:lnTo>
                <a:lnTo>
                  <a:pt x="26934" y="3045350"/>
                </a:lnTo>
                <a:lnTo>
                  <a:pt x="54291" y="3076274"/>
                </a:lnTo>
                <a:lnTo>
                  <a:pt x="88833" y="3099160"/>
                </a:lnTo>
                <a:lnTo>
                  <a:pt x="128947" y="3112393"/>
                </a:lnTo>
                <a:lnTo>
                  <a:pt x="157987" y="3115056"/>
                </a:lnTo>
                <a:lnTo>
                  <a:pt x="1431121" y="3114819"/>
                </a:lnTo>
                <a:lnTo>
                  <a:pt x="1473296" y="3106680"/>
                </a:lnTo>
                <a:lnTo>
                  <a:pt x="1510658" y="3088130"/>
                </a:lnTo>
                <a:lnTo>
                  <a:pt x="1541593" y="3060783"/>
                </a:lnTo>
                <a:lnTo>
                  <a:pt x="1564486" y="3026252"/>
                </a:lnTo>
                <a:lnTo>
                  <a:pt x="1577724" y="2986151"/>
                </a:lnTo>
                <a:lnTo>
                  <a:pt x="1580388" y="2957118"/>
                </a:lnTo>
                <a:lnTo>
                  <a:pt x="1580287" y="854074"/>
                </a:lnTo>
                <a:lnTo>
                  <a:pt x="1580149" y="149226"/>
                </a:lnTo>
                <a:lnTo>
                  <a:pt x="1571999" y="107061"/>
                </a:lnTo>
                <a:lnTo>
                  <a:pt x="1553439" y="69709"/>
                </a:lnTo>
                <a:lnTo>
                  <a:pt x="1526083" y="38783"/>
                </a:lnTo>
                <a:lnTo>
                  <a:pt x="1491544" y="15896"/>
                </a:lnTo>
                <a:lnTo>
                  <a:pt x="1451436" y="2662"/>
                </a:lnTo>
                <a:lnTo>
                  <a:pt x="1422400" y="0"/>
                </a:lnTo>
                <a:close/>
              </a:path>
            </a:pathLst>
          </a:custGeom>
          <a:solidFill>
            <a:srgbClr val="F7DBCD"/>
          </a:solid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4" name="object 41"/>
          <p:cNvSpPr txBox="1"/>
          <p:nvPr/>
        </p:nvSpPr>
        <p:spPr>
          <a:xfrm>
            <a:off x="5478281" y="1908986"/>
            <a:ext cx="61771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lang="en-US"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    </a:t>
            </a:r>
            <a:r>
              <a:rPr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Spot </a:t>
            </a:r>
            <a:endParaRPr lang="en-US" sz="1000" b="1" spc="-5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2700">
              <a:lnSpc>
                <a:spcPts val="1825"/>
              </a:lnSpc>
            </a:pPr>
            <a:r>
              <a:rPr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Instances</a:t>
            </a:r>
          </a:p>
        </p:txBody>
      </p:sp>
      <p:sp>
        <p:nvSpPr>
          <p:cNvPr id="25" name="object 42"/>
          <p:cNvSpPr/>
          <p:nvPr/>
        </p:nvSpPr>
        <p:spPr>
          <a:xfrm>
            <a:off x="5051851" y="3054164"/>
            <a:ext cx="1382627" cy="21442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6" name="object 43"/>
          <p:cNvSpPr/>
          <p:nvPr/>
        </p:nvSpPr>
        <p:spPr>
          <a:xfrm>
            <a:off x="5054900" y="3543355"/>
            <a:ext cx="1410067" cy="11887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7" name="object 44"/>
          <p:cNvSpPr/>
          <p:nvPr/>
        </p:nvSpPr>
        <p:spPr>
          <a:xfrm>
            <a:off x="5148016" y="2462340"/>
            <a:ext cx="1263979" cy="2659256"/>
          </a:xfrm>
          <a:custGeom>
            <a:avLst/>
            <a:gdLst/>
            <a:ahLst/>
            <a:cxnLst/>
            <a:rect l="l" t="t" r="r" b="b"/>
            <a:pathLst>
              <a:path w="1263650" h="2025650">
                <a:moveTo>
                  <a:pt x="1137026" y="0"/>
                </a:moveTo>
                <a:lnTo>
                  <a:pt x="125297" y="4"/>
                </a:lnTo>
                <a:lnTo>
                  <a:pt x="82976" y="7642"/>
                </a:lnTo>
                <a:lnTo>
                  <a:pt x="46861" y="28135"/>
                </a:lnTo>
                <a:lnTo>
                  <a:pt x="19464" y="58950"/>
                </a:lnTo>
                <a:lnTo>
                  <a:pt x="3296" y="97553"/>
                </a:lnTo>
                <a:lnTo>
                  <a:pt x="0" y="1900088"/>
                </a:lnTo>
                <a:lnTo>
                  <a:pt x="961" y="1914719"/>
                </a:lnTo>
                <a:lnTo>
                  <a:pt x="13149" y="1955237"/>
                </a:lnTo>
                <a:lnTo>
                  <a:pt x="37339" y="1988729"/>
                </a:lnTo>
                <a:lnTo>
                  <a:pt x="71022" y="2012676"/>
                </a:lnTo>
                <a:lnTo>
                  <a:pt x="111687" y="2024554"/>
                </a:lnTo>
                <a:lnTo>
                  <a:pt x="126360" y="2025395"/>
                </a:lnTo>
                <a:lnTo>
                  <a:pt x="1138109" y="2025391"/>
                </a:lnTo>
                <a:lnTo>
                  <a:pt x="1180425" y="2017753"/>
                </a:lnTo>
                <a:lnTo>
                  <a:pt x="1216533" y="1997267"/>
                </a:lnTo>
                <a:lnTo>
                  <a:pt x="1243925" y="1966455"/>
                </a:lnTo>
                <a:lnTo>
                  <a:pt x="1260091" y="1927839"/>
                </a:lnTo>
                <a:lnTo>
                  <a:pt x="1263387" y="125304"/>
                </a:lnTo>
                <a:lnTo>
                  <a:pt x="1262427" y="110685"/>
                </a:lnTo>
                <a:lnTo>
                  <a:pt x="1250243" y="70184"/>
                </a:lnTo>
                <a:lnTo>
                  <a:pt x="1226053" y="36688"/>
                </a:lnTo>
                <a:lnTo>
                  <a:pt x="1192369" y="12730"/>
                </a:lnTo>
                <a:lnTo>
                  <a:pt x="1151700" y="842"/>
                </a:lnTo>
                <a:lnTo>
                  <a:pt x="1137026" y="0"/>
                </a:lnTo>
                <a:close/>
              </a:path>
            </a:pathLst>
          </a:custGeom>
          <a:solidFill>
            <a:srgbClr val="E98E30"/>
          </a:solid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8" name="object 45"/>
          <p:cNvSpPr/>
          <p:nvPr/>
        </p:nvSpPr>
        <p:spPr>
          <a:xfrm>
            <a:off x="5113590" y="2462341"/>
            <a:ext cx="1263979" cy="2659383"/>
          </a:xfrm>
          <a:custGeom>
            <a:avLst/>
            <a:gdLst/>
            <a:ahLst/>
            <a:cxnLst/>
            <a:rect l="l" t="t" r="r" b="b"/>
            <a:pathLst>
              <a:path w="1263650" h="2025650">
                <a:moveTo>
                  <a:pt x="0" y="126364"/>
                </a:moveTo>
                <a:lnTo>
                  <a:pt x="7287" y="83976"/>
                </a:lnTo>
                <a:lnTo>
                  <a:pt x="27478" y="47688"/>
                </a:lnTo>
                <a:lnTo>
                  <a:pt x="58059" y="20032"/>
                </a:lnTo>
                <a:lnTo>
                  <a:pt x="96522" y="3543"/>
                </a:lnTo>
                <a:lnTo>
                  <a:pt x="1137031" y="0"/>
                </a:lnTo>
                <a:lnTo>
                  <a:pt x="1151705" y="842"/>
                </a:lnTo>
                <a:lnTo>
                  <a:pt x="1192374" y="12730"/>
                </a:lnTo>
                <a:lnTo>
                  <a:pt x="1226058" y="36688"/>
                </a:lnTo>
                <a:lnTo>
                  <a:pt x="1250248" y="70184"/>
                </a:lnTo>
                <a:lnTo>
                  <a:pt x="1262432" y="110685"/>
                </a:lnTo>
                <a:lnTo>
                  <a:pt x="1263395" y="1899005"/>
                </a:lnTo>
                <a:lnTo>
                  <a:pt x="1262555" y="1913669"/>
                </a:lnTo>
                <a:lnTo>
                  <a:pt x="1250690" y="1954326"/>
                </a:lnTo>
                <a:lnTo>
                  <a:pt x="1226761" y="1988019"/>
                </a:lnTo>
                <a:lnTo>
                  <a:pt x="1193279" y="2012227"/>
                </a:lnTo>
                <a:lnTo>
                  <a:pt x="1152754" y="2024428"/>
                </a:lnTo>
                <a:lnTo>
                  <a:pt x="126364" y="2025395"/>
                </a:lnTo>
                <a:lnTo>
                  <a:pt x="111692" y="2024554"/>
                </a:lnTo>
                <a:lnTo>
                  <a:pt x="71027" y="2012676"/>
                </a:lnTo>
                <a:lnTo>
                  <a:pt x="37344" y="1988729"/>
                </a:lnTo>
                <a:lnTo>
                  <a:pt x="13154" y="1955237"/>
                </a:lnTo>
                <a:lnTo>
                  <a:pt x="966" y="1914719"/>
                </a:lnTo>
                <a:lnTo>
                  <a:pt x="0" y="12636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object 46"/>
          <p:cNvSpPr txBox="1"/>
          <p:nvPr/>
        </p:nvSpPr>
        <p:spPr>
          <a:xfrm>
            <a:off x="5170247" y="3123629"/>
            <a:ext cx="1149649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 algn="just">
              <a:lnSpc>
                <a:spcPct val="90100"/>
              </a:lnSpc>
            </a:pPr>
            <a:r>
              <a:rPr sz="1000" b="1" spc="-1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Hi</a:t>
            </a:r>
            <a:r>
              <a:rPr sz="1000" b="1" spc="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h</a:t>
            </a:r>
            <a:r>
              <a:rPr sz="1000" b="1" spc="-1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st</a:t>
            </a:r>
            <a:r>
              <a:rPr sz="1000" b="1" spc="-1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sz="1000" b="1" spc="-1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  <a:r>
              <a:rPr sz="1000" b="1" spc="-1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er us</a:t>
            </a: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sz="1000" b="1" spc="-1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i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nstance</a:t>
            </a:r>
            <a:r>
              <a:rPr sz="1000" b="1" spc="-2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at</a:t>
            </a:r>
            <a:r>
              <a:rPr sz="1000" b="1" spc="-1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 s</a:t>
            </a:r>
            <a:r>
              <a:rPr sz="1000" b="1" spc="-1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sz="1000" b="1" spc="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g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n</a:t>
            </a:r>
            <a:r>
              <a:rPr sz="1000" b="1" spc="-1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sz="1000" b="1" spc="1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f</a:t>
            </a:r>
            <a:r>
              <a:rPr sz="1000" b="1" spc="-1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ca</a:t>
            </a: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n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 discount</a:t>
            </a:r>
            <a:r>
              <a:rPr lang="en-US"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12700" marR="5080" indent="-635" algn="just">
              <a:lnSpc>
                <a:spcPct val="90100"/>
              </a:lnSpc>
            </a:pPr>
            <a:r>
              <a:rPr lang="en-US"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(up to 90%)</a:t>
            </a:r>
          </a:p>
          <a:p>
            <a:pPr marL="12700" marR="5080" indent="-635" algn="just">
              <a:lnSpc>
                <a:spcPct val="90100"/>
              </a:lnSpc>
            </a:pPr>
            <a:endParaRPr lang="en-US" sz="1000" b="1" spc="-5" dirty="0">
              <a:solidFill>
                <a:srgbClr val="FFFFFF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2700" marR="5080" indent="-635" algn="just">
              <a:lnSpc>
                <a:spcPct val="90100"/>
              </a:lnSpc>
            </a:pP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</a:t>
            </a: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sz="1000" b="1" spc="-10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l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oc</a:t>
            </a:r>
            <a:r>
              <a:rPr sz="1000" b="1" spc="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 su</a:t>
            </a: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</a:t>
            </a: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</a:t>
            </a: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rte</a:t>
            </a:r>
            <a:r>
              <a:rPr sz="1000" b="1" spc="-5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d</a:t>
            </a:r>
            <a:endParaRPr sz="1000" b="1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0" name="object 47"/>
          <p:cNvSpPr/>
          <p:nvPr/>
        </p:nvSpPr>
        <p:spPr>
          <a:xfrm>
            <a:off x="7240821" y="1600200"/>
            <a:ext cx="1580927" cy="4038600"/>
          </a:xfrm>
          <a:custGeom>
            <a:avLst/>
            <a:gdLst/>
            <a:ahLst/>
            <a:cxnLst/>
            <a:rect l="l" t="t" r="r" b="b"/>
            <a:pathLst>
              <a:path w="1580515" h="3115310">
                <a:moveTo>
                  <a:pt x="1422400" y="0"/>
                </a:moveTo>
                <a:lnTo>
                  <a:pt x="149226" y="238"/>
                </a:lnTo>
                <a:lnTo>
                  <a:pt x="107061" y="8388"/>
                </a:lnTo>
                <a:lnTo>
                  <a:pt x="69709" y="26948"/>
                </a:lnTo>
                <a:lnTo>
                  <a:pt x="38783" y="54304"/>
                </a:lnTo>
                <a:lnTo>
                  <a:pt x="15896" y="88843"/>
                </a:lnTo>
                <a:lnTo>
                  <a:pt x="2662" y="128951"/>
                </a:lnTo>
                <a:lnTo>
                  <a:pt x="0" y="157987"/>
                </a:lnTo>
                <a:lnTo>
                  <a:pt x="236" y="2965837"/>
                </a:lnTo>
                <a:lnTo>
                  <a:pt x="8378" y="3007999"/>
                </a:lnTo>
                <a:lnTo>
                  <a:pt x="26934" y="3045350"/>
                </a:lnTo>
                <a:lnTo>
                  <a:pt x="54291" y="3076274"/>
                </a:lnTo>
                <a:lnTo>
                  <a:pt x="88833" y="3099160"/>
                </a:lnTo>
                <a:lnTo>
                  <a:pt x="128947" y="3112393"/>
                </a:lnTo>
                <a:lnTo>
                  <a:pt x="157988" y="3115056"/>
                </a:lnTo>
                <a:lnTo>
                  <a:pt x="1431121" y="3114819"/>
                </a:lnTo>
                <a:lnTo>
                  <a:pt x="1473296" y="3106680"/>
                </a:lnTo>
                <a:lnTo>
                  <a:pt x="1510658" y="3088130"/>
                </a:lnTo>
                <a:lnTo>
                  <a:pt x="1541593" y="3060783"/>
                </a:lnTo>
                <a:lnTo>
                  <a:pt x="1564486" y="3026252"/>
                </a:lnTo>
                <a:lnTo>
                  <a:pt x="1577724" y="2986151"/>
                </a:lnTo>
                <a:lnTo>
                  <a:pt x="1580388" y="2957118"/>
                </a:lnTo>
                <a:lnTo>
                  <a:pt x="1580287" y="854074"/>
                </a:lnTo>
                <a:lnTo>
                  <a:pt x="1580149" y="149226"/>
                </a:lnTo>
                <a:lnTo>
                  <a:pt x="1571999" y="107061"/>
                </a:lnTo>
                <a:lnTo>
                  <a:pt x="1553439" y="69709"/>
                </a:lnTo>
                <a:lnTo>
                  <a:pt x="1526083" y="38783"/>
                </a:lnTo>
                <a:lnTo>
                  <a:pt x="1491544" y="15896"/>
                </a:lnTo>
                <a:lnTo>
                  <a:pt x="1451436" y="2662"/>
                </a:lnTo>
                <a:lnTo>
                  <a:pt x="1422400" y="0"/>
                </a:lnTo>
                <a:close/>
              </a:path>
            </a:pathLst>
          </a:custGeom>
          <a:solidFill>
            <a:srgbClr val="F7DBCD"/>
          </a:solid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1" name="object 48"/>
          <p:cNvSpPr txBox="1"/>
          <p:nvPr/>
        </p:nvSpPr>
        <p:spPr>
          <a:xfrm>
            <a:off x="7693421" y="1850606"/>
            <a:ext cx="612379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25"/>
              </a:lnSpc>
            </a:pPr>
            <a:r>
              <a:rPr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Dedicated</a:t>
            </a:r>
          </a:p>
          <a:p>
            <a:pPr>
              <a:lnSpc>
                <a:spcPts val="1825"/>
              </a:lnSpc>
            </a:pPr>
            <a:r>
              <a:rPr lang="en-US"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Instance</a:t>
            </a:r>
            <a:endParaRPr sz="1000" b="1" spc="-5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2" name="object 49"/>
          <p:cNvSpPr/>
          <p:nvPr/>
        </p:nvSpPr>
        <p:spPr>
          <a:xfrm>
            <a:off x="7321678" y="2406056"/>
            <a:ext cx="1382628" cy="28703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3" name="object 50"/>
          <p:cNvSpPr/>
          <p:nvPr/>
        </p:nvSpPr>
        <p:spPr>
          <a:xfrm>
            <a:off x="7324726" y="3346759"/>
            <a:ext cx="1413116" cy="15803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4" name="object 51"/>
          <p:cNvSpPr/>
          <p:nvPr/>
        </p:nvSpPr>
        <p:spPr>
          <a:xfrm>
            <a:off x="7383421" y="2446851"/>
            <a:ext cx="1263979" cy="2674873"/>
          </a:xfrm>
          <a:custGeom>
            <a:avLst/>
            <a:gdLst/>
            <a:ahLst/>
            <a:cxnLst/>
            <a:rect l="l" t="t" r="r" b="b"/>
            <a:pathLst>
              <a:path w="1263650" h="2025650">
                <a:moveTo>
                  <a:pt x="1137026" y="0"/>
                </a:moveTo>
                <a:lnTo>
                  <a:pt x="125297" y="4"/>
                </a:lnTo>
                <a:lnTo>
                  <a:pt x="82976" y="7642"/>
                </a:lnTo>
                <a:lnTo>
                  <a:pt x="46861" y="28135"/>
                </a:lnTo>
                <a:lnTo>
                  <a:pt x="19464" y="58950"/>
                </a:lnTo>
                <a:lnTo>
                  <a:pt x="3296" y="97553"/>
                </a:lnTo>
                <a:lnTo>
                  <a:pt x="0" y="1900088"/>
                </a:lnTo>
                <a:lnTo>
                  <a:pt x="961" y="1914719"/>
                </a:lnTo>
                <a:lnTo>
                  <a:pt x="13149" y="1955237"/>
                </a:lnTo>
                <a:lnTo>
                  <a:pt x="37339" y="1988729"/>
                </a:lnTo>
                <a:lnTo>
                  <a:pt x="71022" y="2012676"/>
                </a:lnTo>
                <a:lnTo>
                  <a:pt x="111687" y="2024554"/>
                </a:lnTo>
                <a:lnTo>
                  <a:pt x="126360" y="2025395"/>
                </a:lnTo>
                <a:lnTo>
                  <a:pt x="1138109" y="2025391"/>
                </a:lnTo>
                <a:lnTo>
                  <a:pt x="1180425" y="2017753"/>
                </a:lnTo>
                <a:lnTo>
                  <a:pt x="1216533" y="1997267"/>
                </a:lnTo>
                <a:lnTo>
                  <a:pt x="1243925" y="1966455"/>
                </a:lnTo>
                <a:lnTo>
                  <a:pt x="1260091" y="1927839"/>
                </a:lnTo>
                <a:lnTo>
                  <a:pt x="1263387" y="125304"/>
                </a:lnTo>
                <a:lnTo>
                  <a:pt x="1262427" y="110685"/>
                </a:lnTo>
                <a:lnTo>
                  <a:pt x="1250243" y="70184"/>
                </a:lnTo>
                <a:lnTo>
                  <a:pt x="1226053" y="36688"/>
                </a:lnTo>
                <a:lnTo>
                  <a:pt x="1192369" y="12730"/>
                </a:lnTo>
                <a:lnTo>
                  <a:pt x="1151700" y="842"/>
                </a:lnTo>
                <a:lnTo>
                  <a:pt x="1137026" y="0"/>
                </a:lnTo>
                <a:close/>
              </a:path>
            </a:pathLst>
          </a:custGeom>
          <a:solidFill>
            <a:srgbClr val="E98E30"/>
          </a:solid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5" name="object 52"/>
          <p:cNvSpPr/>
          <p:nvPr/>
        </p:nvSpPr>
        <p:spPr>
          <a:xfrm>
            <a:off x="7383416" y="2446851"/>
            <a:ext cx="1263979" cy="2674873"/>
          </a:xfrm>
          <a:custGeom>
            <a:avLst/>
            <a:gdLst/>
            <a:ahLst/>
            <a:cxnLst/>
            <a:rect l="l" t="t" r="r" b="b"/>
            <a:pathLst>
              <a:path w="1263650" h="2025650">
                <a:moveTo>
                  <a:pt x="0" y="126364"/>
                </a:moveTo>
                <a:lnTo>
                  <a:pt x="7287" y="83976"/>
                </a:lnTo>
                <a:lnTo>
                  <a:pt x="27478" y="47688"/>
                </a:lnTo>
                <a:lnTo>
                  <a:pt x="58059" y="20032"/>
                </a:lnTo>
                <a:lnTo>
                  <a:pt x="96522" y="3543"/>
                </a:lnTo>
                <a:lnTo>
                  <a:pt x="1137030" y="0"/>
                </a:lnTo>
                <a:lnTo>
                  <a:pt x="1151705" y="842"/>
                </a:lnTo>
                <a:lnTo>
                  <a:pt x="1192374" y="12730"/>
                </a:lnTo>
                <a:lnTo>
                  <a:pt x="1226058" y="36688"/>
                </a:lnTo>
                <a:lnTo>
                  <a:pt x="1250248" y="70184"/>
                </a:lnTo>
                <a:lnTo>
                  <a:pt x="1262432" y="110685"/>
                </a:lnTo>
                <a:lnTo>
                  <a:pt x="1263396" y="1899005"/>
                </a:lnTo>
                <a:lnTo>
                  <a:pt x="1262555" y="1913669"/>
                </a:lnTo>
                <a:lnTo>
                  <a:pt x="1250690" y="1954326"/>
                </a:lnTo>
                <a:lnTo>
                  <a:pt x="1226761" y="1988019"/>
                </a:lnTo>
                <a:lnTo>
                  <a:pt x="1193279" y="2012227"/>
                </a:lnTo>
                <a:lnTo>
                  <a:pt x="1152754" y="2024428"/>
                </a:lnTo>
                <a:lnTo>
                  <a:pt x="126364" y="2025395"/>
                </a:lnTo>
                <a:lnTo>
                  <a:pt x="111692" y="2024554"/>
                </a:lnTo>
                <a:lnTo>
                  <a:pt x="71027" y="2012676"/>
                </a:lnTo>
                <a:lnTo>
                  <a:pt x="37344" y="1988729"/>
                </a:lnTo>
                <a:lnTo>
                  <a:pt x="13154" y="1955237"/>
                </a:lnTo>
                <a:lnTo>
                  <a:pt x="966" y="1914719"/>
                </a:lnTo>
                <a:lnTo>
                  <a:pt x="0" y="12636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6" name="object 53"/>
          <p:cNvSpPr txBox="1"/>
          <p:nvPr/>
        </p:nvSpPr>
        <p:spPr>
          <a:xfrm>
            <a:off x="7439438" y="3191470"/>
            <a:ext cx="1152190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lang="en-US" sz="1000" b="1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Pay, by the</a:t>
            </a:r>
          </a:p>
          <a:p>
            <a:pPr algn="just"/>
            <a:r>
              <a:rPr lang="en-US" sz="1000" b="1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hour, for</a:t>
            </a:r>
          </a:p>
          <a:p>
            <a:pPr algn="just"/>
            <a:r>
              <a:rPr lang="en-US" sz="1000" b="1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instances that</a:t>
            </a:r>
          </a:p>
          <a:p>
            <a:pPr algn="just"/>
            <a:r>
              <a:rPr lang="en-US" sz="1000" b="1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run on single tenant</a:t>
            </a:r>
          </a:p>
          <a:p>
            <a:pPr algn="just"/>
            <a:r>
              <a:rPr lang="en-US" sz="1000" b="1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hardware</a:t>
            </a:r>
            <a:endParaRPr sz="1000" b="1" dirty="0">
              <a:solidFill>
                <a:schemeClr val="bg1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7" name="object 47"/>
          <p:cNvSpPr/>
          <p:nvPr/>
        </p:nvSpPr>
        <p:spPr>
          <a:xfrm>
            <a:off x="9678333" y="1676400"/>
            <a:ext cx="1580927" cy="4038600"/>
          </a:xfrm>
          <a:custGeom>
            <a:avLst/>
            <a:gdLst/>
            <a:ahLst/>
            <a:cxnLst/>
            <a:rect l="l" t="t" r="r" b="b"/>
            <a:pathLst>
              <a:path w="1580515" h="3115310">
                <a:moveTo>
                  <a:pt x="1422400" y="0"/>
                </a:moveTo>
                <a:lnTo>
                  <a:pt x="149226" y="238"/>
                </a:lnTo>
                <a:lnTo>
                  <a:pt x="107061" y="8388"/>
                </a:lnTo>
                <a:lnTo>
                  <a:pt x="69709" y="26948"/>
                </a:lnTo>
                <a:lnTo>
                  <a:pt x="38783" y="54304"/>
                </a:lnTo>
                <a:lnTo>
                  <a:pt x="15896" y="88843"/>
                </a:lnTo>
                <a:lnTo>
                  <a:pt x="2662" y="128951"/>
                </a:lnTo>
                <a:lnTo>
                  <a:pt x="0" y="157987"/>
                </a:lnTo>
                <a:lnTo>
                  <a:pt x="236" y="2965837"/>
                </a:lnTo>
                <a:lnTo>
                  <a:pt x="8378" y="3007999"/>
                </a:lnTo>
                <a:lnTo>
                  <a:pt x="26934" y="3045350"/>
                </a:lnTo>
                <a:lnTo>
                  <a:pt x="54291" y="3076274"/>
                </a:lnTo>
                <a:lnTo>
                  <a:pt x="88833" y="3099160"/>
                </a:lnTo>
                <a:lnTo>
                  <a:pt x="128947" y="3112393"/>
                </a:lnTo>
                <a:lnTo>
                  <a:pt x="157988" y="3115056"/>
                </a:lnTo>
                <a:lnTo>
                  <a:pt x="1431121" y="3114819"/>
                </a:lnTo>
                <a:lnTo>
                  <a:pt x="1473296" y="3106680"/>
                </a:lnTo>
                <a:lnTo>
                  <a:pt x="1510658" y="3088130"/>
                </a:lnTo>
                <a:lnTo>
                  <a:pt x="1541593" y="3060783"/>
                </a:lnTo>
                <a:lnTo>
                  <a:pt x="1564486" y="3026252"/>
                </a:lnTo>
                <a:lnTo>
                  <a:pt x="1577724" y="2986151"/>
                </a:lnTo>
                <a:lnTo>
                  <a:pt x="1580388" y="2957118"/>
                </a:lnTo>
                <a:lnTo>
                  <a:pt x="1580287" y="854074"/>
                </a:lnTo>
                <a:lnTo>
                  <a:pt x="1580149" y="149226"/>
                </a:lnTo>
                <a:lnTo>
                  <a:pt x="1571999" y="107061"/>
                </a:lnTo>
                <a:lnTo>
                  <a:pt x="1553439" y="69709"/>
                </a:lnTo>
                <a:lnTo>
                  <a:pt x="1526083" y="38783"/>
                </a:lnTo>
                <a:lnTo>
                  <a:pt x="1491544" y="15896"/>
                </a:lnTo>
                <a:lnTo>
                  <a:pt x="1451436" y="2662"/>
                </a:lnTo>
                <a:lnTo>
                  <a:pt x="1422400" y="0"/>
                </a:lnTo>
                <a:close/>
              </a:path>
            </a:pathLst>
          </a:custGeom>
          <a:solidFill>
            <a:srgbClr val="F7DBCD"/>
          </a:solid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" name="object 48"/>
          <p:cNvSpPr txBox="1"/>
          <p:nvPr/>
        </p:nvSpPr>
        <p:spPr>
          <a:xfrm>
            <a:off x="10135632" y="1926807"/>
            <a:ext cx="684768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25"/>
              </a:lnSpc>
            </a:pPr>
            <a:r>
              <a:rPr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Dedicated</a:t>
            </a:r>
          </a:p>
          <a:p>
            <a:pPr>
              <a:lnSpc>
                <a:spcPts val="1825"/>
              </a:lnSpc>
            </a:pPr>
            <a:r>
              <a:rPr lang="en-US"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   </a:t>
            </a:r>
            <a:r>
              <a:rPr sz="1000" b="1" spc="-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Hosts</a:t>
            </a:r>
          </a:p>
        </p:txBody>
      </p:sp>
      <p:sp>
        <p:nvSpPr>
          <p:cNvPr id="39" name="object 49"/>
          <p:cNvSpPr/>
          <p:nvPr/>
        </p:nvSpPr>
        <p:spPr>
          <a:xfrm>
            <a:off x="9759189" y="2482256"/>
            <a:ext cx="1382628" cy="28703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0" name="object 50"/>
          <p:cNvSpPr/>
          <p:nvPr/>
        </p:nvSpPr>
        <p:spPr>
          <a:xfrm>
            <a:off x="9762238" y="3422959"/>
            <a:ext cx="1413116" cy="158038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" name="object 51"/>
          <p:cNvSpPr/>
          <p:nvPr/>
        </p:nvSpPr>
        <p:spPr>
          <a:xfrm>
            <a:off x="9820933" y="2523051"/>
            <a:ext cx="1263979" cy="2674873"/>
          </a:xfrm>
          <a:custGeom>
            <a:avLst/>
            <a:gdLst/>
            <a:ahLst/>
            <a:cxnLst/>
            <a:rect l="l" t="t" r="r" b="b"/>
            <a:pathLst>
              <a:path w="1263650" h="2025650">
                <a:moveTo>
                  <a:pt x="1137026" y="0"/>
                </a:moveTo>
                <a:lnTo>
                  <a:pt x="125297" y="4"/>
                </a:lnTo>
                <a:lnTo>
                  <a:pt x="82976" y="7642"/>
                </a:lnTo>
                <a:lnTo>
                  <a:pt x="46861" y="28135"/>
                </a:lnTo>
                <a:lnTo>
                  <a:pt x="19464" y="58950"/>
                </a:lnTo>
                <a:lnTo>
                  <a:pt x="3296" y="97553"/>
                </a:lnTo>
                <a:lnTo>
                  <a:pt x="0" y="1900088"/>
                </a:lnTo>
                <a:lnTo>
                  <a:pt x="961" y="1914719"/>
                </a:lnTo>
                <a:lnTo>
                  <a:pt x="13149" y="1955237"/>
                </a:lnTo>
                <a:lnTo>
                  <a:pt x="37339" y="1988729"/>
                </a:lnTo>
                <a:lnTo>
                  <a:pt x="71022" y="2012676"/>
                </a:lnTo>
                <a:lnTo>
                  <a:pt x="111687" y="2024554"/>
                </a:lnTo>
                <a:lnTo>
                  <a:pt x="126360" y="2025395"/>
                </a:lnTo>
                <a:lnTo>
                  <a:pt x="1138109" y="2025391"/>
                </a:lnTo>
                <a:lnTo>
                  <a:pt x="1180425" y="2017753"/>
                </a:lnTo>
                <a:lnTo>
                  <a:pt x="1216533" y="1997267"/>
                </a:lnTo>
                <a:lnTo>
                  <a:pt x="1243925" y="1966455"/>
                </a:lnTo>
                <a:lnTo>
                  <a:pt x="1260091" y="1927839"/>
                </a:lnTo>
                <a:lnTo>
                  <a:pt x="1263387" y="125304"/>
                </a:lnTo>
                <a:lnTo>
                  <a:pt x="1262427" y="110685"/>
                </a:lnTo>
                <a:lnTo>
                  <a:pt x="1250243" y="70184"/>
                </a:lnTo>
                <a:lnTo>
                  <a:pt x="1226053" y="36688"/>
                </a:lnTo>
                <a:lnTo>
                  <a:pt x="1192369" y="12730"/>
                </a:lnTo>
                <a:lnTo>
                  <a:pt x="1151700" y="842"/>
                </a:lnTo>
                <a:lnTo>
                  <a:pt x="1137026" y="0"/>
                </a:lnTo>
                <a:close/>
              </a:path>
            </a:pathLst>
          </a:custGeom>
          <a:solidFill>
            <a:srgbClr val="E98E30"/>
          </a:solidFill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2" name="object 52"/>
          <p:cNvSpPr/>
          <p:nvPr/>
        </p:nvSpPr>
        <p:spPr>
          <a:xfrm>
            <a:off x="9820928" y="2523051"/>
            <a:ext cx="1263979" cy="2674873"/>
          </a:xfrm>
          <a:custGeom>
            <a:avLst/>
            <a:gdLst/>
            <a:ahLst/>
            <a:cxnLst/>
            <a:rect l="l" t="t" r="r" b="b"/>
            <a:pathLst>
              <a:path w="1263650" h="2025650">
                <a:moveTo>
                  <a:pt x="0" y="126364"/>
                </a:moveTo>
                <a:lnTo>
                  <a:pt x="7287" y="83976"/>
                </a:lnTo>
                <a:lnTo>
                  <a:pt x="27478" y="47688"/>
                </a:lnTo>
                <a:lnTo>
                  <a:pt x="58059" y="20032"/>
                </a:lnTo>
                <a:lnTo>
                  <a:pt x="96522" y="3543"/>
                </a:lnTo>
                <a:lnTo>
                  <a:pt x="1137030" y="0"/>
                </a:lnTo>
                <a:lnTo>
                  <a:pt x="1151705" y="842"/>
                </a:lnTo>
                <a:lnTo>
                  <a:pt x="1192374" y="12730"/>
                </a:lnTo>
                <a:lnTo>
                  <a:pt x="1226058" y="36688"/>
                </a:lnTo>
                <a:lnTo>
                  <a:pt x="1250248" y="70184"/>
                </a:lnTo>
                <a:lnTo>
                  <a:pt x="1262432" y="110685"/>
                </a:lnTo>
                <a:lnTo>
                  <a:pt x="1263396" y="1899005"/>
                </a:lnTo>
                <a:lnTo>
                  <a:pt x="1262555" y="1913669"/>
                </a:lnTo>
                <a:lnTo>
                  <a:pt x="1250690" y="1954326"/>
                </a:lnTo>
                <a:lnTo>
                  <a:pt x="1226761" y="1988019"/>
                </a:lnTo>
                <a:lnTo>
                  <a:pt x="1193279" y="2012227"/>
                </a:lnTo>
                <a:lnTo>
                  <a:pt x="1152754" y="2024428"/>
                </a:lnTo>
                <a:lnTo>
                  <a:pt x="126364" y="2025395"/>
                </a:lnTo>
                <a:lnTo>
                  <a:pt x="111692" y="2024554"/>
                </a:lnTo>
                <a:lnTo>
                  <a:pt x="71027" y="2012676"/>
                </a:lnTo>
                <a:lnTo>
                  <a:pt x="37344" y="1988729"/>
                </a:lnTo>
                <a:lnTo>
                  <a:pt x="13154" y="1955237"/>
                </a:lnTo>
                <a:lnTo>
                  <a:pt x="966" y="1914719"/>
                </a:lnTo>
                <a:lnTo>
                  <a:pt x="0" y="12636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000" b="1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3" name="object 53"/>
          <p:cNvSpPr txBox="1"/>
          <p:nvPr/>
        </p:nvSpPr>
        <p:spPr>
          <a:xfrm>
            <a:off x="9876950" y="2972306"/>
            <a:ext cx="1152190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35" algn="just">
              <a:lnSpc>
                <a:spcPct val="90000"/>
              </a:lnSpc>
            </a:pP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Physical host is fully dedicated to run your instances. </a:t>
            </a:r>
            <a:endParaRPr lang="en-US" sz="1000" b="1" dirty="0">
              <a:solidFill>
                <a:srgbClr val="FFFFFF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2700" marR="5080" indent="635" algn="just">
              <a:lnSpc>
                <a:spcPct val="90000"/>
              </a:lnSpc>
            </a:pPr>
            <a:endParaRPr lang="en-US" sz="1000" b="1" dirty="0">
              <a:solidFill>
                <a:srgbClr val="FFFFFF"/>
              </a:solidFill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2700" marR="5080" indent="635" algn="just">
              <a:lnSpc>
                <a:spcPct val="90000"/>
              </a:lnSpc>
            </a:pPr>
            <a:r>
              <a:rPr sz="1000" b="1" dirty="0">
                <a:solidFill>
                  <a:srgbClr val="FFFFFF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Bring your per-socket, per-core, or per- VM software licenses to reduce cost.</a:t>
            </a:r>
          </a:p>
        </p:txBody>
      </p:sp>
      <p:sp>
        <p:nvSpPr>
          <p:cNvPr id="4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Purchasing Options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BA677E-84DC-4B87-B607-695F2FFFB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185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65A0-9935-482E-AA27-D6AD0B7CE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950" y="143668"/>
            <a:ext cx="10515600" cy="768350"/>
          </a:xfrm>
        </p:spPr>
        <p:txBody>
          <a:bodyPr/>
          <a:lstStyle/>
          <a:p>
            <a:r>
              <a:rPr lang="en-IN" dirty="0"/>
              <a:t>       EC2 Tenancy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3DA71-1BD1-49BF-9EB2-0ABC12712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3" y="912018"/>
            <a:ext cx="11687174" cy="5033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u="sng" dirty="0">
                <a:latin typeface="+mj-lt"/>
              </a:rPr>
              <a:t>Shared Tenancy: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>
                <a:latin typeface="+mj-lt"/>
              </a:rPr>
              <a:t>The default tenancy model is the one most commonly used with AWS.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>
                <a:latin typeface="+mj-lt"/>
              </a:rPr>
              <a:t>Multiple customers will share the same pieces of hardware even though they don’t interact with each other.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>
                <a:latin typeface="+mj-lt"/>
              </a:rPr>
              <a:t>Option to use unless you have regulatory compliance or licensing restrictions causing you to pick a dedicated model.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>
                <a:latin typeface="+mj-lt"/>
              </a:rPr>
              <a:t>Cheapest option for running your EC2 instances.</a:t>
            </a:r>
          </a:p>
          <a:p>
            <a:pPr marL="0" indent="0">
              <a:buNone/>
            </a:pPr>
            <a:r>
              <a:rPr lang="en-US" sz="1700" b="1" u="sng">
                <a:latin typeface="+mj-lt"/>
              </a:rPr>
              <a:t>Dedicated Instance</a:t>
            </a:r>
            <a:endParaRPr lang="en-US" sz="1700" b="1" u="sng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>
                <a:latin typeface="+mj-lt"/>
              </a:rPr>
              <a:t>Dedicated tenancy ensures that your EC2 instances are run on hardware specific to your account but comes at a price.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>
                <a:latin typeface="+mj-lt"/>
              </a:rPr>
              <a:t>Regulatory compliance may dictate that you want to use this model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>
                <a:latin typeface="+mj-lt"/>
              </a:rPr>
              <a:t>Costlier than Shared Instances Model</a:t>
            </a:r>
          </a:p>
          <a:p>
            <a:pPr marL="0" indent="0">
              <a:buNone/>
            </a:pPr>
            <a:r>
              <a:rPr lang="en-US" sz="1700" dirty="0">
                <a:latin typeface="+mj-lt"/>
              </a:rPr>
              <a:t> </a:t>
            </a:r>
            <a:r>
              <a:rPr lang="en-US" sz="1700" b="1" u="sng" dirty="0">
                <a:latin typeface="+mj-lt"/>
              </a:rPr>
              <a:t>Dedicated Hosts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>
                <a:latin typeface="+mj-lt"/>
              </a:rPr>
              <a:t>With a dedicated host, you purchase an entire physical host from AWS and that host is billed to you on an hourly basis just like EC2 instances are billed.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>
                <a:latin typeface="+mj-lt"/>
              </a:rPr>
              <a:t>Once you’ve purchased that host, you’re allowed to spin up as many EC2 instances as that host will allow for no additional charges.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>
                <a:latin typeface="+mj-lt"/>
              </a:rPr>
              <a:t>Customers can buy license of the host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 dirty="0">
                <a:latin typeface="+mj-lt"/>
              </a:rPr>
              <a:t> Dedicated hosts is highly compliant and is the costliest among all the tenancies.</a:t>
            </a:r>
            <a:endParaRPr lang="en-IN" sz="1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60629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Reboot, Stop, and Terminate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60610" y="1143000"/>
          <a:ext cx="10442119" cy="51130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53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4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0800" marR="0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spc="-5" dirty="0">
                          <a:effectLst/>
                        </a:rPr>
                        <a:t>Characteristic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 marR="0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Reboot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 marR="0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Stop/start </a:t>
                      </a:r>
                    </a:p>
                    <a:p>
                      <a:pPr marL="50800" marR="0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(EBS- backed instances only)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 marR="0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Terminate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800" marR="224155" algn="l"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Host computer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4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The instance stays on the same host computer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4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The instance runs on a new host computer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4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>
                          <a:effectLst/>
                        </a:rPr>
                        <a:t>None</a:t>
                      </a:r>
                      <a:endParaRPr lang="en-US" sz="170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800" marR="134620" algn="l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Private</a:t>
                      </a:r>
                      <a:r>
                        <a:rPr lang="en-US" sz="1700" spc="-45" dirty="0">
                          <a:effectLst/>
                        </a:rPr>
                        <a:t> </a:t>
                      </a:r>
                      <a:r>
                        <a:rPr lang="en-US" sz="1700" dirty="0">
                          <a:effectLst/>
                        </a:rPr>
                        <a:t>and public </a:t>
                      </a:r>
                    </a:p>
                    <a:p>
                      <a:pPr marL="50800" marR="134620" algn="l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IPv4 addresses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>
                          <a:effectLst/>
                        </a:rPr>
                        <a:t>These addresses stay the same</a:t>
                      </a:r>
                      <a:endParaRPr lang="en-US" sz="170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The instance keeps its private IPv4 address. </a:t>
                      </a:r>
                    </a:p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The instance gets a new public IPv4 address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None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800" marR="215900" algn="l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Elastic IP addresses </a:t>
                      </a:r>
                    </a:p>
                    <a:p>
                      <a:pPr marL="50800" marR="215900" algn="l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(IPv4)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6223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>
                          <a:effectLst/>
                        </a:rPr>
                        <a:t>The Elastic IP remains associated with the instance</a:t>
                      </a:r>
                      <a:endParaRPr lang="en-US" sz="170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16383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The Elastic IP remains associated with the instance</a:t>
                      </a:r>
                    </a:p>
                    <a:p>
                      <a:pPr marL="222250" marR="16383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6223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The Elastic IP is disassociated from the instance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800" marR="224155" algn="l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Instance store </a:t>
                      </a:r>
                    </a:p>
                    <a:p>
                      <a:pPr marL="50800" marR="224155" algn="l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Volumes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>
                          <a:effectLst/>
                        </a:rPr>
                        <a:t>The data is preserved</a:t>
                      </a:r>
                      <a:endParaRPr lang="en-US" sz="170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The data is erased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The data is erased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800" marR="0" algn="l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Root device </a:t>
                      </a:r>
                    </a:p>
                    <a:p>
                      <a:pPr marL="50800" marR="0" algn="l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volume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The volume is preserved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>
                          <a:effectLst/>
                        </a:rPr>
                        <a:t>The volume is preserved</a:t>
                      </a:r>
                      <a:endParaRPr lang="en-US" sz="170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The volume is deleted by default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800" marR="0" algn="l">
                        <a:spcBef>
                          <a:spcPts val="33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Billing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>
                          <a:effectLst/>
                        </a:rPr>
                        <a:t>The instance billing hour doesn't change.</a:t>
                      </a:r>
                      <a:endParaRPr lang="en-US" sz="170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You stop incurring charges for an instance as soon as its state changes to stopping.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Each time an instance transitions from stopped</a:t>
                      </a:r>
                      <a:r>
                        <a:rPr lang="en-US" sz="1700" spc="-350" dirty="0">
                          <a:effectLst/>
                        </a:rPr>
                        <a:t>   </a:t>
                      </a:r>
                      <a:r>
                        <a:rPr lang="en-US" sz="1700" dirty="0">
                          <a:effectLst/>
                        </a:rPr>
                        <a:t>to running, it </a:t>
                      </a:r>
                      <a:r>
                        <a:rPr lang="en-US" sz="1700" kern="1200" dirty="0">
                          <a:effectLst/>
                        </a:rPr>
                        <a:t>start a new instance billing hour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ü"/>
                      </a:pP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 marR="0" indent="-171450">
                        <a:spcBef>
                          <a:spcPts val="33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1700" dirty="0">
                          <a:effectLst/>
                        </a:rPr>
                        <a:t>You stop incurring charges for an instance as soon as its state changes to shutting-down</a:t>
                      </a:r>
                      <a:endParaRPr lang="en-US" sz="1700" dirty="0">
                        <a:effectLst/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C6295-CA91-41A9-976A-2F3B3E4D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807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Amazon Machine Images 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28626" y="1066801"/>
            <a:ext cx="6277134" cy="5105399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An Amazon Machine Image (AMI) provides the information required to launch an instance.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An AMI includes the following:</a:t>
            </a:r>
          </a:p>
          <a:p>
            <a:pPr lvl="1" algn="just"/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 template for the root volume for the instance (for example, an operating system, an application server, and applications)</a:t>
            </a:r>
          </a:p>
          <a:p>
            <a:pPr lvl="1" algn="just"/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Launch permissions that control which AWS accounts can use the AMI to launch instances</a:t>
            </a:r>
          </a:p>
          <a:p>
            <a:pPr lvl="1" algn="just"/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 block device mapping that speciﬁes the volumes to attach to the instance when it's launched.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sz="18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image2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6859" y="1143000"/>
            <a:ext cx="4420751" cy="4953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9AD98D-FFA1-42A8-963F-7F89B6432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665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Storage</a:t>
            </a:r>
            <a:r>
              <a:rPr lang="en-US" sz="3200" b="1" spc="-1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b="1" spc="5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f</a:t>
            </a:r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or</a:t>
            </a:r>
            <a:r>
              <a:rPr lang="en-US" sz="3200" b="1" spc="-1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the</a:t>
            </a:r>
            <a:r>
              <a:rPr lang="en-US" sz="3200" b="1" spc="-1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R</a:t>
            </a:r>
            <a:r>
              <a:rPr lang="en-US" sz="3200" b="1" spc="-1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</a:t>
            </a:r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ot D</a:t>
            </a:r>
            <a:r>
              <a:rPr lang="en-US" sz="3200" b="1" spc="-1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vice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0610" y="1615440"/>
          <a:ext cx="10670779" cy="39014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210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6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L="182880"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Characteristic</a:t>
                      </a:r>
                      <a:endParaRPr sz="1600" dirty="0">
                        <a:solidFill>
                          <a:schemeClr val="bg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0"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EBS</a:t>
                      </a:r>
                    </a:p>
                    <a:p>
                      <a:pPr marL="971550"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Backed</a:t>
                      </a:r>
                      <a:endParaRPr sz="1600" dirty="0">
                        <a:solidFill>
                          <a:schemeClr val="bg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5275"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Instance-Store</a:t>
                      </a:r>
                    </a:p>
                    <a:p>
                      <a:pPr marL="295275" algn="ctr">
                        <a:lnSpc>
                          <a:spcPct val="100000"/>
                        </a:lnSpc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Backed</a:t>
                      </a:r>
                      <a:endParaRPr sz="1600" dirty="0">
                        <a:solidFill>
                          <a:schemeClr val="bg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Boot Time</a:t>
                      </a:r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marL="37084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Usu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&lt;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te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37084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endParaRPr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1475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Usu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&lt;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</a:t>
                      </a:r>
                      <a:endParaRPr sz="160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Size Limit</a:t>
                      </a:r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marL="37084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16</a:t>
                      </a:r>
                      <a:r>
                        <a:rPr sz="1600" spc="-3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spc="-4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iB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1475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GiB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371475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endParaRPr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Data Persistence</a:t>
                      </a:r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marL="370840" marR="9398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he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root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olu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is deleted</a:t>
                      </a:r>
                      <a:r>
                        <a:rPr sz="1600" spc="-4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hen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instance 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or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EBS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olu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 pers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sts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</a:t>
                      </a:r>
                      <a:r>
                        <a:rPr sz="1600" spc="-3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instance</a:t>
                      </a:r>
                      <a:r>
                        <a:rPr sz="1600" spc="-3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ti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1475" marR="16637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Data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on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any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inst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nce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store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olum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pers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sts only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dur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ng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of 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instanc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371475" marR="16637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endParaRPr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Charges</a:t>
                      </a:r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marL="370840" marR="306705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nce</a:t>
                      </a:r>
                      <a:r>
                        <a:rPr sz="1600" spc="-3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usa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370840" marR="306705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EBS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olu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usa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</a:p>
                    <a:p>
                      <a:pPr marL="370840" marR="306705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ng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y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our</a:t>
                      </a:r>
                      <a:r>
                        <a:rPr sz="1600" spc="-7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AMI</a:t>
                      </a:r>
                      <a:r>
                        <a:rPr sz="1600" spc="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as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</a:t>
                      </a:r>
                      <a:r>
                        <a:rPr sz="1600" spc="-8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EBS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snapsh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85090" marR="306705"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1475" marR="521334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nce</a:t>
                      </a:r>
                      <a:r>
                        <a:rPr sz="1600" spc="-3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usa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371475" marR="521334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ng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  <a:r>
                        <a:rPr sz="1600" spc="-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</a:t>
                      </a:r>
                      <a:r>
                        <a:rPr sz="1600" spc="1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 S3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Stopped State</a:t>
                      </a:r>
                    </a:p>
                  </a:txBody>
                  <a:tcPr marL="91464" marR="91464"/>
                </a:tc>
                <a:tc>
                  <a:txBody>
                    <a:bodyPr/>
                    <a:lstStyle/>
                    <a:p>
                      <a:pPr marL="370840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Can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be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ppe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</a:t>
                      </a:r>
                      <a:endParaRPr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1475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not</a:t>
                      </a:r>
                      <a:r>
                        <a:rPr sz="1600" spc="-3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be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pped</a:t>
                      </a:r>
                      <a:endParaRPr lang="en-US"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371475" indent="-2857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ü"/>
                      </a:pPr>
                      <a:endParaRPr sz="1600" dirty="0">
                        <a:solidFill>
                          <a:schemeClr val="tx1"/>
                        </a:solidFill>
                        <a:latin typeface="+mj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6D2626-275D-446A-AD85-0B35A5E5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@CHAITANYA R GAAJULA - ALL COPYRIGHTS RESERVED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1909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Instance Lifecycle</a:t>
            </a:r>
          </a:p>
        </p:txBody>
      </p:sp>
      <p:pic>
        <p:nvPicPr>
          <p:cNvPr id="5" name="image7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611" y="1066800"/>
            <a:ext cx="10518338" cy="47244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B76A77-E26E-47E0-8674-FC35060D5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945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C09C-BAC7-460F-80DD-297DA3CA0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7940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Session Manager &amp; EC2 Instance Connect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6950D-86C5-450E-954A-670AF5BD7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675"/>
            <a:ext cx="10896600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EC2 Instance Connect and Session Manager are features that let you connect to your EC2 through browser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No need to provision RSA Keys 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EC2 Instance Connect does not require a IAM role where as Session Manager requires an IAM role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No security group required for Session Manager , but EC2 instance depends on Security Group.</a:t>
            </a:r>
            <a:endParaRPr lang="en-I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5712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Resizing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1066801"/>
            <a:ext cx="10898009" cy="5105399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If the root device for your instance is an EBS volume, you can change the size of the instance simply by changing its instance type, which is known as resizing.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You must stop your Amazon EBS–backed instance before you can change its instance type.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After resizing, the instance ID does not change.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If instance has a public IPv4 address, AWS release the address and give it a new public IPv4 address. 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The instance retains its private IPv4 addresses, any Elastic IP addresses.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DA8A72-AF84-4ED5-841C-50F909B9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785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Instance Termination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1066801"/>
            <a:ext cx="10898009" cy="5105399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After you terminate an instance, it remains visible in the console for a short while, and then the entry is automatically deleted.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By default, Amazon EBS root device volumes are automatically deleted when the instance terminates.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By default, any additional EBS volumes that you attach at launch, or any EBS volumes that you attach to an existing instance persist even after the instance terminates.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If you want to prevent your instance from being accidentally terminated using Amazon EC2, you can </a:t>
            </a:r>
            <a:r>
              <a:rPr lang="en-US" sz="2200" dirty="0">
                <a:solidFill>
                  <a:srgbClr val="00B0F0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enable termination protection </a:t>
            </a: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for the instance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CB1C64-1216-430F-8E03-0162AF920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074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Elastic IP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898009" cy="533400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An Elastic IP address is a public IP address (static) that you can allocate to instance.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You can disassociate an Elastic IP address from a resource, and re-associate it with a diﬀerent resource.</a:t>
            </a:r>
          </a:p>
          <a:p>
            <a:pPr lvl="0" algn="just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 disassociated Elastic IP address remains allocated to your account until you explicitly release it.</a:t>
            </a:r>
          </a:p>
          <a:p>
            <a:pPr lvl="0" algn="just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To ensure efficient use of Elastic IP addresses, a hourly charge is associated if an Elastic IP address is not associated with a running instance, or if it is associated with a stopped instance or an unattached network interface.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You are not charged for one Elastic IP address associated with the running instance, but you are charged for any additional Elastic IP addresses associated with the instance.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By default, all AWS accounts are limited to 5 Elastic IP addresses per region.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CCF179-7C6C-4FF7-8497-2A4364F38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049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Elastic Network Interfaces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898009" cy="548640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An elastic network interface is a virtual network interface that you can attach to an instance in a VPC.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dirty="0">
              <a:latin typeface="+mj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You can create a network interface, attach it to an instance, detach it from an instance, and attach it to another instance.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dirty="0">
              <a:latin typeface="+mj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Every instance has a default network interface, called the </a:t>
            </a:r>
            <a:r>
              <a:rPr lang="en-US" sz="1800" dirty="0">
                <a:solidFill>
                  <a:srgbClr val="00B0F0"/>
                </a:solidFill>
                <a:latin typeface="+mj-lt"/>
              </a:rPr>
              <a:t>primary network interface </a:t>
            </a:r>
            <a:r>
              <a:rPr lang="en-US" sz="1800" dirty="0">
                <a:latin typeface="+mj-lt"/>
              </a:rPr>
              <a:t>(eth0). You cannot detach a primary network interface from an instance.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dirty="0">
              <a:latin typeface="+mj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You can create and attach additional network interfaces. The maximum number of network interfaces that you can use varies by instance type.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dirty="0">
              <a:latin typeface="+mj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+mj-lt"/>
              </a:rPr>
              <a:t>A network interface can include the following attributes:</a:t>
            </a:r>
          </a:p>
          <a:p>
            <a:pPr lvl="1" algn="just"/>
            <a:r>
              <a:rPr lang="en-US" sz="1800" dirty="0">
                <a:latin typeface="+mj-lt"/>
              </a:rPr>
              <a:t>A primary private IP address &amp; one or more secondary private IP addresses</a:t>
            </a:r>
          </a:p>
          <a:p>
            <a:pPr lvl="1" algn="just"/>
            <a:r>
              <a:rPr lang="en-US" sz="1800" dirty="0">
                <a:latin typeface="+mj-lt"/>
              </a:rPr>
              <a:t>One Elastic IP address per private IP address</a:t>
            </a:r>
          </a:p>
          <a:p>
            <a:pPr lvl="1" algn="just"/>
            <a:r>
              <a:rPr lang="en-US" sz="1800" dirty="0">
                <a:latin typeface="+mj-lt"/>
              </a:rPr>
              <a:t>One public IP address</a:t>
            </a:r>
          </a:p>
          <a:p>
            <a:pPr lvl="1" algn="just"/>
            <a:r>
              <a:rPr lang="en-US" sz="1800" dirty="0">
                <a:latin typeface="+mj-lt"/>
              </a:rPr>
              <a:t>One or more security groups</a:t>
            </a:r>
          </a:p>
          <a:p>
            <a:pPr lvl="1" algn="just"/>
            <a:r>
              <a:rPr lang="en-US" sz="1800" dirty="0">
                <a:latin typeface="+mj-lt"/>
              </a:rPr>
              <a:t>A MAC address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66EFCE-20F8-49CC-8870-B2FD09160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419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Creating AMI or Custom AMI</a:t>
            </a:r>
          </a:p>
        </p:txBody>
      </p:sp>
      <p:pic>
        <p:nvPicPr>
          <p:cNvPr id="7" name="image14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3514725"/>
            <a:ext cx="10669350" cy="27527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538" y="1037272"/>
            <a:ext cx="105326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Select an appropriate EBS-backed AMI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Launch an instance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Update an instance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Create image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Launch an instance from your new AMI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024A0C-AD97-44BE-A2E4-483633CA4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927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B1A63-8E95-473E-88C8-3CA871E9D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146050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Placement Groups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87BD5F-E53B-4C21-A2EA-2C0A37640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3051" y="1471613"/>
            <a:ext cx="4176050" cy="32614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0A2D0E-3E16-40FE-8F24-069B00A1D751}"/>
              </a:ext>
            </a:extLst>
          </p:cNvPr>
          <p:cNvSpPr txBox="1"/>
          <p:nvPr/>
        </p:nvSpPr>
        <p:spPr>
          <a:xfrm>
            <a:off x="228599" y="1371600"/>
            <a:ext cx="72866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Logical grouping of instances within a single Availability Zone Recommended for applications that benefits from low network latency, high network throughput, or both.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Cluster Placement group is a logical grouping of instances in a single Availability Zone.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Spread Placement group is a group of instances that are each placed on distinct underlying hardware.</a:t>
            </a:r>
          </a:p>
          <a:p>
            <a:endParaRPr lang="en-US" sz="22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</a:rPr>
              <a:t>Using placement groups enables applications to participate in a low latency, 10 Gbps network.</a:t>
            </a:r>
            <a:endParaRPr lang="en-IN" sz="22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19CF66-4E1B-417A-B94B-7DB2BFF51405}"/>
              </a:ext>
            </a:extLst>
          </p:cNvPr>
          <p:cNvSpPr txBox="1"/>
          <p:nvPr/>
        </p:nvSpPr>
        <p:spPr>
          <a:xfrm>
            <a:off x="1390650" y="5924550"/>
            <a:ext cx="9134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+mj-lt"/>
              </a:rPr>
              <a:t>https://docs.aws.amazon.com/AWSEC2/latest/UserGuide/placement-groups.html</a:t>
            </a:r>
          </a:p>
        </p:txBody>
      </p:sp>
    </p:spTree>
    <p:extLst>
      <p:ext uri="{BB962C8B-B14F-4D97-AF65-F5344CB8AC3E}">
        <p14:creationId xmlns:p14="http://schemas.microsoft.com/office/powerpoint/2010/main" val="2644565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3562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AWS EC2: Understanding EC2 Billing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1066801"/>
            <a:ext cx="10898009" cy="5105399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If instance is billed by the hour, you are billed for a minimum of one hour each time a new instance is started—when it enters the running state.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If your instance is billed by the second, you are billed for a minimum of 60 seconds each time a new instance is started—when it enters the running state.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Instances that are in any other state—such as stopped, pending, etc.—are not billed.</a:t>
            </a:r>
          </a:p>
          <a:p>
            <a:pPr lvl="0" algn="just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Examples:</a:t>
            </a:r>
          </a:p>
          <a:p>
            <a:pPr lvl="1" algn="just"/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When you run one instance for 30 minutes and then terminate the instance, you are billed for one instance hour.</a:t>
            </a:r>
          </a:p>
          <a:p>
            <a:pPr lvl="1" algn="just"/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When you run one instance for 10 minutes, stop the instance, and then start the instance again, you are billed for two instance hours.</a:t>
            </a:r>
          </a:p>
          <a:p>
            <a:pPr lvl="1" algn="just"/>
            <a:r>
              <a:rPr lang="en-US" sz="2200" dirty="0"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When you run two EC2 instances of the same type for 30 minutes each, you are billed for two instance hours.</a:t>
            </a:r>
          </a:p>
          <a:p>
            <a:pPr lvl="0" algn="just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C8F5A0-E98F-43F5-B8CA-803E2577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689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063" y="1144012"/>
            <a:ext cx="11270412" cy="327558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With per-second billing, you pay for only what you use.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EC2 usage are billed on one second increments, with a minimum of 60 seconds.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+mj-lt"/>
              </a:rPr>
              <a:t>Per-second billing is available for instances launched in:</a:t>
            </a:r>
          </a:p>
          <a:p>
            <a:pPr lvl="1"/>
            <a:r>
              <a:rPr lang="en-US" sz="2200" dirty="0">
                <a:latin typeface="+mj-lt"/>
              </a:rPr>
              <a:t>On-Demand, Reserved and Spot forms</a:t>
            </a:r>
          </a:p>
          <a:p>
            <a:pPr lvl="1"/>
            <a:r>
              <a:rPr lang="en-US" sz="2200" dirty="0">
                <a:latin typeface="+mj-lt"/>
              </a:rPr>
              <a:t>All regions and Availability Zones</a:t>
            </a:r>
          </a:p>
          <a:p>
            <a:pPr lvl="1"/>
            <a:r>
              <a:rPr lang="en-US" sz="2200" dirty="0">
                <a:latin typeface="+mj-lt"/>
              </a:rPr>
              <a:t>Amazon Linux and Ubuntu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latin typeface="+mj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9600" y="274638"/>
            <a:ext cx="10972801" cy="56356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sz="3200" kern="0" dirty="0">
                <a:latin typeface="+mj-lt"/>
                <a:ea typeface="Verdana" panose="020B0604030504040204" pitchFamily="34" charset="0"/>
                <a:cs typeface="Arial" panose="020B0604020202020204" pitchFamily="34" charset="0"/>
              </a:rPr>
              <a:t>AWS EC2: </a:t>
            </a:r>
            <a:r>
              <a:rPr lang="en-US" sz="3200" dirty="0">
                <a:latin typeface="+mj-lt"/>
                <a:cs typeface="Arial" panose="020B0604020202020204" pitchFamily="34" charset="0"/>
              </a:rPr>
              <a:t>Per Second Billing</a:t>
            </a:r>
          </a:p>
          <a:p>
            <a:pPr algn="l"/>
            <a:endParaRPr lang="en-US" sz="3200" kern="0" dirty="0">
              <a:latin typeface="+mj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803167-477B-4625-AD3E-0565282A4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002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DF381-DAD6-42FB-AFB8-81AA005B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8255"/>
            <a:ext cx="10515600" cy="686595"/>
          </a:xfrm>
        </p:spPr>
        <p:txBody>
          <a:bodyPr>
            <a:normAutofit/>
          </a:bodyPr>
          <a:lstStyle/>
          <a:p>
            <a:r>
              <a:rPr lang="en-IN" sz="3600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9C9E5-2759-46E4-8B24-6F5BE2950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781049"/>
            <a:ext cx="10991850" cy="57626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1. Which EC2 offering provides the information needed to launch an instance?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Bootstrap Action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Spot Fleet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CloudWatch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Amazon Machine Image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2 .  Can I move a reserved instance from one region to another?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Yes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No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Depends on </a:t>
            </a:r>
            <a:r>
              <a:rPr lang="en-US" sz="1800" dirty="0" err="1"/>
              <a:t>REgion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3. Amazon's EBS volumes are ________.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Object Based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Block Based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File based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14898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3841" y="2947670"/>
            <a:ext cx="2635885" cy="774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spc="-5" dirty="0">
                <a:latin typeface="Calibri"/>
                <a:cs typeface="Calibri"/>
              </a:rPr>
              <a:t>Thank</a:t>
            </a:r>
            <a:r>
              <a:rPr sz="4800" b="1" spc="-80" dirty="0">
                <a:latin typeface="Calibri"/>
                <a:cs typeface="Calibri"/>
              </a:rPr>
              <a:t> </a:t>
            </a:r>
            <a:r>
              <a:rPr sz="4800" b="1" spc="-135" dirty="0">
                <a:latin typeface="Calibri"/>
                <a:cs typeface="Calibri"/>
              </a:rPr>
              <a:t>You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F41739-B50E-4A8F-B539-9D6ABC779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@CHAITANYA R GAAJULA - ALL COPYRIGHTS RESERVED</a:t>
            </a:r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1903</Words>
  <Application>Microsoft Office PowerPoint</Application>
  <PresentationFormat>Widescreen</PresentationFormat>
  <Paragraphs>279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Verdana</vt:lpstr>
      <vt:lpstr>Wingdings</vt:lpstr>
      <vt:lpstr>Office Theme</vt:lpstr>
      <vt:lpstr>PowerPoint Presentation</vt:lpstr>
      <vt:lpstr>What is EC2?</vt:lpstr>
      <vt:lpstr>AWS EC2: Benefits</vt:lpstr>
      <vt:lpstr>AWS EC2: Features</vt:lpstr>
      <vt:lpstr>AWS EC2: How to access EC2 </vt:lpstr>
      <vt:lpstr>AWS EC2: Instance Types</vt:lpstr>
      <vt:lpstr>AWS EC2: Purchasing Options</vt:lpstr>
      <vt:lpstr>       EC2 Tenancy</vt:lpstr>
      <vt:lpstr>AWS EC2: Reboot, Stop, and Terminate</vt:lpstr>
      <vt:lpstr>AWS EC2: Amazon Machine Images </vt:lpstr>
      <vt:lpstr>AWS EC2: Storage for the Root Device</vt:lpstr>
      <vt:lpstr>AWS EC2: Instance Lifecycle</vt:lpstr>
      <vt:lpstr>Session Manager &amp; EC2 Instance Connect</vt:lpstr>
      <vt:lpstr>AWS EC2: Resizing</vt:lpstr>
      <vt:lpstr>AWS EC2: Instance Termination</vt:lpstr>
      <vt:lpstr>AWS EC2: Elastic IP</vt:lpstr>
      <vt:lpstr>AWS EC2: Elastic Network Interfaces</vt:lpstr>
      <vt:lpstr>AWS EC2: Creating AMI or Custom AMI</vt:lpstr>
      <vt:lpstr>Placement Groups</vt:lpstr>
      <vt:lpstr>AWS EC2: Understanding EC2 Billing</vt:lpstr>
      <vt:lpstr>PowerPoint Presentation</vt:lpstr>
      <vt:lpstr>Quiz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Chaitanya Gaajula</dc:creator>
  <cp:lastModifiedBy>Chaitanya Gaajula</cp:lastModifiedBy>
  <cp:revision>22</cp:revision>
  <dcterms:created xsi:type="dcterms:W3CDTF">2020-05-31T14:20:12Z</dcterms:created>
  <dcterms:modified xsi:type="dcterms:W3CDTF">2021-10-02T12:42:58Z</dcterms:modified>
</cp:coreProperties>
</file>