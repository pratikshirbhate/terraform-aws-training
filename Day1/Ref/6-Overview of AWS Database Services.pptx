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8"/>
  </p:notesMasterIdLst>
  <p:sldIdLst>
    <p:sldId id="258" r:id="rId3"/>
    <p:sldId id="297" r:id="rId4"/>
    <p:sldId id="298" r:id="rId5"/>
    <p:sldId id="278" r:id="rId6"/>
    <p:sldId id="279" r:id="rId7"/>
    <p:sldId id="280" r:id="rId8"/>
    <p:sldId id="291" r:id="rId9"/>
    <p:sldId id="281" r:id="rId10"/>
    <p:sldId id="282" r:id="rId11"/>
    <p:sldId id="283" r:id="rId12"/>
    <p:sldId id="284" r:id="rId13"/>
    <p:sldId id="285" r:id="rId14"/>
    <p:sldId id="286" r:id="rId15"/>
    <p:sldId id="287" r:id="rId16"/>
    <p:sldId id="288" r:id="rId17"/>
    <p:sldId id="289" r:id="rId18"/>
    <p:sldId id="290" r:id="rId19"/>
    <p:sldId id="261" r:id="rId20"/>
    <p:sldId id="263" r:id="rId21"/>
    <p:sldId id="262" r:id="rId22"/>
    <p:sldId id="301" r:id="rId23"/>
    <p:sldId id="659" r:id="rId24"/>
    <p:sldId id="585" r:id="rId25"/>
    <p:sldId id="622" r:id="rId26"/>
    <p:sldId id="623" r:id="rId27"/>
    <p:sldId id="660" r:id="rId28"/>
    <p:sldId id="655" r:id="rId29"/>
    <p:sldId id="643" r:id="rId30"/>
    <p:sldId id="644" r:id="rId31"/>
    <p:sldId id="645" r:id="rId32"/>
    <p:sldId id="646" r:id="rId33"/>
    <p:sldId id="647" r:id="rId34"/>
    <p:sldId id="538" r:id="rId35"/>
    <p:sldId id="539" r:id="rId36"/>
    <p:sldId id="540" r:id="rId37"/>
    <p:sldId id="542" r:id="rId38"/>
    <p:sldId id="543" r:id="rId39"/>
    <p:sldId id="563" r:id="rId40"/>
    <p:sldId id="537" r:id="rId41"/>
    <p:sldId id="654" r:id="rId42"/>
    <p:sldId id="652" r:id="rId43"/>
    <p:sldId id="653" r:id="rId44"/>
    <p:sldId id="590" r:id="rId45"/>
    <p:sldId id="591" r:id="rId46"/>
    <p:sldId id="606" r:id="rId47"/>
    <p:sldId id="593" r:id="rId48"/>
    <p:sldId id="609" r:id="rId49"/>
    <p:sldId id="594" r:id="rId50"/>
    <p:sldId id="536" r:id="rId51"/>
    <p:sldId id="583" r:id="rId52"/>
    <p:sldId id="599" r:id="rId53"/>
    <p:sldId id="600" r:id="rId54"/>
    <p:sldId id="597" r:id="rId55"/>
    <p:sldId id="296" r:id="rId56"/>
    <p:sldId id="299" r:id="rId57"/>
    <p:sldId id="306" r:id="rId58"/>
    <p:sldId id="300" r:id="rId59"/>
    <p:sldId id="551" r:id="rId60"/>
    <p:sldId id="552" r:id="rId61"/>
    <p:sldId id="553" r:id="rId62"/>
    <p:sldId id="303" r:id="rId63"/>
    <p:sldId id="662" r:id="rId64"/>
    <p:sldId id="302" r:id="rId65"/>
    <p:sldId id="663" r:id="rId66"/>
    <p:sldId id="27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wv8Qz38BjjzacXY8DtzDEQ==" hashData="tvETFR55L/77eBOgF2Pw4TtgQKD3R1m7MDN9SbjAujDMZL7Et6LqM0eaDMEU7W5NA1B7XC6WkP94kcHUl/zg0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29999-D00E-4E30-B35D-26880D56BEEC}"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C788F-0190-4A27-B838-934583DCBAA4}" type="slidenum">
              <a:rPr lang="en-IN" smtClean="0"/>
              <a:t>‹#›</a:t>
            </a:fld>
            <a:endParaRPr lang="en-IN"/>
          </a:p>
        </p:txBody>
      </p:sp>
    </p:spTree>
    <p:extLst>
      <p:ext uri="{BB962C8B-B14F-4D97-AF65-F5344CB8AC3E}">
        <p14:creationId xmlns:p14="http://schemas.microsoft.com/office/powerpoint/2010/main" val="53535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Gill Sans"/>
                <a:ea typeface="+mn-ea"/>
                <a:cs typeface="+mn-cs"/>
              </a:rPr>
              <a:t>&lt;Course name&gt;   1 - </a:t>
            </a:r>
            <a:fld id="{7C951E65-0BAA-4B24-AD87-683F8269D8DB}" type="slidenum">
              <a:rPr kumimoji="0" lang="en-US" sz="1200" b="0" i="0" u="none" strike="noStrike" kern="1200" cap="none" spc="0" normalizeH="0" baseline="0" noProof="0" smtClean="0">
                <a:ln>
                  <a:noFill/>
                </a:ln>
                <a:solidFill>
                  <a:prstClr val="black"/>
                </a:solidFill>
                <a:effectLst/>
                <a:uLnTx/>
                <a:uFillTx/>
                <a:latin typeface="Gill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Gill Sans"/>
              <a:ea typeface="+mn-ea"/>
              <a:cs typeface="+mn-cs"/>
            </a:endParaRPr>
          </a:p>
        </p:txBody>
      </p:sp>
    </p:spTree>
    <p:extLst>
      <p:ext uri="{BB962C8B-B14F-4D97-AF65-F5344CB8AC3E}">
        <p14:creationId xmlns:p14="http://schemas.microsoft.com/office/powerpoint/2010/main" val="4267846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Gill Sans"/>
                <a:ea typeface="+mn-ea"/>
                <a:cs typeface="+mn-cs"/>
              </a:rPr>
              <a:t>&lt;Course name&gt;   1 - </a:t>
            </a:r>
            <a:fld id="{7C951E65-0BAA-4B24-AD87-683F8269D8DB}" type="slidenum">
              <a:rPr kumimoji="0" lang="en-US" sz="1200" b="0" i="0" u="none" strike="noStrike" kern="1200" cap="none" spc="0" normalizeH="0" baseline="0" noProof="0" smtClean="0">
                <a:ln>
                  <a:noFill/>
                </a:ln>
                <a:solidFill>
                  <a:prstClr val="black"/>
                </a:solidFill>
                <a:effectLst/>
                <a:uLnTx/>
                <a:uFillTx/>
                <a:latin typeface="Gill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Gill Sans"/>
              <a:ea typeface="+mn-ea"/>
              <a:cs typeface="+mn-cs"/>
            </a:endParaRPr>
          </a:p>
        </p:txBody>
      </p:sp>
    </p:spTree>
    <p:extLst>
      <p:ext uri="{BB962C8B-B14F-4D97-AF65-F5344CB8AC3E}">
        <p14:creationId xmlns:p14="http://schemas.microsoft.com/office/powerpoint/2010/main" val="3500605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Gill Sans"/>
                <a:ea typeface="+mn-ea"/>
                <a:cs typeface="+mn-cs"/>
              </a:rPr>
              <a:t>&lt;Course name&gt;   1 - </a:t>
            </a:r>
            <a:fld id="{7C951E65-0BAA-4B24-AD87-683F8269D8DB}" type="slidenum">
              <a:rPr kumimoji="0" lang="en-US" sz="1200" b="0" i="0" u="none" strike="noStrike" kern="1200" cap="none" spc="0" normalizeH="0" baseline="0" noProof="0" smtClean="0">
                <a:ln>
                  <a:noFill/>
                </a:ln>
                <a:solidFill>
                  <a:prstClr val="black"/>
                </a:solidFill>
                <a:effectLst/>
                <a:uLnTx/>
                <a:uFillTx/>
                <a:latin typeface="Gill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Gill Sans"/>
              <a:ea typeface="+mn-ea"/>
              <a:cs typeface="+mn-cs"/>
            </a:endParaRPr>
          </a:p>
        </p:txBody>
      </p:sp>
    </p:spTree>
    <p:extLst>
      <p:ext uri="{BB962C8B-B14F-4D97-AF65-F5344CB8AC3E}">
        <p14:creationId xmlns:p14="http://schemas.microsoft.com/office/powerpoint/2010/main" val="4014793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7B1D9-19E9-48F6-99E5-C2DE27C068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831C75-D82B-4DEF-9551-ED60D160A6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DDF646-F0FB-4D52-A67E-C631F24B6A5E}"/>
              </a:ext>
            </a:extLst>
          </p:cNvPr>
          <p:cNvSpPr>
            <a:spLocks noGrp="1"/>
          </p:cNvSpPr>
          <p:nvPr>
            <p:ph type="dt" sz="half" idx="10"/>
          </p:nvPr>
        </p:nvSpPr>
        <p:spPr/>
        <p:txBody>
          <a:bodyPr/>
          <a:lstStyle/>
          <a:p>
            <a:fld id="{6E96998A-ABE7-4932-BB8D-29BA4BF0A0B4}" type="datetime1">
              <a:rPr lang="en-IN" smtClean="0"/>
              <a:t>18-02-2026</a:t>
            </a:fld>
            <a:endParaRPr lang="en-IN"/>
          </a:p>
        </p:txBody>
      </p:sp>
      <p:sp>
        <p:nvSpPr>
          <p:cNvPr id="5" name="Footer Placeholder 4">
            <a:extLst>
              <a:ext uri="{FF2B5EF4-FFF2-40B4-BE49-F238E27FC236}">
                <a16:creationId xmlns:a16="http://schemas.microsoft.com/office/drawing/2014/main" id="{C6762E05-1AA6-4942-8A6D-B0ADDA156256}"/>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7341A286-16DD-4069-82AF-62F384F613FF}"/>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196239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F911-AF33-44E2-995D-64AADF6B4D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B67A5E-7F60-44F1-AF23-CB53945C31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7FAE16-2309-40C8-A129-0BC9997CE33F}"/>
              </a:ext>
            </a:extLst>
          </p:cNvPr>
          <p:cNvSpPr>
            <a:spLocks noGrp="1"/>
          </p:cNvSpPr>
          <p:nvPr>
            <p:ph type="dt" sz="half" idx="10"/>
          </p:nvPr>
        </p:nvSpPr>
        <p:spPr/>
        <p:txBody>
          <a:bodyPr/>
          <a:lstStyle/>
          <a:p>
            <a:fld id="{0034F2EF-35D2-4739-A782-F7934B7BC01E}" type="datetime1">
              <a:rPr lang="en-IN" smtClean="0"/>
              <a:t>18-02-2026</a:t>
            </a:fld>
            <a:endParaRPr lang="en-IN"/>
          </a:p>
        </p:txBody>
      </p:sp>
      <p:sp>
        <p:nvSpPr>
          <p:cNvPr id="5" name="Footer Placeholder 4">
            <a:extLst>
              <a:ext uri="{FF2B5EF4-FFF2-40B4-BE49-F238E27FC236}">
                <a16:creationId xmlns:a16="http://schemas.microsoft.com/office/drawing/2014/main" id="{4F901B8A-EC6C-4EDA-B0AB-D5DA36C6F35C}"/>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5D43DB1E-03F6-4882-905B-D74812775752}"/>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303343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9093-D3BD-4C04-89E3-A97A50E350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9F5EB9-A0CE-49E1-839B-D0EA12F442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CAED69-34D1-4DBB-8D3D-E5D237C55E2A}"/>
              </a:ext>
            </a:extLst>
          </p:cNvPr>
          <p:cNvSpPr>
            <a:spLocks noGrp="1"/>
          </p:cNvSpPr>
          <p:nvPr>
            <p:ph type="dt" sz="half" idx="10"/>
          </p:nvPr>
        </p:nvSpPr>
        <p:spPr/>
        <p:txBody>
          <a:bodyPr/>
          <a:lstStyle/>
          <a:p>
            <a:fld id="{874AB710-CD55-49DB-AEC8-D46F5713F35F}" type="datetime1">
              <a:rPr lang="en-IN" smtClean="0"/>
              <a:t>18-02-2026</a:t>
            </a:fld>
            <a:endParaRPr lang="en-IN"/>
          </a:p>
        </p:txBody>
      </p:sp>
      <p:sp>
        <p:nvSpPr>
          <p:cNvPr id="5" name="Footer Placeholder 4">
            <a:extLst>
              <a:ext uri="{FF2B5EF4-FFF2-40B4-BE49-F238E27FC236}">
                <a16:creationId xmlns:a16="http://schemas.microsoft.com/office/drawing/2014/main" id="{252ACAF7-7ACB-4309-B2AF-A9A693A62825}"/>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7552A6D6-EC0F-42F3-AFD3-968866036493}"/>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347980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C552-3096-4224-BF34-DAB2FD9F07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D675D1-CB6E-46EA-850B-9041985DDA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E4E958-156D-4641-84EC-C4CBD01165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1BE67F-F68F-4389-92FB-7C868C0FF402}"/>
              </a:ext>
            </a:extLst>
          </p:cNvPr>
          <p:cNvSpPr>
            <a:spLocks noGrp="1"/>
          </p:cNvSpPr>
          <p:nvPr>
            <p:ph type="dt" sz="half" idx="10"/>
          </p:nvPr>
        </p:nvSpPr>
        <p:spPr/>
        <p:txBody>
          <a:bodyPr/>
          <a:lstStyle/>
          <a:p>
            <a:fld id="{D4A4DF9C-CAD7-44BA-AF5F-9DDD0EA37E4B}" type="datetime1">
              <a:rPr lang="en-IN" smtClean="0"/>
              <a:t>18-02-2026</a:t>
            </a:fld>
            <a:endParaRPr lang="en-IN"/>
          </a:p>
        </p:txBody>
      </p:sp>
      <p:sp>
        <p:nvSpPr>
          <p:cNvPr id="6" name="Footer Placeholder 5">
            <a:extLst>
              <a:ext uri="{FF2B5EF4-FFF2-40B4-BE49-F238E27FC236}">
                <a16:creationId xmlns:a16="http://schemas.microsoft.com/office/drawing/2014/main" id="{FAAE7905-E951-4FBC-A695-2DE54ACCE18C}"/>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C4E63FF0-B62C-4E75-AFC8-E3A38C3E0436}"/>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1297888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C28C-7DD8-4C47-8B2C-A3148AE4237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05AB11-100C-405A-8807-0DA2DD909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18C67C-98EC-4B38-92EA-B98F62541A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BE4280-8F36-4298-924A-16DE7528E7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0D9FA7-C669-4EFD-87A0-C90230FFD1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B1730E-C222-4B37-9519-67E8831FC4E6}"/>
              </a:ext>
            </a:extLst>
          </p:cNvPr>
          <p:cNvSpPr>
            <a:spLocks noGrp="1"/>
          </p:cNvSpPr>
          <p:nvPr>
            <p:ph type="dt" sz="half" idx="10"/>
          </p:nvPr>
        </p:nvSpPr>
        <p:spPr/>
        <p:txBody>
          <a:bodyPr/>
          <a:lstStyle/>
          <a:p>
            <a:fld id="{E0041D2C-3831-430B-9D8D-EAFE04E11E64}" type="datetime1">
              <a:rPr lang="en-IN" smtClean="0"/>
              <a:t>18-02-2026</a:t>
            </a:fld>
            <a:endParaRPr lang="en-IN"/>
          </a:p>
        </p:txBody>
      </p:sp>
      <p:sp>
        <p:nvSpPr>
          <p:cNvPr id="8" name="Footer Placeholder 7">
            <a:extLst>
              <a:ext uri="{FF2B5EF4-FFF2-40B4-BE49-F238E27FC236}">
                <a16:creationId xmlns:a16="http://schemas.microsoft.com/office/drawing/2014/main" id="{6BC12335-7E94-4D68-A601-64DF1C3C166C}"/>
              </a:ext>
            </a:extLst>
          </p:cNvPr>
          <p:cNvSpPr>
            <a:spLocks noGrp="1"/>
          </p:cNvSpPr>
          <p:nvPr>
            <p:ph type="ftr" sz="quarter" idx="11"/>
          </p:nvPr>
        </p:nvSpPr>
        <p:spPr/>
        <p:txBody>
          <a:bodyPr/>
          <a:lstStyle/>
          <a:p>
            <a:r>
              <a:rPr lang="en-US"/>
              <a:t>CHAITANYA R GAAJULA - ALL COPYRIGHTS RESERVED</a:t>
            </a:r>
            <a:endParaRPr lang="en-IN"/>
          </a:p>
        </p:txBody>
      </p:sp>
      <p:sp>
        <p:nvSpPr>
          <p:cNvPr id="9" name="Slide Number Placeholder 8">
            <a:extLst>
              <a:ext uri="{FF2B5EF4-FFF2-40B4-BE49-F238E27FC236}">
                <a16:creationId xmlns:a16="http://schemas.microsoft.com/office/drawing/2014/main" id="{7749497C-F73A-4DC1-BC75-E2990AF0A31B}"/>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138960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1E48-7C7D-44E0-9737-9806C0DF88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F96E67-A973-4D08-A296-02EE3A8A1E4B}"/>
              </a:ext>
            </a:extLst>
          </p:cNvPr>
          <p:cNvSpPr>
            <a:spLocks noGrp="1"/>
          </p:cNvSpPr>
          <p:nvPr>
            <p:ph type="dt" sz="half" idx="10"/>
          </p:nvPr>
        </p:nvSpPr>
        <p:spPr/>
        <p:txBody>
          <a:bodyPr/>
          <a:lstStyle/>
          <a:p>
            <a:fld id="{ECFEE30B-E379-48F8-8DAE-ACDEDC367792}" type="datetime1">
              <a:rPr lang="en-IN" smtClean="0"/>
              <a:t>18-02-2026</a:t>
            </a:fld>
            <a:endParaRPr lang="en-IN"/>
          </a:p>
        </p:txBody>
      </p:sp>
      <p:sp>
        <p:nvSpPr>
          <p:cNvPr id="4" name="Footer Placeholder 3">
            <a:extLst>
              <a:ext uri="{FF2B5EF4-FFF2-40B4-BE49-F238E27FC236}">
                <a16:creationId xmlns:a16="http://schemas.microsoft.com/office/drawing/2014/main" id="{C5E90C93-790A-4DF9-918A-71F72DCC95C1}"/>
              </a:ext>
            </a:extLst>
          </p:cNvPr>
          <p:cNvSpPr>
            <a:spLocks noGrp="1"/>
          </p:cNvSpPr>
          <p:nvPr>
            <p:ph type="ftr" sz="quarter" idx="11"/>
          </p:nvPr>
        </p:nvSpPr>
        <p:spPr/>
        <p:txBody>
          <a:bodyPr/>
          <a:lstStyle/>
          <a:p>
            <a:r>
              <a:rPr lang="en-US"/>
              <a:t>CHAITANYA R GAAJULA - ALL COPYRIGHTS RESERVED</a:t>
            </a:r>
            <a:endParaRPr lang="en-IN"/>
          </a:p>
        </p:txBody>
      </p:sp>
      <p:sp>
        <p:nvSpPr>
          <p:cNvPr id="5" name="Slide Number Placeholder 4">
            <a:extLst>
              <a:ext uri="{FF2B5EF4-FFF2-40B4-BE49-F238E27FC236}">
                <a16:creationId xmlns:a16="http://schemas.microsoft.com/office/drawing/2014/main" id="{F733D519-A57B-4C96-A181-70DF02C080D4}"/>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2615677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29A899-957A-4A4A-B0D7-BAF87F367C4E}"/>
              </a:ext>
            </a:extLst>
          </p:cNvPr>
          <p:cNvSpPr>
            <a:spLocks noGrp="1"/>
          </p:cNvSpPr>
          <p:nvPr>
            <p:ph type="dt" sz="half" idx="10"/>
          </p:nvPr>
        </p:nvSpPr>
        <p:spPr/>
        <p:txBody>
          <a:bodyPr/>
          <a:lstStyle/>
          <a:p>
            <a:fld id="{30AEF0D7-1FC9-45DA-B14F-981EE6E6719D}" type="datetime1">
              <a:rPr lang="en-IN" smtClean="0"/>
              <a:t>18-02-2026</a:t>
            </a:fld>
            <a:endParaRPr lang="en-IN"/>
          </a:p>
        </p:txBody>
      </p:sp>
      <p:sp>
        <p:nvSpPr>
          <p:cNvPr id="3" name="Footer Placeholder 2">
            <a:extLst>
              <a:ext uri="{FF2B5EF4-FFF2-40B4-BE49-F238E27FC236}">
                <a16:creationId xmlns:a16="http://schemas.microsoft.com/office/drawing/2014/main" id="{C3EB1EB2-CFB4-4CC8-ACCB-67D7EB0510B9}"/>
              </a:ext>
            </a:extLst>
          </p:cNvPr>
          <p:cNvSpPr>
            <a:spLocks noGrp="1"/>
          </p:cNvSpPr>
          <p:nvPr>
            <p:ph type="ftr" sz="quarter" idx="11"/>
          </p:nvPr>
        </p:nvSpPr>
        <p:spPr/>
        <p:txBody>
          <a:bodyPr/>
          <a:lstStyle/>
          <a:p>
            <a:r>
              <a:rPr lang="en-US"/>
              <a:t>CHAITANYA R GAAJULA - ALL COPYRIGHTS RESERVED</a:t>
            </a:r>
            <a:endParaRPr lang="en-IN"/>
          </a:p>
        </p:txBody>
      </p:sp>
      <p:sp>
        <p:nvSpPr>
          <p:cNvPr id="4" name="Slide Number Placeholder 3">
            <a:extLst>
              <a:ext uri="{FF2B5EF4-FFF2-40B4-BE49-F238E27FC236}">
                <a16:creationId xmlns:a16="http://schemas.microsoft.com/office/drawing/2014/main" id="{A84EDFB9-7C71-429C-B565-B604055D16DC}"/>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231265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6DC70-5C68-4308-918F-AC96C9CDC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35AB94-36CE-4852-A75A-8EA89BFAA4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0C98D5-4AC7-4ED7-8D59-8CE13EE490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553C01-C4A8-4A9B-A20B-CA27A8092B8F}"/>
              </a:ext>
            </a:extLst>
          </p:cNvPr>
          <p:cNvSpPr>
            <a:spLocks noGrp="1"/>
          </p:cNvSpPr>
          <p:nvPr>
            <p:ph type="dt" sz="half" idx="10"/>
          </p:nvPr>
        </p:nvSpPr>
        <p:spPr/>
        <p:txBody>
          <a:bodyPr/>
          <a:lstStyle/>
          <a:p>
            <a:fld id="{7BB2349E-2EB7-4A3D-B668-9F9FE93A40E0}" type="datetime1">
              <a:rPr lang="en-IN" smtClean="0"/>
              <a:t>18-02-2026</a:t>
            </a:fld>
            <a:endParaRPr lang="en-IN"/>
          </a:p>
        </p:txBody>
      </p:sp>
      <p:sp>
        <p:nvSpPr>
          <p:cNvPr id="6" name="Footer Placeholder 5">
            <a:extLst>
              <a:ext uri="{FF2B5EF4-FFF2-40B4-BE49-F238E27FC236}">
                <a16:creationId xmlns:a16="http://schemas.microsoft.com/office/drawing/2014/main" id="{66F0F3AF-771E-491D-8944-479750AA60B6}"/>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1DF36AAA-C2EA-4C75-BFAA-0F8BF12BEDAE}"/>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3685230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84AB-EDA7-48BD-9C21-C8E5BBF751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46C2A9-0CBB-40B3-B705-DBA362B035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3E6C75-CC2A-44E0-9F23-6F9B341F12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6B793-7BAA-4CB3-A367-D0B542DA25A6}"/>
              </a:ext>
            </a:extLst>
          </p:cNvPr>
          <p:cNvSpPr>
            <a:spLocks noGrp="1"/>
          </p:cNvSpPr>
          <p:nvPr>
            <p:ph type="dt" sz="half" idx="10"/>
          </p:nvPr>
        </p:nvSpPr>
        <p:spPr/>
        <p:txBody>
          <a:bodyPr/>
          <a:lstStyle/>
          <a:p>
            <a:fld id="{586423C9-1CCE-4AB0-95B5-8893D908932A}" type="datetime1">
              <a:rPr lang="en-IN" smtClean="0"/>
              <a:t>18-02-2026</a:t>
            </a:fld>
            <a:endParaRPr lang="en-IN"/>
          </a:p>
        </p:txBody>
      </p:sp>
      <p:sp>
        <p:nvSpPr>
          <p:cNvPr id="6" name="Footer Placeholder 5">
            <a:extLst>
              <a:ext uri="{FF2B5EF4-FFF2-40B4-BE49-F238E27FC236}">
                <a16:creationId xmlns:a16="http://schemas.microsoft.com/office/drawing/2014/main" id="{F262E5BA-1676-4E7F-A46E-71F609D6C5F9}"/>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BF8DA94C-6E82-48D5-9E7C-65039CB918D3}"/>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24421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ED048-48A7-40DA-8C05-8FCC43CF7C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A23699-0C58-436C-9997-D874AAF97C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B1BF9E-4CB3-4148-82F4-0677FFA1EFA6}"/>
              </a:ext>
            </a:extLst>
          </p:cNvPr>
          <p:cNvSpPr>
            <a:spLocks noGrp="1"/>
          </p:cNvSpPr>
          <p:nvPr>
            <p:ph type="dt" sz="half" idx="10"/>
          </p:nvPr>
        </p:nvSpPr>
        <p:spPr/>
        <p:txBody>
          <a:bodyPr/>
          <a:lstStyle/>
          <a:p>
            <a:fld id="{1EB5D665-31B6-44B3-895C-EAAA3564D703}" type="datetime1">
              <a:rPr lang="en-IN" smtClean="0"/>
              <a:t>18-02-2026</a:t>
            </a:fld>
            <a:endParaRPr lang="en-IN"/>
          </a:p>
        </p:txBody>
      </p:sp>
      <p:sp>
        <p:nvSpPr>
          <p:cNvPr id="5" name="Footer Placeholder 4">
            <a:extLst>
              <a:ext uri="{FF2B5EF4-FFF2-40B4-BE49-F238E27FC236}">
                <a16:creationId xmlns:a16="http://schemas.microsoft.com/office/drawing/2014/main" id="{F0F08CFC-EB8B-4888-A221-15580F3C56FB}"/>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1A38593F-391D-46D7-84BD-C65AE741259C}"/>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1892752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2CF54-0A85-47C8-8963-D3C5408C55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E8CAA0-3DBA-49B9-8163-DBB07E139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FC0E95-4F54-465C-8082-4B032143A028}"/>
              </a:ext>
            </a:extLst>
          </p:cNvPr>
          <p:cNvSpPr>
            <a:spLocks noGrp="1"/>
          </p:cNvSpPr>
          <p:nvPr>
            <p:ph type="dt" sz="half" idx="10"/>
          </p:nvPr>
        </p:nvSpPr>
        <p:spPr/>
        <p:txBody>
          <a:bodyPr/>
          <a:lstStyle/>
          <a:p>
            <a:fld id="{78D40846-8FA6-4923-B894-9438B838B5BE}" type="datetime1">
              <a:rPr lang="en-IN" smtClean="0"/>
              <a:t>18-02-2026</a:t>
            </a:fld>
            <a:endParaRPr lang="en-IN"/>
          </a:p>
        </p:txBody>
      </p:sp>
      <p:sp>
        <p:nvSpPr>
          <p:cNvPr id="5" name="Footer Placeholder 4">
            <a:extLst>
              <a:ext uri="{FF2B5EF4-FFF2-40B4-BE49-F238E27FC236}">
                <a16:creationId xmlns:a16="http://schemas.microsoft.com/office/drawing/2014/main" id="{1FCFF4EE-4BDB-45AA-BF3D-9043A2D945A8}"/>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3FCE1B9C-331B-41ED-99A0-3A969322C5B2}"/>
              </a:ext>
            </a:extLst>
          </p:cNvPr>
          <p:cNvSpPr>
            <a:spLocks noGrp="1"/>
          </p:cNvSpPr>
          <p:nvPr>
            <p:ph type="sldNum" sz="quarter" idx="12"/>
          </p:nvPr>
        </p:nvSpPr>
        <p:spPr/>
        <p:txBody>
          <a:bodyPr/>
          <a:lstStyle/>
          <a:p>
            <a:fld id="{CA3B878F-AFC2-4B86-B7D5-5885139F9565}" type="slidenum">
              <a:rPr lang="en-IN" smtClean="0"/>
              <a:t>‹#›</a:t>
            </a:fld>
            <a:endParaRPr lang="en-IN"/>
          </a:p>
        </p:txBody>
      </p:sp>
    </p:spTree>
    <p:extLst>
      <p:ext uri="{BB962C8B-B14F-4D97-AF65-F5344CB8AC3E}">
        <p14:creationId xmlns:p14="http://schemas.microsoft.com/office/powerpoint/2010/main" val="246848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cxnSp>
        <p:nvCxnSpPr>
          <p:cNvPr id="6" name="Straight Connector 5"/>
          <p:cNvCxnSpPr/>
          <p:nvPr userDrawn="1"/>
        </p:nvCxnSpPr>
        <p:spPr bwMode="auto">
          <a:xfrm>
            <a:off x="622300" y="1143000"/>
            <a:ext cx="10947400" cy="0"/>
          </a:xfrm>
          <a:prstGeom prst="line">
            <a:avLst/>
          </a:prstGeom>
          <a:noFill/>
          <a:ln w="28575" cap="flat" cmpd="sng" algn="ctr">
            <a:solidFill>
              <a:srgbClr val="065180"/>
            </a:solidFill>
            <a:prstDash val="solid"/>
            <a:round/>
            <a:headEnd type="none" w="sm" len="sm"/>
            <a:tailEnd type="none" w="sm" len="sm"/>
          </a:ln>
          <a:effectLst/>
        </p:spPr>
      </p:cxnSp>
      <p:sp>
        <p:nvSpPr>
          <p:cNvPr id="7" name="Slide_PlaceholderTitle"/>
          <p:cNvSpPr>
            <a:spLocks noGrp="1" noChangeArrowheads="1"/>
          </p:cNvSpPr>
          <p:nvPr>
            <p:ph type="title"/>
          </p:nvPr>
        </p:nvSpPr>
        <p:spPr bwMode="auto">
          <a:xfrm>
            <a:off x="622300" y="457202"/>
            <a:ext cx="10947400" cy="497415"/>
          </a:xfrm>
          <a:prstGeom prst="rect">
            <a:avLst/>
          </a:prstGeom>
          <a:noFill/>
          <a:ln w="9525">
            <a:noFill/>
            <a:miter lim="800000"/>
            <a:headEnd/>
            <a:tailEnd/>
          </a:ln>
        </p:spPr>
        <p:txBody>
          <a:bodyPr vert="horz" wrap="square" lIns="16930" tIns="16930" rIns="16930" bIns="16930" numCol="1" anchor="t" anchorCtr="0" compatLnSpc="1">
            <a:prstTxWarp prst="textNoShape">
              <a:avLst/>
            </a:prstTxWarp>
          </a:bodyPr>
          <a:lstStyle>
            <a:lvl1pPr>
              <a:defRPr>
                <a:solidFill>
                  <a:srgbClr val="095A82"/>
                </a:solidFill>
              </a:defRPr>
            </a:lvl1pPr>
          </a:lstStyle>
          <a:p>
            <a:pPr lvl="0"/>
            <a:r>
              <a:rPr lang="en-US" dirty="0"/>
              <a:t>Click to edit Master title style</a:t>
            </a:r>
          </a:p>
        </p:txBody>
      </p:sp>
      <p:sp>
        <p:nvSpPr>
          <p:cNvPr id="4" name="Text Placeholder 7"/>
          <p:cNvSpPr>
            <a:spLocks noGrp="1"/>
          </p:cNvSpPr>
          <p:nvPr>
            <p:ph type="body" sz="quarter" idx="10" hasCustomPrompt="1"/>
          </p:nvPr>
        </p:nvSpPr>
        <p:spPr>
          <a:xfrm>
            <a:off x="622300" y="1174513"/>
            <a:ext cx="10947400" cy="4415367"/>
          </a:xfrm>
        </p:spPr>
        <p:txBody>
          <a:bodyPr/>
          <a:lstStyle>
            <a:lvl1pPr marL="381019" indent="-381019">
              <a:buClr>
                <a:srgbClr val="095A82"/>
              </a:buClr>
              <a:buFont typeface="Wingdings" panose="05000000000000000000" pitchFamily="2" charset="2"/>
              <a:buChar char="§"/>
              <a:defRPr/>
            </a:lvl1pPr>
          </a:lstStyle>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a:p>
            <a:pPr lvl="0"/>
            <a:r>
              <a:rPr lang="en-US" dirty="0"/>
              <a:t>Add Title Here, Add Title Here, Add Title Here.</a:t>
            </a:r>
          </a:p>
        </p:txBody>
      </p:sp>
    </p:spTree>
    <p:custDataLst>
      <p:tags r:id="rId1"/>
    </p:custDataLst>
    <p:extLst>
      <p:ext uri="{BB962C8B-B14F-4D97-AF65-F5344CB8AC3E}">
        <p14:creationId xmlns:p14="http://schemas.microsoft.com/office/powerpoint/2010/main" val="488447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Slide_PlaceholderText"/>
          <p:cNvSpPr>
            <a:spLocks noGrp="1" noChangeArrowheads="1"/>
          </p:cNvSpPr>
          <p:nvPr>
            <p:ph idx="1"/>
          </p:nvPr>
        </p:nvSpPr>
        <p:spPr bwMode="gray">
          <a:xfrm>
            <a:off x="622300" y="1143001"/>
            <a:ext cx="10947400" cy="1788287"/>
          </a:xfrm>
          <a:prstGeom prst="rect">
            <a:avLst/>
          </a:prstGeom>
          <a:noFill/>
          <a:ln w="9525">
            <a:noFill/>
            <a:miter lim="800000"/>
            <a:headEnd/>
            <a:tailEnd/>
          </a:ln>
        </p:spPr>
        <p:txBody>
          <a:bodyPr vert="horz" wrap="square" lIns="16930" tIns="16930" rIns="16930" bIns="16930" numCol="1" anchor="t" anchorCtr="0" compatLnSpc="1">
            <a:prstTxWarp prst="textNoShape">
              <a:avLst/>
            </a:prstTxWarp>
            <a:spAutoFit/>
          </a:bodyPr>
          <a:lstStyle>
            <a:lvl3pPr>
              <a:buClr>
                <a:schemeClr val="bg1">
                  <a:lumMod val="65000"/>
                </a:schemeClr>
              </a:buClr>
              <a:defRPr/>
            </a:lvl3pPr>
            <a:lvl4pPr>
              <a:buClr>
                <a:schemeClr val="bg1">
                  <a:lumMod val="65000"/>
                </a:schemeClr>
              </a:buClr>
              <a:defRPr/>
            </a:lvl4pPr>
            <a:lvl5pPr>
              <a:buClr>
                <a:schemeClr val="bg1">
                  <a:lumMod val="65000"/>
                </a:schemeClr>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p:cNvCxnSpPr/>
          <p:nvPr userDrawn="1"/>
        </p:nvCxnSpPr>
        <p:spPr bwMode="auto">
          <a:xfrm>
            <a:off x="622300" y="1143000"/>
            <a:ext cx="10947400" cy="0"/>
          </a:xfrm>
          <a:prstGeom prst="line">
            <a:avLst/>
          </a:prstGeom>
          <a:noFill/>
          <a:ln w="28575" cap="flat" cmpd="sng" algn="ctr">
            <a:solidFill>
              <a:srgbClr val="095A82"/>
            </a:solidFill>
            <a:prstDash val="solid"/>
            <a:round/>
            <a:headEnd type="none" w="sm" len="sm"/>
            <a:tailEnd type="none" w="sm" len="sm"/>
          </a:ln>
          <a:effectLst/>
        </p:spPr>
      </p:cxnSp>
      <p:sp>
        <p:nvSpPr>
          <p:cNvPr id="7" name="Slide_PlaceholderTitle"/>
          <p:cNvSpPr>
            <a:spLocks noGrp="1" noChangeArrowheads="1"/>
          </p:cNvSpPr>
          <p:nvPr>
            <p:ph type="title"/>
          </p:nvPr>
        </p:nvSpPr>
        <p:spPr bwMode="auto">
          <a:xfrm>
            <a:off x="622300" y="457202"/>
            <a:ext cx="10947400" cy="497415"/>
          </a:xfrm>
          <a:prstGeom prst="rect">
            <a:avLst/>
          </a:prstGeom>
          <a:noFill/>
          <a:ln w="9525">
            <a:noFill/>
            <a:miter lim="800000"/>
            <a:headEnd/>
            <a:tailEnd/>
          </a:ln>
        </p:spPr>
        <p:txBody>
          <a:bodyPr vert="horz" wrap="square" lIns="16930" tIns="16930" rIns="16930" bIns="16930" numCol="1" anchor="t" anchorCtr="0" compatLnSpc="1">
            <a:prstTxWarp prst="textNoShape">
              <a:avLst/>
            </a:prstTxWarp>
          </a:bodyPr>
          <a:lstStyle>
            <a:lvl1pPr>
              <a:defRPr>
                <a:solidFill>
                  <a:srgbClr val="095A82"/>
                </a:solidFill>
              </a:defRPr>
            </a:lvl1pPr>
          </a:lstStyle>
          <a:p>
            <a:pPr lvl="0"/>
            <a:r>
              <a:rPr lang="en-US" dirty="0"/>
              <a:t>Click to edit Master title style</a:t>
            </a:r>
          </a:p>
        </p:txBody>
      </p:sp>
    </p:spTree>
    <p:custDataLst>
      <p:tags r:id="rId1"/>
    </p:custDataLst>
    <p:extLst>
      <p:ext uri="{BB962C8B-B14F-4D97-AF65-F5344CB8AC3E}">
        <p14:creationId xmlns:p14="http://schemas.microsoft.com/office/powerpoint/2010/main" val="4078781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1"/>
          <p:cNvSpPr>
            <a:spLocks noGrp="1"/>
          </p:cNvSpPr>
          <p:nvPr>
            <p:ph sz="half" idx="1"/>
          </p:nvPr>
        </p:nvSpPr>
        <p:spPr>
          <a:xfrm>
            <a:off x="621793" y="1153476"/>
            <a:ext cx="3162311" cy="1599517"/>
          </a:xfrm>
        </p:spPr>
        <p:txBody>
          <a:bodyPr/>
          <a:lstStyle>
            <a:lvl1pPr>
              <a:defRPr sz="1600"/>
            </a:lvl1pPr>
            <a:lvl2pPr marL="461376" indent="-308994">
              <a:defRPr sz="1600"/>
            </a:lvl2pPr>
            <a:lvl3pPr marL="757673" indent="-300530">
              <a:defRPr sz="1467"/>
            </a:lvl3pPr>
            <a:lvl4pPr marL="1064552" indent="-306879">
              <a:defRPr sz="1467"/>
            </a:lvl4pPr>
            <a:lvl5pPr marL="1373546" indent="-308994">
              <a:defRPr sz="1467"/>
            </a:lvl5pPr>
            <a:lvl6pPr>
              <a:defRPr sz="2400"/>
            </a:lvl6pPr>
            <a:lvl7pPr>
              <a:defRPr sz="2400"/>
            </a:lvl7pPr>
            <a:lvl8pPr>
              <a:defRPr sz="2400"/>
            </a:lvl8pPr>
            <a:lvl9pPr>
              <a:defRPr sz="24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0"/>
          </p:nvPr>
        </p:nvSpPr>
        <p:spPr>
          <a:xfrm>
            <a:off x="4518105" y="1155443"/>
            <a:ext cx="3162311" cy="1599517"/>
          </a:xfrm>
        </p:spPr>
        <p:txBody>
          <a:bodyPr/>
          <a:lstStyle>
            <a:lvl1pPr>
              <a:defRPr sz="1600"/>
            </a:lvl1pPr>
            <a:lvl2pPr marL="457143" indent="-304762">
              <a:defRPr sz="1600"/>
            </a:lvl2pPr>
            <a:lvl3pPr marL="757673" indent="-300530">
              <a:defRPr sz="1467"/>
            </a:lvl3pPr>
            <a:lvl4pPr marL="1064552" indent="-306879">
              <a:defRPr sz="1467"/>
            </a:lvl4pPr>
            <a:lvl5pPr marL="1373546" indent="-308994">
              <a:defRPr sz="1467"/>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p:cNvSpPr>
            <a:spLocks noGrp="1"/>
          </p:cNvSpPr>
          <p:nvPr>
            <p:ph sz="half" idx="11"/>
          </p:nvPr>
        </p:nvSpPr>
        <p:spPr>
          <a:xfrm>
            <a:off x="8407390" y="1157408"/>
            <a:ext cx="3162311" cy="1599517"/>
          </a:xfrm>
        </p:spPr>
        <p:txBody>
          <a:bodyPr/>
          <a:lstStyle>
            <a:lvl1pPr>
              <a:defRPr sz="1600"/>
            </a:lvl1pPr>
            <a:lvl2pPr marL="457143" indent="-304762">
              <a:defRPr sz="1600"/>
            </a:lvl2pPr>
            <a:lvl3pPr marL="757673" indent="-300530">
              <a:defRPr sz="1467"/>
            </a:lvl3pPr>
            <a:lvl4pPr marL="1064552" indent="-306879">
              <a:defRPr sz="1467"/>
            </a:lvl4pPr>
            <a:lvl5pPr marL="1373546" indent="-308994">
              <a:defRPr sz="1467"/>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ustDataLst>
      <p:tags r:id="rId1"/>
    </p:custDataLst>
    <p:extLst>
      <p:ext uri="{BB962C8B-B14F-4D97-AF65-F5344CB8AC3E}">
        <p14:creationId xmlns:p14="http://schemas.microsoft.com/office/powerpoint/2010/main" val="2487186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EF047-BC97-45E8-BE9E-D1F9F397C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81EE5E-D3BC-4391-AF6D-F2642C40F4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1F8471-0C97-4564-A7EF-68AB07213FE9}"/>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172D829B-A5EC-4047-A594-ABE52510B8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89610E-5F73-4F7B-B3F2-3651CD682C51}"/>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145365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DC8B-62DD-4DC9-B666-0476FEA4D6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A056A1-CD4D-41C9-8CB9-F94950A753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90EB41-D690-4A0D-ADAA-C3E555961D2A}"/>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993E69AF-3A47-4A35-BC69-C23F9A3416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0F0429-4260-4F65-9E6C-D6D80F7933A1}"/>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3217208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F66D-B9DD-4021-8E83-F6C376F1A2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0CB9E2-B590-43EE-9CC4-0CA5518E98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ED066E-DC3F-49C1-92C1-6512DF314259}"/>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2EBD5B4F-D776-49F2-938A-541604548E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8A753A-02DB-4993-9CE1-071D85DFBF86}"/>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582372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69FBF-8EAD-4927-B903-854A8A0BDD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559123-A897-40B8-96C6-CEF27199BC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82EBAD-9EDF-4EDD-86E6-C473E9190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B24CE6-6237-4F4B-8811-3643AABD0602}"/>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6" name="Footer Placeholder 5">
            <a:extLst>
              <a:ext uri="{FF2B5EF4-FFF2-40B4-BE49-F238E27FC236}">
                <a16:creationId xmlns:a16="http://schemas.microsoft.com/office/drawing/2014/main" id="{F2D11C7E-9602-49DA-B940-AAEE62FA76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224022-11ED-4E5B-9BE7-3B0DA8C5CF5C}"/>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5925404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0003-88CE-4B89-908B-9BFEA0127D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36A753-C380-489A-A669-902B3C2C51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3A72CE-D0DE-41A4-AAE4-D73512FF2F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F4BCC6-3206-4C5D-BC4D-18B7EE74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373083-279F-4228-9BF7-A75DDE33CD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14A25E-DC12-4596-A706-6FAFC812C7B2}"/>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8" name="Footer Placeholder 7">
            <a:extLst>
              <a:ext uri="{FF2B5EF4-FFF2-40B4-BE49-F238E27FC236}">
                <a16:creationId xmlns:a16="http://schemas.microsoft.com/office/drawing/2014/main" id="{F3041837-292E-4A2F-A296-5A047F0FD0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AB9D5D-AA63-4412-A76C-72DF4828BD4C}"/>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088792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5078E-9B3E-42B3-8029-C55E39F4F4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E74E5F-BAD4-4471-AA06-D1C928F27643}"/>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4" name="Footer Placeholder 3">
            <a:extLst>
              <a:ext uri="{FF2B5EF4-FFF2-40B4-BE49-F238E27FC236}">
                <a16:creationId xmlns:a16="http://schemas.microsoft.com/office/drawing/2014/main" id="{68CB72D1-7325-46A0-B7F4-D23672F671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4933F2E-1EBC-447C-96F9-37BC40865C40}"/>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5057835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82917A-0F71-43D8-8501-C2CD45B2CC66}"/>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3" name="Footer Placeholder 2">
            <a:extLst>
              <a:ext uri="{FF2B5EF4-FFF2-40B4-BE49-F238E27FC236}">
                <a16:creationId xmlns:a16="http://schemas.microsoft.com/office/drawing/2014/main" id="{801BD71C-C76A-4039-AF55-E746B271CA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358AB5-A1C8-4AFB-97AC-6E27FF992EAD}"/>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5054426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138DD-5018-4F52-A100-FA2626BF9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9B8DA2-63FC-48B2-9488-1E045B09F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6D061E-D27A-42B8-BC73-76A2C92FD3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4C5687-FF3F-4AFE-97E0-427504399309}"/>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6" name="Footer Placeholder 5">
            <a:extLst>
              <a:ext uri="{FF2B5EF4-FFF2-40B4-BE49-F238E27FC236}">
                <a16:creationId xmlns:a16="http://schemas.microsoft.com/office/drawing/2014/main" id="{624F0577-2587-4390-B5B6-2D1BA09086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CC1923-6D09-456D-8E04-0A95459F6E5E}"/>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32086021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C6FE-B637-4BB7-8EFA-8280A938D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F1690C-A850-4D41-A9FB-97B114982A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F5DC90-CD31-445D-A66E-0CD2958F9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788A91-19A1-4041-B6B0-CD92CB5D2608}"/>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6" name="Footer Placeholder 5">
            <a:extLst>
              <a:ext uri="{FF2B5EF4-FFF2-40B4-BE49-F238E27FC236}">
                <a16:creationId xmlns:a16="http://schemas.microsoft.com/office/drawing/2014/main" id="{32DB49C3-6FBC-4889-B554-DBA6A717D6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6CA528-6BA4-4C6F-8F4F-D23F631CBC14}"/>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2418826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9880E-2AEF-4855-BC79-8F51A5612F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EB193D-A586-4C80-A99D-77A9C95298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29EEF9-7BF2-4637-902E-57F639CF5574}"/>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4D873230-2A2B-4B1C-98B4-F0771E2DD6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382970-1DBA-4FDF-88C3-DEF6F9436867}"/>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31865677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5E7048-BBEA-4594-8B1A-1E7F087E8D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DEF798-1556-40FD-929A-2C7BA58E2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3847D0-5A9B-4724-BE3E-8F6F7117C47A}"/>
              </a:ext>
            </a:extLst>
          </p:cNvPr>
          <p:cNvSpPr>
            <a:spLocks noGrp="1"/>
          </p:cNvSpPr>
          <p:nvPr>
            <p:ph type="dt" sz="half" idx="10"/>
          </p:nvPr>
        </p:nvSpPr>
        <p:spPr/>
        <p:txBody>
          <a:body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981669FC-F74D-4C95-B6C6-23E05ACF8D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368858-715D-4F72-945A-13D4039EEDB2}"/>
              </a:ext>
            </a:extLst>
          </p:cNvPr>
          <p:cNvSpPr>
            <a:spLocks noGrp="1"/>
          </p:cNvSpPr>
          <p:nvPr>
            <p:ph type="sldNum" sz="quarter" idx="12"/>
          </p:nvPr>
        </p:nvSpPr>
        <p:spPr/>
        <p:txBody>
          <a:bodyPr/>
          <a:lstStyle/>
          <a:p>
            <a:fld id="{96385586-D03B-4854-BD67-5E8C8151467A}" type="slidenum">
              <a:rPr lang="en-IN" smtClean="0"/>
              <a:t>‹#›</a:t>
            </a:fld>
            <a:endParaRPr lang="en-IN"/>
          </a:p>
        </p:txBody>
      </p:sp>
    </p:spTree>
    <p:extLst>
      <p:ext uri="{BB962C8B-B14F-4D97-AF65-F5344CB8AC3E}">
        <p14:creationId xmlns:p14="http://schemas.microsoft.com/office/powerpoint/2010/main" val="3257334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30B77B-F216-4275-89D7-C97104EF6F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625331-3296-4E57-A386-786BBC079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C3C164-4EC4-4FA9-8313-FC980186C9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03B66D-8BBE-4217-8C6A-408FA80FC3F3}" type="datetime1">
              <a:rPr lang="en-IN" smtClean="0"/>
              <a:t>18-02-2026</a:t>
            </a:fld>
            <a:endParaRPr lang="en-IN"/>
          </a:p>
        </p:txBody>
      </p:sp>
      <p:sp>
        <p:nvSpPr>
          <p:cNvPr id="5" name="Footer Placeholder 4">
            <a:extLst>
              <a:ext uri="{FF2B5EF4-FFF2-40B4-BE49-F238E27FC236}">
                <a16:creationId xmlns:a16="http://schemas.microsoft.com/office/drawing/2014/main" id="{5EBC967F-1849-4676-93D7-B9F28151E7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505FF8F8-7B10-452E-B953-C8DC70F927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3B878F-AFC2-4B86-B7D5-5885139F9565}" type="slidenum">
              <a:rPr lang="en-IN" smtClean="0"/>
              <a:t>‹#›</a:t>
            </a:fld>
            <a:endParaRPr lang="en-IN"/>
          </a:p>
        </p:txBody>
      </p:sp>
    </p:spTree>
    <p:extLst>
      <p:ext uri="{BB962C8B-B14F-4D97-AF65-F5344CB8AC3E}">
        <p14:creationId xmlns:p14="http://schemas.microsoft.com/office/powerpoint/2010/main" val="2788923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315294-B3CB-4081-8ADC-F853BF3DE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B393FE-36CA-44A4-B01F-09729EB3ED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B0259F-C9BF-4662-9BAA-3AE0253B40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89997-2BBE-4831-BAB7-EAB0137DB0A2}" type="datetimeFigureOut">
              <a:rPr lang="en-IN" smtClean="0"/>
              <a:t>18-02-2026</a:t>
            </a:fld>
            <a:endParaRPr lang="en-IN"/>
          </a:p>
        </p:txBody>
      </p:sp>
      <p:sp>
        <p:nvSpPr>
          <p:cNvPr id="5" name="Footer Placeholder 4">
            <a:extLst>
              <a:ext uri="{FF2B5EF4-FFF2-40B4-BE49-F238E27FC236}">
                <a16:creationId xmlns:a16="http://schemas.microsoft.com/office/drawing/2014/main" id="{7BDB7497-847F-4F22-90FC-923B4F0EBF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658173A-D345-4422-8FCF-A19F8DC8A6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385586-D03B-4854-BD67-5E8C8151467A}" type="slidenum">
              <a:rPr lang="en-IN" smtClean="0"/>
              <a:t>‹#›</a:t>
            </a:fld>
            <a:endParaRPr lang="en-IN"/>
          </a:p>
        </p:txBody>
      </p:sp>
    </p:spTree>
    <p:extLst>
      <p:ext uri="{BB962C8B-B14F-4D97-AF65-F5344CB8AC3E}">
        <p14:creationId xmlns:p14="http://schemas.microsoft.com/office/powerpoint/2010/main" val="2800523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hyperlink" Target="https://aws.amazon.com/dms/pricing/" TargetMode="External"/><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ws.amazon.com/dms/pricing/" TargetMode="Externa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hyperlink" Target="https://aws.amazon.com/dms/pricing/" TargetMode="External"/><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aws.amazon.com/dms/pricing/" TargetMode="Externa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slideshare.net/AmazonWebServices/migrate-your-data-warehouse-to-amazon-redshift" TargetMode="External"/><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hyperlink" Target="https://aws.amazon.com/blogs/big-data/near-zero-downtime-migration-from-mysql-to-dynamodb/" TargetMode="External"/><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aws.amazon.com/blogs/database/new-aws-dms-and-aws-snowball-integration-enables-mass-database-migrations-and-migrations-of-large-databases/" TargetMode="External"/><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7170" y="2921794"/>
            <a:ext cx="9508059" cy="615553"/>
          </a:xfrm>
          <a:prstGeom prst="rect">
            <a:avLst/>
          </a:prstGeom>
        </p:spPr>
        <p:txBody>
          <a:bodyPr vert="horz" wrap="square" lIns="0" tIns="0" rIns="0" bIns="0" rtlCol="0">
            <a:spAutoFit/>
          </a:bodyPr>
          <a:lstStyle/>
          <a:p>
            <a:pPr algn="ctr"/>
            <a:r>
              <a:rPr lang="en-US" sz="4000" b="1" dirty="0">
                <a:latin typeface="+mj-lt"/>
                <a:ea typeface="Verdana" panose="020B0604030504040204" pitchFamily="34" charset="0"/>
                <a:cs typeface="Verdana" panose="020B0604030504040204" pitchFamily="34" charset="0"/>
              </a:rPr>
              <a:t>Overview of AWS Database Services </a:t>
            </a:r>
          </a:p>
        </p:txBody>
      </p:sp>
      <p:sp>
        <p:nvSpPr>
          <p:cNvPr id="3" name="Footer Placeholder 2">
            <a:extLst>
              <a:ext uri="{FF2B5EF4-FFF2-40B4-BE49-F238E27FC236}">
                <a16:creationId xmlns:a16="http://schemas.microsoft.com/office/drawing/2014/main" id="{FFF1E17E-B072-4D0C-8065-7AC8780AC0C8}"/>
              </a:ext>
            </a:extLst>
          </p:cNvPr>
          <p:cNvSpPr>
            <a:spLocks noGrp="1"/>
          </p:cNvSpPr>
          <p:nvPr>
            <p:ph type="ftr" sz="quarter" idx="11"/>
          </p:nvPr>
        </p:nvSpPr>
        <p:spPr/>
        <p:txBody>
          <a:bodyPr/>
          <a:lstStyle/>
          <a:p>
            <a:r>
              <a:rPr lang="en-US"/>
              <a:t>CHAITANYA R GAAJULA - ALL COPYRIGHTS RESERVED</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7CD0A8-D81F-4CE4-96F2-D35ACF01EABC}"/>
              </a:ext>
            </a:extLst>
          </p:cNvPr>
          <p:cNvSpPr txBox="1"/>
          <p:nvPr/>
        </p:nvSpPr>
        <p:spPr>
          <a:xfrm>
            <a:off x="1409700" y="2171700"/>
            <a:ext cx="8601075" cy="4029075"/>
          </a:xfrm>
          <a:prstGeom prst="rect">
            <a:avLst/>
          </a:prstGeom>
          <a:noFill/>
        </p:spPr>
        <p:txBody>
          <a:bodyPr wrap="square" rtlCol="0">
            <a:spAutoFit/>
          </a:bodyPr>
          <a:lstStyle/>
          <a:p>
            <a:endParaRPr lang="en-IN" dirty="0"/>
          </a:p>
        </p:txBody>
      </p:sp>
      <p:pic>
        <p:nvPicPr>
          <p:cNvPr id="3" name="Picture 2">
            <a:extLst>
              <a:ext uri="{FF2B5EF4-FFF2-40B4-BE49-F238E27FC236}">
                <a16:creationId xmlns:a16="http://schemas.microsoft.com/office/drawing/2014/main" id="{4AAD7EC3-808B-431E-AC6E-35EB1B8E2A6B}"/>
              </a:ext>
            </a:extLst>
          </p:cNvPr>
          <p:cNvPicPr>
            <a:picLocks noChangeAspect="1"/>
          </p:cNvPicPr>
          <p:nvPr/>
        </p:nvPicPr>
        <p:blipFill>
          <a:blip r:embed="rId2"/>
          <a:stretch>
            <a:fillRect/>
          </a:stretch>
        </p:blipFill>
        <p:spPr>
          <a:xfrm>
            <a:off x="1806583" y="1647825"/>
            <a:ext cx="7689842" cy="4321975"/>
          </a:xfrm>
          <a:prstGeom prst="rect">
            <a:avLst/>
          </a:prstGeom>
        </p:spPr>
      </p:pic>
      <p:sp>
        <p:nvSpPr>
          <p:cNvPr id="4" name="TextBox 3">
            <a:extLst>
              <a:ext uri="{FF2B5EF4-FFF2-40B4-BE49-F238E27FC236}">
                <a16:creationId xmlns:a16="http://schemas.microsoft.com/office/drawing/2014/main" id="{CEB7EE4A-8DCE-4FC5-B769-0ED9B1DE6317}"/>
              </a:ext>
            </a:extLst>
          </p:cNvPr>
          <p:cNvSpPr txBox="1"/>
          <p:nvPr/>
        </p:nvSpPr>
        <p:spPr>
          <a:xfrm>
            <a:off x="2076450" y="381000"/>
            <a:ext cx="6086475" cy="646331"/>
          </a:xfrm>
          <a:prstGeom prst="rect">
            <a:avLst/>
          </a:prstGeom>
          <a:noFill/>
        </p:spPr>
        <p:txBody>
          <a:bodyPr wrap="square" rtlCol="0">
            <a:spAutoFit/>
          </a:bodyPr>
          <a:lstStyle/>
          <a:p>
            <a:r>
              <a:rPr lang="en-IN" sz="3600" b="1" dirty="0">
                <a:latin typeface="+mj-lt"/>
              </a:rPr>
              <a:t> What is a Database ?</a:t>
            </a:r>
          </a:p>
        </p:txBody>
      </p:sp>
      <p:sp>
        <p:nvSpPr>
          <p:cNvPr id="5" name="Footer Placeholder 4">
            <a:extLst>
              <a:ext uri="{FF2B5EF4-FFF2-40B4-BE49-F238E27FC236}">
                <a16:creationId xmlns:a16="http://schemas.microsoft.com/office/drawing/2014/main" id="{9EE9E0B6-FD44-412B-9541-FC4ADB9A862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38147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03630-EE13-4D31-9210-8380478BF0A0}"/>
              </a:ext>
            </a:extLst>
          </p:cNvPr>
          <p:cNvSpPr txBox="1"/>
          <p:nvPr/>
        </p:nvSpPr>
        <p:spPr>
          <a:xfrm>
            <a:off x="1952625" y="657225"/>
            <a:ext cx="8048625" cy="646331"/>
          </a:xfrm>
          <a:prstGeom prst="rect">
            <a:avLst/>
          </a:prstGeom>
          <a:noFill/>
        </p:spPr>
        <p:txBody>
          <a:bodyPr wrap="square" rtlCol="0">
            <a:spAutoFit/>
          </a:bodyPr>
          <a:lstStyle/>
          <a:p>
            <a:r>
              <a:rPr lang="en-IN" sz="3600" b="1" dirty="0">
                <a:latin typeface="+mj-lt"/>
              </a:rPr>
              <a:t>  AWS Database Managed Services</a:t>
            </a:r>
          </a:p>
        </p:txBody>
      </p:sp>
      <p:pic>
        <p:nvPicPr>
          <p:cNvPr id="2" name="Picture 1">
            <a:extLst>
              <a:ext uri="{FF2B5EF4-FFF2-40B4-BE49-F238E27FC236}">
                <a16:creationId xmlns:a16="http://schemas.microsoft.com/office/drawing/2014/main" id="{3A2034B8-5539-44AA-B9F7-9502C1C8ED21}"/>
              </a:ext>
            </a:extLst>
          </p:cNvPr>
          <p:cNvPicPr>
            <a:picLocks noChangeAspect="1"/>
          </p:cNvPicPr>
          <p:nvPr/>
        </p:nvPicPr>
        <p:blipFill>
          <a:blip r:embed="rId2"/>
          <a:stretch>
            <a:fillRect/>
          </a:stretch>
        </p:blipFill>
        <p:spPr>
          <a:xfrm>
            <a:off x="1548973" y="1728787"/>
            <a:ext cx="8304640" cy="3757613"/>
          </a:xfrm>
          <a:prstGeom prst="rect">
            <a:avLst/>
          </a:prstGeom>
          <a:ln w="3175">
            <a:solidFill>
              <a:schemeClr val="tx1"/>
            </a:solidFill>
          </a:ln>
        </p:spPr>
      </p:pic>
      <p:sp>
        <p:nvSpPr>
          <p:cNvPr id="4" name="Footer Placeholder 3">
            <a:extLst>
              <a:ext uri="{FF2B5EF4-FFF2-40B4-BE49-F238E27FC236}">
                <a16:creationId xmlns:a16="http://schemas.microsoft.com/office/drawing/2014/main" id="{C446341F-32D1-4897-8DB7-281E14CEA66E}"/>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890877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2"/>
            <a:ext cx="10745569" cy="5181599"/>
          </a:xfrm>
        </p:spPr>
        <p:txBody>
          <a:bodyPr>
            <a:normAutofit lnSpcReduction="10000"/>
          </a:bodyPr>
          <a:lstStyle/>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Amazon Relational Database Service (Amazon RDS) is a web service that makes it easier to set up, operate, and scale a relational database in the cloud.</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Amazon Relational Database Service provides industry-standard relational database.</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AWS RDS provides high availability with a primary instance and a synchronous secondary instance that can failover to when problems occur.</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AWS RDS database products are:	</a:t>
            </a:r>
          </a:p>
          <a:p>
            <a:pPr lvl="1" algn="just">
              <a:buClr>
                <a:schemeClr val="tx1"/>
              </a:buClr>
            </a:pPr>
            <a:r>
              <a:rPr lang="en-US" sz="1800" dirty="0">
                <a:latin typeface="+mj-lt"/>
                <a:ea typeface="Verdana" panose="020B0604030504040204" pitchFamily="34" charset="0"/>
                <a:cs typeface="Verdana" panose="020B0604030504040204" pitchFamily="34" charset="0"/>
              </a:rPr>
              <a:t>MySQL</a:t>
            </a:r>
          </a:p>
          <a:p>
            <a:pPr lvl="1" algn="just">
              <a:buClr>
                <a:schemeClr val="tx1"/>
              </a:buClr>
            </a:pPr>
            <a:r>
              <a:rPr lang="en-US" sz="1800" dirty="0">
                <a:latin typeface="+mj-lt"/>
                <a:ea typeface="Verdana" panose="020B0604030504040204" pitchFamily="34" charset="0"/>
                <a:cs typeface="Verdana" panose="020B0604030504040204" pitchFamily="34" charset="0"/>
              </a:rPr>
              <a:t>MariaDB</a:t>
            </a:r>
          </a:p>
          <a:p>
            <a:pPr lvl="1" algn="just">
              <a:buClr>
                <a:schemeClr val="tx1"/>
              </a:buClr>
            </a:pPr>
            <a:r>
              <a:rPr lang="en-US" sz="1800" dirty="0">
                <a:latin typeface="+mj-lt"/>
                <a:ea typeface="Verdana" panose="020B0604030504040204" pitchFamily="34" charset="0"/>
                <a:cs typeface="Verdana" panose="020B0604030504040204" pitchFamily="34" charset="0"/>
              </a:rPr>
              <a:t>PostgreSQL</a:t>
            </a:r>
          </a:p>
          <a:p>
            <a:pPr lvl="1" algn="just">
              <a:buClr>
                <a:schemeClr val="tx1"/>
              </a:buClr>
            </a:pPr>
            <a:r>
              <a:rPr lang="en-US" sz="1800" dirty="0">
                <a:latin typeface="+mj-lt"/>
                <a:ea typeface="Verdana" panose="020B0604030504040204" pitchFamily="34" charset="0"/>
                <a:cs typeface="Verdana" panose="020B0604030504040204" pitchFamily="34" charset="0"/>
              </a:rPr>
              <a:t>Oracle</a:t>
            </a:r>
          </a:p>
          <a:p>
            <a:pPr lvl="1" algn="just">
              <a:buClr>
                <a:schemeClr val="tx1"/>
              </a:buClr>
            </a:pPr>
            <a:r>
              <a:rPr lang="en-US" sz="1800" dirty="0">
                <a:latin typeface="+mj-lt"/>
                <a:ea typeface="Verdana" panose="020B0604030504040204" pitchFamily="34" charset="0"/>
                <a:cs typeface="Verdana" panose="020B0604030504040204" pitchFamily="34" charset="0"/>
              </a:rPr>
              <a:t>Microsoft SQL Server</a:t>
            </a:r>
          </a:p>
          <a:p>
            <a:pPr lvl="1" algn="just">
              <a:buClr>
                <a:schemeClr val="tx1"/>
              </a:buClr>
            </a:pPr>
            <a:r>
              <a:rPr lang="en-US" sz="1800">
                <a:latin typeface="+mj-lt"/>
                <a:ea typeface="Verdana" panose="020B0604030504040204" pitchFamily="34" charset="0"/>
                <a:cs typeface="Verdana" panose="020B0604030504040204" pitchFamily="34" charset="0"/>
              </a:rPr>
              <a:t>db2</a:t>
            </a:r>
            <a:endParaRPr lang="en-US" sz="1800" dirty="0">
              <a:latin typeface="+mj-lt"/>
              <a:ea typeface="Verdana" panose="020B0604030504040204" pitchFamily="34" charset="0"/>
              <a:cs typeface="Verdana" panose="020B0604030504040204" pitchFamily="34" charset="0"/>
            </a:endParaRPr>
          </a:p>
          <a:p>
            <a:pPr lvl="1" algn="just">
              <a:buClr>
                <a:schemeClr val="tx1"/>
              </a:buClr>
            </a:pPr>
            <a:r>
              <a:rPr lang="en-US" sz="1800" dirty="0">
                <a:latin typeface="+mj-lt"/>
                <a:ea typeface="Verdana" panose="020B0604030504040204" pitchFamily="34" charset="0"/>
                <a:cs typeface="Verdana" panose="020B0604030504040204" pitchFamily="34" charset="0"/>
              </a:rPr>
              <a:t>Amazon Aurora DB</a:t>
            </a:r>
            <a:endParaRPr lang="en-US" sz="18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What is AWS RDS</a:t>
            </a:r>
          </a:p>
        </p:txBody>
      </p:sp>
      <p:sp>
        <p:nvSpPr>
          <p:cNvPr id="2" name="Footer Placeholder 1">
            <a:extLst>
              <a:ext uri="{FF2B5EF4-FFF2-40B4-BE49-F238E27FC236}">
                <a16:creationId xmlns:a16="http://schemas.microsoft.com/office/drawing/2014/main" id="{5549B1E5-B81C-4992-885E-C818E1E0A00F}"/>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416824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Components</a:t>
            </a:r>
          </a:p>
        </p:txBody>
      </p:sp>
      <p:sp>
        <p:nvSpPr>
          <p:cNvPr id="10" name="Rounded Rectangle 9"/>
          <p:cNvSpPr/>
          <p:nvPr/>
        </p:nvSpPr>
        <p:spPr>
          <a:xfrm>
            <a:off x="989269" y="1431471"/>
            <a:ext cx="2667695" cy="1295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atin typeface="+mj-lt"/>
                <a:ea typeface="Verdana" panose="020B0604030504040204" pitchFamily="34" charset="0"/>
                <a:cs typeface="Verdana" panose="020B0604030504040204" pitchFamily="34" charset="0"/>
              </a:rPr>
              <a:t>DB </a:t>
            </a:r>
          </a:p>
          <a:p>
            <a:pPr algn="ctr"/>
            <a:r>
              <a:rPr lang="en-US" b="1" dirty="0">
                <a:latin typeface="+mj-lt"/>
                <a:ea typeface="Verdana" panose="020B0604030504040204" pitchFamily="34" charset="0"/>
                <a:cs typeface="Verdana" panose="020B0604030504040204" pitchFamily="34" charset="0"/>
              </a:rPr>
              <a:t>Instances</a:t>
            </a:r>
          </a:p>
        </p:txBody>
      </p:sp>
      <p:sp>
        <p:nvSpPr>
          <p:cNvPr id="11" name="Rounded Rectangle 10"/>
          <p:cNvSpPr/>
          <p:nvPr/>
        </p:nvSpPr>
        <p:spPr>
          <a:xfrm>
            <a:off x="4495383" y="1431471"/>
            <a:ext cx="2667695" cy="1295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atin typeface="+mj-lt"/>
                <a:ea typeface="Verdana" panose="020B0604030504040204" pitchFamily="34" charset="0"/>
                <a:cs typeface="Verdana" panose="020B0604030504040204" pitchFamily="34" charset="0"/>
              </a:rPr>
              <a:t>Security </a:t>
            </a:r>
          </a:p>
          <a:p>
            <a:pPr algn="ctr"/>
            <a:r>
              <a:rPr lang="en-US" b="1" dirty="0">
                <a:latin typeface="+mj-lt"/>
                <a:ea typeface="Verdana" panose="020B0604030504040204" pitchFamily="34" charset="0"/>
                <a:cs typeface="Verdana" panose="020B0604030504040204" pitchFamily="34" charset="0"/>
              </a:rPr>
              <a:t>Groups</a:t>
            </a:r>
          </a:p>
        </p:txBody>
      </p:sp>
      <p:sp>
        <p:nvSpPr>
          <p:cNvPr id="12" name="Rounded Rectangle 11"/>
          <p:cNvSpPr/>
          <p:nvPr/>
        </p:nvSpPr>
        <p:spPr>
          <a:xfrm>
            <a:off x="8001496" y="1431471"/>
            <a:ext cx="2667695" cy="1295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atin typeface="+mj-lt"/>
                <a:ea typeface="Verdana" panose="020B0604030504040204" pitchFamily="34" charset="0"/>
                <a:cs typeface="Verdana" panose="020B0604030504040204" pitchFamily="34" charset="0"/>
              </a:rPr>
              <a:t>Availability </a:t>
            </a:r>
          </a:p>
          <a:p>
            <a:pPr algn="ctr"/>
            <a:r>
              <a:rPr lang="en-US" b="1" dirty="0">
                <a:latin typeface="+mj-lt"/>
                <a:ea typeface="Verdana" panose="020B0604030504040204" pitchFamily="34" charset="0"/>
                <a:cs typeface="Verdana" panose="020B0604030504040204" pitchFamily="34" charset="0"/>
              </a:rPr>
              <a:t>Zone</a:t>
            </a:r>
          </a:p>
        </p:txBody>
      </p:sp>
      <p:sp>
        <p:nvSpPr>
          <p:cNvPr id="13" name="Rounded Rectangle 12"/>
          <p:cNvSpPr/>
          <p:nvPr/>
        </p:nvSpPr>
        <p:spPr>
          <a:xfrm>
            <a:off x="2742326" y="3429000"/>
            <a:ext cx="2667695" cy="1295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bg1"/>
                </a:solidFill>
                <a:latin typeface="+mj-lt"/>
                <a:ea typeface="Verdana" panose="020B0604030504040204" pitchFamily="34" charset="0"/>
                <a:cs typeface="Verdana" panose="020B0604030504040204" pitchFamily="34" charset="0"/>
              </a:rPr>
              <a:t>DB Option</a:t>
            </a:r>
          </a:p>
          <a:p>
            <a:pPr algn="ctr"/>
            <a:r>
              <a:rPr lang="en-US" b="1" dirty="0">
                <a:solidFill>
                  <a:schemeClr val="bg1"/>
                </a:solidFill>
                <a:latin typeface="+mj-lt"/>
                <a:ea typeface="Verdana" panose="020B0604030504040204" pitchFamily="34" charset="0"/>
                <a:cs typeface="Verdana" panose="020B0604030504040204" pitchFamily="34" charset="0"/>
              </a:rPr>
              <a:t>Group</a:t>
            </a:r>
          </a:p>
        </p:txBody>
      </p:sp>
      <p:sp>
        <p:nvSpPr>
          <p:cNvPr id="15" name="Rounded Rectangle 14"/>
          <p:cNvSpPr/>
          <p:nvPr/>
        </p:nvSpPr>
        <p:spPr>
          <a:xfrm>
            <a:off x="6400879" y="3429000"/>
            <a:ext cx="2667695" cy="1295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bg1"/>
                </a:solidFill>
                <a:latin typeface="+mj-lt"/>
                <a:ea typeface="Verdana" panose="020B0604030504040204" pitchFamily="34" charset="0"/>
                <a:cs typeface="Verdana" panose="020B0604030504040204" pitchFamily="34" charset="0"/>
              </a:rPr>
              <a:t>DB Parameter</a:t>
            </a:r>
          </a:p>
          <a:p>
            <a:pPr algn="ctr"/>
            <a:r>
              <a:rPr lang="en-US" b="1" dirty="0">
                <a:solidFill>
                  <a:schemeClr val="bg1"/>
                </a:solidFill>
                <a:latin typeface="+mj-lt"/>
                <a:ea typeface="Verdana" panose="020B0604030504040204" pitchFamily="34" charset="0"/>
                <a:cs typeface="Verdana" panose="020B0604030504040204" pitchFamily="34" charset="0"/>
              </a:rPr>
              <a:t>Group</a:t>
            </a:r>
          </a:p>
        </p:txBody>
      </p:sp>
      <p:sp>
        <p:nvSpPr>
          <p:cNvPr id="2" name="Footer Placeholder 1">
            <a:extLst>
              <a:ext uri="{FF2B5EF4-FFF2-40B4-BE49-F238E27FC236}">
                <a16:creationId xmlns:a16="http://schemas.microsoft.com/office/drawing/2014/main" id="{5E76BCFD-FF25-4B71-AC23-6D3A9B02AFD1}"/>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32682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Interface</a:t>
            </a:r>
          </a:p>
        </p:txBody>
      </p:sp>
      <p:sp>
        <p:nvSpPr>
          <p:cNvPr id="5" name="Rounded Rectangle 4"/>
          <p:cNvSpPr/>
          <p:nvPr/>
        </p:nvSpPr>
        <p:spPr>
          <a:xfrm>
            <a:off x="2666106" y="1371600"/>
            <a:ext cx="6936006" cy="10668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b="1" dirty="0">
                <a:latin typeface="+mj-lt"/>
              </a:rPr>
              <a:t>Amazon RDS Console</a:t>
            </a:r>
          </a:p>
        </p:txBody>
      </p:sp>
      <p:sp>
        <p:nvSpPr>
          <p:cNvPr id="6" name="Rounded Rectangle 5"/>
          <p:cNvSpPr/>
          <p:nvPr/>
        </p:nvSpPr>
        <p:spPr>
          <a:xfrm>
            <a:off x="2666106" y="2819400"/>
            <a:ext cx="6936006" cy="10668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b="1" dirty="0">
                <a:latin typeface="+mj-lt"/>
              </a:rPr>
              <a:t>Command Line Interface</a:t>
            </a:r>
          </a:p>
        </p:txBody>
      </p:sp>
      <p:sp>
        <p:nvSpPr>
          <p:cNvPr id="7" name="Rounded Rectangle 6"/>
          <p:cNvSpPr/>
          <p:nvPr/>
        </p:nvSpPr>
        <p:spPr>
          <a:xfrm>
            <a:off x="2666106" y="4343400"/>
            <a:ext cx="6936006" cy="10668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b="1" dirty="0">
                <a:latin typeface="+mj-lt"/>
              </a:rPr>
              <a:t>Programmatic Interfaces</a:t>
            </a:r>
          </a:p>
        </p:txBody>
      </p:sp>
      <p:sp>
        <p:nvSpPr>
          <p:cNvPr id="2" name="Footer Placeholder 1">
            <a:extLst>
              <a:ext uri="{FF2B5EF4-FFF2-40B4-BE49-F238E27FC236}">
                <a16:creationId xmlns:a16="http://schemas.microsoft.com/office/drawing/2014/main" id="{AE761688-9717-4646-BEE7-75FBF60C8205}"/>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55775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dirty="0">
                <a:latin typeface="+mj-lt"/>
                <a:ea typeface="Verdana" panose="020B0604030504040204" pitchFamily="34" charset="0"/>
                <a:cs typeface="Verdana" panose="020B0604030504040204" pitchFamily="34" charset="0"/>
              </a:rPr>
              <a:t>AWS RDS: Working with DB Instance</a:t>
            </a:r>
          </a:p>
        </p:txBody>
      </p:sp>
      <p:sp>
        <p:nvSpPr>
          <p:cNvPr id="7" name="Rounded Rectangle 6"/>
          <p:cNvSpPr/>
          <p:nvPr/>
        </p:nvSpPr>
        <p:spPr>
          <a:xfrm>
            <a:off x="2818546" y="1676400"/>
            <a:ext cx="2057936" cy="1600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Create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DB Instance</a:t>
            </a:r>
          </a:p>
        </p:txBody>
      </p:sp>
      <p:sp>
        <p:nvSpPr>
          <p:cNvPr id="8" name="Rounded Rectangle 7"/>
          <p:cNvSpPr/>
          <p:nvPr/>
        </p:nvSpPr>
        <p:spPr>
          <a:xfrm>
            <a:off x="5105141" y="1676400"/>
            <a:ext cx="2057936" cy="1600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Rename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DB Instance</a:t>
            </a:r>
          </a:p>
        </p:txBody>
      </p:sp>
      <p:sp>
        <p:nvSpPr>
          <p:cNvPr id="9" name="Rounded Rectangle 8"/>
          <p:cNvSpPr/>
          <p:nvPr/>
        </p:nvSpPr>
        <p:spPr>
          <a:xfrm>
            <a:off x="7391737" y="1676400"/>
            <a:ext cx="2057936" cy="1600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Reboot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DB Instance</a:t>
            </a:r>
          </a:p>
        </p:txBody>
      </p:sp>
      <p:sp>
        <p:nvSpPr>
          <p:cNvPr id="10" name="Rounded Rectangle 9"/>
          <p:cNvSpPr/>
          <p:nvPr/>
        </p:nvSpPr>
        <p:spPr>
          <a:xfrm>
            <a:off x="6248439" y="3505200"/>
            <a:ext cx="2057936" cy="1600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Stopping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DB Instance</a:t>
            </a:r>
          </a:p>
        </p:txBody>
      </p:sp>
      <p:sp>
        <p:nvSpPr>
          <p:cNvPr id="11" name="Rounded Rectangle 10"/>
          <p:cNvSpPr/>
          <p:nvPr/>
        </p:nvSpPr>
        <p:spPr>
          <a:xfrm>
            <a:off x="3961844" y="3505200"/>
            <a:ext cx="2057936" cy="1600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Deleting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rPr>
              <a:t>DB Instance</a:t>
            </a:r>
          </a:p>
        </p:txBody>
      </p:sp>
      <p:sp>
        <p:nvSpPr>
          <p:cNvPr id="2" name="Footer Placeholder 1">
            <a:extLst>
              <a:ext uri="{FF2B5EF4-FFF2-40B4-BE49-F238E27FC236}">
                <a16:creationId xmlns:a16="http://schemas.microsoft.com/office/drawing/2014/main" id="{FF39CB75-80CE-4F84-A3A7-EBBC54EC20F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5769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Concept</a:t>
            </a:r>
          </a:p>
        </p:txBody>
      </p:sp>
      <p:sp>
        <p:nvSpPr>
          <p:cNvPr id="5" name="Hexagon 4"/>
          <p:cNvSpPr/>
          <p:nvPr/>
        </p:nvSpPr>
        <p:spPr>
          <a:xfrm>
            <a:off x="1065489" y="1295400"/>
            <a:ext cx="2667695" cy="2209800"/>
          </a:xfrm>
          <a:prstGeom prst="hexag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mj-lt"/>
              </a:rPr>
              <a:t>DB Instance Identifier</a:t>
            </a:r>
          </a:p>
        </p:txBody>
      </p:sp>
      <p:sp>
        <p:nvSpPr>
          <p:cNvPr id="6" name="Hexagon 5"/>
          <p:cNvSpPr/>
          <p:nvPr/>
        </p:nvSpPr>
        <p:spPr>
          <a:xfrm>
            <a:off x="4266723" y="2362200"/>
            <a:ext cx="2667695" cy="2209800"/>
          </a:xfrm>
          <a:prstGeom prst="hexag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mj-lt"/>
              </a:rPr>
              <a:t>Master User Account</a:t>
            </a:r>
          </a:p>
        </p:txBody>
      </p:sp>
      <p:sp>
        <p:nvSpPr>
          <p:cNvPr id="7" name="Hexagon 6"/>
          <p:cNvSpPr/>
          <p:nvPr/>
        </p:nvSpPr>
        <p:spPr>
          <a:xfrm>
            <a:off x="7544176" y="3429000"/>
            <a:ext cx="2667695" cy="2209800"/>
          </a:xfrm>
          <a:prstGeom prst="hexag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mj-lt"/>
              </a:rPr>
              <a:t>DB Instance </a:t>
            </a:r>
          </a:p>
          <a:p>
            <a:pPr algn="ctr"/>
            <a:r>
              <a:rPr lang="en-US" b="1" dirty="0">
                <a:latin typeface="+mj-lt"/>
              </a:rPr>
              <a:t>Class</a:t>
            </a:r>
          </a:p>
        </p:txBody>
      </p:sp>
      <p:sp>
        <p:nvSpPr>
          <p:cNvPr id="2" name="Footer Placeholder 1">
            <a:extLst>
              <a:ext uri="{FF2B5EF4-FFF2-40B4-BE49-F238E27FC236}">
                <a16:creationId xmlns:a16="http://schemas.microsoft.com/office/drawing/2014/main" id="{D5A67454-98DE-4925-A251-E173A892DA1B}"/>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408381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2"/>
            <a:ext cx="10745569" cy="2514599"/>
          </a:xfrm>
        </p:spPr>
        <p:txBody>
          <a:bodyPr>
            <a:normAutofit lnSpcReduction="10000"/>
          </a:bodyPr>
          <a:lstStyle/>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Instance class – Pricing is based on the class </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Storage – The storage capacity that you have provisioned to your DB instance </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I/O requests per month </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Backup Storage </a:t>
            </a:r>
            <a:endParaRPr lang="en-US" sz="18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Charges</a:t>
            </a:r>
          </a:p>
        </p:txBody>
      </p:sp>
      <p:graphicFrame>
        <p:nvGraphicFramePr>
          <p:cNvPr id="5" name="Table 4"/>
          <p:cNvGraphicFramePr>
            <a:graphicFrameLocks noGrp="1"/>
          </p:cNvGraphicFramePr>
          <p:nvPr>
            <p:extLst>
              <p:ext uri="{D42A27DB-BD31-4B8C-83A1-F6EECF244321}">
                <p14:modId xmlns:p14="http://schemas.microsoft.com/office/powerpoint/2010/main" val="3368268415"/>
              </p:ext>
            </p:extLst>
          </p:nvPr>
        </p:nvGraphicFramePr>
        <p:xfrm>
          <a:off x="684391" y="3657599"/>
          <a:ext cx="10823220" cy="2133600"/>
        </p:xfrm>
        <a:graphic>
          <a:graphicData uri="http://schemas.openxmlformats.org/drawingml/2006/table">
            <a:tbl>
              <a:tblPr firstRow="1" bandRow="1">
                <a:tableStyleId>{93296810-A885-4BE3-A3E7-6D5BEEA58F35}</a:tableStyleId>
              </a:tblPr>
              <a:tblGrid>
                <a:gridCol w="1538650">
                  <a:extLst>
                    <a:ext uri="{9D8B030D-6E8A-4147-A177-3AD203B41FA5}">
                      <a16:colId xmlns:a16="http://schemas.microsoft.com/office/drawing/2014/main" val="20000"/>
                    </a:ext>
                  </a:extLst>
                </a:gridCol>
                <a:gridCol w="1972235">
                  <a:extLst>
                    <a:ext uri="{9D8B030D-6E8A-4147-A177-3AD203B41FA5}">
                      <a16:colId xmlns:a16="http://schemas.microsoft.com/office/drawing/2014/main" val="20001"/>
                    </a:ext>
                  </a:extLst>
                </a:gridCol>
                <a:gridCol w="2136587">
                  <a:extLst>
                    <a:ext uri="{9D8B030D-6E8A-4147-A177-3AD203B41FA5}">
                      <a16:colId xmlns:a16="http://schemas.microsoft.com/office/drawing/2014/main" val="20002"/>
                    </a:ext>
                  </a:extLst>
                </a:gridCol>
                <a:gridCol w="2218765">
                  <a:extLst>
                    <a:ext uri="{9D8B030D-6E8A-4147-A177-3AD203B41FA5}">
                      <a16:colId xmlns:a16="http://schemas.microsoft.com/office/drawing/2014/main" val="20003"/>
                    </a:ext>
                  </a:extLst>
                </a:gridCol>
                <a:gridCol w="1561353">
                  <a:extLst>
                    <a:ext uri="{9D8B030D-6E8A-4147-A177-3AD203B41FA5}">
                      <a16:colId xmlns:a16="http://schemas.microsoft.com/office/drawing/2014/main" val="20004"/>
                    </a:ext>
                  </a:extLst>
                </a:gridCol>
                <a:gridCol w="1395630">
                  <a:extLst>
                    <a:ext uri="{9D8B030D-6E8A-4147-A177-3AD203B41FA5}">
                      <a16:colId xmlns:a16="http://schemas.microsoft.com/office/drawing/2014/main" val="20005"/>
                    </a:ext>
                  </a:extLst>
                </a:gridCol>
              </a:tblGrid>
              <a:tr h="426720">
                <a:tc>
                  <a:txBody>
                    <a:bodyPr/>
                    <a:lstStyle/>
                    <a:p>
                      <a:r>
                        <a:rPr lang="en-US" sz="1400" dirty="0"/>
                        <a:t>DB</a:t>
                      </a:r>
                    </a:p>
                  </a:txBody>
                  <a:tcPr marL="91464" marR="91464"/>
                </a:tc>
                <a:tc>
                  <a:txBody>
                    <a:bodyPr/>
                    <a:lstStyle/>
                    <a:p>
                      <a:r>
                        <a:rPr lang="en-US" sz="1400" dirty="0"/>
                        <a:t>Type</a:t>
                      </a:r>
                    </a:p>
                  </a:txBody>
                  <a:tcPr marL="91464" marR="91464"/>
                </a:tc>
                <a:tc>
                  <a:txBody>
                    <a:bodyPr/>
                    <a:lstStyle/>
                    <a:p>
                      <a:r>
                        <a:rPr lang="en-US" sz="1400" dirty="0"/>
                        <a:t>Option</a:t>
                      </a:r>
                    </a:p>
                  </a:txBody>
                  <a:tcPr marL="91464" marR="91464"/>
                </a:tc>
                <a:tc>
                  <a:txBody>
                    <a:bodyPr/>
                    <a:lstStyle/>
                    <a:p>
                      <a:r>
                        <a:rPr lang="en-US" sz="1400" dirty="0"/>
                        <a:t>Instance</a:t>
                      </a:r>
                    </a:p>
                  </a:txBody>
                  <a:tcPr marL="91464" marR="91464"/>
                </a:tc>
                <a:tc>
                  <a:txBody>
                    <a:bodyPr/>
                    <a:lstStyle/>
                    <a:p>
                      <a:r>
                        <a:rPr lang="en-US" sz="1400" dirty="0"/>
                        <a:t>Region</a:t>
                      </a:r>
                    </a:p>
                  </a:txBody>
                  <a:tcPr marL="91464" marR="91464"/>
                </a:tc>
                <a:tc>
                  <a:txBody>
                    <a:bodyPr/>
                    <a:lstStyle/>
                    <a:p>
                      <a:r>
                        <a:rPr lang="en-US" sz="1400" dirty="0"/>
                        <a:t>Price/ Hr.</a:t>
                      </a:r>
                    </a:p>
                  </a:txBody>
                  <a:tcPr marL="91464" marR="91464"/>
                </a:tc>
                <a:extLst>
                  <a:ext uri="{0D108BD9-81ED-4DB2-BD59-A6C34878D82A}">
                    <a16:rowId xmlns:a16="http://schemas.microsoft.com/office/drawing/2014/main" val="10000"/>
                  </a:ext>
                </a:extLst>
              </a:tr>
              <a:tr h="426720">
                <a:tc>
                  <a:txBody>
                    <a:bodyPr/>
                    <a:lstStyle/>
                    <a:p>
                      <a:r>
                        <a:rPr lang="en-US" sz="1400" dirty="0"/>
                        <a:t>MS SQL</a:t>
                      </a:r>
                    </a:p>
                  </a:txBody>
                  <a:tcPr marL="91464" marR="91464"/>
                </a:tc>
                <a:tc>
                  <a:txBody>
                    <a:bodyPr/>
                    <a:lstStyle/>
                    <a:p>
                      <a:r>
                        <a:rPr lang="en-US" sz="1400" dirty="0"/>
                        <a:t>Standard</a:t>
                      </a:r>
                    </a:p>
                  </a:txBody>
                  <a:tcPr marL="91464" marR="91464"/>
                </a:tc>
                <a:tc>
                  <a:txBody>
                    <a:bodyPr/>
                    <a:lstStyle/>
                    <a:p>
                      <a:r>
                        <a:rPr lang="en-US" sz="1400" dirty="0"/>
                        <a:t>Single-AZ</a:t>
                      </a:r>
                    </a:p>
                  </a:txBody>
                  <a:tcPr marL="91464" marR="91464"/>
                </a:tc>
                <a:tc>
                  <a:txBody>
                    <a:bodyPr/>
                    <a:lstStyle/>
                    <a:p>
                      <a:r>
                        <a:rPr lang="en-US" sz="1400" b="0" i="0" kern="1200" dirty="0">
                          <a:solidFill>
                            <a:schemeClr val="dk1"/>
                          </a:solidFill>
                          <a:effectLst/>
                          <a:latin typeface="+mn-lt"/>
                          <a:ea typeface="+mn-ea"/>
                          <a:cs typeface="+mn-cs"/>
                        </a:rPr>
                        <a:t>db.m3.medium</a:t>
                      </a:r>
                      <a:endParaRPr lang="en-US" sz="1400" dirty="0"/>
                    </a:p>
                  </a:txBody>
                  <a:tcPr marL="91464" marR="91464"/>
                </a:tc>
                <a:tc>
                  <a:txBody>
                    <a:bodyPr/>
                    <a:lstStyle/>
                    <a:p>
                      <a:r>
                        <a:rPr lang="en-US" sz="1400" dirty="0"/>
                        <a:t>N. Virgina</a:t>
                      </a:r>
                    </a:p>
                  </a:txBody>
                  <a:tcPr marL="91464" marR="91464"/>
                </a:tc>
                <a:tc>
                  <a:txBody>
                    <a:bodyPr/>
                    <a:lstStyle/>
                    <a:p>
                      <a:r>
                        <a:rPr lang="en-US" sz="1400" b="0" i="0" kern="1200" dirty="0">
                          <a:solidFill>
                            <a:schemeClr val="dk1"/>
                          </a:solidFill>
                          <a:effectLst/>
                          <a:latin typeface="+mn-lt"/>
                          <a:ea typeface="+mn-ea"/>
                          <a:cs typeface="+mn-cs"/>
                        </a:rPr>
                        <a:t>$0.655*</a:t>
                      </a:r>
                      <a:endParaRPr lang="en-US" sz="1400" dirty="0"/>
                    </a:p>
                  </a:txBody>
                  <a:tcPr marL="91464" marR="91464"/>
                </a:tc>
                <a:extLst>
                  <a:ext uri="{0D108BD9-81ED-4DB2-BD59-A6C34878D82A}">
                    <a16:rowId xmlns:a16="http://schemas.microsoft.com/office/drawing/2014/main" val="10001"/>
                  </a:ext>
                </a:extLst>
              </a:tr>
              <a:tr h="426720">
                <a:tc>
                  <a:txBody>
                    <a:bodyPr/>
                    <a:lstStyle/>
                    <a:p>
                      <a:r>
                        <a:rPr lang="en-US" sz="1400" dirty="0"/>
                        <a:t>MS SQL</a:t>
                      </a:r>
                    </a:p>
                  </a:txBody>
                  <a:tcPr marL="91464" marR="91464"/>
                </a:tc>
                <a:tc>
                  <a:txBody>
                    <a:bodyPr/>
                    <a:lstStyle/>
                    <a:p>
                      <a:r>
                        <a:rPr lang="en-US" sz="1400" dirty="0"/>
                        <a:t>Standard</a:t>
                      </a:r>
                    </a:p>
                  </a:txBody>
                  <a:tcPr marL="91464" marR="91464"/>
                </a:tc>
                <a:tc>
                  <a:txBody>
                    <a:bodyPr/>
                    <a:lstStyle/>
                    <a:p>
                      <a:r>
                        <a:rPr lang="en-US" sz="1400" dirty="0"/>
                        <a:t>Multi-AZ</a:t>
                      </a:r>
                    </a:p>
                  </a:txBody>
                  <a:tcPr marL="91464" marR="91464"/>
                </a:tc>
                <a:tc>
                  <a:txBody>
                    <a:bodyPr/>
                    <a:lstStyle/>
                    <a:p>
                      <a:r>
                        <a:rPr lang="en-US" sz="1400" b="0" i="0" kern="1200" dirty="0">
                          <a:solidFill>
                            <a:schemeClr val="dk1"/>
                          </a:solidFill>
                          <a:effectLst/>
                          <a:latin typeface="+mn-lt"/>
                          <a:ea typeface="+mn-ea"/>
                          <a:cs typeface="+mn-cs"/>
                        </a:rPr>
                        <a:t>db.m3.medium</a:t>
                      </a:r>
                      <a:endParaRPr lang="en-US" sz="1400" dirty="0"/>
                    </a:p>
                  </a:txBody>
                  <a:tcPr marL="91464" marR="91464"/>
                </a:tc>
                <a:tc>
                  <a:txBody>
                    <a:bodyPr/>
                    <a:lstStyle/>
                    <a:p>
                      <a:r>
                        <a:rPr lang="en-US" sz="1400" dirty="0"/>
                        <a:t>N. Virgina</a:t>
                      </a:r>
                    </a:p>
                  </a:txBody>
                  <a:tcPr marL="91464" marR="91464"/>
                </a:tc>
                <a:tc>
                  <a:txBody>
                    <a:bodyPr/>
                    <a:lstStyle/>
                    <a:p>
                      <a:r>
                        <a:rPr lang="en-US" sz="1400" b="0" i="0" kern="1200" dirty="0">
                          <a:solidFill>
                            <a:schemeClr val="dk1"/>
                          </a:solidFill>
                          <a:effectLst/>
                          <a:latin typeface="+mn-lt"/>
                          <a:ea typeface="+mn-ea"/>
                          <a:cs typeface="+mn-cs"/>
                        </a:rPr>
                        <a:t>$1.31*</a:t>
                      </a:r>
                      <a:endParaRPr lang="en-US" sz="1400" dirty="0"/>
                    </a:p>
                  </a:txBody>
                  <a:tcPr marL="91464" marR="91464"/>
                </a:tc>
                <a:extLst>
                  <a:ext uri="{0D108BD9-81ED-4DB2-BD59-A6C34878D82A}">
                    <a16:rowId xmlns:a16="http://schemas.microsoft.com/office/drawing/2014/main" val="10002"/>
                  </a:ext>
                </a:extLst>
              </a:tr>
              <a:tr h="426720">
                <a:tc>
                  <a:txBody>
                    <a:bodyPr/>
                    <a:lstStyle/>
                    <a:p>
                      <a:r>
                        <a:rPr lang="en-US" sz="1400" dirty="0"/>
                        <a:t>My SQL</a:t>
                      </a:r>
                    </a:p>
                  </a:txBody>
                  <a:tcPr marL="91464" marR="91464"/>
                </a:tc>
                <a:tc>
                  <a:txBody>
                    <a:bodyPr/>
                    <a:lstStyle/>
                    <a:p>
                      <a:r>
                        <a:rPr lang="en-US" sz="1400" dirty="0"/>
                        <a:t>-</a:t>
                      </a:r>
                    </a:p>
                  </a:txBody>
                  <a:tcPr marL="91464" marR="91464"/>
                </a:tc>
                <a:tc>
                  <a:txBody>
                    <a:bodyPr/>
                    <a:lstStyle/>
                    <a:p>
                      <a:r>
                        <a:rPr lang="en-US" sz="1400" dirty="0"/>
                        <a:t>Single-AZ</a:t>
                      </a:r>
                    </a:p>
                  </a:txBody>
                  <a:tcPr marL="91464" marR="91464"/>
                </a:tc>
                <a:tc>
                  <a:txBody>
                    <a:bodyPr/>
                    <a:lstStyle/>
                    <a:p>
                      <a:r>
                        <a:rPr lang="en-US" sz="1400" b="0" i="0" kern="1200" dirty="0">
                          <a:solidFill>
                            <a:schemeClr val="dk1"/>
                          </a:solidFill>
                          <a:effectLst/>
                          <a:latin typeface="+mn-lt"/>
                          <a:ea typeface="+mn-ea"/>
                          <a:cs typeface="+mn-cs"/>
                        </a:rPr>
                        <a:t>db.t2.micro</a:t>
                      </a:r>
                      <a:endParaRPr lang="en-US" sz="1400" dirty="0"/>
                    </a:p>
                  </a:txBody>
                  <a:tcPr marL="91464" marR="91464"/>
                </a:tc>
                <a:tc>
                  <a:txBody>
                    <a:bodyPr/>
                    <a:lstStyle/>
                    <a:p>
                      <a:r>
                        <a:rPr lang="en-US" sz="1400" dirty="0"/>
                        <a:t>N. Virgina</a:t>
                      </a:r>
                    </a:p>
                  </a:txBody>
                  <a:tcPr marL="91464" marR="91464"/>
                </a:tc>
                <a:tc>
                  <a:txBody>
                    <a:bodyPr/>
                    <a:lstStyle/>
                    <a:p>
                      <a:r>
                        <a:rPr lang="en-US" sz="1400" b="0" i="0" kern="1200" dirty="0">
                          <a:solidFill>
                            <a:schemeClr val="dk1"/>
                          </a:solidFill>
                          <a:effectLst/>
                          <a:latin typeface="+mn-lt"/>
                          <a:ea typeface="+mn-ea"/>
                          <a:cs typeface="+mn-cs"/>
                        </a:rPr>
                        <a:t>$0.017*</a:t>
                      </a:r>
                      <a:endParaRPr lang="en-US" sz="1400" dirty="0"/>
                    </a:p>
                  </a:txBody>
                  <a:tcPr marL="91464" marR="91464"/>
                </a:tc>
                <a:extLst>
                  <a:ext uri="{0D108BD9-81ED-4DB2-BD59-A6C34878D82A}">
                    <a16:rowId xmlns:a16="http://schemas.microsoft.com/office/drawing/2014/main" val="10003"/>
                  </a:ext>
                </a:extLst>
              </a:tr>
              <a:tr h="4267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My SQL</a:t>
                      </a:r>
                    </a:p>
                  </a:txBody>
                  <a:tcPr marL="91464" marR="91464"/>
                </a:tc>
                <a:tc>
                  <a:txBody>
                    <a:bodyPr/>
                    <a:lstStyle/>
                    <a:p>
                      <a:r>
                        <a:rPr lang="en-US" sz="1400" dirty="0"/>
                        <a:t>-</a:t>
                      </a:r>
                    </a:p>
                  </a:txBody>
                  <a:tcPr marL="91464" marR="91464"/>
                </a:tc>
                <a:tc>
                  <a:txBody>
                    <a:bodyPr/>
                    <a:lstStyle/>
                    <a:p>
                      <a:r>
                        <a:rPr lang="en-US" sz="1400" dirty="0"/>
                        <a:t>Multi-AZ</a:t>
                      </a:r>
                    </a:p>
                  </a:txBody>
                  <a:tcPr marL="91464" marR="91464"/>
                </a:tc>
                <a:tc>
                  <a:txBody>
                    <a:bodyPr/>
                    <a:lstStyle/>
                    <a:p>
                      <a:r>
                        <a:rPr lang="en-US" sz="1400" b="0" i="0" kern="1200" dirty="0">
                          <a:solidFill>
                            <a:schemeClr val="dk1"/>
                          </a:solidFill>
                          <a:effectLst/>
                          <a:latin typeface="+mn-lt"/>
                          <a:ea typeface="+mn-ea"/>
                          <a:cs typeface="+mn-cs"/>
                        </a:rPr>
                        <a:t>db.t2.micro</a:t>
                      </a:r>
                      <a:endParaRPr lang="en-US" sz="1400" dirty="0"/>
                    </a:p>
                  </a:txBody>
                  <a:tcPr marL="91464" marR="91464"/>
                </a:tc>
                <a:tc>
                  <a:txBody>
                    <a:bodyPr/>
                    <a:lstStyle/>
                    <a:p>
                      <a:r>
                        <a:rPr lang="en-US" sz="1400" dirty="0"/>
                        <a:t>N. Virgina</a:t>
                      </a:r>
                    </a:p>
                  </a:txBody>
                  <a:tcPr marL="91464" marR="91464"/>
                </a:tc>
                <a:tc>
                  <a:txBody>
                    <a:bodyPr/>
                    <a:lstStyle/>
                    <a:p>
                      <a:r>
                        <a:rPr lang="en-US" sz="1400" b="0" i="0" kern="1200" dirty="0">
                          <a:solidFill>
                            <a:schemeClr val="dk1"/>
                          </a:solidFill>
                          <a:effectLst/>
                          <a:latin typeface="+mn-lt"/>
                          <a:ea typeface="+mn-ea"/>
                          <a:cs typeface="+mn-cs"/>
                        </a:rPr>
                        <a:t>$0.034*</a:t>
                      </a:r>
                      <a:endParaRPr lang="en-US" sz="1400" dirty="0"/>
                    </a:p>
                  </a:txBody>
                  <a:tcPr marL="91464" marR="91464"/>
                </a:tc>
                <a:extLst>
                  <a:ext uri="{0D108BD9-81ED-4DB2-BD59-A6C34878D82A}">
                    <a16:rowId xmlns:a16="http://schemas.microsoft.com/office/drawing/2014/main" val="10004"/>
                  </a:ext>
                </a:extLst>
              </a:tr>
            </a:tbl>
          </a:graphicData>
        </a:graphic>
      </p:graphicFrame>
      <p:sp>
        <p:nvSpPr>
          <p:cNvPr id="2" name="Footer Placeholder 1">
            <a:extLst>
              <a:ext uri="{FF2B5EF4-FFF2-40B4-BE49-F238E27FC236}">
                <a16:creationId xmlns:a16="http://schemas.microsoft.com/office/drawing/2014/main" id="{A5915F57-2BF3-4FC0-A6D3-CE2CE875BB60}"/>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3585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2"/>
            <a:ext cx="5257740" cy="4343399"/>
          </a:xfrm>
        </p:spPr>
        <p:txBody>
          <a:bodyPr>
            <a:noAutofit/>
          </a:bodyPr>
          <a:lstStyle/>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RDS Multi-AZ deployments provide enhanced availability and durability for Database (DB) Instances.</a:t>
            </a: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When you provision a Multi-AZ DB Instance, Amazon RDS automatically creates a primary DB Instance and synchronously replicates the data to a standby instance in a different Availability Zone (AZ). </a:t>
            </a:r>
          </a:p>
          <a:p>
            <a:pPr algn="just">
              <a:buClr>
                <a:schemeClr val="tx1"/>
              </a:buCl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Each AZ runs on its own physically distinct, independent infrastructure.</a:t>
            </a:r>
          </a:p>
          <a:p>
            <a:pPr algn="just">
              <a:buClr>
                <a:schemeClr val="tx1"/>
              </a:buCl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RDS performs an automatic failover to the standby, in case of failure.</a:t>
            </a:r>
            <a:endParaRPr lang="en-US" sz="20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Multi-AZ</a:t>
            </a:r>
          </a:p>
        </p:txBody>
      </p:sp>
      <p:pic>
        <p:nvPicPr>
          <p:cNvPr id="1026" name="Picture 2" descr="C:\Users\Ahmad\Desktop\amazon-rds-deep-dive-33-63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560" y="1415692"/>
            <a:ext cx="5805411" cy="330870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8548D5A-AF68-4FC4-B07B-BAA55F16E19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19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745569" cy="4038599"/>
          </a:xfrm>
        </p:spPr>
        <p:txBody>
          <a:bodyPr>
            <a:noAutofit/>
          </a:bodyPr>
          <a:lstStyle/>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Multi-AZ deployments utilize synchronous physical replication to keep data on the standby up-to-date with the primary.</a:t>
            </a:r>
          </a:p>
          <a:p>
            <a:pPr algn="just">
              <a:buClr>
                <a:schemeClr val="tx1"/>
              </a:buCl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Multi-AZ provide data redundancy, eliminate I/O freezes, and minimize latency spikes during system backups.</a:t>
            </a: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Unlike Single-AZ deployments, I/O activity is not suspended on your primary during backup for Multi-AZ deployments, because the backup is taken from the standby.</a:t>
            </a:r>
          </a:p>
          <a:p>
            <a:pPr algn="just">
              <a:buClr>
                <a:schemeClr val="tx1"/>
              </a:buCl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If an Availability Zone failure or DB Instance failure occurs, automatic failover takes to complete: typically under two minutes.</a:t>
            </a:r>
          </a:p>
          <a:p>
            <a:pPr algn="just">
              <a:buClr>
                <a:schemeClr val="tx1"/>
              </a:buCl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DB Instance failover is fully automatic and requires no administrative intervention. Amazon RDS monitors the health of your primary and standbys, and initiates a failover automatically in response to a variety of failure conditions.</a:t>
            </a:r>
            <a:endParaRPr lang="en-US" sz="20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Multi-AZ: Benefits</a:t>
            </a:r>
          </a:p>
        </p:txBody>
      </p:sp>
      <p:sp>
        <p:nvSpPr>
          <p:cNvPr id="2" name="Footer Placeholder 1">
            <a:extLst>
              <a:ext uri="{FF2B5EF4-FFF2-40B4-BE49-F238E27FC236}">
                <a16:creationId xmlns:a16="http://schemas.microsoft.com/office/drawing/2014/main" id="{0AC3BE91-DA24-4C50-9A69-39596094350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3481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745569" cy="5105399"/>
          </a:xfrm>
        </p:spPr>
        <p:txBody>
          <a:bodyPr>
            <a:normAutofit/>
          </a:bodyPr>
          <a:lstStyle/>
          <a:p>
            <a:pPr algn="just">
              <a:buClr>
                <a:schemeClr val="tx1"/>
              </a:buClr>
              <a:buFont typeface="Wingdings" panose="05000000000000000000" pitchFamily="2" charset="2"/>
              <a:buChar char="Ø"/>
            </a:pPr>
            <a:r>
              <a:rPr lang="en-US" sz="1800" dirty="0">
                <a:latin typeface="+mj-lt"/>
              </a:rPr>
              <a:t>In the event of a planned or unplanned outage, RDS automatically switches to a standby replica.</a:t>
            </a: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rPr>
              <a:t>Failover times are typically 60-120 seconds. However, large transactions or a lengthy recovery process can increase failover time.</a:t>
            </a:r>
          </a:p>
          <a:p>
            <a:pPr algn="just">
              <a:buClr>
                <a:schemeClr val="tx1"/>
              </a:buClr>
              <a:buFont typeface="Wingdings" panose="05000000000000000000" pitchFamily="2" charset="2"/>
              <a:buChar char="Ø"/>
            </a:pPr>
            <a:endParaRPr lang="en-US" sz="1800" dirty="0">
              <a:latin typeface="+mj-lt"/>
            </a:endParaRPr>
          </a:p>
          <a:p>
            <a:pPr algn="just">
              <a:buClr>
                <a:schemeClr val="tx1"/>
              </a:buClr>
              <a:buFont typeface="Wingdings" panose="05000000000000000000" pitchFamily="2" charset="2"/>
              <a:buChar char="Ø"/>
            </a:pPr>
            <a:r>
              <a:rPr lang="en-US" sz="1800" dirty="0">
                <a:latin typeface="+mj-lt"/>
              </a:rPr>
              <a:t>RDS handles failovers automatically so you can resume database operations as quickly as possible without administrative intervention.</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rPr>
              <a:t>The failover mechanism automatically changes the DNS record of the DB instance to point to the standby DB instance. As a result, you will need to re-establish any existing connections to your DB instance.</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US" sz="1800" dirty="0">
                <a:latin typeface="+mj-lt"/>
              </a:rPr>
              <a:t>There are several ways to determine if your Multi-AZ DB instance has failed over:</a:t>
            </a:r>
          </a:p>
          <a:p>
            <a:pPr lvl="1"/>
            <a:r>
              <a:rPr lang="en-US" sz="1800" dirty="0">
                <a:latin typeface="+mj-lt"/>
              </a:rPr>
              <a:t>DB event subscriptions can be setup to notify you via email or SMS that a failover has been initiated. </a:t>
            </a:r>
          </a:p>
          <a:p>
            <a:pPr lvl="1"/>
            <a:r>
              <a:rPr lang="en-US" sz="1800" dirty="0">
                <a:latin typeface="+mj-lt"/>
              </a:rPr>
              <a:t>You can view the current state of your Multi-AZ deployment via the Amazon RDS console and APIs.</a:t>
            </a:r>
          </a:p>
          <a:p>
            <a:pPr algn="just">
              <a:buClr>
                <a:schemeClr val="tx1"/>
              </a:buClr>
              <a:buFont typeface="Wingdings" panose="05000000000000000000" pitchFamily="2" charset="2"/>
              <a:buChar char="Ø"/>
            </a:pPr>
            <a:endParaRPr lang="en-US" sz="18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Multi-AZ: Failover Process</a:t>
            </a:r>
          </a:p>
        </p:txBody>
      </p:sp>
      <p:sp>
        <p:nvSpPr>
          <p:cNvPr id="2" name="Footer Placeholder 1">
            <a:extLst>
              <a:ext uri="{FF2B5EF4-FFF2-40B4-BE49-F238E27FC236}">
                <a16:creationId xmlns:a16="http://schemas.microsoft.com/office/drawing/2014/main" id="{B193E95A-C8C7-4E54-9D79-F09B494C4DE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209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126" y="1143002"/>
            <a:ext cx="6162754" cy="4952999"/>
          </a:xfrm>
        </p:spPr>
        <p:txBody>
          <a:bodyPr>
            <a:noAutofit/>
          </a:bodyPr>
          <a:lstStyle/>
          <a:p>
            <a:pPr algn="just">
              <a:buClr>
                <a:schemeClr val="tx1"/>
              </a:buClr>
              <a:buFont typeface="Wingdings" panose="05000000000000000000" pitchFamily="2" charset="2"/>
              <a:buChar char="Ø"/>
            </a:pPr>
            <a:r>
              <a:rPr lang="en-US" sz="2000" dirty="0">
                <a:latin typeface="+mj-lt"/>
              </a:rPr>
              <a:t>Amazon RDS uses the MySQL, MariaDB and PostgreSQL DB engines' built-in replication functionality to create a special type of DB instance called a Read Replica from a source DB instance. </a:t>
            </a:r>
          </a:p>
          <a:p>
            <a:pPr algn="just">
              <a:buClr>
                <a:schemeClr val="tx1"/>
              </a:buClr>
              <a:buFont typeface="Wingdings" panose="05000000000000000000" pitchFamily="2" charset="2"/>
              <a:buChar char="Ø"/>
            </a:pPr>
            <a:endParaRPr lang="en-US" sz="2000" dirty="0">
              <a:latin typeface="+mj-lt"/>
            </a:endParaRPr>
          </a:p>
          <a:p>
            <a:pPr algn="just">
              <a:buClr>
                <a:schemeClr val="tx1"/>
              </a:buClr>
              <a:buFont typeface="Wingdings" panose="05000000000000000000" pitchFamily="2" charset="2"/>
              <a:buChar char="Ø"/>
            </a:pPr>
            <a:r>
              <a:rPr lang="en-US" sz="2000" dirty="0">
                <a:latin typeface="+mj-lt"/>
              </a:rPr>
              <a:t>You can reduce the load on your source DB instance by routing read queries from your applications to the Read Replica. </a:t>
            </a:r>
          </a:p>
          <a:p>
            <a:pPr algn="just">
              <a:buClr>
                <a:schemeClr val="tx1"/>
              </a:buClr>
              <a:buFont typeface="Wingdings" panose="05000000000000000000" pitchFamily="2" charset="2"/>
              <a:buChar char="Ø"/>
            </a:pPr>
            <a:endParaRPr lang="en-US" sz="2000" dirty="0">
              <a:latin typeface="+mj-lt"/>
            </a:endParaRPr>
          </a:p>
          <a:p>
            <a:pPr algn="just">
              <a:buClr>
                <a:schemeClr val="tx1"/>
              </a:buClr>
              <a:buFont typeface="Wingdings" panose="05000000000000000000" pitchFamily="2" charset="2"/>
              <a:buChar char="Ø"/>
            </a:pPr>
            <a:r>
              <a:rPr lang="en-US" sz="2000" dirty="0">
                <a:latin typeface="+mj-lt"/>
              </a:rPr>
              <a:t>Using Read Replicas, you can elastically scale out beyond the capacity constraints of a single DB instance for read-heavy database workloads.</a:t>
            </a:r>
          </a:p>
          <a:p>
            <a:pPr algn="just">
              <a:buClr>
                <a:schemeClr val="tx1"/>
              </a:buClr>
              <a:buFont typeface="Wingdings" panose="05000000000000000000" pitchFamily="2" charset="2"/>
              <a:buChar char="Ø"/>
            </a:pPr>
            <a:endParaRPr lang="en-US" sz="2000" dirty="0">
              <a:latin typeface="+mj-lt"/>
            </a:endParaRPr>
          </a:p>
          <a:p>
            <a:pPr algn="just">
              <a:buClr>
                <a:schemeClr val="tx1"/>
              </a:buClr>
              <a:buFont typeface="Wingdings" panose="05000000000000000000" pitchFamily="2" charset="2"/>
              <a:buChar char="Ø"/>
            </a:pPr>
            <a:r>
              <a:rPr lang="en-US" sz="2000" dirty="0">
                <a:latin typeface="+mj-lt"/>
              </a:rPr>
              <a:t>The Read Replica operates as a DB instance that allows only read-only connections.  </a:t>
            </a:r>
            <a:endParaRPr lang="en-US" sz="20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Read Replica</a:t>
            </a:r>
          </a:p>
        </p:txBody>
      </p:sp>
      <p:pic>
        <p:nvPicPr>
          <p:cNvPr id="2050" name="Picture 2" descr="Image result for aws rds read repl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425" y="990600"/>
            <a:ext cx="4649965" cy="4191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DE08B58-ED13-4F97-B446-725553AEFC7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38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745569" cy="5105399"/>
          </a:xfrm>
        </p:spPr>
        <p:txBody>
          <a:bodyPr>
            <a:normAutofit/>
          </a:bodyPr>
          <a:lstStyle/>
          <a:p>
            <a:pPr>
              <a:buFont typeface="Wingdings" panose="05000000000000000000" pitchFamily="2" charset="2"/>
              <a:buChar char="Ø"/>
            </a:pPr>
            <a:r>
              <a:rPr lang="en-US" sz="2200" dirty="0">
                <a:latin typeface="+mj-lt"/>
              </a:rPr>
              <a:t>Every DB instance has a weekly maintenance window during which any system changes are applied. It is initiated during the 30 mnts. maintenance window you identify. </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Most maintenance complete during the 30 mnts. maintenance window,  but it may take more than 30 mnts.</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RDS assigns a 30-minute maintenance window on a randomly selected day of the week, if you don't specify a preferred maintenance window.</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Like:</a:t>
            </a:r>
          </a:p>
          <a:p>
            <a:pPr lvl="1"/>
            <a:r>
              <a:rPr lang="en-US" sz="2200" dirty="0">
                <a:latin typeface="+mj-lt"/>
              </a:rPr>
              <a:t>US East (N. Virginia) Region	[03:00–11:00 UTC]</a:t>
            </a:r>
          </a:p>
          <a:p>
            <a:pPr lvl="1"/>
            <a:r>
              <a:rPr lang="en-US" sz="2200" dirty="0">
                <a:latin typeface="+mj-lt"/>
              </a:rPr>
              <a:t>Asia Paciﬁc (Mumbai) Region	[17:30–01:30 UTC]</a:t>
            </a:r>
          </a:p>
          <a:p>
            <a:pPr algn="just">
              <a:buClr>
                <a:schemeClr val="tx1"/>
              </a:buClr>
              <a:buFont typeface="Wingdings" panose="05000000000000000000" pitchFamily="2" charset="2"/>
              <a:buChar char="Ø"/>
            </a:pPr>
            <a:endParaRPr lang="en-US" sz="22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Maintenance Window</a:t>
            </a:r>
          </a:p>
        </p:txBody>
      </p:sp>
      <p:sp>
        <p:nvSpPr>
          <p:cNvPr id="2" name="Footer Placeholder 1">
            <a:extLst>
              <a:ext uri="{FF2B5EF4-FFF2-40B4-BE49-F238E27FC236}">
                <a16:creationId xmlns:a16="http://schemas.microsoft.com/office/drawing/2014/main" id="{EF2CA8C2-C223-43DC-B480-B7B41AE6525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522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838200"/>
            <a:ext cx="10745569" cy="3962399"/>
          </a:xfrm>
        </p:spPr>
        <p:txBody>
          <a:bodyPr>
            <a:noAutofit/>
          </a:bodyPr>
          <a:lstStyle/>
          <a:p>
            <a:pPr>
              <a:buFont typeface="Wingdings" panose="05000000000000000000" pitchFamily="2" charset="2"/>
              <a:buChar char="Ø"/>
            </a:pPr>
            <a:r>
              <a:rPr lang="en-US" sz="2000" dirty="0">
                <a:latin typeface="+mj-lt"/>
              </a:rPr>
              <a:t>Amazon RDS creates automated backups of your DB instance during the backup window of your DB instance.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Amazon RDS saves the automated backups of your DB instance according to the backup retention period.</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Your DB instance must be in the ACTIVE state for automated backups to occur.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 can also backup your DB instance manually.</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Your backup storage is equivalent to the sum of the database storage for all instances.</a:t>
            </a:r>
          </a:p>
          <a:p>
            <a:pPr>
              <a:buFont typeface="Wingdings" panose="05000000000000000000" pitchFamily="2" charset="2"/>
              <a:buChar char="Ø"/>
            </a:pPr>
            <a:endParaRPr lang="en-US" sz="2000" dirty="0">
              <a:solidFill>
                <a:srgbClr val="00B0F0"/>
              </a:solidFill>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US" sz="2000" dirty="0">
                <a:latin typeface="+mj-lt"/>
              </a:rPr>
              <a:t>Automated backups occur daily during the preferred backup window. If the backup requires it continues after the window ends, until it ﬁnishes. </a:t>
            </a:r>
            <a:endParaRPr lang="en-US" sz="20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Backup</a:t>
            </a:r>
          </a:p>
        </p:txBody>
      </p:sp>
      <p:sp>
        <p:nvSpPr>
          <p:cNvPr id="2" name="Footer Placeholder 1">
            <a:extLst>
              <a:ext uri="{FF2B5EF4-FFF2-40B4-BE49-F238E27FC236}">
                <a16:creationId xmlns:a16="http://schemas.microsoft.com/office/drawing/2014/main" id="{C6FB50A1-1D3C-4A2F-A379-C2431532556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590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745569" cy="5105399"/>
          </a:xfrm>
        </p:spPr>
        <p:txBody>
          <a:bodyPr>
            <a:normAutofit/>
          </a:bodyPr>
          <a:lstStyle/>
          <a:p>
            <a:pPr>
              <a:buFont typeface="Wingdings" panose="05000000000000000000" pitchFamily="2" charset="2"/>
              <a:buChar char="Ø"/>
            </a:pPr>
            <a:r>
              <a:rPr lang="en-US" sz="2000" dirty="0">
                <a:latin typeface="+mj-lt"/>
              </a:rPr>
              <a:t>You can create a DB instance by restoring the DB snapshot.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When you restore the DB instance, you provide the name of the DB snapshot to restore from, and then provide a name for the new DB instance that is created from the restore.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 cannot restore from a DB snapshot to an existing DB instance; a new DB instance is created when you restore.</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 can restore a DB instance and use a diﬀerent storage type than the source DB snapshot. But, MS SQL DB instance does not support changing the storage conﬁguration when restoring from a DB snapshot</a:t>
            </a:r>
            <a:endParaRPr lang="en-US" sz="2000" dirty="0">
              <a:solidFill>
                <a:srgbClr val="00B0F0"/>
              </a:solidFill>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Restoration</a:t>
            </a:r>
          </a:p>
        </p:txBody>
      </p:sp>
      <p:sp>
        <p:nvSpPr>
          <p:cNvPr id="2" name="Footer Placeholder 1">
            <a:extLst>
              <a:ext uri="{FF2B5EF4-FFF2-40B4-BE49-F238E27FC236}">
                <a16:creationId xmlns:a16="http://schemas.microsoft.com/office/drawing/2014/main" id="{29A51B71-98F1-4D7D-91F9-4DD258223E0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82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745569" cy="5105399"/>
          </a:xfrm>
        </p:spPr>
        <p:txBody>
          <a:bodyPr>
            <a:normAutofit/>
          </a:bodyPr>
          <a:lstStyle/>
          <a:p>
            <a:pPr>
              <a:buFont typeface="Wingdings" panose="05000000000000000000" pitchFamily="2" charset="2"/>
              <a:buChar char="Ø"/>
            </a:pPr>
            <a:r>
              <a:rPr lang="en-US" sz="2000" dirty="0">
                <a:latin typeface="+mj-lt"/>
              </a:rPr>
              <a:t>With Amazon RDS, you can copy DB snapshots.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 can copy automated or manual snapshots.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After you copy a snapshot, the copy is a manual snapshot.</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You can copy a snapshot within the same AWS Region or across AWS Regions, and you can copy a snapshot across AWS accounts.</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If you want to keep an automated snapshot for a longer period, copy it to create a manual snapshot, which is retained until you delete it. </a:t>
            </a: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RDS: Copying Snapshot</a:t>
            </a:r>
          </a:p>
        </p:txBody>
      </p:sp>
      <p:sp>
        <p:nvSpPr>
          <p:cNvPr id="2" name="Footer Placeholder 1">
            <a:extLst>
              <a:ext uri="{FF2B5EF4-FFF2-40B4-BE49-F238E27FC236}">
                <a16:creationId xmlns:a16="http://schemas.microsoft.com/office/drawing/2014/main" id="{EF4AA757-1D32-46B5-8E75-55D921B7E63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198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DFF1-DC10-49FC-AEDF-B75F719C8CD8}"/>
              </a:ext>
            </a:extLst>
          </p:cNvPr>
          <p:cNvSpPr>
            <a:spLocks noGrp="1"/>
          </p:cNvSpPr>
          <p:nvPr>
            <p:ph type="title"/>
          </p:nvPr>
        </p:nvSpPr>
        <p:spPr/>
        <p:txBody>
          <a:bodyPr/>
          <a:lstStyle/>
          <a:p>
            <a:r>
              <a:rPr lang="en-IN" dirty="0"/>
              <a:t> Overview of Amazon Aurora</a:t>
            </a:r>
          </a:p>
        </p:txBody>
      </p:sp>
      <p:sp>
        <p:nvSpPr>
          <p:cNvPr id="3" name="Content Placeholder 2">
            <a:extLst>
              <a:ext uri="{FF2B5EF4-FFF2-40B4-BE49-F238E27FC236}">
                <a16:creationId xmlns:a16="http://schemas.microsoft.com/office/drawing/2014/main" id="{DDAE3E46-DDAB-4FCA-A552-C358FCB030DD}"/>
              </a:ext>
            </a:extLst>
          </p:cNvPr>
          <p:cNvSpPr>
            <a:spLocks noGrp="1"/>
          </p:cNvSpPr>
          <p:nvPr>
            <p:ph idx="1"/>
          </p:nvPr>
        </p:nvSpPr>
        <p:spPr>
          <a:xfrm>
            <a:off x="657225" y="1690688"/>
            <a:ext cx="10515600" cy="4351338"/>
          </a:xfrm>
        </p:spPr>
        <p:txBody>
          <a:bodyPr>
            <a:normAutofit lnSpcReduction="10000"/>
          </a:bodyPr>
          <a:lstStyle/>
          <a:p>
            <a:pPr>
              <a:buFont typeface="Wingdings" panose="05000000000000000000" pitchFamily="2" charset="2"/>
              <a:buChar char="Ø"/>
            </a:pPr>
            <a:r>
              <a:rPr lang="en-US" sz="2200" dirty="0">
                <a:latin typeface="+mj-lt"/>
              </a:rPr>
              <a:t>Amazon Aurora is a MySQL and PostgreSQL-compatible relational database built for the cloud.</a:t>
            </a:r>
          </a:p>
          <a:p>
            <a:pPr marL="0" indent="0">
              <a:buNone/>
            </a:pPr>
            <a:endParaRPr lang="en-US" sz="2200" dirty="0">
              <a:latin typeface="+mj-lt"/>
            </a:endParaRPr>
          </a:p>
          <a:p>
            <a:pPr>
              <a:buFont typeface="Wingdings" panose="05000000000000000000" pitchFamily="2" charset="2"/>
              <a:buChar char="Ø"/>
            </a:pPr>
            <a:r>
              <a:rPr lang="en-US" sz="2200" dirty="0">
                <a:latin typeface="+mj-lt"/>
              </a:rPr>
              <a:t>Combines performance and availability of traditional enterprise databases with the simplicity and cost-effectiveness of open source databases.</a:t>
            </a:r>
          </a:p>
          <a:p>
            <a:pPr marL="0" indent="0">
              <a:buNone/>
            </a:pPr>
            <a:endParaRPr lang="en-US" sz="2200" dirty="0">
              <a:latin typeface="+mj-lt"/>
            </a:endParaRPr>
          </a:p>
          <a:p>
            <a:pPr>
              <a:buFont typeface="Wingdings" panose="05000000000000000000" pitchFamily="2" charset="2"/>
              <a:buChar char="Ø"/>
            </a:pPr>
            <a:r>
              <a:rPr lang="en-US" sz="2200" dirty="0">
                <a:latin typeface="+mj-lt"/>
              </a:rPr>
              <a:t>Distributed, fault-tolerant, self-healing storage system that auto-scales up to 64TB per database instance. </a:t>
            </a:r>
          </a:p>
          <a:p>
            <a:pPr marL="0" indent="0">
              <a:buNone/>
            </a:pPr>
            <a:endParaRPr lang="en-US" sz="2200" dirty="0">
              <a:latin typeface="+mj-lt"/>
            </a:endParaRPr>
          </a:p>
          <a:p>
            <a:pPr>
              <a:buFont typeface="Wingdings" panose="05000000000000000000" pitchFamily="2" charset="2"/>
              <a:buChar char="Ø"/>
            </a:pPr>
            <a:r>
              <a:rPr lang="en-US" sz="2200" dirty="0">
                <a:latin typeface="+mj-lt"/>
              </a:rPr>
              <a:t>Delivers high performance and availability with up to 15 low-latency read replicas, point-in-time recovery, continuous backup to Amazon S3, and replication across three Availability Zones (AZs).</a:t>
            </a:r>
            <a:endParaRPr lang="en-IN" sz="2200" dirty="0">
              <a:latin typeface="+mj-lt"/>
            </a:endParaRPr>
          </a:p>
        </p:txBody>
      </p:sp>
      <p:sp>
        <p:nvSpPr>
          <p:cNvPr id="4" name="Footer Placeholder 3">
            <a:extLst>
              <a:ext uri="{FF2B5EF4-FFF2-40B4-BE49-F238E27FC236}">
                <a16:creationId xmlns:a16="http://schemas.microsoft.com/office/drawing/2014/main" id="{E1460B28-D4C7-411C-A900-A1FB78C63EA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812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9371-001A-40C6-9533-BEDD74EC2B32}"/>
              </a:ext>
            </a:extLst>
          </p:cNvPr>
          <p:cNvSpPr>
            <a:spLocks noGrp="1"/>
          </p:cNvSpPr>
          <p:nvPr>
            <p:ph type="title"/>
          </p:nvPr>
        </p:nvSpPr>
        <p:spPr>
          <a:xfrm>
            <a:off x="1838325" y="346868"/>
            <a:ext cx="10515600" cy="1325563"/>
          </a:xfrm>
        </p:spPr>
        <p:txBody>
          <a:bodyPr>
            <a:normAutofit/>
          </a:bodyPr>
          <a:lstStyle/>
          <a:p>
            <a:r>
              <a:rPr lang="en-IN" sz="4000" dirty="0"/>
              <a:t>Aurora DB Replication</a:t>
            </a:r>
          </a:p>
        </p:txBody>
      </p:sp>
      <p:pic>
        <p:nvPicPr>
          <p:cNvPr id="4" name="Content Placeholder 3">
            <a:extLst>
              <a:ext uri="{FF2B5EF4-FFF2-40B4-BE49-F238E27FC236}">
                <a16:creationId xmlns:a16="http://schemas.microsoft.com/office/drawing/2014/main" id="{C609D5B6-C7D7-4646-9BE1-7AA41E01FD4C}"/>
              </a:ext>
            </a:extLst>
          </p:cNvPr>
          <p:cNvPicPr>
            <a:picLocks noGrp="1" noChangeAspect="1"/>
          </p:cNvPicPr>
          <p:nvPr>
            <p:ph idx="1"/>
          </p:nvPr>
        </p:nvPicPr>
        <p:blipFill>
          <a:blip r:embed="rId2"/>
          <a:stretch>
            <a:fillRect/>
          </a:stretch>
        </p:blipFill>
        <p:spPr>
          <a:xfrm>
            <a:off x="2259870" y="2235574"/>
            <a:ext cx="6481367" cy="3612776"/>
          </a:xfrm>
          <a:prstGeom prst="rect">
            <a:avLst/>
          </a:prstGeom>
        </p:spPr>
      </p:pic>
      <p:sp>
        <p:nvSpPr>
          <p:cNvPr id="5" name="Footer Placeholder 4">
            <a:extLst>
              <a:ext uri="{FF2B5EF4-FFF2-40B4-BE49-F238E27FC236}">
                <a16:creationId xmlns:a16="http://schemas.microsoft.com/office/drawing/2014/main" id="{A47EC93B-6FEC-4CD9-9734-A499EEE0C7D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6840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74D1-FC20-49BA-B91F-8C0D098F53EC}"/>
              </a:ext>
            </a:extLst>
          </p:cNvPr>
          <p:cNvSpPr>
            <a:spLocks noGrp="1"/>
          </p:cNvSpPr>
          <p:nvPr>
            <p:ph type="title"/>
          </p:nvPr>
        </p:nvSpPr>
        <p:spPr>
          <a:xfrm>
            <a:off x="2457450" y="155575"/>
            <a:ext cx="10515600" cy="1325563"/>
          </a:xfrm>
        </p:spPr>
        <p:txBody>
          <a:bodyPr>
            <a:normAutofit/>
          </a:bodyPr>
          <a:lstStyle/>
          <a:p>
            <a:r>
              <a:rPr lang="en-IN" sz="4000" dirty="0"/>
              <a:t>Benefits of Amazon Aurora</a:t>
            </a:r>
          </a:p>
        </p:txBody>
      </p:sp>
      <p:sp>
        <p:nvSpPr>
          <p:cNvPr id="3" name="Content Placeholder 2">
            <a:extLst>
              <a:ext uri="{FF2B5EF4-FFF2-40B4-BE49-F238E27FC236}">
                <a16:creationId xmlns:a16="http://schemas.microsoft.com/office/drawing/2014/main" id="{57D3F867-2388-4847-B105-1A9D1EEB8FCE}"/>
              </a:ext>
            </a:extLst>
          </p:cNvPr>
          <p:cNvSpPr>
            <a:spLocks noGrp="1"/>
          </p:cNvSpPr>
          <p:nvPr>
            <p:ph idx="1"/>
          </p:nvPr>
        </p:nvSpPr>
        <p:spPr>
          <a:xfrm>
            <a:off x="561975" y="1381125"/>
            <a:ext cx="10791825" cy="4795838"/>
          </a:xfrm>
        </p:spPr>
        <p:txBody>
          <a:bodyPr>
            <a:normAutofit/>
          </a:bodyPr>
          <a:lstStyle/>
          <a:p>
            <a:pPr>
              <a:buFont typeface="Wingdings" panose="05000000000000000000" pitchFamily="2" charset="2"/>
              <a:buChar char="Ø"/>
            </a:pPr>
            <a:r>
              <a:rPr lang="en-US" sz="2200" dirty="0">
                <a:latin typeface="+mj-lt"/>
              </a:rPr>
              <a:t>High Performance and Scalability</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High Availability and Durability</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Highly Secure</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MySQL and PostgreSQL Compatible</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Fully Managed</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Migration Support</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endParaRPr lang="en-IN" sz="2200" dirty="0">
              <a:latin typeface="+mj-lt"/>
            </a:endParaRPr>
          </a:p>
        </p:txBody>
      </p:sp>
      <p:pic>
        <p:nvPicPr>
          <p:cNvPr id="3074" name="Picture 2">
            <a:extLst>
              <a:ext uri="{FF2B5EF4-FFF2-40B4-BE49-F238E27FC236}">
                <a16:creationId xmlns:a16="http://schemas.microsoft.com/office/drawing/2014/main" id="{FB8C8CDD-60BD-42AC-995F-28A5A6AB0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8644" y="2038350"/>
            <a:ext cx="2048856" cy="234791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087A142-4F08-40D3-B02B-12655349D2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480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60B7-7590-4350-B0BD-32E6C90E7C0B}"/>
              </a:ext>
            </a:extLst>
          </p:cNvPr>
          <p:cNvSpPr>
            <a:spLocks noGrp="1"/>
          </p:cNvSpPr>
          <p:nvPr>
            <p:ph type="title"/>
          </p:nvPr>
        </p:nvSpPr>
        <p:spPr>
          <a:xfrm>
            <a:off x="1095375" y="-380999"/>
            <a:ext cx="10515600" cy="1724818"/>
          </a:xfrm>
        </p:spPr>
        <p:txBody>
          <a:bodyPr>
            <a:normAutofit/>
          </a:bodyPr>
          <a:lstStyle/>
          <a:p>
            <a:r>
              <a:rPr lang="en-IN" sz="3600" dirty="0"/>
              <a:t>Quiz</a:t>
            </a:r>
          </a:p>
        </p:txBody>
      </p:sp>
      <p:sp>
        <p:nvSpPr>
          <p:cNvPr id="3" name="Content Placeholder 2">
            <a:extLst>
              <a:ext uri="{FF2B5EF4-FFF2-40B4-BE49-F238E27FC236}">
                <a16:creationId xmlns:a16="http://schemas.microsoft.com/office/drawing/2014/main" id="{28CDA077-9F3A-42F9-99DE-340FDF1A340F}"/>
              </a:ext>
            </a:extLst>
          </p:cNvPr>
          <p:cNvSpPr>
            <a:spLocks noGrp="1"/>
          </p:cNvSpPr>
          <p:nvPr>
            <p:ph idx="1"/>
          </p:nvPr>
        </p:nvSpPr>
        <p:spPr>
          <a:xfrm>
            <a:off x="323850" y="673100"/>
            <a:ext cx="10515600" cy="4351338"/>
          </a:xfrm>
        </p:spPr>
        <p:txBody>
          <a:bodyPr>
            <a:noAutofit/>
          </a:bodyPr>
          <a:lstStyle/>
          <a:p>
            <a:pPr marL="0" indent="0">
              <a:buNone/>
            </a:pPr>
            <a:r>
              <a:rPr lang="en-US" sz="1800" dirty="0"/>
              <a:t>1.Does Amazon RDS allow direct host access via Telnet, Secure Shell (SSH), or Windows Remote Desktop Connection?</a:t>
            </a:r>
          </a:p>
          <a:p>
            <a:pPr marL="342900" indent="-342900">
              <a:buFont typeface="+mj-lt"/>
              <a:buAutoNum type="alphaLcPeriod"/>
            </a:pPr>
            <a:r>
              <a:rPr lang="en-US" sz="1800" dirty="0"/>
              <a:t>Yes</a:t>
            </a:r>
          </a:p>
          <a:p>
            <a:pPr marL="342900" indent="-342900">
              <a:buFont typeface="+mj-lt"/>
              <a:buAutoNum type="alphaLcPeriod"/>
            </a:pPr>
            <a:r>
              <a:rPr lang="en-US" sz="1800" dirty="0"/>
              <a:t>No</a:t>
            </a:r>
          </a:p>
          <a:p>
            <a:pPr marL="342900" indent="-342900">
              <a:buFont typeface="+mj-lt"/>
              <a:buAutoNum type="alphaLcPeriod"/>
            </a:pPr>
            <a:r>
              <a:rPr lang="en-US" sz="1800" dirty="0"/>
              <a:t>Depends on if it is in VPC or not</a:t>
            </a:r>
          </a:p>
          <a:p>
            <a:endParaRPr lang="en-US" sz="1800" dirty="0"/>
          </a:p>
          <a:p>
            <a:pPr marL="0" indent="0">
              <a:buNone/>
            </a:pPr>
            <a:r>
              <a:rPr lang="en-US" sz="1800" dirty="0"/>
              <a:t>2. A user plans to use RDS as a managed DB platform. Which of the below mentioned features is not supported by RDS?</a:t>
            </a:r>
          </a:p>
          <a:p>
            <a:pPr marL="342900" indent="-342900">
              <a:buFont typeface="+mj-lt"/>
              <a:buAutoNum type="alphaLcPeriod"/>
            </a:pPr>
            <a:r>
              <a:rPr lang="en-US" sz="1800" dirty="0"/>
              <a:t>Automated backup</a:t>
            </a:r>
          </a:p>
          <a:p>
            <a:pPr marL="342900" indent="-342900">
              <a:buFont typeface="+mj-lt"/>
              <a:buAutoNum type="alphaLcPeriod"/>
            </a:pPr>
            <a:r>
              <a:rPr lang="en-US" sz="1800" dirty="0"/>
              <a:t>Automated scaling to manage a higher load</a:t>
            </a:r>
          </a:p>
          <a:p>
            <a:pPr marL="342900" indent="-342900">
              <a:buFont typeface="+mj-lt"/>
              <a:buAutoNum type="alphaLcPeriod"/>
            </a:pPr>
            <a:r>
              <a:rPr lang="en-US" sz="1800" dirty="0"/>
              <a:t>Automated failure detection and recovery</a:t>
            </a:r>
          </a:p>
          <a:p>
            <a:pPr marL="342900" indent="-342900">
              <a:buFont typeface="+mj-lt"/>
              <a:buAutoNum type="alphaLcPeriod"/>
            </a:pPr>
            <a:r>
              <a:rPr lang="en-US" sz="1800" dirty="0"/>
              <a:t>Automated software patching</a:t>
            </a:r>
          </a:p>
          <a:p>
            <a:pPr marL="0" indent="0">
              <a:buNone/>
            </a:pPr>
            <a:endParaRPr lang="en-US" sz="1800" dirty="0"/>
          </a:p>
          <a:p>
            <a:pPr marL="0" indent="0">
              <a:buNone/>
            </a:pPr>
            <a:r>
              <a:rPr lang="en-US" sz="1800" dirty="0"/>
              <a:t>3. Amazon RDS DB snapshots and automated backups are stored in</a:t>
            </a:r>
          </a:p>
          <a:p>
            <a:pPr marL="342900" indent="-342900">
              <a:buFont typeface="+mj-lt"/>
              <a:buAutoNum type="alphaLcPeriod"/>
            </a:pPr>
            <a:r>
              <a:rPr lang="en-US" sz="1800" dirty="0"/>
              <a:t>Amazon S3</a:t>
            </a:r>
          </a:p>
          <a:p>
            <a:pPr marL="342900" indent="-342900">
              <a:buFont typeface="+mj-lt"/>
              <a:buAutoNum type="alphaLcPeriod"/>
            </a:pPr>
            <a:r>
              <a:rPr lang="en-US" sz="1800" dirty="0"/>
              <a:t>Amazon EBS Volume</a:t>
            </a:r>
          </a:p>
          <a:p>
            <a:pPr marL="342900" indent="-342900">
              <a:buFont typeface="+mj-lt"/>
              <a:buAutoNum type="alphaLcPeriod"/>
            </a:pPr>
            <a:r>
              <a:rPr lang="en-US" sz="1800" dirty="0"/>
              <a:t>Amazon RDS</a:t>
            </a:r>
          </a:p>
          <a:p>
            <a:endParaRPr lang="en-US" sz="1800" dirty="0"/>
          </a:p>
          <a:p>
            <a:r>
              <a:rPr lang="en-US" sz="1800" dirty="0"/>
              <a:t>Amazon EMR</a:t>
            </a:r>
            <a:endParaRPr lang="en-IN" sz="1800" dirty="0"/>
          </a:p>
        </p:txBody>
      </p:sp>
      <p:sp>
        <p:nvSpPr>
          <p:cNvPr id="4" name="Footer Placeholder 3">
            <a:extLst>
              <a:ext uri="{FF2B5EF4-FFF2-40B4-BE49-F238E27FC236}">
                <a16:creationId xmlns:a16="http://schemas.microsoft.com/office/drawing/2014/main" id="{E544B23E-3B73-44FA-B624-D8A7F476FE2C}"/>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750627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2CCE0F-AB34-496F-9C8D-8062052BD485}"/>
              </a:ext>
            </a:extLst>
          </p:cNvPr>
          <p:cNvSpPr txBox="1"/>
          <p:nvPr/>
        </p:nvSpPr>
        <p:spPr>
          <a:xfrm>
            <a:off x="2520499" y="2699054"/>
            <a:ext cx="1844143" cy="66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Replication Instance</a:t>
            </a:r>
          </a:p>
        </p:txBody>
      </p:sp>
      <p:sp>
        <p:nvSpPr>
          <p:cNvPr id="5" name="TextBox 4">
            <a:extLst>
              <a:ext uri="{FF2B5EF4-FFF2-40B4-BE49-F238E27FC236}">
                <a16:creationId xmlns:a16="http://schemas.microsoft.com/office/drawing/2014/main" id="{42A45CAE-63E2-4970-9C46-291691C0B397}"/>
              </a:ext>
            </a:extLst>
          </p:cNvPr>
          <p:cNvSpPr txBox="1"/>
          <p:nvPr/>
        </p:nvSpPr>
        <p:spPr>
          <a:xfrm>
            <a:off x="4781682" y="2612909"/>
            <a:ext cx="1240234" cy="66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Source Endpoint</a:t>
            </a:r>
          </a:p>
        </p:txBody>
      </p:sp>
      <p:sp>
        <p:nvSpPr>
          <p:cNvPr id="6" name="TextBox 5">
            <a:extLst>
              <a:ext uri="{FF2B5EF4-FFF2-40B4-BE49-F238E27FC236}">
                <a16:creationId xmlns:a16="http://schemas.microsoft.com/office/drawing/2014/main" id="{CD08F393-E4BF-4ECA-8A1C-BFA1097A0B25}"/>
              </a:ext>
            </a:extLst>
          </p:cNvPr>
          <p:cNvSpPr txBox="1"/>
          <p:nvPr/>
        </p:nvSpPr>
        <p:spPr>
          <a:xfrm>
            <a:off x="6929310" y="2756538"/>
            <a:ext cx="691087" cy="379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Tasks</a:t>
            </a:r>
          </a:p>
        </p:txBody>
      </p:sp>
      <p:sp>
        <p:nvSpPr>
          <p:cNvPr id="7" name="TextBox 6">
            <a:extLst>
              <a:ext uri="{FF2B5EF4-FFF2-40B4-BE49-F238E27FC236}">
                <a16:creationId xmlns:a16="http://schemas.microsoft.com/office/drawing/2014/main" id="{5E410379-5BD3-4498-8115-65744EE79D30}"/>
              </a:ext>
            </a:extLst>
          </p:cNvPr>
          <p:cNvSpPr txBox="1"/>
          <p:nvPr/>
        </p:nvSpPr>
        <p:spPr>
          <a:xfrm>
            <a:off x="8832304" y="2636497"/>
            <a:ext cx="1060868" cy="6669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 Target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Endpoint</a:t>
            </a:r>
          </a:p>
        </p:txBody>
      </p:sp>
      <p:sp>
        <p:nvSpPr>
          <p:cNvPr id="9" name="Title 8">
            <a:extLst>
              <a:ext uri="{FF2B5EF4-FFF2-40B4-BE49-F238E27FC236}">
                <a16:creationId xmlns:a16="http://schemas.microsoft.com/office/drawing/2014/main" id="{4685C431-15DB-4A31-BF5C-1766B071559E}"/>
              </a:ext>
            </a:extLst>
          </p:cNvPr>
          <p:cNvSpPr>
            <a:spLocks noGrp="1"/>
          </p:cNvSpPr>
          <p:nvPr>
            <p:ph type="title"/>
          </p:nvPr>
        </p:nvSpPr>
        <p:spPr>
          <a:xfrm>
            <a:off x="1247775" y="2473412"/>
            <a:ext cx="10515600" cy="1325563"/>
          </a:xfrm>
        </p:spPr>
        <p:txBody>
          <a:bodyPr/>
          <a:lstStyle/>
          <a:p>
            <a:r>
              <a:rPr lang="en-IN" b="1" dirty="0"/>
              <a:t>AWS Database Migration(DMS) Service</a:t>
            </a:r>
          </a:p>
        </p:txBody>
      </p:sp>
      <p:sp>
        <p:nvSpPr>
          <p:cNvPr id="2" name="Footer Placeholder 1">
            <a:extLst>
              <a:ext uri="{FF2B5EF4-FFF2-40B4-BE49-F238E27FC236}">
                <a16:creationId xmlns:a16="http://schemas.microsoft.com/office/drawing/2014/main" id="{EA518E0A-73C2-4F3F-A606-9D81552A969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5192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9B82-CF81-4854-BA6C-F388B9A4F840}"/>
              </a:ext>
            </a:extLst>
          </p:cNvPr>
          <p:cNvSpPr>
            <a:spLocks noGrp="1"/>
          </p:cNvSpPr>
          <p:nvPr>
            <p:ph type="title"/>
          </p:nvPr>
        </p:nvSpPr>
        <p:spPr/>
        <p:txBody>
          <a:bodyPr>
            <a:normAutofit fontScale="90000"/>
          </a:bodyPr>
          <a:lstStyle/>
          <a:p>
            <a:r>
              <a:rPr lang="en-IN" dirty="0">
                <a:solidFill>
                  <a:schemeClr val="tx1"/>
                </a:solidFill>
              </a:rPr>
              <a:t> AWS Database Migration Service (DMS) – Overview  </a:t>
            </a:r>
          </a:p>
        </p:txBody>
      </p:sp>
      <p:sp>
        <p:nvSpPr>
          <p:cNvPr id="4" name="Text Placeholder 3">
            <a:extLst>
              <a:ext uri="{FF2B5EF4-FFF2-40B4-BE49-F238E27FC236}">
                <a16:creationId xmlns:a16="http://schemas.microsoft.com/office/drawing/2014/main" id="{EBEA90E1-3E0D-47F2-8546-50786695FE4C}"/>
              </a:ext>
            </a:extLst>
          </p:cNvPr>
          <p:cNvSpPr>
            <a:spLocks noGrp="1"/>
          </p:cNvSpPr>
          <p:nvPr>
            <p:ph type="body" sz="quarter" idx="10"/>
          </p:nvPr>
        </p:nvSpPr>
        <p:spPr>
          <a:xfrm>
            <a:off x="622300" y="1174513"/>
            <a:ext cx="11090324" cy="5292527"/>
          </a:xfrm>
        </p:spPr>
        <p:txBody>
          <a:bodyPr>
            <a:normAutofit/>
          </a:bodyPr>
          <a:lstStyle/>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AWS Database Migration Service is a web service  used to migrate data from On-premises databases, Amazon Relational Database Service (Amazon RDS) DB instance  or database running  on an Amazon Elastic Compute Cloud (Amazon EC2) instance.</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Use the AWS Schema Conversion Tool (AWS SCT) to translate your database schema to the new platform and then use AWS DMS to migrate the data. </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AWS DMS &amp; AWS Snowball Edge Integration enables mass Database Migrations and Migrations of large databases.</a:t>
            </a:r>
          </a:p>
          <a:p>
            <a:pPr marL="0" indent="0">
              <a:buNone/>
            </a:pPr>
            <a:endParaRPr lang="en-US" sz="2200" dirty="0">
              <a:latin typeface="+mj-lt"/>
            </a:endParaRPr>
          </a:p>
          <a:p>
            <a:pPr>
              <a:buFont typeface="Wingdings" panose="05000000000000000000" pitchFamily="2" charset="2"/>
              <a:buChar char="Ø"/>
            </a:pPr>
            <a:r>
              <a:rPr lang="en-US" sz="2200" dirty="0">
                <a:latin typeface="+mj-lt"/>
              </a:rPr>
              <a:t>AWS Migration Hub helps to keep track of the progress of DB Migrations and also provides key metrics .</a:t>
            </a:r>
          </a:p>
          <a:p>
            <a:pPr>
              <a:buFont typeface="Wingdings" panose="05000000000000000000" pitchFamily="2" charset="2"/>
              <a:buChar char="Ø"/>
            </a:pPr>
            <a:endParaRPr lang="en-IN" sz="2200" dirty="0">
              <a:latin typeface="+mj-lt"/>
              <a:ea typeface="+mn-ea"/>
              <a:cs typeface="+mn-cs"/>
            </a:endParaRPr>
          </a:p>
          <a:p>
            <a:pPr marL="434345" lvl="1" indent="-342900">
              <a:buFont typeface="Wingdings" panose="05000000000000000000" pitchFamily="2" charset="2"/>
              <a:buChar char="Ø"/>
            </a:pPr>
            <a:endParaRPr lang="en-IN" sz="2200" dirty="0">
              <a:latin typeface="+mj-lt"/>
            </a:endParaRPr>
          </a:p>
          <a:p>
            <a:pPr>
              <a:buFont typeface="Wingdings" panose="05000000000000000000" pitchFamily="2" charset="2"/>
              <a:buChar char="Ø"/>
            </a:pPr>
            <a:endParaRPr lang="en-IN" sz="2200" dirty="0">
              <a:latin typeface="+mj-lt"/>
            </a:endParaRPr>
          </a:p>
        </p:txBody>
      </p:sp>
    </p:spTree>
    <p:extLst>
      <p:ext uri="{BB962C8B-B14F-4D97-AF65-F5344CB8AC3E}">
        <p14:creationId xmlns:p14="http://schemas.microsoft.com/office/powerpoint/2010/main" val="4010852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39EB77-72F9-4B02-A362-4384EC3CDA42}"/>
              </a:ext>
            </a:extLst>
          </p:cNvPr>
          <p:cNvSpPr>
            <a:spLocks noGrp="1"/>
          </p:cNvSpPr>
          <p:nvPr>
            <p:ph idx="1"/>
          </p:nvPr>
        </p:nvSpPr>
        <p:spPr>
          <a:xfrm>
            <a:off x="295275" y="1172750"/>
            <a:ext cx="11274425" cy="5876816"/>
          </a:xfrm>
        </p:spPr>
        <p:txBody>
          <a:bodyPr/>
          <a:lstStyle/>
          <a:p>
            <a:pPr marL="304815" indent="-304815">
              <a:buFont typeface="Wingdings" panose="05000000000000000000" pitchFamily="2" charset="2"/>
              <a:buChar char="Ø"/>
            </a:pPr>
            <a:endParaRPr lang="en-IN" sz="2000" dirty="0">
              <a:latin typeface="+mj-lt"/>
            </a:endParaRPr>
          </a:p>
          <a:p>
            <a:pPr marL="304815" indent="-304815">
              <a:buFont typeface="Wingdings" panose="05000000000000000000" pitchFamily="2" charset="2"/>
              <a:buChar char="Ø"/>
            </a:pPr>
            <a:r>
              <a:rPr lang="en-IN" sz="2000" dirty="0">
                <a:latin typeface="+mj-lt"/>
              </a:rPr>
              <a:t>AWS DMS  helps to migrate databases to AWS </a:t>
            </a:r>
            <a:r>
              <a:rPr lang="en-IN" sz="2000" b="1" dirty="0">
                <a:latin typeface="+mj-lt"/>
              </a:rPr>
              <a:t>quickly and securely. </a:t>
            </a:r>
          </a:p>
          <a:p>
            <a:pPr marL="0" indent="0">
              <a:buNone/>
            </a:pPr>
            <a:endParaRPr lang="en-IN" sz="2000" b="1" dirty="0">
              <a:latin typeface="+mj-lt"/>
            </a:endParaRPr>
          </a:p>
          <a:p>
            <a:pPr marL="304815" indent="-304815">
              <a:buFont typeface="Wingdings" panose="05000000000000000000" pitchFamily="2" charset="2"/>
              <a:buChar char="Ø"/>
            </a:pPr>
            <a:r>
              <a:rPr lang="en-IN" sz="2000" b="1" dirty="0">
                <a:latin typeface="+mj-lt"/>
              </a:rPr>
              <a:t>Live Migration : </a:t>
            </a:r>
            <a:r>
              <a:rPr lang="en-IN" sz="2000" dirty="0">
                <a:latin typeface="+mj-lt"/>
              </a:rPr>
              <a:t>The source database remains fully operational during the migration, m</a:t>
            </a:r>
            <a:r>
              <a:rPr lang="en-IN" sz="2000" b="1" dirty="0">
                <a:latin typeface="+mj-lt"/>
              </a:rPr>
              <a:t>inimizing downtime </a:t>
            </a:r>
            <a:r>
              <a:rPr lang="en-IN" sz="2000" dirty="0">
                <a:latin typeface="+mj-lt"/>
              </a:rPr>
              <a:t>to applications that rely on the source database </a:t>
            </a:r>
          </a:p>
          <a:p>
            <a:pPr marL="304815" indent="-304815">
              <a:buFont typeface="Wingdings" panose="05000000000000000000" pitchFamily="2" charset="2"/>
              <a:buChar char="Ø"/>
            </a:pPr>
            <a:endParaRPr lang="en-IN" sz="2000" dirty="0">
              <a:latin typeface="+mj-lt"/>
            </a:endParaRPr>
          </a:p>
          <a:p>
            <a:pPr marL="304815" indent="-304815">
              <a:buFont typeface="Wingdings" panose="05000000000000000000" pitchFamily="2" charset="2"/>
              <a:buChar char="Ø"/>
            </a:pPr>
            <a:r>
              <a:rPr lang="en-IN" sz="2000" dirty="0">
                <a:latin typeface="+mj-lt"/>
              </a:rPr>
              <a:t>DMS can migrate data to and from most widely used </a:t>
            </a:r>
            <a:r>
              <a:rPr lang="en-IN" sz="2000" b="1" dirty="0">
                <a:latin typeface="+mj-lt"/>
              </a:rPr>
              <a:t>commercial and open-source databases.</a:t>
            </a:r>
          </a:p>
          <a:p>
            <a:pPr marL="304815" indent="-304815">
              <a:buFont typeface="Wingdings" panose="05000000000000000000" pitchFamily="2" charset="2"/>
              <a:buChar char="Ø"/>
            </a:pPr>
            <a:endParaRPr lang="en-IN" sz="2000" b="1" dirty="0">
              <a:latin typeface="+mj-lt"/>
            </a:endParaRPr>
          </a:p>
          <a:p>
            <a:pPr marL="304815" indent="-304815">
              <a:buFont typeface="Wingdings" panose="05000000000000000000" pitchFamily="2" charset="2"/>
              <a:buChar char="Ø"/>
            </a:pPr>
            <a:r>
              <a:rPr lang="en-IN" sz="2000" dirty="0">
                <a:latin typeface="+mj-lt"/>
              </a:rPr>
              <a:t>The service supports </a:t>
            </a:r>
            <a:r>
              <a:rPr lang="en-IN" sz="2000" b="1" dirty="0">
                <a:latin typeface="+mj-lt"/>
              </a:rPr>
              <a:t>homogenous</a:t>
            </a:r>
            <a:r>
              <a:rPr lang="en-IN" sz="2000" dirty="0">
                <a:latin typeface="+mj-lt"/>
              </a:rPr>
              <a:t> </a:t>
            </a:r>
            <a:r>
              <a:rPr lang="en-IN" sz="2000" b="1" dirty="0">
                <a:latin typeface="+mj-lt"/>
              </a:rPr>
              <a:t>migrations</a:t>
            </a:r>
            <a:r>
              <a:rPr lang="en-IN" sz="2000" dirty="0">
                <a:latin typeface="+mj-lt"/>
              </a:rPr>
              <a:t> such as Oracle to Oracle, as well as  </a:t>
            </a:r>
            <a:r>
              <a:rPr lang="en-IN" sz="2000" b="1" dirty="0">
                <a:latin typeface="+mj-lt"/>
              </a:rPr>
              <a:t>heterogeneous DB migrations </a:t>
            </a:r>
            <a:r>
              <a:rPr lang="en-IN" sz="2000" dirty="0">
                <a:latin typeface="+mj-lt"/>
              </a:rPr>
              <a:t>between different database platforms, such as Oracle to Amazon Aurora or Microsoft SQL Server to MySQL </a:t>
            </a:r>
          </a:p>
          <a:p>
            <a:pPr marL="304815" indent="-304815">
              <a:buFont typeface="Wingdings" panose="05000000000000000000" pitchFamily="2" charset="2"/>
              <a:buChar char="Ø"/>
            </a:pPr>
            <a:endParaRPr lang="en-IN" sz="2000" dirty="0">
              <a:latin typeface="+mj-lt"/>
            </a:endParaRPr>
          </a:p>
          <a:p>
            <a:pPr marL="304815" indent="-304815">
              <a:buFont typeface="Wingdings" panose="05000000000000000000" pitchFamily="2" charset="2"/>
              <a:buChar char="Ø"/>
            </a:pPr>
            <a:r>
              <a:rPr lang="en-IN" sz="2000" dirty="0">
                <a:latin typeface="+mj-lt"/>
              </a:rPr>
              <a:t>AWS DMS can </a:t>
            </a:r>
            <a:r>
              <a:rPr lang="en-US" sz="2000" dirty="0">
                <a:latin typeface="+mj-lt"/>
              </a:rPr>
              <a:t>also be used for Database Consolidation ,  Continuous data replication with high-availability</a:t>
            </a:r>
            <a:endParaRPr lang="en-IN" sz="2000" dirty="0">
              <a:latin typeface="+mj-lt"/>
            </a:endParaRPr>
          </a:p>
          <a:p>
            <a:pPr indent="0"/>
            <a:endParaRPr lang="en-IN" sz="2000" dirty="0">
              <a:latin typeface="+mj-lt"/>
            </a:endParaRPr>
          </a:p>
          <a:p>
            <a:pPr indent="0">
              <a:buNone/>
            </a:pPr>
            <a:endParaRPr lang="en-IN" sz="2000" dirty="0">
              <a:latin typeface="+mj-lt"/>
            </a:endParaRPr>
          </a:p>
        </p:txBody>
      </p:sp>
      <p:sp>
        <p:nvSpPr>
          <p:cNvPr id="3" name="Title 2">
            <a:extLst>
              <a:ext uri="{FF2B5EF4-FFF2-40B4-BE49-F238E27FC236}">
                <a16:creationId xmlns:a16="http://schemas.microsoft.com/office/drawing/2014/main" id="{341B9746-6B96-416B-AD4C-C457E84D6C0C}"/>
              </a:ext>
            </a:extLst>
          </p:cNvPr>
          <p:cNvSpPr>
            <a:spLocks noGrp="1"/>
          </p:cNvSpPr>
          <p:nvPr>
            <p:ph type="title"/>
          </p:nvPr>
        </p:nvSpPr>
        <p:spPr>
          <a:xfrm>
            <a:off x="719403" y="548680"/>
            <a:ext cx="10947400" cy="497415"/>
          </a:xfrm>
        </p:spPr>
        <p:txBody>
          <a:bodyPr>
            <a:normAutofit fontScale="90000"/>
          </a:bodyPr>
          <a:lstStyle/>
          <a:p>
            <a:r>
              <a:rPr lang="en-IN" dirty="0">
                <a:solidFill>
                  <a:schemeClr val="tx1"/>
                </a:solidFill>
              </a:rPr>
              <a:t>How is AWS DMS different ?  </a:t>
            </a:r>
          </a:p>
        </p:txBody>
      </p:sp>
    </p:spTree>
    <p:extLst>
      <p:ext uri="{BB962C8B-B14F-4D97-AF65-F5344CB8AC3E}">
        <p14:creationId xmlns:p14="http://schemas.microsoft.com/office/powerpoint/2010/main" val="253820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7C8529-919D-4697-B86B-B8C74997C8C5}"/>
              </a:ext>
            </a:extLst>
          </p:cNvPr>
          <p:cNvSpPr>
            <a:spLocks noGrp="1"/>
          </p:cNvSpPr>
          <p:nvPr>
            <p:ph type="title"/>
          </p:nvPr>
        </p:nvSpPr>
        <p:spPr/>
        <p:txBody>
          <a:bodyPr>
            <a:normAutofit fontScale="90000"/>
          </a:bodyPr>
          <a:lstStyle/>
          <a:p>
            <a:r>
              <a:rPr lang="en-IN" dirty="0">
                <a:solidFill>
                  <a:schemeClr val="tx1"/>
                </a:solidFill>
              </a:rPr>
              <a:t> AWS  DMS Overview</a:t>
            </a:r>
          </a:p>
        </p:txBody>
      </p:sp>
      <p:pic>
        <p:nvPicPr>
          <p:cNvPr id="4" name="Content Placeholder 3">
            <a:extLst>
              <a:ext uri="{FF2B5EF4-FFF2-40B4-BE49-F238E27FC236}">
                <a16:creationId xmlns:a16="http://schemas.microsoft.com/office/drawing/2014/main" id="{573EF2E8-4E5A-4C4E-9A08-F1252F420946}"/>
              </a:ext>
            </a:extLst>
          </p:cNvPr>
          <p:cNvPicPr>
            <a:picLocks noChangeAspect="1"/>
          </p:cNvPicPr>
          <p:nvPr/>
        </p:nvPicPr>
        <p:blipFill>
          <a:blip r:embed="rId3"/>
          <a:stretch>
            <a:fillRect/>
          </a:stretch>
        </p:blipFill>
        <p:spPr>
          <a:xfrm>
            <a:off x="1631504" y="1652803"/>
            <a:ext cx="7219752" cy="3867981"/>
          </a:xfrm>
          <a:prstGeom prst="rect">
            <a:avLst/>
          </a:prstGeom>
        </p:spPr>
      </p:pic>
    </p:spTree>
    <p:extLst>
      <p:ext uri="{BB962C8B-B14F-4D97-AF65-F5344CB8AC3E}">
        <p14:creationId xmlns:p14="http://schemas.microsoft.com/office/powerpoint/2010/main" val="2924730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6927-EC92-4811-9EB2-1CB1018BDC65}"/>
              </a:ext>
            </a:extLst>
          </p:cNvPr>
          <p:cNvSpPr>
            <a:spLocks noGrp="1"/>
          </p:cNvSpPr>
          <p:nvPr>
            <p:ph type="title"/>
          </p:nvPr>
        </p:nvSpPr>
        <p:spPr/>
        <p:txBody>
          <a:bodyPr>
            <a:normAutofit fontScale="90000"/>
          </a:bodyPr>
          <a:lstStyle/>
          <a:p>
            <a:r>
              <a:rPr lang="en-IN" dirty="0"/>
              <a:t> AWS Services related to AWS DMS</a:t>
            </a:r>
          </a:p>
        </p:txBody>
      </p:sp>
      <p:grpSp>
        <p:nvGrpSpPr>
          <p:cNvPr id="100" name="Group 99">
            <a:extLst>
              <a:ext uri="{FF2B5EF4-FFF2-40B4-BE49-F238E27FC236}">
                <a16:creationId xmlns:a16="http://schemas.microsoft.com/office/drawing/2014/main" id="{F9835EB0-6A8A-4A3E-8D7C-BC1AFF724CD0}"/>
              </a:ext>
            </a:extLst>
          </p:cNvPr>
          <p:cNvGrpSpPr/>
          <p:nvPr/>
        </p:nvGrpSpPr>
        <p:grpSpPr>
          <a:xfrm>
            <a:off x="624418" y="1593851"/>
            <a:ext cx="10943167" cy="4138084"/>
            <a:chOff x="468313" y="1195388"/>
            <a:chExt cx="8207375" cy="3103563"/>
          </a:xfrm>
        </p:grpSpPr>
        <p:sp>
          <p:nvSpPr>
            <p:cNvPr id="82" name="Freeform 80">
              <a:extLst>
                <a:ext uri="{FF2B5EF4-FFF2-40B4-BE49-F238E27FC236}">
                  <a16:creationId xmlns:a16="http://schemas.microsoft.com/office/drawing/2014/main" id="{7B6A9220-FF30-40C7-AE83-5221AAD8388D}"/>
                </a:ext>
              </a:extLst>
            </p:cNvPr>
            <p:cNvSpPr>
              <a:spLocks/>
            </p:cNvSpPr>
            <p:nvPr/>
          </p:nvSpPr>
          <p:spPr bwMode="auto">
            <a:xfrm>
              <a:off x="3854450" y="2778126"/>
              <a:ext cx="387350" cy="552450"/>
            </a:xfrm>
            <a:custGeom>
              <a:avLst/>
              <a:gdLst>
                <a:gd name="T0" fmla="*/ 148 w 352"/>
                <a:gd name="T1" fmla="*/ 0 h 502"/>
                <a:gd name="T2" fmla="*/ 0 w 352"/>
                <a:gd name="T3" fmla="*/ 0 h 502"/>
                <a:gd name="T4" fmla="*/ 277 w 352"/>
                <a:gd name="T5" fmla="*/ 502 h 502"/>
                <a:gd name="T6" fmla="*/ 352 w 352"/>
                <a:gd name="T7" fmla="*/ 373 h 502"/>
                <a:gd name="T8" fmla="*/ 148 w 352"/>
                <a:gd name="T9" fmla="*/ 0 h 502"/>
              </a:gdLst>
              <a:ahLst/>
              <a:cxnLst>
                <a:cxn ang="0">
                  <a:pos x="T0" y="T1"/>
                </a:cxn>
                <a:cxn ang="0">
                  <a:pos x="T2" y="T3"/>
                </a:cxn>
                <a:cxn ang="0">
                  <a:pos x="T4" y="T5"/>
                </a:cxn>
                <a:cxn ang="0">
                  <a:pos x="T6" y="T7"/>
                </a:cxn>
                <a:cxn ang="0">
                  <a:pos x="T8" y="T9"/>
                </a:cxn>
              </a:cxnLst>
              <a:rect l="0" t="0" r="r" b="b"/>
              <a:pathLst>
                <a:path w="352" h="502">
                  <a:moveTo>
                    <a:pt x="148" y="0"/>
                  </a:moveTo>
                  <a:cubicBezTo>
                    <a:pt x="0" y="0"/>
                    <a:pt x="0" y="0"/>
                    <a:pt x="0" y="0"/>
                  </a:cubicBezTo>
                  <a:cubicBezTo>
                    <a:pt x="13" y="207"/>
                    <a:pt x="119" y="388"/>
                    <a:pt x="277" y="502"/>
                  </a:cubicBezTo>
                  <a:cubicBezTo>
                    <a:pt x="352" y="373"/>
                    <a:pt x="352" y="373"/>
                    <a:pt x="352" y="373"/>
                  </a:cubicBezTo>
                  <a:cubicBezTo>
                    <a:pt x="238" y="286"/>
                    <a:pt x="160" y="152"/>
                    <a:pt x="148" y="0"/>
                  </a:cubicBezTo>
                  <a:close/>
                </a:path>
              </a:pathLst>
            </a:custGeom>
            <a:solidFill>
              <a:srgbClr val="47A5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3" name="Freeform 81">
              <a:extLst>
                <a:ext uri="{FF2B5EF4-FFF2-40B4-BE49-F238E27FC236}">
                  <a16:creationId xmlns:a16="http://schemas.microsoft.com/office/drawing/2014/main" id="{3A26A3BE-A189-4E63-969D-F1030F5BE3B4}"/>
                </a:ext>
              </a:extLst>
            </p:cNvPr>
            <p:cNvSpPr>
              <a:spLocks/>
            </p:cNvSpPr>
            <p:nvPr/>
          </p:nvSpPr>
          <p:spPr bwMode="auto">
            <a:xfrm>
              <a:off x="3857625" y="2124076"/>
              <a:ext cx="401638" cy="528638"/>
            </a:xfrm>
            <a:custGeom>
              <a:avLst/>
              <a:gdLst>
                <a:gd name="T0" fmla="*/ 149 w 364"/>
                <a:gd name="T1" fmla="*/ 480 h 480"/>
                <a:gd name="T2" fmla="*/ 364 w 364"/>
                <a:gd name="T3" fmla="*/ 129 h 480"/>
                <a:gd name="T4" fmla="*/ 290 w 364"/>
                <a:gd name="T5" fmla="*/ 0 h 480"/>
                <a:gd name="T6" fmla="*/ 0 w 364"/>
                <a:gd name="T7" fmla="*/ 479 h 480"/>
                <a:gd name="T8" fmla="*/ 149 w 364"/>
                <a:gd name="T9" fmla="*/ 480 h 480"/>
              </a:gdLst>
              <a:ahLst/>
              <a:cxnLst>
                <a:cxn ang="0">
                  <a:pos x="T0" y="T1"/>
                </a:cxn>
                <a:cxn ang="0">
                  <a:pos x="T2" y="T3"/>
                </a:cxn>
                <a:cxn ang="0">
                  <a:pos x="T4" y="T5"/>
                </a:cxn>
                <a:cxn ang="0">
                  <a:pos x="T6" y="T7"/>
                </a:cxn>
                <a:cxn ang="0">
                  <a:pos x="T8" y="T9"/>
                </a:cxn>
              </a:cxnLst>
              <a:rect l="0" t="0" r="r" b="b"/>
              <a:pathLst>
                <a:path w="364" h="480">
                  <a:moveTo>
                    <a:pt x="149" y="480"/>
                  </a:moveTo>
                  <a:cubicBezTo>
                    <a:pt x="170" y="335"/>
                    <a:pt x="250" y="210"/>
                    <a:pt x="364" y="129"/>
                  </a:cubicBezTo>
                  <a:cubicBezTo>
                    <a:pt x="290" y="0"/>
                    <a:pt x="290" y="0"/>
                    <a:pt x="290" y="0"/>
                  </a:cubicBezTo>
                  <a:cubicBezTo>
                    <a:pt x="132" y="107"/>
                    <a:pt x="22" y="280"/>
                    <a:pt x="0" y="479"/>
                  </a:cubicBezTo>
                  <a:lnTo>
                    <a:pt x="149" y="480"/>
                  </a:lnTo>
                  <a:close/>
                </a:path>
              </a:pathLst>
            </a:custGeom>
            <a:solidFill>
              <a:srgbClr val="496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4" name="Freeform 82">
              <a:extLst>
                <a:ext uri="{FF2B5EF4-FFF2-40B4-BE49-F238E27FC236}">
                  <a16:creationId xmlns:a16="http://schemas.microsoft.com/office/drawing/2014/main" id="{92A43E21-0B7E-4581-8DED-BA4CCFA256DD}"/>
                </a:ext>
              </a:extLst>
            </p:cNvPr>
            <p:cNvSpPr>
              <a:spLocks/>
            </p:cNvSpPr>
            <p:nvPr/>
          </p:nvSpPr>
          <p:spPr bwMode="auto">
            <a:xfrm>
              <a:off x="4932363" y="2781301"/>
              <a:ext cx="388938" cy="550863"/>
            </a:xfrm>
            <a:custGeom>
              <a:avLst/>
              <a:gdLst>
                <a:gd name="T0" fmla="*/ 204 w 353"/>
                <a:gd name="T1" fmla="*/ 0 h 500"/>
                <a:gd name="T2" fmla="*/ 0 w 353"/>
                <a:gd name="T3" fmla="*/ 371 h 500"/>
                <a:gd name="T4" fmla="*/ 74 w 353"/>
                <a:gd name="T5" fmla="*/ 500 h 500"/>
                <a:gd name="T6" fmla="*/ 353 w 353"/>
                <a:gd name="T7" fmla="*/ 0 h 500"/>
                <a:gd name="T8" fmla="*/ 204 w 353"/>
                <a:gd name="T9" fmla="*/ 0 h 500"/>
              </a:gdLst>
              <a:ahLst/>
              <a:cxnLst>
                <a:cxn ang="0">
                  <a:pos x="T0" y="T1"/>
                </a:cxn>
                <a:cxn ang="0">
                  <a:pos x="T2" y="T3"/>
                </a:cxn>
                <a:cxn ang="0">
                  <a:pos x="T4" y="T5"/>
                </a:cxn>
                <a:cxn ang="0">
                  <a:pos x="T6" y="T7"/>
                </a:cxn>
                <a:cxn ang="0">
                  <a:pos x="T8" y="T9"/>
                </a:cxn>
              </a:cxnLst>
              <a:rect l="0" t="0" r="r" b="b"/>
              <a:pathLst>
                <a:path w="353" h="500">
                  <a:moveTo>
                    <a:pt x="204" y="0"/>
                  </a:moveTo>
                  <a:cubicBezTo>
                    <a:pt x="192" y="151"/>
                    <a:pt x="114" y="284"/>
                    <a:pt x="0" y="371"/>
                  </a:cubicBezTo>
                  <a:cubicBezTo>
                    <a:pt x="74" y="500"/>
                    <a:pt x="74" y="500"/>
                    <a:pt x="74" y="500"/>
                  </a:cubicBezTo>
                  <a:cubicBezTo>
                    <a:pt x="232" y="387"/>
                    <a:pt x="339" y="206"/>
                    <a:pt x="353" y="0"/>
                  </a:cubicBezTo>
                  <a:lnTo>
                    <a:pt x="204" y="0"/>
                  </a:lnTo>
                  <a:close/>
                </a:path>
              </a:pathLst>
            </a:custGeom>
            <a:solidFill>
              <a:srgbClr val="8177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5" name="Freeform 83">
              <a:extLst>
                <a:ext uri="{FF2B5EF4-FFF2-40B4-BE49-F238E27FC236}">
                  <a16:creationId xmlns:a16="http://schemas.microsoft.com/office/drawing/2014/main" id="{58DDA998-ABF4-4913-B290-A3457C33D8D2}"/>
                </a:ext>
              </a:extLst>
            </p:cNvPr>
            <p:cNvSpPr>
              <a:spLocks/>
            </p:cNvSpPr>
            <p:nvPr/>
          </p:nvSpPr>
          <p:spPr bwMode="auto">
            <a:xfrm>
              <a:off x="4287838" y="1998663"/>
              <a:ext cx="606425" cy="207963"/>
            </a:xfrm>
            <a:custGeom>
              <a:avLst/>
              <a:gdLst>
                <a:gd name="T0" fmla="*/ 74 w 552"/>
                <a:gd name="T1" fmla="*/ 187 h 189"/>
                <a:gd name="T2" fmla="*/ 273 w 552"/>
                <a:gd name="T3" fmla="*/ 148 h 189"/>
                <a:gd name="T4" fmla="*/ 477 w 552"/>
                <a:gd name="T5" fmla="*/ 189 h 189"/>
                <a:gd name="T6" fmla="*/ 552 w 552"/>
                <a:gd name="T7" fmla="*/ 61 h 189"/>
                <a:gd name="T8" fmla="*/ 273 w 552"/>
                <a:gd name="T9" fmla="*/ 0 h 189"/>
                <a:gd name="T10" fmla="*/ 0 w 552"/>
                <a:gd name="T11" fmla="*/ 58 h 189"/>
                <a:gd name="T12" fmla="*/ 74 w 552"/>
                <a:gd name="T13" fmla="*/ 187 h 189"/>
              </a:gdLst>
              <a:ahLst/>
              <a:cxnLst>
                <a:cxn ang="0">
                  <a:pos x="T0" y="T1"/>
                </a:cxn>
                <a:cxn ang="0">
                  <a:pos x="T2" y="T3"/>
                </a:cxn>
                <a:cxn ang="0">
                  <a:pos x="T4" y="T5"/>
                </a:cxn>
                <a:cxn ang="0">
                  <a:pos x="T6" y="T7"/>
                </a:cxn>
                <a:cxn ang="0">
                  <a:pos x="T8" y="T9"/>
                </a:cxn>
                <a:cxn ang="0">
                  <a:pos x="T10" y="T11"/>
                </a:cxn>
                <a:cxn ang="0">
                  <a:pos x="T12" y="T13"/>
                </a:cxn>
              </a:cxnLst>
              <a:rect l="0" t="0" r="r" b="b"/>
              <a:pathLst>
                <a:path w="552" h="189">
                  <a:moveTo>
                    <a:pt x="74" y="187"/>
                  </a:moveTo>
                  <a:cubicBezTo>
                    <a:pt x="135" y="162"/>
                    <a:pt x="203" y="148"/>
                    <a:pt x="273" y="148"/>
                  </a:cubicBezTo>
                  <a:cubicBezTo>
                    <a:pt x="346" y="148"/>
                    <a:pt x="415" y="163"/>
                    <a:pt x="477" y="189"/>
                  </a:cubicBezTo>
                  <a:cubicBezTo>
                    <a:pt x="552" y="61"/>
                    <a:pt x="552" y="61"/>
                    <a:pt x="552" y="61"/>
                  </a:cubicBezTo>
                  <a:cubicBezTo>
                    <a:pt x="467" y="22"/>
                    <a:pt x="373" y="0"/>
                    <a:pt x="273" y="0"/>
                  </a:cubicBezTo>
                  <a:cubicBezTo>
                    <a:pt x="176" y="0"/>
                    <a:pt x="83" y="21"/>
                    <a:pt x="0" y="58"/>
                  </a:cubicBezTo>
                  <a:lnTo>
                    <a:pt x="74" y="187"/>
                  </a:lnTo>
                  <a:close/>
                </a:path>
              </a:pathLst>
            </a:custGeom>
            <a:solidFill>
              <a:srgbClr val="24AC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6" name="Freeform 84">
              <a:extLst>
                <a:ext uri="{FF2B5EF4-FFF2-40B4-BE49-F238E27FC236}">
                  <a16:creationId xmlns:a16="http://schemas.microsoft.com/office/drawing/2014/main" id="{BCF6DFCA-EF0A-4BA9-8D8E-053A1A66AEAD}"/>
                </a:ext>
              </a:extLst>
            </p:cNvPr>
            <p:cNvSpPr>
              <a:spLocks/>
            </p:cNvSpPr>
            <p:nvPr/>
          </p:nvSpPr>
          <p:spPr bwMode="auto">
            <a:xfrm>
              <a:off x="4268788" y="3252788"/>
              <a:ext cx="638175" cy="215900"/>
            </a:xfrm>
            <a:custGeom>
              <a:avLst/>
              <a:gdLst>
                <a:gd name="T0" fmla="*/ 506 w 580"/>
                <a:gd name="T1" fmla="*/ 0 h 195"/>
                <a:gd name="T2" fmla="*/ 290 w 580"/>
                <a:gd name="T3" fmla="*/ 47 h 195"/>
                <a:gd name="T4" fmla="*/ 75 w 580"/>
                <a:gd name="T5" fmla="*/ 0 h 195"/>
                <a:gd name="T6" fmla="*/ 0 w 580"/>
                <a:gd name="T7" fmla="*/ 129 h 195"/>
                <a:gd name="T8" fmla="*/ 290 w 580"/>
                <a:gd name="T9" fmla="*/ 195 h 195"/>
                <a:gd name="T10" fmla="*/ 580 w 580"/>
                <a:gd name="T11" fmla="*/ 129 h 195"/>
                <a:gd name="T12" fmla="*/ 506 w 580"/>
                <a:gd name="T13" fmla="*/ 0 h 195"/>
              </a:gdLst>
              <a:ahLst/>
              <a:cxnLst>
                <a:cxn ang="0">
                  <a:pos x="T0" y="T1"/>
                </a:cxn>
                <a:cxn ang="0">
                  <a:pos x="T2" y="T3"/>
                </a:cxn>
                <a:cxn ang="0">
                  <a:pos x="T4" y="T5"/>
                </a:cxn>
                <a:cxn ang="0">
                  <a:pos x="T6" y="T7"/>
                </a:cxn>
                <a:cxn ang="0">
                  <a:pos x="T8" y="T9"/>
                </a:cxn>
                <a:cxn ang="0">
                  <a:pos x="T10" y="T11"/>
                </a:cxn>
                <a:cxn ang="0">
                  <a:pos x="T12" y="T13"/>
                </a:cxn>
              </a:cxnLst>
              <a:rect l="0" t="0" r="r" b="b"/>
              <a:pathLst>
                <a:path w="580" h="195">
                  <a:moveTo>
                    <a:pt x="506" y="0"/>
                  </a:moveTo>
                  <a:cubicBezTo>
                    <a:pt x="440" y="30"/>
                    <a:pt x="367" y="47"/>
                    <a:pt x="290" y="47"/>
                  </a:cubicBezTo>
                  <a:cubicBezTo>
                    <a:pt x="213" y="47"/>
                    <a:pt x="140" y="30"/>
                    <a:pt x="75" y="0"/>
                  </a:cubicBezTo>
                  <a:cubicBezTo>
                    <a:pt x="0" y="129"/>
                    <a:pt x="0" y="129"/>
                    <a:pt x="0" y="129"/>
                  </a:cubicBezTo>
                  <a:cubicBezTo>
                    <a:pt x="88" y="171"/>
                    <a:pt x="186" y="195"/>
                    <a:pt x="290" y="195"/>
                  </a:cubicBezTo>
                  <a:cubicBezTo>
                    <a:pt x="394" y="195"/>
                    <a:pt x="492" y="171"/>
                    <a:pt x="580" y="129"/>
                  </a:cubicBezTo>
                  <a:lnTo>
                    <a:pt x="506" y="0"/>
                  </a:lnTo>
                  <a:close/>
                </a:path>
              </a:pathLst>
            </a:custGeom>
            <a:solidFill>
              <a:srgbClr val="F25F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7" name="Freeform 85">
              <a:extLst>
                <a:ext uri="{FF2B5EF4-FFF2-40B4-BE49-F238E27FC236}">
                  <a16:creationId xmlns:a16="http://schemas.microsoft.com/office/drawing/2014/main" id="{7BA62896-C56D-43CA-BC64-84009450EE26}"/>
                </a:ext>
              </a:extLst>
            </p:cNvPr>
            <p:cNvSpPr>
              <a:spLocks/>
            </p:cNvSpPr>
            <p:nvPr/>
          </p:nvSpPr>
          <p:spPr bwMode="auto">
            <a:xfrm>
              <a:off x="4921250" y="2127251"/>
              <a:ext cx="396875" cy="528638"/>
            </a:xfrm>
            <a:custGeom>
              <a:avLst/>
              <a:gdLst>
                <a:gd name="T0" fmla="*/ 75 w 360"/>
                <a:gd name="T1" fmla="*/ 0 h 480"/>
                <a:gd name="T2" fmla="*/ 0 w 360"/>
                <a:gd name="T3" fmla="*/ 129 h 480"/>
                <a:gd name="T4" fmla="*/ 211 w 360"/>
                <a:gd name="T5" fmla="*/ 479 h 480"/>
                <a:gd name="T6" fmla="*/ 360 w 360"/>
                <a:gd name="T7" fmla="*/ 480 h 480"/>
                <a:gd name="T8" fmla="*/ 75 w 360"/>
                <a:gd name="T9" fmla="*/ 0 h 480"/>
              </a:gdLst>
              <a:ahLst/>
              <a:cxnLst>
                <a:cxn ang="0">
                  <a:pos x="T0" y="T1"/>
                </a:cxn>
                <a:cxn ang="0">
                  <a:pos x="T2" y="T3"/>
                </a:cxn>
                <a:cxn ang="0">
                  <a:pos x="T4" y="T5"/>
                </a:cxn>
                <a:cxn ang="0">
                  <a:pos x="T6" y="T7"/>
                </a:cxn>
                <a:cxn ang="0">
                  <a:pos x="T8" y="T9"/>
                </a:cxn>
              </a:cxnLst>
              <a:rect l="0" t="0" r="r" b="b"/>
              <a:pathLst>
                <a:path w="360" h="480">
                  <a:moveTo>
                    <a:pt x="75" y="0"/>
                  </a:moveTo>
                  <a:cubicBezTo>
                    <a:pt x="0" y="129"/>
                    <a:pt x="0" y="129"/>
                    <a:pt x="0" y="129"/>
                  </a:cubicBezTo>
                  <a:cubicBezTo>
                    <a:pt x="113" y="210"/>
                    <a:pt x="191" y="335"/>
                    <a:pt x="211" y="479"/>
                  </a:cubicBezTo>
                  <a:cubicBezTo>
                    <a:pt x="360" y="480"/>
                    <a:pt x="360" y="480"/>
                    <a:pt x="360" y="480"/>
                  </a:cubicBezTo>
                  <a:cubicBezTo>
                    <a:pt x="339" y="281"/>
                    <a:pt x="231" y="108"/>
                    <a:pt x="75" y="0"/>
                  </a:cubicBezTo>
                  <a:close/>
                </a:path>
              </a:pathLst>
            </a:custGeom>
            <a:solidFill>
              <a:srgbClr val="F9A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8" name="Freeform 86">
              <a:extLst>
                <a:ext uri="{FF2B5EF4-FFF2-40B4-BE49-F238E27FC236}">
                  <a16:creationId xmlns:a16="http://schemas.microsoft.com/office/drawing/2014/main" id="{3DA1EACA-5B57-45E3-A53D-3A5599A1C402}"/>
                </a:ext>
              </a:extLst>
            </p:cNvPr>
            <p:cNvSpPr>
              <a:spLocks/>
            </p:cNvSpPr>
            <p:nvPr/>
          </p:nvSpPr>
          <p:spPr bwMode="auto">
            <a:xfrm>
              <a:off x="2919413" y="1611313"/>
              <a:ext cx="1319213" cy="646113"/>
            </a:xfrm>
            <a:custGeom>
              <a:avLst/>
              <a:gdLst>
                <a:gd name="T0" fmla="*/ 0 w 831"/>
                <a:gd name="T1" fmla="*/ 0 h 407"/>
                <a:gd name="T2" fmla="*/ 590 w 831"/>
                <a:gd name="T3" fmla="*/ 0 h 407"/>
                <a:gd name="T4" fmla="*/ 594 w 831"/>
                <a:gd name="T5" fmla="*/ 0 h 407"/>
                <a:gd name="T6" fmla="*/ 831 w 831"/>
                <a:gd name="T7" fmla="*/ 407 h 407"/>
              </a:gdLst>
              <a:ahLst/>
              <a:cxnLst>
                <a:cxn ang="0">
                  <a:pos x="T0" y="T1"/>
                </a:cxn>
                <a:cxn ang="0">
                  <a:pos x="T2" y="T3"/>
                </a:cxn>
                <a:cxn ang="0">
                  <a:pos x="T4" y="T5"/>
                </a:cxn>
                <a:cxn ang="0">
                  <a:pos x="T6" y="T7"/>
                </a:cxn>
              </a:cxnLst>
              <a:rect l="0" t="0" r="r" b="b"/>
              <a:pathLst>
                <a:path w="831" h="407">
                  <a:moveTo>
                    <a:pt x="0" y="0"/>
                  </a:moveTo>
                  <a:lnTo>
                    <a:pt x="590" y="0"/>
                  </a:lnTo>
                  <a:lnTo>
                    <a:pt x="594" y="0"/>
                  </a:lnTo>
                  <a:lnTo>
                    <a:pt x="831" y="407"/>
                  </a:lnTo>
                </a:path>
              </a:pathLst>
            </a:custGeom>
            <a:noFill/>
            <a:ln w="25400" cap="rnd">
              <a:solidFill>
                <a:srgbClr val="49637C"/>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89" name="Freeform 87">
              <a:extLst>
                <a:ext uri="{FF2B5EF4-FFF2-40B4-BE49-F238E27FC236}">
                  <a16:creationId xmlns:a16="http://schemas.microsoft.com/office/drawing/2014/main" id="{0FB84977-4AEB-4CCD-BABC-C037424D92DA}"/>
                </a:ext>
              </a:extLst>
            </p:cNvPr>
            <p:cNvSpPr>
              <a:spLocks/>
            </p:cNvSpPr>
            <p:nvPr/>
          </p:nvSpPr>
          <p:spPr bwMode="auto">
            <a:xfrm>
              <a:off x="2919413" y="3290888"/>
              <a:ext cx="1423988" cy="644525"/>
            </a:xfrm>
            <a:custGeom>
              <a:avLst/>
              <a:gdLst>
                <a:gd name="T0" fmla="*/ 0 w 897"/>
                <a:gd name="T1" fmla="*/ 406 h 406"/>
                <a:gd name="T2" fmla="*/ 656 w 897"/>
                <a:gd name="T3" fmla="*/ 406 h 406"/>
                <a:gd name="T4" fmla="*/ 660 w 897"/>
                <a:gd name="T5" fmla="*/ 406 h 406"/>
                <a:gd name="T6" fmla="*/ 897 w 897"/>
                <a:gd name="T7" fmla="*/ 0 h 406"/>
              </a:gdLst>
              <a:ahLst/>
              <a:cxnLst>
                <a:cxn ang="0">
                  <a:pos x="T0" y="T1"/>
                </a:cxn>
                <a:cxn ang="0">
                  <a:pos x="T2" y="T3"/>
                </a:cxn>
                <a:cxn ang="0">
                  <a:pos x="T4" y="T5"/>
                </a:cxn>
                <a:cxn ang="0">
                  <a:pos x="T6" y="T7"/>
                </a:cxn>
              </a:cxnLst>
              <a:rect l="0" t="0" r="r" b="b"/>
              <a:pathLst>
                <a:path w="897" h="406">
                  <a:moveTo>
                    <a:pt x="0" y="406"/>
                  </a:moveTo>
                  <a:lnTo>
                    <a:pt x="656" y="406"/>
                  </a:lnTo>
                  <a:lnTo>
                    <a:pt x="660" y="406"/>
                  </a:lnTo>
                  <a:lnTo>
                    <a:pt x="897" y="0"/>
                  </a:lnTo>
                </a:path>
              </a:pathLst>
            </a:custGeom>
            <a:noFill/>
            <a:ln w="25400" cap="rnd">
              <a:solidFill>
                <a:srgbClr val="F25F67"/>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90" name="Line 88">
              <a:extLst>
                <a:ext uri="{FF2B5EF4-FFF2-40B4-BE49-F238E27FC236}">
                  <a16:creationId xmlns:a16="http://schemas.microsoft.com/office/drawing/2014/main" id="{D162A0FF-D3DF-455C-94F4-F39BA9404577}"/>
                </a:ext>
              </a:extLst>
            </p:cNvPr>
            <p:cNvSpPr>
              <a:spLocks noChangeShapeType="1"/>
            </p:cNvSpPr>
            <p:nvPr/>
          </p:nvSpPr>
          <p:spPr bwMode="auto">
            <a:xfrm flipH="1">
              <a:off x="2527300" y="2790826"/>
              <a:ext cx="1330325" cy="0"/>
            </a:xfrm>
            <a:prstGeom prst="line">
              <a:avLst/>
            </a:prstGeom>
            <a:noFill/>
            <a:ln w="25400" cap="rnd">
              <a:solidFill>
                <a:srgbClr val="47A5D9"/>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91" name="Freeform 89">
              <a:extLst>
                <a:ext uri="{FF2B5EF4-FFF2-40B4-BE49-F238E27FC236}">
                  <a16:creationId xmlns:a16="http://schemas.microsoft.com/office/drawing/2014/main" id="{7CB6F74E-563D-413A-AD42-9B548C807342}"/>
                </a:ext>
              </a:extLst>
            </p:cNvPr>
            <p:cNvSpPr>
              <a:spLocks/>
            </p:cNvSpPr>
            <p:nvPr/>
          </p:nvSpPr>
          <p:spPr bwMode="auto">
            <a:xfrm>
              <a:off x="855663" y="1247776"/>
              <a:ext cx="2128838" cy="727075"/>
            </a:xfrm>
            <a:custGeom>
              <a:avLst/>
              <a:gdLst>
                <a:gd name="T0" fmla="*/ 1888 w 1936"/>
                <a:gd name="T1" fmla="*/ 660 h 660"/>
                <a:gd name="T2" fmla="*/ 48 w 1936"/>
                <a:gd name="T3" fmla="*/ 660 h 660"/>
                <a:gd name="T4" fmla="*/ 0 w 1936"/>
                <a:gd name="T5" fmla="*/ 612 h 660"/>
                <a:gd name="T6" fmla="*/ 0 w 1936"/>
                <a:gd name="T7" fmla="*/ 48 h 660"/>
                <a:gd name="T8" fmla="*/ 48 w 1936"/>
                <a:gd name="T9" fmla="*/ 0 h 660"/>
                <a:gd name="T10" fmla="*/ 1888 w 1936"/>
                <a:gd name="T11" fmla="*/ 0 h 660"/>
                <a:gd name="T12" fmla="*/ 1936 w 1936"/>
                <a:gd name="T13" fmla="*/ 48 h 660"/>
                <a:gd name="T14" fmla="*/ 1936 w 1936"/>
                <a:gd name="T15" fmla="*/ 612 h 660"/>
                <a:gd name="T16" fmla="*/ 1888 w 1936"/>
                <a:gd name="T17" fmla="*/ 66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1888" y="660"/>
                  </a:moveTo>
                  <a:cubicBezTo>
                    <a:pt x="48" y="660"/>
                    <a:pt x="48" y="660"/>
                    <a:pt x="48" y="660"/>
                  </a:cubicBezTo>
                  <a:cubicBezTo>
                    <a:pt x="21" y="660"/>
                    <a:pt x="0" y="639"/>
                    <a:pt x="0" y="612"/>
                  </a:cubicBezTo>
                  <a:cubicBezTo>
                    <a:pt x="0" y="48"/>
                    <a:pt x="0" y="48"/>
                    <a:pt x="0" y="48"/>
                  </a:cubicBezTo>
                  <a:cubicBezTo>
                    <a:pt x="0" y="22"/>
                    <a:pt x="21" y="0"/>
                    <a:pt x="48" y="0"/>
                  </a:cubicBezTo>
                  <a:cubicBezTo>
                    <a:pt x="1888" y="0"/>
                    <a:pt x="1888" y="0"/>
                    <a:pt x="1888" y="0"/>
                  </a:cubicBezTo>
                  <a:cubicBezTo>
                    <a:pt x="1914" y="0"/>
                    <a:pt x="1936" y="22"/>
                    <a:pt x="1936" y="48"/>
                  </a:cubicBezTo>
                  <a:cubicBezTo>
                    <a:pt x="1936" y="612"/>
                    <a:pt x="1936" y="612"/>
                    <a:pt x="1936" y="612"/>
                  </a:cubicBezTo>
                  <a:cubicBezTo>
                    <a:pt x="1936" y="639"/>
                    <a:pt x="1914" y="660"/>
                    <a:pt x="1888" y="660"/>
                  </a:cubicBezTo>
                  <a:close/>
                </a:path>
              </a:pathLst>
            </a:custGeom>
            <a:solidFill>
              <a:srgbClr val="49637C"/>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FFFF"/>
                  </a:solidFill>
                  <a:effectLst/>
                  <a:uLnTx/>
                  <a:uFillTx/>
                  <a:latin typeface="Calibri" panose="020F0502020204030204"/>
                  <a:ea typeface="+mn-ea"/>
                  <a:cs typeface="+mn-cs"/>
                </a:rPr>
                <a:t>   AWS RDS &amp; Dynamo DB</a:t>
              </a:r>
            </a:p>
          </p:txBody>
        </p:sp>
        <p:sp>
          <p:nvSpPr>
            <p:cNvPr id="92" name="Freeform 90">
              <a:extLst>
                <a:ext uri="{FF2B5EF4-FFF2-40B4-BE49-F238E27FC236}">
                  <a16:creationId xmlns:a16="http://schemas.microsoft.com/office/drawing/2014/main" id="{FB498069-C74E-443F-9791-A0FD10D5C91B}"/>
                </a:ext>
              </a:extLst>
            </p:cNvPr>
            <p:cNvSpPr>
              <a:spLocks/>
            </p:cNvSpPr>
            <p:nvPr/>
          </p:nvSpPr>
          <p:spPr bwMode="auto">
            <a:xfrm>
              <a:off x="855663" y="3573463"/>
              <a:ext cx="2128838" cy="725488"/>
            </a:xfrm>
            <a:custGeom>
              <a:avLst/>
              <a:gdLst>
                <a:gd name="T0" fmla="*/ 1888 w 1936"/>
                <a:gd name="T1" fmla="*/ 660 h 660"/>
                <a:gd name="T2" fmla="*/ 48 w 1936"/>
                <a:gd name="T3" fmla="*/ 660 h 660"/>
                <a:gd name="T4" fmla="*/ 0 w 1936"/>
                <a:gd name="T5" fmla="*/ 612 h 660"/>
                <a:gd name="T6" fmla="*/ 0 w 1936"/>
                <a:gd name="T7" fmla="*/ 48 h 660"/>
                <a:gd name="T8" fmla="*/ 48 w 1936"/>
                <a:gd name="T9" fmla="*/ 0 h 660"/>
                <a:gd name="T10" fmla="*/ 1888 w 1936"/>
                <a:gd name="T11" fmla="*/ 0 h 660"/>
                <a:gd name="T12" fmla="*/ 1936 w 1936"/>
                <a:gd name="T13" fmla="*/ 48 h 660"/>
                <a:gd name="T14" fmla="*/ 1936 w 1936"/>
                <a:gd name="T15" fmla="*/ 612 h 660"/>
                <a:gd name="T16" fmla="*/ 1888 w 1936"/>
                <a:gd name="T17" fmla="*/ 66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1888" y="660"/>
                  </a:moveTo>
                  <a:cubicBezTo>
                    <a:pt x="48" y="660"/>
                    <a:pt x="48" y="660"/>
                    <a:pt x="48" y="660"/>
                  </a:cubicBezTo>
                  <a:cubicBezTo>
                    <a:pt x="21" y="660"/>
                    <a:pt x="0" y="638"/>
                    <a:pt x="0" y="612"/>
                  </a:cubicBezTo>
                  <a:cubicBezTo>
                    <a:pt x="0" y="48"/>
                    <a:pt x="0" y="48"/>
                    <a:pt x="0" y="48"/>
                  </a:cubicBezTo>
                  <a:cubicBezTo>
                    <a:pt x="0" y="21"/>
                    <a:pt x="21" y="0"/>
                    <a:pt x="48" y="0"/>
                  </a:cubicBezTo>
                  <a:cubicBezTo>
                    <a:pt x="1888" y="0"/>
                    <a:pt x="1888" y="0"/>
                    <a:pt x="1888" y="0"/>
                  </a:cubicBezTo>
                  <a:cubicBezTo>
                    <a:pt x="1914" y="0"/>
                    <a:pt x="1936" y="21"/>
                    <a:pt x="1936" y="48"/>
                  </a:cubicBezTo>
                  <a:cubicBezTo>
                    <a:pt x="1936" y="612"/>
                    <a:pt x="1936" y="612"/>
                    <a:pt x="1936" y="612"/>
                  </a:cubicBezTo>
                  <a:cubicBezTo>
                    <a:pt x="1936" y="638"/>
                    <a:pt x="1914" y="660"/>
                    <a:pt x="1888" y="660"/>
                  </a:cubicBezTo>
                  <a:close/>
                </a:path>
              </a:pathLst>
            </a:custGeom>
            <a:solidFill>
              <a:srgbClr val="F25F67"/>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AWS CloudFormation (IAC) Services</a:t>
              </a:r>
            </a:p>
          </p:txBody>
        </p:sp>
        <p:sp>
          <p:nvSpPr>
            <p:cNvPr id="93" name="Freeform 91">
              <a:extLst>
                <a:ext uri="{FF2B5EF4-FFF2-40B4-BE49-F238E27FC236}">
                  <a16:creationId xmlns:a16="http://schemas.microsoft.com/office/drawing/2014/main" id="{DECE602A-1482-45E2-875B-B1F51B94BA91}"/>
                </a:ext>
              </a:extLst>
            </p:cNvPr>
            <p:cNvSpPr>
              <a:spLocks/>
            </p:cNvSpPr>
            <p:nvPr/>
          </p:nvSpPr>
          <p:spPr bwMode="auto">
            <a:xfrm>
              <a:off x="468313" y="2427288"/>
              <a:ext cx="2128838" cy="727075"/>
            </a:xfrm>
            <a:custGeom>
              <a:avLst/>
              <a:gdLst>
                <a:gd name="T0" fmla="*/ 1888 w 1936"/>
                <a:gd name="T1" fmla="*/ 660 h 660"/>
                <a:gd name="T2" fmla="*/ 48 w 1936"/>
                <a:gd name="T3" fmla="*/ 660 h 660"/>
                <a:gd name="T4" fmla="*/ 0 w 1936"/>
                <a:gd name="T5" fmla="*/ 612 h 660"/>
                <a:gd name="T6" fmla="*/ 0 w 1936"/>
                <a:gd name="T7" fmla="*/ 48 h 660"/>
                <a:gd name="T8" fmla="*/ 48 w 1936"/>
                <a:gd name="T9" fmla="*/ 0 h 660"/>
                <a:gd name="T10" fmla="*/ 1888 w 1936"/>
                <a:gd name="T11" fmla="*/ 0 h 660"/>
                <a:gd name="T12" fmla="*/ 1936 w 1936"/>
                <a:gd name="T13" fmla="*/ 48 h 660"/>
                <a:gd name="T14" fmla="*/ 1936 w 1936"/>
                <a:gd name="T15" fmla="*/ 612 h 660"/>
                <a:gd name="T16" fmla="*/ 1888 w 1936"/>
                <a:gd name="T17" fmla="*/ 66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1888" y="660"/>
                  </a:moveTo>
                  <a:cubicBezTo>
                    <a:pt x="48" y="660"/>
                    <a:pt x="48" y="660"/>
                    <a:pt x="48" y="660"/>
                  </a:cubicBezTo>
                  <a:cubicBezTo>
                    <a:pt x="21" y="660"/>
                    <a:pt x="0" y="638"/>
                    <a:pt x="0" y="612"/>
                  </a:cubicBezTo>
                  <a:cubicBezTo>
                    <a:pt x="0" y="48"/>
                    <a:pt x="0" y="48"/>
                    <a:pt x="0" y="48"/>
                  </a:cubicBezTo>
                  <a:cubicBezTo>
                    <a:pt x="0" y="21"/>
                    <a:pt x="21" y="0"/>
                    <a:pt x="48" y="0"/>
                  </a:cubicBezTo>
                  <a:cubicBezTo>
                    <a:pt x="1888" y="0"/>
                    <a:pt x="1888" y="0"/>
                    <a:pt x="1888" y="0"/>
                  </a:cubicBezTo>
                  <a:cubicBezTo>
                    <a:pt x="1914" y="0"/>
                    <a:pt x="1936" y="21"/>
                    <a:pt x="1936" y="48"/>
                  </a:cubicBezTo>
                  <a:cubicBezTo>
                    <a:pt x="1936" y="612"/>
                    <a:pt x="1936" y="612"/>
                    <a:pt x="1936" y="612"/>
                  </a:cubicBezTo>
                  <a:cubicBezTo>
                    <a:pt x="1936" y="638"/>
                    <a:pt x="1914" y="660"/>
                    <a:pt x="1888" y="660"/>
                  </a:cubicBezTo>
                  <a:close/>
                </a:path>
              </a:pathLst>
            </a:custGeom>
            <a:solidFill>
              <a:srgbClr val="47A5D9"/>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rPr>
                <a:t>AWS RedShift</a:t>
              </a:r>
            </a:p>
          </p:txBody>
        </p:sp>
        <p:sp>
          <p:nvSpPr>
            <p:cNvPr id="94" name="Freeform 92">
              <a:extLst>
                <a:ext uri="{FF2B5EF4-FFF2-40B4-BE49-F238E27FC236}">
                  <a16:creationId xmlns:a16="http://schemas.microsoft.com/office/drawing/2014/main" id="{827470AB-369A-4F37-80FD-870A48764A6E}"/>
                </a:ext>
              </a:extLst>
            </p:cNvPr>
            <p:cNvSpPr>
              <a:spLocks/>
            </p:cNvSpPr>
            <p:nvPr/>
          </p:nvSpPr>
          <p:spPr bwMode="auto">
            <a:xfrm>
              <a:off x="4953000" y="3198813"/>
              <a:ext cx="1320800" cy="646113"/>
            </a:xfrm>
            <a:custGeom>
              <a:avLst/>
              <a:gdLst>
                <a:gd name="T0" fmla="*/ 832 w 832"/>
                <a:gd name="T1" fmla="*/ 407 h 407"/>
                <a:gd name="T2" fmla="*/ 242 w 832"/>
                <a:gd name="T3" fmla="*/ 407 h 407"/>
                <a:gd name="T4" fmla="*/ 237 w 832"/>
                <a:gd name="T5" fmla="*/ 407 h 407"/>
                <a:gd name="T6" fmla="*/ 0 w 832"/>
                <a:gd name="T7" fmla="*/ 0 h 407"/>
              </a:gdLst>
              <a:ahLst/>
              <a:cxnLst>
                <a:cxn ang="0">
                  <a:pos x="T0" y="T1"/>
                </a:cxn>
                <a:cxn ang="0">
                  <a:pos x="T2" y="T3"/>
                </a:cxn>
                <a:cxn ang="0">
                  <a:pos x="T4" y="T5"/>
                </a:cxn>
                <a:cxn ang="0">
                  <a:pos x="T6" y="T7"/>
                </a:cxn>
              </a:cxnLst>
              <a:rect l="0" t="0" r="r" b="b"/>
              <a:pathLst>
                <a:path w="832" h="407">
                  <a:moveTo>
                    <a:pt x="832" y="407"/>
                  </a:moveTo>
                  <a:lnTo>
                    <a:pt x="242" y="407"/>
                  </a:lnTo>
                  <a:lnTo>
                    <a:pt x="237" y="407"/>
                  </a:lnTo>
                  <a:lnTo>
                    <a:pt x="0" y="0"/>
                  </a:lnTo>
                </a:path>
              </a:pathLst>
            </a:custGeom>
            <a:noFill/>
            <a:ln w="25400" cap="rnd">
              <a:solidFill>
                <a:srgbClr val="81779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95" name="Freeform 93">
              <a:extLst>
                <a:ext uri="{FF2B5EF4-FFF2-40B4-BE49-F238E27FC236}">
                  <a16:creationId xmlns:a16="http://schemas.microsoft.com/office/drawing/2014/main" id="{903F51BA-F649-450D-ADA2-C7A9CDC6C202}"/>
                </a:ext>
              </a:extLst>
            </p:cNvPr>
            <p:cNvSpPr>
              <a:spLocks/>
            </p:cNvSpPr>
            <p:nvPr/>
          </p:nvSpPr>
          <p:spPr bwMode="auto">
            <a:xfrm>
              <a:off x="4806950" y="1543051"/>
              <a:ext cx="1423988" cy="646113"/>
            </a:xfrm>
            <a:custGeom>
              <a:avLst/>
              <a:gdLst>
                <a:gd name="T0" fmla="*/ 897 w 897"/>
                <a:gd name="T1" fmla="*/ 0 h 407"/>
                <a:gd name="T2" fmla="*/ 241 w 897"/>
                <a:gd name="T3" fmla="*/ 0 h 407"/>
                <a:gd name="T4" fmla="*/ 237 w 897"/>
                <a:gd name="T5" fmla="*/ 0 h 407"/>
                <a:gd name="T6" fmla="*/ 0 w 897"/>
                <a:gd name="T7" fmla="*/ 407 h 407"/>
              </a:gdLst>
              <a:ahLst/>
              <a:cxnLst>
                <a:cxn ang="0">
                  <a:pos x="T0" y="T1"/>
                </a:cxn>
                <a:cxn ang="0">
                  <a:pos x="T2" y="T3"/>
                </a:cxn>
                <a:cxn ang="0">
                  <a:pos x="T4" y="T5"/>
                </a:cxn>
                <a:cxn ang="0">
                  <a:pos x="T6" y="T7"/>
                </a:cxn>
              </a:cxnLst>
              <a:rect l="0" t="0" r="r" b="b"/>
              <a:pathLst>
                <a:path w="897" h="407">
                  <a:moveTo>
                    <a:pt x="897" y="0"/>
                  </a:moveTo>
                  <a:lnTo>
                    <a:pt x="241" y="0"/>
                  </a:lnTo>
                  <a:lnTo>
                    <a:pt x="237" y="0"/>
                  </a:lnTo>
                  <a:lnTo>
                    <a:pt x="0" y="407"/>
                  </a:lnTo>
                </a:path>
              </a:pathLst>
            </a:custGeom>
            <a:noFill/>
            <a:ln w="25400" cap="rnd">
              <a:solidFill>
                <a:srgbClr val="24ACB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96" name="Line 94">
              <a:extLst>
                <a:ext uri="{FF2B5EF4-FFF2-40B4-BE49-F238E27FC236}">
                  <a16:creationId xmlns:a16="http://schemas.microsoft.com/office/drawing/2014/main" id="{F630E0B5-53E0-4824-B36F-80DA9E87DEDD}"/>
                </a:ext>
              </a:extLst>
            </p:cNvPr>
            <p:cNvSpPr>
              <a:spLocks noChangeShapeType="1"/>
            </p:cNvSpPr>
            <p:nvPr/>
          </p:nvSpPr>
          <p:spPr bwMode="auto">
            <a:xfrm>
              <a:off x="5286375" y="2643188"/>
              <a:ext cx="1330325" cy="0"/>
            </a:xfrm>
            <a:prstGeom prst="line">
              <a:avLst/>
            </a:prstGeom>
            <a:noFill/>
            <a:ln w="25400" cap="rnd">
              <a:solidFill>
                <a:srgbClr val="F9A44A"/>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5F5F5F"/>
                </a:solidFill>
                <a:effectLst/>
                <a:uLnTx/>
                <a:uFillTx/>
                <a:latin typeface="Calibri" panose="020F0502020204030204"/>
                <a:ea typeface="+mn-ea"/>
                <a:cs typeface="+mn-cs"/>
              </a:endParaRPr>
            </a:p>
          </p:txBody>
        </p:sp>
        <p:sp>
          <p:nvSpPr>
            <p:cNvPr id="97" name="Freeform 95">
              <a:extLst>
                <a:ext uri="{FF2B5EF4-FFF2-40B4-BE49-F238E27FC236}">
                  <a16:creationId xmlns:a16="http://schemas.microsoft.com/office/drawing/2014/main" id="{A96A78C6-AC50-45DE-A29B-DEBE68E613A0}"/>
                </a:ext>
              </a:extLst>
            </p:cNvPr>
            <p:cNvSpPr>
              <a:spLocks/>
            </p:cNvSpPr>
            <p:nvPr/>
          </p:nvSpPr>
          <p:spPr bwMode="auto">
            <a:xfrm>
              <a:off x="6143625" y="3481388"/>
              <a:ext cx="2130425" cy="727075"/>
            </a:xfrm>
            <a:custGeom>
              <a:avLst/>
              <a:gdLst>
                <a:gd name="T0" fmla="*/ 48 w 1936"/>
                <a:gd name="T1" fmla="*/ 0 h 660"/>
                <a:gd name="T2" fmla="*/ 1888 w 1936"/>
                <a:gd name="T3" fmla="*/ 0 h 660"/>
                <a:gd name="T4" fmla="*/ 1936 w 1936"/>
                <a:gd name="T5" fmla="*/ 48 h 660"/>
                <a:gd name="T6" fmla="*/ 1936 w 1936"/>
                <a:gd name="T7" fmla="*/ 612 h 660"/>
                <a:gd name="T8" fmla="*/ 1888 w 1936"/>
                <a:gd name="T9" fmla="*/ 660 h 660"/>
                <a:gd name="T10" fmla="*/ 48 w 1936"/>
                <a:gd name="T11" fmla="*/ 660 h 660"/>
                <a:gd name="T12" fmla="*/ 0 w 1936"/>
                <a:gd name="T13" fmla="*/ 612 h 660"/>
                <a:gd name="T14" fmla="*/ 0 w 1936"/>
                <a:gd name="T15" fmla="*/ 48 h 660"/>
                <a:gd name="T16" fmla="*/ 48 w 1936"/>
                <a:gd name="T17"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48" y="0"/>
                  </a:moveTo>
                  <a:cubicBezTo>
                    <a:pt x="1888" y="0"/>
                    <a:pt x="1888" y="0"/>
                    <a:pt x="1888" y="0"/>
                  </a:cubicBezTo>
                  <a:cubicBezTo>
                    <a:pt x="1914" y="0"/>
                    <a:pt x="1936" y="22"/>
                    <a:pt x="1936" y="48"/>
                  </a:cubicBezTo>
                  <a:cubicBezTo>
                    <a:pt x="1936" y="612"/>
                    <a:pt x="1936" y="612"/>
                    <a:pt x="1936" y="612"/>
                  </a:cubicBezTo>
                  <a:cubicBezTo>
                    <a:pt x="1936" y="639"/>
                    <a:pt x="1914" y="660"/>
                    <a:pt x="1888" y="660"/>
                  </a:cubicBezTo>
                  <a:cubicBezTo>
                    <a:pt x="48" y="660"/>
                    <a:pt x="48" y="660"/>
                    <a:pt x="48" y="660"/>
                  </a:cubicBezTo>
                  <a:cubicBezTo>
                    <a:pt x="21" y="660"/>
                    <a:pt x="0" y="639"/>
                    <a:pt x="0" y="612"/>
                  </a:cubicBezTo>
                  <a:cubicBezTo>
                    <a:pt x="0" y="48"/>
                    <a:pt x="0" y="48"/>
                    <a:pt x="0" y="48"/>
                  </a:cubicBezTo>
                  <a:cubicBezTo>
                    <a:pt x="0" y="22"/>
                    <a:pt x="21" y="0"/>
                    <a:pt x="48" y="0"/>
                  </a:cubicBezTo>
                  <a:close/>
                </a:path>
              </a:pathLst>
            </a:custGeom>
            <a:solidFill>
              <a:srgbClr val="817799"/>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AWS Migration Hub</a:t>
              </a:r>
            </a:p>
          </p:txBody>
        </p:sp>
        <p:sp>
          <p:nvSpPr>
            <p:cNvPr id="98" name="Freeform 96">
              <a:extLst>
                <a:ext uri="{FF2B5EF4-FFF2-40B4-BE49-F238E27FC236}">
                  <a16:creationId xmlns:a16="http://schemas.microsoft.com/office/drawing/2014/main" id="{5480F5A2-3F2D-4EC7-9561-AD1C55A0662A}"/>
                </a:ext>
              </a:extLst>
            </p:cNvPr>
            <p:cNvSpPr>
              <a:spLocks/>
            </p:cNvSpPr>
            <p:nvPr/>
          </p:nvSpPr>
          <p:spPr bwMode="auto">
            <a:xfrm>
              <a:off x="6143625" y="1195388"/>
              <a:ext cx="2130425" cy="727075"/>
            </a:xfrm>
            <a:custGeom>
              <a:avLst/>
              <a:gdLst>
                <a:gd name="T0" fmla="*/ 48 w 1936"/>
                <a:gd name="T1" fmla="*/ 0 h 660"/>
                <a:gd name="T2" fmla="*/ 1888 w 1936"/>
                <a:gd name="T3" fmla="*/ 0 h 660"/>
                <a:gd name="T4" fmla="*/ 1936 w 1936"/>
                <a:gd name="T5" fmla="*/ 48 h 660"/>
                <a:gd name="T6" fmla="*/ 1936 w 1936"/>
                <a:gd name="T7" fmla="*/ 612 h 660"/>
                <a:gd name="T8" fmla="*/ 1888 w 1936"/>
                <a:gd name="T9" fmla="*/ 660 h 660"/>
                <a:gd name="T10" fmla="*/ 48 w 1936"/>
                <a:gd name="T11" fmla="*/ 660 h 660"/>
                <a:gd name="T12" fmla="*/ 0 w 1936"/>
                <a:gd name="T13" fmla="*/ 612 h 660"/>
                <a:gd name="T14" fmla="*/ 0 w 1936"/>
                <a:gd name="T15" fmla="*/ 48 h 660"/>
                <a:gd name="T16" fmla="*/ 48 w 1936"/>
                <a:gd name="T17"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48" y="0"/>
                  </a:moveTo>
                  <a:cubicBezTo>
                    <a:pt x="1888" y="0"/>
                    <a:pt x="1888" y="0"/>
                    <a:pt x="1888" y="0"/>
                  </a:cubicBezTo>
                  <a:cubicBezTo>
                    <a:pt x="1914" y="0"/>
                    <a:pt x="1936" y="22"/>
                    <a:pt x="1936" y="48"/>
                  </a:cubicBezTo>
                  <a:cubicBezTo>
                    <a:pt x="1936" y="612"/>
                    <a:pt x="1936" y="612"/>
                    <a:pt x="1936" y="612"/>
                  </a:cubicBezTo>
                  <a:cubicBezTo>
                    <a:pt x="1936" y="638"/>
                    <a:pt x="1914" y="660"/>
                    <a:pt x="1888" y="660"/>
                  </a:cubicBezTo>
                  <a:cubicBezTo>
                    <a:pt x="48" y="660"/>
                    <a:pt x="48" y="660"/>
                    <a:pt x="48" y="660"/>
                  </a:cubicBezTo>
                  <a:cubicBezTo>
                    <a:pt x="21" y="660"/>
                    <a:pt x="0" y="638"/>
                    <a:pt x="0" y="612"/>
                  </a:cubicBezTo>
                  <a:cubicBezTo>
                    <a:pt x="0" y="48"/>
                    <a:pt x="0" y="48"/>
                    <a:pt x="0" y="48"/>
                  </a:cubicBezTo>
                  <a:cubicBezTo>
                    <a:pt x="0" y="22"/>
                    <a:pt x="21" y="0"/>
                    <a:pt x="48" y="0"/>
                  </a:cubicBezTo>
                  <a:close/>
                </a:path>
              </a:pathLst>
            </a:custGeom>
            <a:solidFill>
              <a:srgbClr val="24ACB4"/>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2133" b="0" i="0" u="none" strike="noStrike" kern="1200" cap="none" spc="0" normalizeH="0" baseline="0" noProof="0" dirty="0">
                  <a:ln>
                    <a:noFill/>
                  </a:ln>
                  <a:solidFill>
                    <a:prstClr val="white"/>
                  </a:solidFill>
                  <a:effectLst/>
                  <a:uLnTx/>
                  <a:uFillTx/>
                  <a:latin typeface="Calibri" panose="020F0502020204030204"/>
                  <a:ea typeface="+mn-ea"/>
                  <a:cs typeface="+mn-cs"/>
                </a:rPr>
                <a:t>AWS Snowball Edge</a:t>
              </a:r>
            </a:p>
          </p:txBody>
        </p:sp>
        <p:sp>
          <p:nvSpPr>
            <p:cNvPr id="99" name="Freeform 97">
              <a:extLst>
                <a:ext uri="{FF2B5EF4-FFF2-40B4-BE49-F238E27FC236}">
                  <a16:creationId xmlns:a16="http://schemas.microsoft.com/office/drawing/2014/main" id="{9939C9B5-86AB-4886-A13B-5EE04FE5488C}"/>
                </a:ext>
              </a:extLst>
            </p:cNvPr>
            <p:cNvSpPr>
              <a:spLocks/>
            </p:cNvSpPr>
            <p:nvPr/>
          </p:nvSpPr>
          <p:spPr bwMode="auto">
            <a:xfrm>
              <a:off x="6546850" y="2279651"/>
              <a:ext cx="2128838" cy="727075"/>
            </a:xfrm>
            <a:custGeom>
              <a:avLst/>
              <a:gdLst>
                <a:gd name="T0" fmla="*/ 48 w 1936"/>
                <a:gd name="T1" fmla="*/ 0 h 660"/>
                <a:gd name="T2" fmla="*/ 1888 w 1936"/>
                <a:gd name="T3" fmla="*/ 0 h 660"/>
                <a:gd name="T4" fmla="*/ 1936 w 1936"/>
                <a:gd name="T5" fmla="*/ 48 h 660"/>
                <a:gd name="T6" fmla="*/ 1936 w 1936"/>
                <a:gd name="T7" fmla="*/ 612 h 660"/>
                <a:gd name="T8" fmla="*/ 1888 w 1936"/>
                <a:gd name="T9" fmla="*/ 660 h 660"/>
                <a:gd name="T10" fmla="*/ 48 w 1936"/>
                <a:gd name="T11" fmla="*/ 660 h 660"/>
                <a:gd name="T12" fmla="*/ 0 w 1936"/>
                <a:gd name="T13" fmla="*/ 612 h 660"/>
                <a:gd name="T14" fmla="*/ 0 w 1936"/>
                <a:gd name="T15" fmla="*/ 48 h 660"/>
                <a:gd name="T16" fmla="*/ 48 w 1936"/>
                <a:gd name="T17"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660">
                  <a:moveTo>
                    <a:pt x="48" y="0"/>
                  </a:moveTo>
                  <a:cubicBezTo>
                    <a:pt x="1888" y="0"/>
                    <a:pt x="1888" y="0"/>
                    <a:pt x="1888" y="0"/>
                  </a:cubicBezTo>
                  <a:cubicBezTo>
                    <a:pt x="1915" y="0"/>
                    <a:pt x="1936" y="21"/>
                    <a:pt x="1936" y="48"/>
                  </a:cubicBezTo>
                  <a:cubicBezTo>
                    <a:pt x="1936" y="612"/>
                    <a:pt x="1936" y="612"/>
                    <a:pt x="1936" y="612"/>
                  </a:cubicBezTo>
                  <a:cubicBezTo>
                    <a:pt x="1936" y="638"/>
                    <a:pt x="1915" y="660"/>
                    <a:pt x="1888" y="660"/>
                  </a:cubicBezTo>
                  <a:cubicBezTo>
                    <a:pt x="48" y="660"/>
                    <a:pt x="48" y="660"/>
                    <a:pt x="48" y="660"/>
                  </a:cubicBezTo>
                  <a:cubicBezTo>
                    <a:pt x="22" y="660"/>
                    <a:pt x="0" y="638"/>
                    <a:pt x="0" y="612"/>
                  </a:cubicBezTo>
                  <a:cubicBezTo>
                    <a:pt x="0" y="48"/>
                    <a:pt x="0" y="48"/>
                    <a:pt x="0" y="48"/>
                  </a:cubicBezTo>
                  <a:cubicBezTo>
                    <a:pt x="0" y="21"/>
                    <a:pt x="22" y="0"/>
                    <a:pt x="48" y="0"/>
                  </a:cubicBezTo>
                  <a:close/>
                </a:path>
              </a:pathLst>
            </a:custGeom>
            <a:solidFill>
              <a:srgbClr val="F9A44A"/>
            </a:solidFill>
            <a:ln>
              <a:noFill/>
            </a:ln>
            <a:effectLst>
              <a:outerShdw blurRad="50800" dist="38100" dir="2700000" algn="tl" rotWithShape="0">
                <a:schemeClr val="tx1">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kumimoji="0" lang="en-IN" sz="2133" b="0" i="0" u="none" strike="noStrike" kern="1200" cap="none" spc="0" normalizeH="0" baseline="0" noProof="0" dirty="0">
                  <a:ln>
                    <a:noFill/>
                  </a:ln>
                  <a:solidFill>
                    <a:prstClr val="white"/>
                  </a:solidFill>
                  <a:effectLst/>
                  <a:uLnTx/>
                  <a:uFillTx/>
                  <a:latin typeface="Calibri" panose="020F0502020204030204"/>
                  <a:ea typeface="+mn-ea"/>
                  <a:cs typeface="+mn-cs"/>
                </a:rPr>
                <a:t>AWS Schema Conversion Tool	</a:t>
              </a:r>
            </a:p>
          </p:txBody>
        </p:sp>
      </p:grpSp>
    </p:spTree>
    <p:extLst>
      <p:ext uri="{BB962C8B-B14F-4D97-AF65-F5344CB8AC3E}">
        <p14:creationId xmlns:p14="http://schemas.microsoft.com/office/powerpoint/2010/main" val="3605111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7A2E-E4D4-4317-A90B-C68F3795C0EC}"/>
              </a:ext>
            </a:extLst>
          </p:cNvPr>
          <p:cNvSpPr>
            <a:spLocks noGrp="1"/>
          </p:cNvSpPr>
          <p:nvPr>
            <p:ph type="title"/>
          </p:nvPr>
        </p:nvSpPr>
        <p:spPr/>
        <p:txBody>
          <a:bodyPr>
            <a:normAutofit fontScale="90000"/>
          </a:bodyPr>
          <a:lstStyle/>
          <a:p>
            <a:r>
              <a:rPr lang="en-IN" dirty="0"/>
              <a:t>Overview of Schema Conversion Tool</a:t>
            </a:r>
          </a:p>
        </p:txBody>
      </p:sp>
      <p:sp>
        <p:nvSpPr>
          <p:cNvPr id="3" name="Text Placeholder 2">
            <a:extLst>
              <a:ext uri="{FF2B5EF4-FFF2-40B4-BE49-F238E27FC236}">
                <a16:creationId xmlns:a16="http://schemas.microsoft.com/office/drawing/2014/main" id="{95FFED50-2D39-4979-A2AA-34EF7F45A771}"/>
              </a:ext>
            </a:extLst>
          </p:cNvPr>
          <p:cNvSpPr>
            <a:spLocks noGrp="1"/>
          </p:cNvSpPr>
          <p:nvPr>
            <p:ph type="body" sz="quarter" idx="10"/>
          </p:nvPr>
        </p:nvSpPr>
        <p:spPr/>
        <p:txBody>
          <a:bodyPr>
            <a:normAutofit/>
          </a:bodyPr>
          <a:lstStyle/>
          <a:p>
            <a:pPr>
              <a:buFont typeface="Wingdings" panose="05000000000000000000" pitchFamily="2" charset="2"/>
              <a:buChar char="Ø"/>
            </a:pPr>
            <a:r>
              <a:rPr lang="en-US" sz="2200" dirty="0">
                <a:latin typeface="+mj-lt"/>
              </a:rPr>
              <a:t>AWS Schema Conversion Tool (AWS SCT) converts your existing database schema from one database engine to another. </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Used to convert relational OLTP schema, or data warehouse schema. </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The converted schema can be used with used with a database on RDS, RedShift or an Amazon EC2 instance or stored as data on an Amazon S3 bucket.</a:t>
            </a:r>
          </a:p>
          <a:p>
            <a:pPr>
              <a:buFont typeface="Wingdings" panose="05000000000000000000" pitchFamily="2" charset="2"/>
              <a:buChar char="Ø"/>
            </a:pPr>
            <a:endParaRPr lang="en-US" sz="2200" dirty="0">
              <a:latin typeface="+mj-lt"/>
            </a:endParaRPr>
          </a:p>
          <a:p>
            <a:pPr>
              <a:buFont typeface="Wingdings" panose="05000000000000000000" pitchFamily="2" charset="2"/>
              <a:buChar char="Ø"/>
            </a:pPr>
            <a:r>
              <a:rPr lang="en-US" sz="2200" dirty="0">
                <a:latin typeface="+mj-lt"/>
              </a:rPr>
              <a:t>AWS SCT supports several industry standards, including Federal Information Processing Standards (FIPS)</a:t>
            </a:r>
            <a:endParaRPr lang="en-IN" sz="2200" dirty="0">
              <a:latin typeface="+mj-lt"/>
            </a:endParaRPr>
          </a:p>
        </p:txBody>
      </p:sp>
    </p:spTree>
    <p:extLst>
      <p:ext uri="{BB962C8B-B14F-4D97-AF65-F5344CB8AC3E}">
        <p14:creationId xmlns:p14="http://schemas.microsoft.com/office/powerpoint/2010/main" val="3279044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FD1D9C-B584-41D6-86C7-DA4A55A24E7D}"/>
              </a:ext>
            </a:extLst>
          </p:cNvPr>
          <p:cNvSpPr>
            <a:spLocks noGrp="1"/>
          </p:cNvSpPr>
          <p:nvPr>
            <p:ph type="title"/>
          </p:nvPr>
        </p:nvSpPr>
        <p:spPr/>
        <p:txBody>
          <a:bodyPr>
            <a:normAutofit/>
          </a:bodyPr>
          <a:lstStyle/>
          <a:p>
            <a:r>
              <a:rPr lang="en-IN" sz="3200" dirty="0">
                <a:solidFill>
                  <a:schemeClr val="tx1"/>
                </a:solidFill>
              </a:rPr>
              <a:t>   DB Conversions supported by SCT</a:t>
            </a:r>
          </a:p>
        </p:txBody>
      </p:sp>
      <p:sp>
        <p:nvSpPr>
          <p:cNvPr id="4" name="TextBox 3">
            <a:extLst>
              <a:ext uri="{FF2B5EF4-FFF2-40B4-BE49-F238E27FC236}">
                <a16:creationId xmlns:a16="http://schemas.microsoft.com/office/drawing/2014/main" id="{1EF209D4-D082-4595-9355-157316D58C35}"/>
              </a:ext>
            </a:extLst>
          </p:cNvPr>
          <p:cNvSpPr txBox="1"/>
          <p:nvPr/>
        </p:nvSpPr>
        <p:spPr>
          <a:xfrm>
            <a:off x="1439483" y="1988840"/>
            <a:ext cx="1847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C801DFE1-3BCD-4C61-B668-371EEA20E521}"/>
              </a:ext>
            </a:extLst>
          </p:cNvPr>
          <p:cNvPicPr>
            <a:picLocks noChangeAspect="1"/>
          </p:cNvPicPr>
          <p:nvPr/>
        </p:nvPicPr>
        <p:blipFill>
          <a:blip r:embed="rId2"/>
          <a:stretch>
            <a:fillRect/>
          </a:stretch>
        </p:blipFill>
        <p:spPr>
          <a:xfrm>
            <a:off x="928131" y="1268761"/>
            <a:ext cx="8720264" cy="4857441"/>
          </a:xfrm>
          <a:prstGeom prst="rect">
            <a:avLst/>
          </a:prstGeom>
          <a:ln w="9525">
            <a:solidFill>
              <a:schemeClr val="tx1"/>
            </a:solidFill>
          </a:ln>
        </p:spPr>
      </p:pic>
    </p:spTree>
    <p:extLst>
      <p:ext uri="{BB962C8B-B14F-4D97-AF65-F5344CB8AC3E}">
        <p14:creationId xmlns:p14="http://schemas.microsoft.com/office/powerpoint/2010/main" val="2139900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87D014-6225-4C72-A714-014FB8FB6641}"/>
              </a:ext>
            </a:extLst>
          </p:cNvPr>
          <p:cNvSpPr>
            <a:spLocks noGrp="1"/>
          </p:cNvSpPr>
          <p:nvPr>
            <p:ph type="title"/>
          </p:nvPr>
        </p:nvSpPr>
        <p:spPr/>
        <p:txBody>
          <a:bodyPr>
            <a:normAutofit/>
          </a:bodyPr>
          <a:lstStyle/>
          <a:p>
            <a:r>
              <a:rPr lang="en-IN" sz="3200" b="1" dirty="0">
                <a:solidFill>
                  <a:schemeClr val="tx1"/>
                </a:solidFill>
              </a:rPr>
              <a:t> AWS SCT Project Window</a:t>
            </a:r>
          </a:p>
        </p:txBody>
      </p:sp>
      <p:pic>
        <p:nvPicPr>
          <p:cNvPr id="7170" name="Picture 2" descr="&#10;                The AWS SCT Project Window&#10;            ">
            <a:extLst>
              <a:ext uri="{FF2B5EF4-FFF2-40B4-BE49-F238E27FC236}">
                <a16:creationId xmlns:a16="http://schemas.microsoft.com/office/drawing/2014/main" id="{9DE9022B-6372-456A-AB52-8E2F6FA89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456" y="1220755"/>
            <a:ext cx="9201089" cy="498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469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27AECB-BE91-48F0-9246-D1E83DDDC1BC}"/>
              </a:ext>
            </a:extLst>
          </p:cNvPr>
          <p:cNvSpPr>
            <a:spLocks noGrp="1"/>
          </p:cNvSpPr>
          <p:nvPr>
            <p:ph type="title"/>
          </p:nvPr>
        </p:nvSpPr>
        <p:spPr/>
        <p:txBody>
          <a:bodyPr>
            <a:normAutofit/>
          </a:bodyPr>
          <a:lstStyle/>
          <a:p>
            <a:r>
              <a:rPr lang="en-IN" sz="3200" b="1" dirty="0">
                <a:solidFill>
                  <a:schemeClr val="tx1"/>
                </a:solidFill>
              </a:rPr>
              <a:t>   AWS Schema Conversion Tool (Oracle to Aurora2)</a:t>
            </a:r>
          </a:p>
        </p:txBody>
      </p:sp>
      <p:pic>
        <p:nvPicPr>
          <p:cNvPr id="4" name="Picture 3">
            <a:extLst>
              <a:ext uri="{FF2B5EF4-FFF2-40B4-BE49-F238E27FC236}">
                <a16:creationId xmlns:a16="http://schemas.microsoft.com/office/drawing/2014/main" id="{8FE897F6-0C9C-4C8A-BAF0-5CF8BC283C8E}"/>
              </a:ext>
            </a:extLst>
          </p:cNvPr>
          <p:cNvPicPr>
            <a:picLocks noChangeAspect="1"/>
          </p:cNvPicPr>
          <p:nvPr/>
        </p:nvPicPr>
        <p:blipFill>
          <a:blip r:embed="rId2"/>
          <a:stretch>
            <a:fillRect/>
          </a:stretch>
        </p:blipFill>
        <p:spPr>
          <a:xfrm>
            <a:off x="1727515" y="1316765"/>
            <a:ext cx="8128000" cy="4826000"/>
          </a:xfrm>
          <a:prstGeom prst="rect">
            <a:avLst/>
          </a:prstGeom>
        </p:spPr>
      </p:pic>
    </p:spTree>
    <p:extLst>
      <p:ext uri="{BB962C8B-B14F-4D97-AF65-F5344CB8AC3E}">
        <p14:creationId xmlns:p14="http://schemas.microsoft.com/office/powerpoint/2010/main" val="1167462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DB1CDB-4B84-4932-BB7F-9719D0372348}"/>
              </a:ext>
            </a:extLst>
          </p:cNvPr>
          <p:cNvSpPr>
            <a:spLocks noGrp="1"/>
          </p:cNvSpPr>
          <p:nvPr>
            <p:ph type="title"/>
          </p:nvPr>
        </p:nvSpPr>
        <p:spPr/>
        <p:txBody>
          <a:bodyPr>
            <a:normAutofit/>
          </a:bodyPr>
          <a:lstStyle/>
          <a:p>
            <a:r>
              <a:rPr lang="en-IN" sz="3200" dirty="0">
                <a:solidFill>
                  <a:schemeClr val="tx1"/>
                </a:solidFill>
              </a:rPr>
              <a:t> Sample SCT Service Report</a:t>
            </a:r>
          </a:p>
        </p:txBody>
      </p:sp>
      <p:pic>
        <p:nvPicPr>
          <p:cNvPr id="8194" name="Picture 2" descr="Image result for aws sct service report">
            <a:extLst>
              <a:ext uri="{FF2B5EF4-FFF2-40B4-BE49-F238E27FC236}">
                <a16:creationId xmlns:a16="http://schemas.microsoft.com/office/drawing/2014/main" id="{A648AA2F-5C4C-460F-8AAF-34CCDB7E4B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861" y="1268760"/>
            <a:ext cx="7799555" cy="5147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492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A6DF7C-EAF7-4853-9733-36793F49C7B5}"/>
              </a:ext>
            </a:extLst>
          </p:cNvPr>
          <p:cNvSpPr>
            <a:spLocks noGrp="1"/>
          </p:cNvSpPr>
          <p:nvPr>
            <p:ph type="title"/>
          </p:nvPr>
        </p:nvSpPr>
        <p:spPr/>
        <p:txBody>
          <a:bodyPr>
            <a:normAutofit/>
          </a:bodyPr>
          <a:lstStyle/>
          <a:p>
            <a:r>
              <a:rPr lang="en-IN" sz="3200" b="1" dirty="0">
                <a:solidFill>
                  <a:schemeClr val="tx1"/>
                </a:solidFill>
              </a:rPr>
              <a:t>Sample SCT Service Report</a:t>
            </a:r>
          </a:p>
        </p:txBody>
      </p:sp>
      <p:pic>
        <p:nvPicPr>
          <p:cNvPr id="9222" name="Picture 6" descr="Image result for aws sct service report">
            <a:extLst>
              <a:ext uri="{FF2B5EF4-FFF2-40B4-BE49-F238E27FC236}">
                <a16:creationId xmlns:a16="http://schemas.microsoft.com/office/drawing/2014/main" id="{019818FA-5F86-40C7-A931-9217BF369A7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7488" y="1212441"/>
            <a:ext cx="5904656" cy="4967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472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89248A-3BD5-47B5-BB49-A967C6C8BFAD}"/>
              </a:ext>
            </a:extLst>
          </p:cNvPr>
          <p:cNvSpPr>
            <a:spLocks noGrp="1"/>
          </p:cNvSpPr>
          <p:nvPr>
            <p:ph type="title"/>
          </p:nvPr>
        </p:nvSpPr>
        <p:spPr/>
        <p:txBody>
          <a:bodyPr>
            <a:normAutofit/>
          </a:bodyPr>
          <a:lstStyle/>
          <a:p>
            <a:r>
              <a:rPr lang="en-IN" sz="3200" b="1" dirty="0">
                <a:solidFill>
                  <a:schemeClr val="tx1"/>
                </a:solidFill>
              </a:rPr>
              <a:t>DB Migration Use Cases  –  From Source to Target </a:t>
            </a:r>
          </a:p>
        </p:txBody>
      </p:sp>
      <p:pic>
        <p:nvPicPr>
          <p:cNvPr id="7" name="Picture 6">
            <a:extLst>
              <a:ext uri="{FF2B5EF4-FFF2-40B4-BE49-F238E27FC236}">
                <a16:creationId xmlns:a16="http://schemas.microsoft.com/office/drawing/2014/main" id="{E36FBBC1-51C2-4B0E-9CCC-5496FD8F9DDA}"/>
              </a:ext>
            </a:extLst>
          </p:cNvPr>
          <p:cNvPicPr>
            <a:picLocks noChangeAspect="1"/>
          </p:cNvPicPr>
          <p:nvPr/>
        </p:nvPicPr>
        <p:blipFill>
          <a:blip r:embed="rId2"/>
          <a:stretch>
            <a:fillRect/>
          </a:stretch>
        </p:blipFill>
        <p:spPr>
          <a:xfrm>
            <a:off x="1727515" y="1460781"/>
            <a:ext cx="8976997" cy="4608512"/>
          </a:xfrm>
          <a:prstGeom prst="rect">
            <a:avLst/>
          </a:prstGeom>
        </p:spPr>
      </p:pic>
    </p:spTree>
    <p:extLst>
      <p:ext uri="{BB962C8B-B14F-4D97-AF65-F5344CB8AC3E}">
        <p14:creationId xmlns:p14="http://schemas.microsoft.com/office/powerpoint/2010/main" val="4169673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FC0EA7-57A1-4854-93A2-DF24E62E803D}"/>
              </a:ext>
            </a:extLst>
          </p:cNvPr>
          <p:cNvSpPr>
            <a:spLocks noGrp="1"/>
          </p:cNvSpPr>
          <p:nvPr>
            <p:ph type="title"/>
          </p:nvPr>
        </p:nvSpPr>
        <p:spPr/>
        <p:txBody>
          <a:bodyPr>
            <a:normAutofit/>
          </a:bodyPr>
          <a:lstStyle/>
          <a:p>
            <a:r>
              <a:rPr lang="en-IN" sz="3200" b="1" dirty="0">
                <a:solidFill>
                  <a:schemeClr val="tx1"/>
                </a:solidFill>
              </a:rPr>
              <a:t>DB Migration Use Cases – Homogeneous  </a:t>
            </a:r>
          </a:p>
        </p:txBody>
      </p:sp>
      <p:pic>
        <p:nvPicPr>
          <p:cNvPr id="2" name="Picture 1">
            <a:extLst>
              <a:ext uri="{FF2B5EF4-FFF2-40B4-BE49-F238E27FC236}">
                <a16:creationId xmlns:a16="http://schemas.microsoft.com/office/drawing/2014/main" id="{2A42E2EB-8E25-4A9A-8367-DCDEACCE15DA}"/>
              </a:ext>
            </a:extLst>
          </p:cNvPr>
          <p:cNvPicPr>
            <a:picLocks noChangeAspect="1"/>
          </p:cNvPicPr>
          <p:nvPr/>
        </p:nvPicPr>
        <p:blipFill>
          <a:blip r:embed="rId2"/>
          <a:stretch>
            <a:fillRect/>
          </a:stretch>
        </p:blipFill>
        <p:spPr>
          <a:xfrm>
            <a:off x="612232" y="1443420"/>
            <a:ext cx="7824869" cy="3264363"/>
          </a:xfrm>
          <a:prstGeom prst="rect">
            <a:avLst/>
          </a:prstGeom>
        </p:spPr>
      </p:pic>
      <p:sp>
        <p:nvSpPr>
          <p:cNvPr id="5" name="TextBox 4">
            <a:extLst>
              <a:ext uri="{FF2B5EF4-FFF2-40B4-BE49-F238E27FC236}">
                <a16:creationId xmlns:a16="http://schemas.microsoft.com/office/drawing/2014/main" id="{566A943C-52D4-4899-B45D-A26717043D7A}"/>
              </a:ext>
            </a:extLst>
          </p:cNvPr>
          <p:cNvSpPr txBox="1"/>
          <p:nvPr/>
        </p:nvSpPr>
        <p:spPr>
          <a:xfrm>
            <a:off x="8832304" y="1844824"/>
            <a:ext cx="249627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DB engine on both side are same  </a:t>
            </a:r>
          </a:p>
        </p:txBody>
      </p:sp>
      <p:sp>
        <p:nvSpPr>
          <p:cNvPr id="6" name="TextBox 5">
            <a:extLst>
              <a:ext uri="{FF2B5EF4-FFF2-40B4-BE49-F238E27FC236}">
                <a16:creationId xmlns:a16="http://schemas.microsoft.com/office/drawing/2014/main" id="{9ECE787A-8B0C-424F-A6C6-9CC5206FEAF3}"/>
              </a:ext>
            </a:extLst>
          </p:cNvPr>
          <p:cNvSpPr txBox="1"/>
          <p:nvPr/>
        </p:nvSpPr>
        <p:spPr>
          <a:xfrm>
            <a:off x="8832304" y="3429000"/>
            <a:ext cx="2645864" cy="132343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Amazon Aurora is a new developed DB engine which is  fully managed, </a:t>
            </a: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MySQL-compatible, </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relational database engine</a:t>
            </a:r>
          </a:p>
        </p:txBody>
      </p:sp>
      <p:sp>
        <p:nvSpPr>
          <p:cNvPr id="7" name="TextBox 6">
            <a:extLst>
              <a:ext uri="{FF2B5EF4-FFF2-40B4-BE49-F238E27FC236}">
                <a16:creationId xmlns:a16="http://schemas.microsoft.com/office/drawing/2014/main" id="{51118A8F-1E2B-472C-964D-5F37A24A557D}"/>
              </a:ext>
            </a:extLst>
          </p:cNvPr>
          <p:cNvSpPr txBox="1"/>
          <p:nvPr/>
        </p:nvSpPr>
        <p:spPr>
          <a:xfrm>
            <a:off x="828256" y="5637246"/>
            <a:ext cx="3696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Sources : </a:t>
            </a: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https://aws.amazon.com/dms/ </a:t>
            </a:r>
            <a:endPar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184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FC0EA7-57A1-4854-93A2-DF24E62E803D}"/>
              </a:ext>
            </a:extLst>
          </p:cNvPr>
          <p:cNvSpPr>
            <a:spLocks noGrp="1"/>
          </p:cNvSpPr>
          <p:nvPr>
            <p:ph type="title"/>
          </p:nvPr>
        </p:nvSpPr>
        <p:spPr/>
        <p:txBody>
          <a:bodyPr>
            <a:normAutofit/>
          </a:bodyPr>
          <a:lstStyle/>
          <a:p>
            <a:r>
              <a:rPr lang="en-IN" sz="3200" dirty="0">
                <a:solidFill>
                  <a:schemeClr val="tx1"/>
                </a:solidFill>
              </a:rPr>
              <a:t>DB Migration Use Cases – Heterogeneous   </a:t>
            </a:r>
          </a:p>
        </p:txBody>
      </p:sp>
      <p:sp>
        <p:nvSpPr>
          <p:cNvPr id="2" name="Rectangle 1">
            <a:extLst>
              <a:ext uri="{FF2B5EF4-FFF2-40B4-BE49-F238E27FC236}">
                <a16:creationId xmlns:a16="http://schemas.microsoft.com/office/drawing/2014/main" id="{3926D06D-57EC-4A24-A88D-9767DC9F6C23}"/>
              </a:ext>
            </a:extLst>
          </p:cNvPr>
          <p:cNvSpPr/>
          <p:nvPr/>
        </p:nvSpPr>
        <p:spPr>
          <a:xfrm>
            <a:off x="7392144" y="1318316"/>
            <a:ext cx="4177556" cy="353943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err="1">
                <a:ln>
                  <a:noFill/>
                </a:ln>
                <a:solidFill>
                  <a:srgbClr val="333333"/>
                </a:solidFill>
                <a:effectLst/>
                <a:uLnTx/>
                <a:uFillTx/>
                <a:latin typeface="AmazonEmberLight"/>
                <a:ea typeface="+mn-ea"/>
                <a:cs typeface="+mn-cs"/>
              </a:rPr>
              <a:t>Hetrogenous</a:t>
            </a:r>
            <a:r>
              <a:rPr kumimoji="0" lang="en-IN" sz="1600" b="1" i="0" u="none" strike="noStrike" kern="1200" cap="none" spc="0" normalizeH="0" baseline="0" noProof="0" dirty="0">
                <a:ln>
                  <a:noFill/>
                </a:ln>
                <a:solidFill>
                  <a:srgbClr val="333333"/>
                </a:solidFill>
                <a:effectLst/>
                <a:uLnTx/>
                <a:uFillTx/>
                <a:latin typeface="AmazonEmberLight"/>
                <a:ea typeface="+mn-ea"/>
                <a:cs typeface="+mn-cs"/>
              </a:rPr>
              <a:t> DB migration is a two Step Process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333333"/>
                </a:solidFill>
                <a:effectLst/>
                <a:uLnTx/>
                <a:uFillTx/>
                <a:latin typeface="AmazonEmberLight"/>
                <a:ea typeface="+mn-ea"/>
                <a:cs typeface="+mn-cs"/>
              </a:rPr>
              <a:t>Step1: </a:t>
            </a:r>
            <a:r>
              <a:rPr kumimoji="0" lang="en-IN" sz="1600" b="0" i="0" u="none" strike="noStrike" kern="1200" cap="none" spc="0" normalizeH="0" baseline="0" noProof="0" dirty="0">
                <a:ln>
                  <a:noFill/>
                </a:ln>
                <a:solidFill>
                  <a:srgbClr val="333333"/>
                </a:solidFill>
                <a:effectLst/>
                <a:uLnTx/>
                <a:uFillTx/>
                <a:latin typeface="AmazonEmberLight"/>
                <a:ea typeface="+mn-ea"/>
                <a:cs typeface="+mn-cs"/>
              </a:rPr>
              <a:t>Schema and code transformation with AWS Schema conversion(SCT) tools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333333"/>
                </a:solidFill>
                <a:effectLst/>
                <a:uLnTx/>
                <a:uFillTx/>
                <a:latin typeface="AmazonEmberLight"/>
                <a:ea typeface="+mn-ea"/>
                <a:cs typeface="+mn-cs"/>
              </a:rPr>
              <a:t>Step2: </a:t>
            </a:r>
            <a:r>
              <a:rPr kumimoji="0" lang="en-IN" sz="1600" b="0" i="0" u="none" strike="noStrike" kern="1200" cap="none" spc="0" normalizeH="0" baseline="0" noProof="0" dirty="0">
                <a:ln>
                  <a:noFill/>
                </a:ln>
                <a:solidFill>
                  <a:srgbClr val="333333"/>
                </a:solidFill>
                <a:effectLst/>
                <a:uLnTx/>
                <a:uFillTx/>
                <a:latin typeface="AmazonEmberLight"/>
                <a:ea typeface="+mn-ea"/>
                <a:cs typeface="+mn-cs"/>
              </a:rPr>
              <a:t>DB migration via AWS DB Migration services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600" b="1" i="0" u="none" strike="noStrike" kern="1200" cap="none" spc="0" normalizeH="0" baseline="0" noProof="0" dirty="0">
              <a:ln>
                <a:noFill/>
              </a:ln>
              <a:solidFill>
                <a:srgbClr val="333333"/>
              </a:solidFill>
              <a:effectLst/>
              <a:uLnTx/>
              <a:uFillTx/>
              <a:latin typeface="AmazonEmberLight"/>
              <a:ea typeface="+mn-ea"/>
              <a:cs typeface="+mn-cs"/>
            </a:endParaRPr>
          </a:p>
        </p:txBody>
      </p:sp>
      <p:sp>
        <p:nvSpPr>
          <p:cNvPr id="4" name="TextBox 3">
            <a:extLst>
              <a:ext uri="{FF2B5EF4-FFF2-40B4-BE49-F238E27FC236}">
                <a16:creationId xmlns:a16="http://schemas.microsoft.com/office/drawing/2014/main" id="{024B9DAF-7856-43DF-9B2A-508F7479D2A5}"/>
              </a:ext>
            </a:extLst>
          </p:cNvPr>
          <p:cNvSpPr txBox="1"/>
          <p:nvPr/>
        </p:nvSpPr>
        <p:spPr>
          <a:xfrm>
            <a:off x="959429" y="5647680"/>
            <a:ext cx="3696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Sources : </a:t>
            </a: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hlinkClick r:id="rId2"/>
              </a:rPr>
              <a:t>https://aws.amazon.com/dms/ </a:t>
            </a:r>
            <a:endPar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7CC30E7-0845-47C9-A594-0F83110FF2F6}"/>
              </a:ext>
            </a:extLst>
          </p:cNvPr>
          <p:cNvPicPr>
            <a:picLocks noChangeAspect="1"/>
          </p:cNvPicPr>
          <p:nvPr/>
        </p:nvPicPr>
        <p:blipFill>
          <a:blip r:embed="rId3"/>
          <a:stretch>
            <a:fillRect/>
          </a:stretch>
        </p:blipFill>
        <p:spPr>
          <a:xfrm>
            <a:off x="622300" y="1546822"/>
            <a:ext cx="6661379" cy="3508652"/>
          </a:xfrm>
          <a:prstGeom prst="rect">
            <a:avLst/>
          </a:prstGeom>
        </p:spPr>
      </p:pic>
    </p:spTree>
    <p:extLst>
      <p:ext uri="{BB962C8B-B14F-4D97-AF65-F5344CB8AC3E}">
        <p14:creationId xmlns:p14="http://schemas.microsoft.com/office/powerpoint/2010/main" val="54168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FC0EA7-57A1-4854-93A2-DF24E62E803D}"/>
              </a:ext>
            </a:extLst>
          </p:cNvPr>
          <p:cNvSpPr>
            <a:spLocks noGrp="1"/>
          </p:cNvSpPr>
          <p:nvPr>
            <p:ph type="title"/>
          </p:nvPr>
        </p:nvSpPr>
        <p:spPr/>
        <p:txBody>
          <a:bodyPr>
            <a:normAutofit/>
          </a:bodyPr>
          <a:lstStyle/>
          <a:p>
            <a:r>
              <a:rPr lang="en-IN" sz="3200" dirty="0">
                <a:solidFill>
                  <a:schemeClr val="tx1"/>
                </a:solidFill>
              </a:rPr>
              <a:t>DB Migration Use Cases –  DB Consolidation </a:t>
            </a:r>
          </a:p>
        </p:txBody>
      </p:sp>
      <p:pic>
        <p:nvPicPr>
          <p:cNvPr id="5" name="Picture 2" descr="DMS-MultiSource-Diagram">
            <a:extLst>
              <a:ext uri="{FF2B5EF4-FFF2-40B4-BE49-F238E27FC236}">
                <a16:creationId xmlns:a16="http://schemas.microsoft.com/office/drawing/2014/main" id="{F7455F2D-F041-4AA4-9289-252ED9326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64" y="1196402"/>
            <a:ext cx="11132781" cy="52043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BE88D9-C274-4876-ADCA-4F009DFAE9A0}"/>
              </a:ext>
            </a:extLst>
          </p:cNvPr>
          <p:cNvSpPr txBox="1"/>
          <p:nvPr/>
        </p:nvSpPr>
        <p:spPr>
          <a:xfrm>
            <a:off x="828256" y="5637246"/>
            <a:ext cx="3696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Sources : </a:t>
            </a: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https://aws.amazon.com/dms/ </a:t>
            </a:r>
            <a:endPar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962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FC0EA7-57A1-4854-93A2-DF24E62E803D}"/>
              </a:ext>
            </a:extLst>
          </p:cNvPr>
          <p:cNvSpPr>
            <a:spLocks noGrp="1"/>
          </p:cNvSpPr>
          <p:nvPr>
            <p:ph type="title"/>
          </p:nvPr>
        </p:nvSpPr>
        <p:spPr>
          <a:xfrm>
            <a:off x="622300" y="457202"/>
            <a:ext cx="11186335" cy="497415"/>
          </a:xfrm>
        </p:spPr>
        <p:txBody>
          <a:bodyPr>
            <a:normAutofit/>
          </a:bodyPr>
          <a:lstStyle/>
          <a:p>
            <a:r>
              <a:rPr lang="en-IN" sz="3200" dirty="0">
                <a:solidFill>
                  <a:schemeClr val="tx1"/>
                </a:solidFill>
              </a:rPr>
              <a:t>DB Migration Use Cases –   Continuous Data Replication </a:t>
            </a:r>
          </a:p>
        </p:txBody>
      </p:sp>
      <p:sp>
        <p:nvSpPr>
          <p:cNvPr id="5" name="TextBox 4">
            <a:extLst>
              <a:ext uri="{FF2B5EF4-FFF2-40B4-BE49-F238E27FC236}">
                <a16:creationId xmlns:a16="http://schemas.microsoft.com/office/drawing/2014/main" id="{7AFE3F5E-EA41-41A8-AB29-7B855FD64F46}"/>
              </a:ext>
            </a:extLst>
          </p:cNvPr>
          <p:cNvSpPr txBox="1"/>
          <p:nvPr/>
        </p:nvSpPr>
        <p:spPr>
          <a:xfrm>
            <a:off x="828256" y="5637246"/>
            <a:ext cx="3696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Sources : </a:t>
            </a: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hlinkClick r:id="rId2"/>
              </a:rPr>
              <a:t>https://aws.amazon.com/dms/ </a:t>
            </a:r>
            <a:endPar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9149BE6-362C-4F57-94A8-88FB86372914}"/>
              </a:ext>
            </a:extLst>
          </p:cNvPr>
          <p:cNvPicPr>
            <a:picLocks noChangeAspect="1"/>
          </p:cNvPicPr>
          <p:nvPr/>
        </p:nvPicPr>
        <p:blipFill>
          <a:blip r:embed="rId3"/>
          <a:stretch>
            <a:fillRect/>
          </a:stretch>
        </p:blipFill>
        <p:spPr>
          <a:xfrm>
            <a:off x="1343472" y="1412776"/>
            <a:ext cx="9453517" cy="4224469"/>
          </a:xfrm>
          <a:prstGeom prst="rect">
            <a:avLst/>
          </a:prstGeom>
        </p:spPr>
      </p:pic>
    </p:spTree>
    <p:extLst>
      <p:ext uri="{BB962C8B-B14F-4D97-AF65-F5344CB8AC3E}">
        <p14:creationId xmlns:p14="http://schemas.microsoft.com/office/powerpoint/2010/main" val="190961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0BACC-D584-4893-95DF-2D72F5E370DD}"/>
              </a:ext>
            </a:extLst>
          </p:cNvPr>
          <p:cNvSpPr>
            <a:spLocks noGrp="1"/>
          </p:cNvSpPr>
          <p:nvPr>
            <p:ph type="title"/>
          </p:nvPr>
        </p:nvSpPr>
        <p:spPr/>
        <p:txBody>
          <a:bodyPr>
            <a:normAutofit/>
          </a:bodyPr>
          <a:lstStyle/>
          <a:p>
            <a:r>
              <a:rPr lang="en-IN" sz="3200" b="1" dirty="0"/>
              <a:t>DMS &amp; SCT Working  together  </a:t>
            </a:r>
          </a:p>
        </p:txBody>
      </p:sp>
      <p:sp>
        <p:nvSpPr>
          <p:cNvPr id="4" name="AutoShape 2" descr="Database Migration Process&#10;Step 1: Convert or Copy your Schema&#10;Source DB or DW&#10;AWS SCT&#10;Native Tool&#10;Destination DB or DW&#10;St...">
            <a:extLst>
              <a:ext uri="{FF2B5EF4-FFF2-40B4-BE49-F238E27FC236}">
                <a16:creationId xmlns:a16="http://schemas.microsoft.com/office/drawing/2014/main" id="{C4DC257C-78D0-4591-910A-3A8268E5B576}"/>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266" name="Picture 2" descr="DMS-Hetrogeneous-Diagram">
            <a:extLst>
              <a:ext uri="{FF2B5EF4-FFF2-40B4-BE49-F238E27FC236}">
                <a16:creationId xmlns:a16="http://schemas.microsoft.com/office/drawing/2014/main" id="{33844E63-C135-49D0-B992-DDC288BFF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1652803"/>
            <a:ext cx="10169205" cy="398497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8102F53-D5EF-48D4-A192-4C403027416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7673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ABB49A-868B-4576-9ED7-3F4E10627F3C}"/>
              </a:ext>
            </a:extLst>
          </p:cNvPr>
          <p:cNvSpPr>
            <a:spLocks noGrp="1"/>
          </p:cNvSpPr>
          <p:nvPr>
            <p:ph type="title"/>
          </p:nvPr>
        </p:nvSpPr>
        <p:spPr>
          <a:xfrm>
            <a:off x="2176347" y="358560"/>
            <a:ext cx="10898303" cy="497415"/>
          </a:xfrm>
        </p:spPr>
        <p:txBody>
          <a:bodyPr>
            <a:noAutofit/>
          </a:bodyPr>
          <a:lstStyle/>
          <a:p>
            <a:r>
              <a:rPr lang="en-IN" sz="3200" b="1" dirty="0"/>
              <a:t>How Database Migration Service Works </a:t>
            </a:r>
          </a:p>
        </p:txBody>
      </p:sp>
      <p:pic>
        <p:nvPicPr>
          <p:cNvPr id="4" name="Picture 3">
            <a:extLst>
              <a:ext uri="{FF2B5EF4-FFF2-40B4-BE49-F238E27FC236}">
                <a16:creationId xmlns:a16="http://schemas.microsoft.com/office/drawing/2014/main" id="{33300C9A-1457-46DC-B2E6-67F1DB6239AF}"/>
              </a:ext>
            </a:extLst>
          </p:cNvPr>
          <p:cNvPicPr>
            <a:picLocks noChangeAspect="1"/>
          </p:cNvPicPr>
          <p:nvPr/>
        </p:nvPicPr>
        <p:blipFill>
          <a:blip r:embed="rId2"/>
          <a:stretch>
            <a:fillRect/>
          </a:stretch>
        </p:blipFill>
        <p:spPr>
          <a:xfrm>
            <a:off x="672952" y="1676806"/>
            <a:ext cx="9590960" cy="3504389"/>
          </a:xfrm>
          <a:prstGeom prst="rect">
            <a:avLst/>
          </a:prstGeom>
        </p:spPr>
      </p:pic>
      <p:sp>
        <p:nvSpPr>
          <p:cNvPr id="2" name="Footer Placeholder 1">
            <a:extLst>
              <a:ext uri="{FF2B5EF4-FFF2-40B4-BE49-F238E27FC236}">
                <a16:creationId xmlns:a16="http://schemas.microsoft.com/office/drawing/2014/main" id="{066D174C-3C37-4B40-AA8D-750AF252378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4155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8CA43-0700-4933-9009-25E53523946C}"/>
              </a:ext>
            </a:extLst>
          </p:cNvPr>
          <p:cNvSpPr>
            <a:spLocks noGrp="1"/>
          </p:cNvSpPr>
          <p:nvPr>
            <p:ph type="title"/>
          </p:nvPr>
        </p:nvSpPr>
        <p:spPr>
          <a:xfrm>
            <a:off x="1482915" y="0"/>
            <a:ext cx="10515600" cy="1325563"/>
          </a:xfrm>
        </p:spPr>
        <p:txBody>
          <a:bodyPr>
            <a:normAutofit/>
          </a:bodyPr>
          <a:lstStyle/>
          <a:p>
            <a:r>
              <a:rPr lang="en-IN" sz="3200" b="1" dirty="0"/>
              <a:t> How AWS DMS Works</a:t>
            </a:r>
          </a:p>
        </p:txBody>
      </p:sp>
      <p:sp>
        <p:nvSpPr>
          <p:cNvPr id="3" name="TextBox 2">
            <a:extLst>
              <a:ext uri="{FF2B5EF4-FFF2-40B4-BE49-F238E27FC236}">
                <a16:creationId xmlns:a16="http://schemas.microsoft.com/office/drawing/2014/main" id="{0243DBA5-E2F1-42AD-85FB-DDE81EF7A0EB}"/>
              </a:ext>
            </a:extLst>
          </p:cNvPr>
          <p:cNvSpPr txBox="1"/>
          <p:nvPr/>
        </p:nvSpPr>
        <p:spPr>
          <a:xfrm>
            <a:off x="622300" y="1316766"/>
            <a:ext cx="10086785" cy="4493538"/>
          </a:xfrm>
          <a:prstGeom prst="rect">
            <a:avLst/>
          </a:prstGeom>
          <a:noFill/>
        </p:spPr>
        <p:txBody>
          <a:bodyPr wrap="square" rtlCol="0">
            <a:spAutoFit/>
          </a:bodyPr>
          <a:lstStyle/>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Identify your source and target data stores. These data stores can reside on any of the data engines.</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For both the source and target, configure endpoints within AWS DMS that specify the connection information to the databases. The endpoints use the appropriate ODBC drivers to communicate with your source and target.</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Provision a replication instance, which is a server that AWS DMS automatically configures with replication software.</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Create a replication task, which specifies the actual data tables to migrate and data transformation rules to apply. AWS DMS manages running the replication task and provides you status on the migration process.</a:t>
            </a:r>
            <a:endParaRPr kumimoji="0" lang="en-IN"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Footer Placeholder 3">
            <a:extLst>
              <a:ext uri="{FF2B5EF4-FFF2-40B4-BE49-F238E27FC236}">
                <a16:creationId xmlns:a16="http://schemas.microsoft.com/office/drawing/2014/main" id="{908A74D4-6566-404D-883C-7FD21DF4D9E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7575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AD23E-9DC9-4C5F-9DA3-F7E51135C1B5}"/>
              </a:ext>
            </a:extLst>
          </p:cNvPr>
          <p:cNvSpPr>
            <a:spLocks noGrp="1"/>
          </p:cNvSpPr>
          <p:nvPr>
            <p:ph type="title"/>
          </p:nvPr>
        </p:nvSpPr>
        <p:spPr/>
        <p:txBody>
          <a:bodyPr>
            <a:normAutofit/>
          </a:bodyPr>
          <a:lstStyle/>
          <a:p>
            <a:r>
              <a:rPr lang="en-IN" sz="3200" b="1" dirty="0"/>
              <a:t>  AWS DMS Components</a:t>
            </a:r>
          </a:p>
        </p:txBody>
      </p:sp>
      <p:pic>
        <p:nvPicPr>
          <p:cNvPr id="3" name="Picture 2">
            <a:extLst>
              <a:ext uri="{FF2B5EF4-FFF2-40B4-BE49-F238E27FC236}">
                <a16:creationId xmlns:a16="http://schemas.microsoft.com/office/drawing/2014/main" id="{93716C50-E2F5-4CD6-A6E1-1BE7A0A7F8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3048" y="1965786"/>
            <a:ext cx="9587437" cy="3120347"/>
          </a:xfrm>
          <a:prstGeom prst="rect">
            <a:avLst/>
          </a:prstGeom>
          <a:effectLst>
            <a:outerShdw blurRad="63500" sx="102000" sy="102000" algn="ctr" rotWithShape="0">
              <a:schemeClr val="tx1">
                <a:lumMod val="75000"/>
                <a:alpha val="40000"/>
              </a:schemeClr>
            </a:outerShdw>
          </a:effectLst>
        </p:spPr>
      </p:pic>
      <p:sp>
        <p:nvSpPr>
          <p:cNvPr id="4" name="TextBox 3">
            <a:extLst>
              <a:ext uri="{FF2B5EF4-FFF2-40B4-BE49-F238E27FC236}">
                <a16:creationId xmlns:a16="http://schemas.microsoft.com/office/drawing/2014/main" id="{102CCE0F-AB34-496F-9C8D-8062052BD485}"/>
              </a:ext>
            </a:extLst>
          </p:cNvPr>
          <p:cNvSpPr txBox="1"/>
          <p:nvPr/>
        </p:nvSpPr>
        <p:spPr>
          <a:xfrm>
            <a:off x="2520499" y="2699054"/>
            <a:ext cx="1844143" cy="66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Replication Instance</a:t>
            </a:r>
          </a:p>
        </p:txBody>
      </p:sp>
      <p:sp>
        <p:nvSpPr>
          <p:cNvPr id="5" name="TextBox 4">
            <a:extLst>
              <a:ext uri="{FF2B5EF4-FFF2-40B4-BE49-F238E27FC236}">
                <a16:creationId xmlns:a16="http://schemas.microsoft.com/office/drawing/2014/main" id="{42A45CAE-63E2-4970-9C46-291691C0B397}"/>
              </a:ext>
            </a:extLst>
          </p:cNvPr>
          <p:cNvSpPr txBox="1"/>
          <p:nvPr/>
        </p:nvSpPr>
        <p:spPr>
          <a:xfrm>
            <a:off x="4781682" y="2612909"/>
            <a:ext cx="1240234" cy="66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Source Endpoint</a:t>
            </a:r>
          </a:p>
        </p:txBody>
      </p:sp>
      <p:sp>
        <p:nvSpPr>
          <p:cNvPr id="6" name="TextBox 5">
            <a:extLst>
              <a:ext uri="{FF2B5EF4-FFF2-40B4-BE49-F238E27FC236}">
                <a16:creationId xmlns:a16="http://schemas.microsoft.com/office/drawing/2014/main" id="{CD08F393-E4BF-4ECA-8A1C-BFA1097A0B25}"/>
              </a:ext>
            </a:extLst>
          </p:cNvPr>
          <p:cNvSpPr txBox="1"/>
          <p:nvPr/>
        </p:nvSpPr>
        <p:spPr>
          <a:xfrm>
            <a:off x="6929310" y="2756538"/>
            <a:ext cx="691087" cy="379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Tasks</a:t>
            </a:r>
          </a:p>
        </p:txBody>
      </p:sp>
      <p:sp>
        <p:nvSpPr>
          <p:cNvPr id="7" name="TextBox 6">
            <a:extLst>
              <a:ext uri="{FF2B5EF4-FFF2-40B4-BE49-F238E27FC236}">
                <a16:creationId xmlns:a16="http://schemas.microsoft.com/office/drawing/2014/main" id="{5E410379-5BD3-4498-8115-65744EE79D30}"/>
              </a:ext>
            </a:extLst>
          </p:cNvPr>
          <p:cNvSpPr txBox="1"/>
          <p:nvPr/>
        </p:nvSpPr>
        <p:spPr>
          <a:xfrm>
            <a:off x="8832304" y="2636497"/>
            <a:ext cx="1060868" cy="6669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 Target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Endpoint</a:t>
            </a:r>
          </a:p>
        </p:txBody>
      </p:sp>
      <p:sp>
        <p:nvSpPr>
          <p:cNvPr id="8" name="Footer Placeholder 7">
            <a:extLst>
              <a:ext uri="{FF2B5EF4-FFF2-40B4-BE49-F238E27FC236}">
                <a16:creationId xmlns:a16="http://schemas.microsoft.com/office/drawing/2014/main" id="{B4307292-487E-4251-8F39-B67F39DD60A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6746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87385-73AD-4D93-90C3-5BBB5C3EFA7F}"/>
              </a:ext>
            </a:extLst>
          </p:cNvPr>
          <p:cNvSpPr>
            <a:spLocks noGrp="1"/>
          </p:cNvSpPr>
          <p:nvPr>
            <p:ph type="title"/>
          </p:nvPr>
        </p:nvSpPr>
        <p:spPr>
          <a:xfrm>
            <a:off x="1199456" y="183224"/>
            <a:ext cx="10515600" cy="1325563"/>
          </a:xfrm>
        </p:spPr>
        <p:txBody>
          <a:bodyPr>
            <a:normAutofit/>
          </a:bodyPr>
          <a:lstStyle/>
          <a:p>
            <a:r>
              <a:rPr lang="en-IN" sz="3200" b="1" dirty="0"/>
              <a:t>  AWS DMS Components</a:t>
            </a:r>
          </a:p>
        </p:txBody>
      </p:sp>
      <p:sp>
        <p:nvSpPr>
          <p:cNvPr id="3" name="TextBox 2">
            <a:extLst>
              <a:ext uri="{FF2B5EF4-FFF2-40B4-BE49-F238E27FC236}">
                <a16:creationId xmlns:a16="http://schemas.microsoft.com/office/drawing/2014/main" id="{C7AC709D-95C4-4399-9ACB-C1C08ECAE85A}"/>
              </a:ext>
            </a:extLst>
          </p:cNvPr>
          <p:cNvSpPr txBox="1"/>
          <p:nvPr/>
        </p:nvSpPr>
        <p:spPr>
          <a:xfrm>
            <a:off x="431371" y="1508787"/>
            <a:ext cx="10561173" cy="4154984"/>
          </a:xfrm>
          <a:prstGeom prst="rect">
            <a:avLst/>
          </a:prstGeom>
          <a:noFill/>
        </p:spPr>
        <p:txBody>
          <a:bodyPr wrap="square" rtlCol="0">
            <a:spAutoFit/>
          </a:bodyPr>
          <a:lstStyle/>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a:ea typeface="+mn-ea"/>
                <a:cs typeface="+mn-cs"/>
              </a:rPr>
              <a:t>Replication instance:</a:t>
            </a: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 Replication instance (EC2) provides the compute resources you need for the migration. As with other AWS services, you have the freedom to choose which size fits your needs best. It also provides High Availability and fail-over capabilities.</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a:ea typeface="+mn-ea"/>
                <a:cs typeface="+mn-cs"/>
              </a:rPr>
              <a:t>Endpoints:</a:t>
            </a: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 Either called ‘source’ or ‘target’ endpoints, which specify the entry points to the database you are migrating from/to.</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a:ea typeface="+mn-ea"/>
                <a:cs typeface="+mn-cs"/>
              </a:rPr>
              <a:t>Tasks: </a:t>
            </a: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Specify the endpoints you want to use for the migration, task settings which can be tuned for each type of migration, and table mappings which allow you to perform some additional modifications at schema, table or column level during the migration.</a:t>
            </a:r>
            <a:endParaRPr kumimoji="0" lang="en-IN"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Footer Placeholder 3">
            <a:extLst>
              <a:ext uri="{FF2B5EF4-FFF2-40B4-BE49-F238E27FC236}">
                <a16:creationId xmlns:a16="http://schemas.microsoft.com/office/drawing/2014/main" id="{A44A955C-AAA4-4B6D-B85F-A19B86C859C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1926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B94AAB-C151-4DA0-8CED-FB085361941A}"/>
              </a:ext>
            </a:extLst>
          </p:cNvPr>
          <p:cNvSpPr>
            <a:spLocks noGrp="1"/>
          </p:cNvSpPr>
          <p:nvPr>
            <p:ph type="title"/>
          </p:nvPr>
        </p:nvSpPr>
        <p:spPr>
          <a:xfrm>
            <a:off x="966977" y="184150"/>
            <a:ext cx="10515600" cy="1325563"/>
          </a:xfrm>
        </p:spPr>
        <p:txBody>
          <a:bodyPr>
            <a:normAutofit/>
          </a:bodyPr>
          <a:lstStyle/>
          <a:p>
            <a:r>
              <a:rPr lang="en-IN" sz="3200" b="1" dirty="0"/>
              <a:t>DB Migration to AWS – 3 Stages </a:t>
            </a:r>
          </a:p>
        </p:txBody>
      </p:sp>
      <p:sp>
        <p:nvSpPr>
          <p:cNvPr id="6" name="Content Placeholder 5">
            <a:extLst>
              <a:ext uri="{FF2B5EF4-FFF2-40B4-BE49-F238E27FC236}">
                <a16:creationId xmlns:a16="http://schemas.microsoft.com/office/drawing/2014/main" id="{6380E671-7ADC-4D45-9C72-3DE46E9699F3}"/>
              </a:ext>
            </a:extLst>
          </p:cNvPr>
          <p:cNvSpPr>
            <a:spLocks noGrp="1"/>
          </p:cNvSpPr>
          <p:nvPr>
            <p:ph sz="half" idx="1"/>
          </p:nvPr>
        </p:nvSpPr>
        <p:spPr>
          <a:xfrm>
            <a:off x="709423" y="1682471"/>
            <a:ext cx="11281253" cy="5175529"/>
          </a:xfrm>
        </p:spPr>
        <p:txBody>
          <a:bodyPr>
            <a:normAutofit/>
          </a:bodyPr>
          <a:lstStyle/>
          <a:p>
            <a:pPr algn="just">
              <a:buFont typeface="Wingdings" panose="05000000000000000000" pitchFamily="2" charset="2"/>
              <a:buChar char="Ø"/>
            </a:pPr>
            <a:r>
              <a:rPr lang="en-IN" sz="2200" dirty="0">
                <a:latin typeface="+mj-lt"/>
              </a:rPr>
              <a:t>AWS DB Migration process can be divided into 3 stages </a:t>
            </a:r>
          </a:p>
          <a:p>
            <a:pPr marL="0" indent="0" algn="just">
              <a:buNone/>
            </a:pPr>
            <a:endParaRPr lang="en-IN" sz="2200" dirty="0">
              <a:latin typeface="+mj-lt"/>
            </a:endParaRPr>
          </a:p>
          <a:p>
            <a:pPr marL="804277" lvl="1" indent="-342900" algn="just"/>
            <a:r>
              <a:rPr lang="en-IN" sz="2200" dirty="0">
                <a:latin typeface="+mj-lt"/>
              </a:rPr>
              <a:t>Stage 1 - Pre migration </a:t>
            </a:r>
          </a:p>
          <a:p>
            <a:pPr marL="804277" lvl="1" indent="-342900" algn="just"/>
            <a:r>
              <a:rPr lang="en-IN" sz="2200" dirty="0">
                <a:latin typeface="+mj-lt"/>
              </a:rPr>
              <a:t>Stage 2 - Migration </a:t>
            </a:r>
          </a:p>
          <a:p>
            <a:pPr marL="804277" lvl="1" indent="-342900" algn="just"/>
            <a:r>
              <a:rPr lang="en-IN" sz="2200" dirty="0">
                <a:latin typeface="+mj-lt"/>
              </a:rPr>
              <a:t>Stage 3  - Post Migration </a:t>
            </a:r>
          </a:p>
          <a:p>
            <a:pPr marL="804277" lvl="1" indent="-342900" algn="just"/>
            <a:endParaRPr lang="en-IN" sz="2200" dirty="0">
              <a:latin typeface="+mj-lt"/>
            </a:endParaRPr>
          </a:p>
          <a:p>
            <a:pPr algn="just">
              <a:buFont typeface="Wingdings" panose="05000000000000000000" pitchFamily="2" charset="2"/>
              <a:buChar char="Ø"/>
            </a:pPr>
            <a:endParaRPr lang="en-IN" sz="2200" dirty="0">
              <a:latin typeface="+mj-lt"/>
            </a:endParaRPr>
          </a:p>
        </p:txBody>
      </p:sp>
    </p:spTree>
    <p:extLst>
      <p:ext uri="{BB962C8B-B14F-4D97-AF65-F5344CB8AC3E}">
        <p14:creationId xmlns:p14="http://schemas.microsoft.com/office/powerpoint/2010/main" val="103955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B94AAB-C151-4DA0-8CED-FB085361941A}"/>
              </a:ext>
            </a:extLst>
          </p:cNvPr>
          <p:cNvSpPr>
            <a:spLocks noGrp="1"/>
          </p:cNvSpPr>
          <p:nvPr>
            <p:ph type="title"/>
          </p:nvPr>
        </p:nvSpPr>
        <p:spPr>
          <a:xfrm>
            <a:off x="1001951" y="263900"/>
            <a:ext cx="10515600" cy="1325563"/>
          </a:xfrm>
        </p:spPr>
        <p:txBody>
          <a:bodyPr>
            <a:normAutofit/>
          </a:bodyPr>
          <a:lstStyle/>
          <a:p>
            <a:r>
              <a:rPr lang="en-IN" sz="3200" b="1" dirty="0"/>
              <a:t>DB Migration to AWS –  Stage 1</a:t>
            </a:r>
          </a:p>
        </p:txBody>
      </p:sp>
      <p:sp>
        <p:nvSpPr>
          <p:cNvPr id="6" name="Content Placeholder 5">
            <a:extLst>
              <a:ext uri="{FF2B5EF4-FFF2-40B4-BE49-F238E27FC236}">
                <a16:creationId xmlns:a16="http://schemas.microsoft.com/office/drawing/2014/main" id="{6380E671-7ADC-4D45-9C72-3DE46E9699F3}"/>
              </a:ext>
            </a:extLst>
          </p:cNvPr>
          <p:cNvSpPr>
            <a:spLocks noGrp="1"/>
          </p:cNvSpPr>
          <p:nvPr>
            <p:ph sz="half" idx="1"/>
          </p:nvPr>
        </p:nvSpPr>
        <p:spPr>
          <a:xfrm>
            <a:off x="236298" y="1385888"/>
            <a:ext cx="11281253" cy="5197287"/>
          </a:xfrm>
        </p:spPr>
        <p:txBody>
          <a:bodyPr>
            <a:normAutofit/>
          </a:bodyPr>
          <a:lstStyle/>
          <a:p>
            <a:pPr marL="228611" indent="-228611" algn="just">
              <a:buFont typeface="Wingdings" panose="05000000000000000000" pitchFamily="2" charset="2"/>
              <a:buChar char="Ø"/>
            </a:pPr>
            <a:r>
              <a:rPr lang="en-IN" sz="2000" dirty="0">
                <a:latin typeface="+mj-lt"/>
              </a:rPr>
              <a:t>Learn all  about all DB migration related Services </a:t>
            </a:r>
          </a:p>
          <a:p>
            <a:pPr marL="228611" indent="-228611" algn="just">
              <a:buFont typeface="Wingdings" panose="05000000000000000000" pitchFamily="2" charset="2"/>
              <a:buChar char="Ø"/>
            </a:pPr>
            <a:endParaRPr lang="en-IN" sz="2000" dirty="0">
              <a:latin typeface="+mj-lt"/>
            </a:endParaRPr>
          </a:p>
          <a:p>
            <a:pPr marL="228611" indent="-228611" algn="just">
              <a:buFont typeface="Wingdings" panose="05000000000000000000" pitchFamily="2" charset="2"/>
              <a:buChar char="Ø"/>
            </a:pPr>
            <a:r>
              <a:rPr lang="en-IN" sz="2000" dirty="0">
                <a:latin typeface="+mj-lt"/>
              </a:rPr>
              <a:t>Identify and priorities DB’S which need to be migrated .First migrate those DB’S which have  least dependencies </a:t>
            </a:r>
          </a:p>
          <a:p>
            <a:pPr marL="228611" indent="-228611" algn="just">
              <a:buFont typeface="Wingdings" panose="05000000000000000000" pitchFamily="2" charset="2"/>
              <a:buChar char="Ø"/>
            </a:pPr>
            <a:endParaRPr lang="en-IN" sz="2000" dirty="0">
              <a:latin typeface="+mj-lt"/>
            </a:endParaRPr>
          </a:p>
          <a:p>
            <a:pPr marL="228611" indent="-228611" algn="just">
              <a:buFont typeface="Wingdings" panose="05000000000000000000" pitchFamily="2" charset="2"/>
              <a:buChar char="Ø"/>
            </a:pPr>
            <a:r>
              <a:rPr lang="en-IN" sz="2000" dirty="0">
                <a:latin typeface="+mj-lt"/>
              </a:rPr>
              <a:t>In case of heterogeneous  migration , use SCT tool to get an advance report on  DB Migration </a:t>
            </a:r>
          </a:p>
          <a:p>
            <a:pPr marL="228611" indent="-228611" algn="just">
              <a:buFont typeface="Wingdings" panose="05000000000000000000" pitchFamily="2" charset="2"/>
              <a:buChar char="Ø"/>
            </a:pPr>
            <a:endParaRPr lang="en-IN" sz="2000" dirty="0">
              <a:latin typeface="+mj-lt"/>
            </a:endParaRPr>
          </a:p>
          <a:p>
            <a:pPr marL="228611" indent="-228611" algn="just">
              <a:buFont typeface="Wingdings" panose="05000000000000000000" pitchFamily="2" charset="2"/>
              <a:buChar char="Ø"/>
            </a:pPr>
            <a:r>
              <a:rPr lang="en-IN" sz="2000" dirty="0">
                <a:latin typeface="+mj-lt"/>
              </a:rPr>
              <a:t>SCT report can help  in an early understanding of DB transformation complexity  </a:t>
            </a:r>
          </a:p>
          <a:p>
            <a:pPr marL="228611" indent="-228611" algn="just">
              <a:buFont typeface="Wingdings" panose="05000000000000000000" pitchFamily="2" charset="2"/>
              <a:buChar char="Ø"/>
            </a:pPr>
            <a:endParaRPr lang="en-IN" sz="2000" dirty="0">
              <a:latin typeface="+mj-lt"/>
            </a:endParaRPr>
          </a:p>
          <a:p>
            <a:pPr marL="228611" indent="-228611" algn="just">
              <a:buFont typeface="Wingdings" panose="05000000000000000000" pitchFamily="2" charset="2"/>
              <a:buChar char="Ø"/>
            </a:pPr>
            <a:r>
              <a:rPr lang="en-IN" sz="2000" dirty="0">
                <a:latin typeface="+mj-lt"/>
              </a:rPr>
              <a:t>Create your entire  </a:t>
            </a:r>
            <a:r>
              <a:rPr lang="en-IN" sz="2000" b="1" dirty="0">
                <a:latin typeface="+mj-lt"/>
              </a:rPr>
              <a:t>target  stack using CloudFormation  </a:t>
            </a:r>
            <a:r>
              <a:rPr lang="en-IN" sz="2000" dirty="0">
                <a:latin typeface="+mj-lt"/>
              </a:rPr>
              <a:t> </a:t>
            </a:r>
          </a:p>
          <a:p>
            <a:pPr marL="228611" indent="-228611" algn="just">
              <a:buFont typeface="Wingdings" panose="05000000000000000000" pitchFamily="2" charset="2"/>
              <a:buChar char="Ø"/>
            </a:pPr>
            <a:endParaRPr lang="en-IN" sz="2000" dirty="0">
              <a:latin typeface="+mj-lt"/>
            </a:endParaRPr>
          </a:p>
          <a:p>
            <a:pPr marL="228611" indent="-228611" algn="just">
              <a:buFont typeface="Wingdings" panose="05000000000000000000" pitchFamily="2" charset="2"/>
              <a:buChar char="Ø"/>
            </a:pPr>
            <a:r>
              <a:rPr lang="en-IN" sz="2000" dirty="0">
                <a:latin typeface="+mj-lt"/>
              </a:rPr>
              <a:t>Apply </a:t>
            </a:r>
            <a:r>
              <a:rPr lang="en-IN" sz="2000" b="1" dirty="0">
                <a:latin typeface="+mj-lt"/>
              </a:rPr>
              <a:t>AWS well architecture framework </a:t>
            </a:r>
            <a:r>
              <a:rPr lang="en-IN" sz="2000" dirty="0">
                <a:latin typeface="+mj-lt"/>
              </a:rPr>
              <a:t>on AWS target  cloud  Architecture </a:t>
            </a:r>
          </a:p>
          <a:p>
            <a:pPr marL="228611" indent="-228611" algn="just">
              <a:buFont typeface="Wingdings" panose="05000000000000000000" pitchFamily="2" charset="2"/>
              <a:buChar char="Ø"/>
            </a:pPr>
            <a:endParaRPr lang="en-IN" sz="2000" dirty="0">
              <a:latin typeface="+mj-lt"/>
            </a:endParaRPr>
          </a:p>
        </p:txBody>
      </p:sp>
    </p:spTree>
    <p:extLst>
      <p:ext uri="{BB962C8B-B14F-4D97-AF65-F5344CB8AC3E}">
        <p14:creationId xmlns:p14="http://schemas.microsoft.com/office/powerpoint/2010/main" val="411397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25359C7-F337-4743-BD60-5ADE4118AF4F}"/>
              </a:ext>
            </a:extLst>
          </p:cNvPr>
          <p:cNvSpPr>
            <a:spLocks noGrp="1"/>
          </p:cNvSpPr>
          <p:nvPr>
            <p:ph idx="1"/>
          </p:nvPr>
        </p:nvSpPr>
        <p:spPr>
          <a:xfrm>
            <a:off x="622300" y="1143001"/>
            <a:ext cx="10947400" cy="938028"/>
          </a:xfrm>
        </p:spPr>
        <p:txBody>
          <a:bodyPr/>
          <a:lstStyle/>
          <a:p>
            <a:r>
              <a:rPr lang="en-IN" dirty="0"/>
              <a:t> </a:t>
            </a:r>
            <a:r>
              <a:rPr lang="en-IN" sz="2200" dirty="0"/>
              <a:t>For identifying a right DB migration services, create a DB dependency graph as shown below </a:t>
            </a:r>
          </a:p>
          <a:p>
            <a:endParaRPr lang="en-IN" dirty="0"/>
          </a:p>
        </p:txBody>
      </p:sp>
      <p:sp>
        <p:nvSpPr>
          <p:cNvPr id="6" name="Title 5">
            <a:extLst>
              <a:ext uri="{FF2B5EF4-FFF2-40B4-BE49-F238E27FC236}">
                <a16:creationId xmlns:a16="http://schemas.microsoft.com/office/drawing/2014/main" id="{32BEB1B8-3F7D-4F3E-B79C-A2AEC8B30271}"/>
              </a:ext>
            </a:extLst>
          </p:cNvPr>
          <p:cNvSpPr>
            <a:spLocks noGrp="1"/>
          </p:cNvSpPr>
          <p:nvPr>
            <p:ph type="title"/>
          </p:nvPr>
        </p:nvSpPr>
        <p:spPr/>
        <p:txBody>
          <a:bodyPr>
            <a:normAutofit/>
          </a:bodyPr>
          <a:lstStyle/>
          <a:p>
            <a:r>
              <a:rPr lang="en-IN" sz="3200" b="1" dirty="0">
                <a:solidFill>
                  <a:schemeClr val="tx1"/>
                </a:solidFill>
              </a:rPr>
              <a:t>Identifying and Prioritizing DB’s for Migration </a:t>
            </a:r>
          </a:p>
        </p:txBody>
      </p:sp>
      <p:pic>
        <p:nvPicPr>
          <p:cNvPr id="9" name="Picture 8">
            <a:extLst>
              <a:ext uri="{FF2B5EF4-FFF2-40B4-BE49-F238E27FC236}">
                <a16:creationId xmlns:a16="http://schemas.microsoft.com/office/drawing/2014/main" id="{ADB6C979-FC91-40DB-A27A-35FC4AF8F40E}"/>
              </a:ext>
            </a:extLst>
          </p:cNvPr>
          <p:cNvPicPr>
            <a:picLocks noChangeAspect="1"/>
          </p:cNvPicPr>
          <p:nvPr/>
        </p:nvPicPr>
        <p:blipFill>
          <a:blip r:embed="rId2"/>
          <a:stretch>
            <a:fillRect/>
          </a:stretch>
        </p:blipFill>
        <p:spPr>
          <a:xfrm>
            <a:off x="622300" y="2235350"/>
            <a:ext cx="10274233" cy="3870175"/>
          </a:xfrm>
          <a:prstGeom prst="rect">
            <a:avLst/>
          </a:prstGeom>
        </p:spPr>
      </p:pic>
    </p:spTree>
    <p:extLst>
      <p:ext uri="{BB962C8B-B14F-4D97-AF65-F5344CB8AC3E}">
        <p14:creationId xmlns:p14="http://schemas.microsoft.com/office/powerpoint/2010/main" val="3178216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B94AAB-C151-4DA0-8CED-FB085361941A}"/>
              </a:ext>
            </a:extLst>
          </p:cNvPr>
          <p:cNvSpPr>
            <a:spLocks noGrp="1"/>
          </p:cNvSpPr>
          <p:nvPr>
            <p:ph type="title"/>
          </p:nvPr>
        </p:nvSpPr>
        <p:spPr/>
        <p:txBody>
          <a:bodyPr>
            <a:normAutofit/>
          </a:bodyPr>
          <a:lstStyle/>
          <a:p>
            <a:r>
              <a:rPr lang="en-IN" sz="3200" b="1" dirty="0"/>
              <a:t>DB Migration to AWS –   Stage 2 </a:t>
            </a:r>
          </a:p>
        </p:txBody>
      </p:sp>
      <p:sp>
        <p:nvSpPr>
          <p:cNvPr id="7" name="Content Placeholder 6">
            <a:extLst>
              <a:ext uri="{FF2B5EF4-FFF2-40B4-BE49-F238E27FC236}">
                <a16:creationId xmlns:a16="http://schemas.microsoft.com/office/drawing/2014/main" id="{3D1F14EE-40E4-4C7E-9A1A-181EE043481F}"/>
              </a:ext>
            </a:extLst>
          </p:cNvPr>
          <p:cNvSpPr>
            <a:spLocks noGrp="1"/>
          </p:cNvSpPr>
          <p:nvPr>
            <p:ph sz="half" idx="10"/>
          </p:nvPr>
        </p:nvSpPr>
        <p:spPr>
          <a:xfrm>
            <a:off x="942282" y="1801400"/>
            <a:ext cx="8487468" cy="3037300"/>
          </a:xfrm>
        </p:spPr>
        <p:txBody>
          <a:bodyPr>
            <a:normAutofit/>
          </a:bodyPr>
          <a:lstStyle/>
          <a:p>
            <a:pPr marL="228611" indent="-228611" algn="just">
              <a:buFont typeface="Wingdings" panose="05000000000000000000" pitchFamily="2" charset="2"/>
              <a:buChar char="Ø"/>
            </a:pPr>
            <a:r>
              <a:rPr lang="en-IN" sz="2200" dirty="0">
                <a:latin typeface="+mj-lt"/>
              </a:rPr>
              <a:t>Run SCT in case of heterogeneous DB migration </a:t>
            </a:r>
          </a:p>
          <a:p>
            <a:pPr marL="228611" indent="-228611" algn="just">
              <a:buFont typeface="Wingdings" panose="05000000000000000000" pitchFamily="2" charset="2"/>
              <a:buChar char="Ø"/>
            </a:pPr>
            <a:endParaRPr lang="en-IN" sz="2200" dirty="0">
              <a:latin typeface="+mj-lt"/>
            </a:endParaRPr>
          </a:p>
          <a:p>
            <a:pPr marL="228611" indent="-228611" algn="just">
              <a:buFont typeface="Wingdings" panose="05000000000000000000" pitchFamily="2" charset="2"/>
              <a:buChar char="Ø"/>
            </a:pPr>
            <a:r>
              <a:rPr lang="en-IN" sz="2200" dirty="0">
                <a:latin typeface="+mj-lt"/>
              </a:rPr>
              <a:t>Configure DMS for  DB Migration </a:t>
            </a:r>
          </a:p>
          <a:p>
            <a:pPr marL="228611" indent="-228611" algn="just">
              <a:buFont typeface="Wingdings" panose="05000000000000000000" pitchFamily="2" charset="2"/>
              <a:buChar char="Ø"/>
            </a:pPr>
            <a:endParaRPr lang="en-IN" sz="2200" dirty="0">
              <a:latin typeface="+mj-lt"/>
            </a:endParaRPr>
          </a:p>
          <a:p>
            <a:pPr marL="228611" indent="-228611" algn="just">
              <a:buFont typeface="Wingdings" panose="05000000000000000000" pitchFamily="2" charset="2"/>
              <a:buChar char="Ø"/>
            </a:pPr>
            <a:r>
              <a:rPr lang="en-IN" sz="2200" dirty="0">
                <a:latin typeface="+mj-lt"/>
              </a:rPr>
              <a:t>Initiate your DB Migration task </a:t>
            </a:r>
          </a:p>
          <a:p>
            <a:pPr marL="0" indent="0" algn="just">
              <a:buNone/>
            </a:pPr>
            <a:endParaRPr lang="en-IN" sz="2200" dirty="0">
              <a:latin typeface="+mj-lt"/>
            </a:endParaRPr>
          </a:p>
          <a:p>
            <a:pPr marL="228611" indent="-228611" algn="just">
              <a:buFont typeface="Wingdings" panose="05000000000000000000" pitchFamily="2" charset="2"/>
              <a:buChar char="Ø"/>
            </a:pPr>
            <a:r>
              <a:rPr lang="en-IN" sz="2200" dirty="0">
                <a:latin typeface="+mj-lt"/>
              </a:rPr>
              <a:t>Use </a:t>
            </a:r>
            <a:r>
              <a:rPr lang="en-IN" sz="2200" b="1" dirty="0">
                <a:latin typeface="+mj-lt"/>
              </a:rPr>
              <a:t>AWS Migration Hub </a:t>
            </a:r>
            <a:r>
              <a:rPr lang="en-IN" sz="2200" dirty="0">
                <a:latin typeface="+mj-lt"/>
              </a:rPr>
              <a:t>to monitor all DB migration </a:t>
            </a:r>
          </a:p>
          <a:p>
            <a:pPr marL="228611" indent="-228611" algn="just">
              <a:buFont typeface="Wingdings" panose="05000000000000000000" pitchFamily="2" charset="2"/>
              <a:buChar char="Ø"/>
            </a:pPr>
            <a:endParaRPr lang="en-IN" sz="2200" dirty="0">
              <a:latin typeface="+mj-lt"/>
            </a:endParaRPr>
          </a:p>
        </p:txBody>
      </p:sp>
    </p:spTree>
    <p:extLst>
      <p:ext uri="{BB962C8B-B14F-4D97-AF65-F5344CB8AC3E}">
        <p14:creationId xmlns:p14="http://schemas.microsoft.com/office/powerpoint/2010/main" val="127768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21AF-E92F-4B85-95A3-EEF393D036DE}"/>
              </a:ext>
            </a:extLst>
          </p:cNvPr>
          <p:cNvSpPr>
            <a:spLocks noGrp="1"/>
          </p:cNvSpPr>
          <p:nvPr>
            <p:ph type="title"/>
          </p:nvPr>
        </p:nvSpPr>
        <p:spPr/>
        <p:txBody>
          <a:bodyPr>
            <a:normAutofit/>
          </a:bodyPr>
          <a:lstStyle/>
          <a:p>
            <a:r>
              <a:rPr lang="en-IN" sz="3200" b="1" dirty="0">
                <a:solidFill>
                  <a:schemeClr val="tx1"/>
                </a:solidFill>
              </a:rPr>
              <a:t>Running SCT tool for Heterogeneous DB Migrations </a:t>
            </a:r>
          </a:p>
        </p:txBody>
      </p:sp>
      <p:sp>
        <p:nvSpPr>
          <p:cNvPr id="7" name="Text Placeholder 6">
            <a:extLst>
              <a:ext uri="{FF2B5EF4-FFF2-40B4-BE49-F238E27FC236}">
                <a16:creationId xmlns:a16="http://schemas.microsoft.com/office/drawing/2014/main" id="{D22339A0-40E9-48D0-9BA9-3A202CB3DB83}"/>
              </a:ext>
            </a:extLst>
          </p:cNvPr>
          <p:cNvSpPr>
            <a:spLocks noGrp="1"/>
          </p:cNvSpPr>
          <p:nvPr>
            <p:ph type="body" sz="quarter" idx="10"/>
          </p:nvPr>
        </p:nvSpPr>
        <p:spPr>
          <a:xfrm>
            <a:off x="622300" y="1174513"/>
            <a:ext cx="10947400" cy="4846775"/>
          </a:xfrm>
        </p:spPr>
        <p:txBody>
          <a:bodyPr>
            <a:normAutofit/>
          </a:bodyPr>
          <a:lstStyle/>
          <a:p>
            <a:pPr lvl="1">
              <a:buFont typeface="Wingdings" panose="05000000000000000000" pitchFamily="2" charset="2"/>
              <a:buChar char="Ø"/>
            </a:pPr>
            <a:r>
              <a:rPr lang="en-IN" sz="2000" dirty="0">
                <a:latin typeface="+mj-lt"/>
              </a:rPr>
              <a:t>Step 1 - Install SCT tools </a:t>
            </a:r>
          </a:p>
          <a:p>
            <a:pPr marL="914400" lvl="2" indent="0">
              <a:buNone/>
            </a:pPr>
            <a:endParaRPr lang="en-IN" dirty="0">
              <a:latin typeface="+mj-lt"/>
            </a:endParaRPr>
          </a:p>
          <a:p>
            <a:pPr lvl="1">
              <a:buFont typeface="Wingdings" panose="05000000000000000000" pitchFamily="2" charset="2"/>
              <a:buChar char="Ø"/>
            </a:pPr>
            <a:r>
              <a:rPr lang="en-IN" sz="2000" dirty="0">
                <a:latin typeface="+mj-lt"/>
              </a:rPr>
              <a:t>Step 2 – Connect to your source DB </a:t>
            </a:r>
          </a:p>
          <a:p>
            <a:pPr lvl="1">
              <a:buFont typeface="Wingdings" panose="05000000000000000000" pitchFamily="2" charset="2"/>
              <a:buChar char="Ø"/>
            </a:pPr>
            <a:endParaRPr lang="en-IN" sz="2000" dirty="0">
              <a:latin typeface="+mj-lt"/>
            </a:endParaRPr>
          </a:p>
          <a:p>
            <a:pPr lvl="1">
              <a:buFont typeface="Wingdings" panose="05000000000000000000" pitchFamily="2" charset="2"/>
              <a:buChar char="Ø"/>
            </a:pPr>
            <a:r>
              <a:rPr lang="en-IN" sz="2000" dirty="0">
                <a:latin typeface="+mj-lt"/>
              </a:rPr>
              <a:t>Step 3 – Connect to your Target DB </a:t>
            </a:r>
          </a:p>
          <a:p>
            <a:pPr lvl="1">
              <a:buFont typeface="Wingdings" panose="05000000000000000000" pitchFamily="2" charset="2"/>
              <a:buChar char="Ø"/>
            </a:pPr>
            <a:endParaRPr lang="en-IN" sz="2000" dirty="0">
              <a:latin typeface="+mj-lt"/>
            </a:endParaRPr>
          </a:p>
          <a:p>
            <a:pPr lvl="1">
              <a:buFont typeface="Wingdings" panose="05000000000000000000" pitchFamily="2" charset="2"/>
              <a:buChar char="Ø"/>
            </a:pPr>
            <a:r>
              <a:rPr lang="en-IN" sz="2000" dirty="0">
                <a:latin typeface="+mj-lt"/>
              </a:rPr>
              <a:t>Step 4 – View the schema feedback report to understand the complexity of DB migration </a:t>
            </a:r>
          </a:p>
          <a:p>
            <a:pPr lvl="1">
              <a:buFont typeface="Wingdings" panose="05000000000000000000" pitchFamily="2" charset="2"/>
              <a:buChar char="Ø"/>
            </a:pPr>
            <a:endParaRPr lang="en-IN" sz="2000" dirty="0">
              <a:latin typeface="+mj-lt"/>
            </a:endParaRPr>
          </a:p>
          <a:p>
            <a:pPr lvl="1">
              <a:buFont typeface="Wingdings" panose="05000000000000000000" pitchFamily="2" charset="2"/>
              <a:buChar char="Ø"/>
            </a:pPr>
            <a:r>
              <a:rPr lang="en-IN" sz="2000" dirty="0">
                <a:latin typeface="+mj-lt"/>
              </a:rPr>
              <a:t>Step 5 – Convert your schema from Source to Target </a:t>
            </a:r>
          </a:p>
          <a:p>
            <a:pPr lvl="1">
              <a:buFont typeface="Wingdings" panose="05000000000000000000" pitchFamily="2" charset="2"/>
              <a:buChar char="Ø"/>
            </a:pPr>
            <a:endParaRPr lang="en-IN" sz="2000" dirty="0">
              <a:latin typeface="+mj-lt"/>
            </a:endParaRPr>
          </a:p>
          <a:p>
            <a:pPr lvl="1">
              <a:buFont typeface="Wingdings" panose="05000000000000000000" pitchFamily="2" charset="2"/>
              <a:buChar char="Ø"/>
            </a:pPr>
            <a:r>
              <a:rPr lang="en-IN" sz="2000" dirty="0">
                <a:latin typeface="+mj-lt"/>
              </a:rPr>
              <a:t>Step 6 – Apply your schema on target DB </a:t>
            </a:r>
          </a:p>
          <a:p>
            <a:pPr lvl="1">
              <a:buFont typeface="Wingdings" panose="05000000000000000000" pitchFamily="2" charset="2"/>
              <a:buChar char="Ø"/>
            </a:pPr>
            <a:endParaRPr lang="en-IN" sz="2000" dirty="0">
              <a:latin typeface="+mj-lt"/>
            </a:endParaRPr>
          </a:p>
          <a:p>
            <a:pPr lvl="2">
              <a:buFont typeface="Wingdings" panose="05000000000000000000" pitchFamily="2" charset="2"/>
              <a:buChar char="Ø"/>
            </a:pPr>
            <a:endParaRPr lang="en-IN" dirty="0">
              <a:latin typeface="+mj-lt"/>
            </a:endParaRPr>
          </a:p>
          <a:p>
            <a:pPr lvl="1">
              <a:buFont typeface="Wingdings" panose="05000000000000000000" pitchFamily="2" charset="2"/>
              <a:buChar char="Ø"/>
            </a:pPr>
            <a:endParaRPr lang="en-IN" sz="2000" dirty="0">
              <a:latin typeface="+mj-lt"/>
            </a:endParaRPr>
          </a:p>
        </p:txBody>
      </p:sp>
    </p:spTree>
    <p:extLst>
      <p:ext uri="{BB962C8B-B14F-4D97-AF65-F5344CB8AC3E}">
        <p14:creationId xmlns:p14="http://schemas.microsoft.com/office/powerpoint/2010/main" val="40377038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B94AAB-C151-4DA0-8CED-FB085361941A}"/>
              </a:ext>
            </a:extLst>
          </p:cNvPr>
          <p:cNvSpPr>
            <a:spLocks noGrp="1"/>
          </p:cNvSpPr>
          <p:nvPr>
            <p:ph type="title"/>
          </p:nvPr>
        </p:nvSpPr>
        <p:spPr/>
        <p:txBody>
          <a:bodyPr>
            <a:normAutofit/>
          </a:bodyPr>
          <a:lstStyle/>
          <a:p>
            <a:r>
              <a:rPr lang="en-IN" sz="3200" b="1" dirty="0"/>
              <a:t>DB Migration to AWS – Stage 3 </a:t>
            </a:r>
          </a:p>
        </p:txBody>
      </p:sp>
      <p:sp>
        <p:nvSpPr>
          <p:cNvPr id="8" name="Content Placeholder 7">
            <a:extLst>
              <a:ext uri="{FF2B5EF4-FFF2-40B4-BE49-F238E27FC236}">
                <a16:creationId xmlns:a16="http://schemas.microsoft.com/office/drawing/2014/main" id="{46C4A98E-BD7F-4CC3-8EB1-39C68A637F98}"/>
              </a:ext>
            </a:extLst>
          </p:cNvPr>
          <p:cNvSpPr>
            <a:spLocks noGrp="1"/>
          </p:cNvSpPr>
          <p:nvPr>
            <p:ph sz="half" idx="11"/>
          </p:nvPr>
        </p:nvSpPr>
        <p:spPr>
          <a:xfrm>
            <a:off x="361950" y="1535080"/>
            <a:ext cx="10134600" cy="3617945"/>
          </a:xfrm>
        </p:spPr>
        <p:txBody>
          <a:bodyPr>
            <a:normAutofit/>
          </a:bodyPr>
          <a:lstStyle/>
          <a:p>
            <a:pPr marL="228611" indent="-228611" algn="just">
              <a:buFont typeface="Wingdings" panose="05000000000000000000" pitchFamily="2" charset="2"/>
              <a:buChar char="Ø"/>
            </a:pPr>
            <a:r>
              <a:rPr lang="en-IN" sz="2200" dirty="0">
                <a:latin typeface="+mj-lt"/>
              </a:rPr>
              <a:t>Validate That </a:t>
            </a:r>
            <a:r>
              <a:rPr lang="en-IN" sz="2200" b="1" dirty="0">
                <a:latin typeface="+mj-lt"/>
              </a:rPr>
              <a:t>all data </a:t>
            </a:r>
            <a:r>
              <a:rPr lang="en-IN" sz="2200" dirty="0">
                <a:latin typeface="+mj-lt"/>
              </a:rPr>
              <a:t>has been migrated </a:t>
            </a:r>
          </a:p>
          <a:p>
            <a:pPr marL="228611" indent="-228611" algn="just">
              <a:buFont typeface="Wingdings" panose="05000000000000000000" pitchFamily="2" charset="2"/>
              <a:buChar char="Ø"/>
            </a:pPr>
            <a:endParaRPr lang="en-IN" sz="2200" dirty="0">
              <a:latin typeface="+mj-lt"/>
            </a:endParaRPr>
          </a:p>
          <a:p>
            <a:pPr marL="228611" indent="-228611" algn="just">
              <a:buFont typeface="Wingdings" panose="05000000000000000000" pitchFamily="2" charset="2"/>
              <a:buChar char="Ø"/>
            </a:pPr>
            <a:r>
              <a:rPr lang="en-IN" sz="2200" dirty="0">
                <a:latin typeface="+mj-lt"/>
              </a:rPr>
              <a:t>Perform all post migration activities </a:t>
            </a:r>
          </a:p>
          <a:p>
            <a:pPr marL="228611" indent="-228611" algn="just">
              <a:buFont typeface="Wingdings" panose="05000000000000000000" pitchFamily="2" charset="2"/>
              <a:buChar char="Ø"/>
            </a:pPr>
            <a:endParaRPr lang="en-IN" sz="2200" dirty="0">
              <a:latin typeface="+mj-lt"/>
            </a:endParaRPr>
          </a:p>
          <a:p>
            <a:pPr marL="228611" indent="-228611" algn="just">
              <a:buFont typeface="Wingdings" panose="05000000000000000000" pitchFamily="2" charset="2"/>
              <a:buChar char="Ø"/>
            </a:pPr>
            <a:r>
              <a:rPr lang="en-IN" sz="2200" dirty="0">
                <a:latin typeface="+mj-lt"/>
              </a:rPr>
              <a:t>Integrate your data with other AWS cloud services </a:t>
            </a:r>
          </a:p>
          <a:p>
            <a:pPr marL="228611" indent="-228611" algn="just">
              <a:buFont typeface="Wingdings" panose="05000000000000000000" pitchFamily="2" charset="2"/>
              <a:buChar char="Ø"/>
            </a:pPr>
            <a:endParaRPr lang="en-IN" sz="2200" dirty="0">
              <a:latin typeface="+mj-lt"/>
            </a:endParaRPr>
          </a:p>
          <a:p>
            <a:pPr marL="228611" indent="-228611" algn="just">
              <a:buFont typeface="Wingdings" panose="05000000000000000000" pitchFamily="2" charset="2"/>
              <a:buChar char="Ø"/>
            </a:pPr>
            <a:r>
              <a:rPr lang="en-IN" sz="2200" dirty="0">
                <a:latin typeface="+mj-lt"/>
              </a:rPr>
              <a:t>Apply again well </a:t>
            </a:r>
            <a:r>
              <a:rPr lang="en-IN" sz="2200" b="1" dirty="0">
                <a:latin typeface="+mj-lt"/>
              </a:rPr>
              <a:t>AWS architecture framework </a:t>
            </a:r>
            <a:r>
              <a:rPr lang="en-IN" sz="2200" dirty="0">
                <a:latin typeface="+mj-lt"/>
              </a:rPr>
              <a:t>to further optimize your DB in Cloud </a:t>
            </a:r>
          </a:p>
          <a:p>
            <a:pPr algn="just"/>
            <a:endParaRPr lang="en-IN" sz="2200" b="1" dirty="0">
              <a:latin typeface="+mj-lt"/>
            </a:endParaRPr>
          </a:p>
        </p:txBody>
      </p:sp>
    </p:spTree>
    <p:extLst>
      <p:ext uri="{BB962C8B-B14F-4D97-AF65-F5344CB8AC3E}">
        <p14:creationId xmlns:p14="http://schemas.microsoft.com/office/powerpoint/2010/main" val="244806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7F4C93-4869-46F0-90C4-840103DADC88}"/>
              </a:ext>
            </a:extLst>
          </p:cNvPr>
          <p:cNvSpPr>
            <a:spLocks noGrp="1"/>
          </p:cNvSpPr>
          <p:nvPr>
            <p:ph idx="1"/>
          </p:nvPr>
        </p:nvSpPr>
        <p:spPr>
          <a:xfrm>
            <a:off x="184149" y="1913311"/>
            <a:ext cx="11598275" cy="3706439"/>
          </a:xfrm>
        </p:spPr>
        <p:txBody>
          <a:bodyPr>
            <a:normAutofit/>
          </a:bodyPr>
          <a:lstStyle/>
          <a:p>
            <a:pPr marL="304815" indent="-304815" algn="just">
              <a:buFont typeface="Wingdings" panose="05000000000000000000" pitchFamily="2" charset="2"/>
              <a:buChar char="Ø"/>
            </a:pPr>
            <a:r>
              <a:rPr lang="en-IN" sz="2200" dirty="0">
                <a:latin typeface="+mj-lt"/>
              </a:rPr>
              <a:t>When using AWS DMS, the below steps must be followed </a:t>
            </a:r>
          </a:p>
          <a:p>
            <a:pPr marL="0" indent="0" algn="just">
              <a:buNone/>
            </a:pPr>
            <a:endParaRPr lang="en-IN" sz="2200" dirty="0">
              <a:latin typeface="+mj-lt"/>
            </a:endParaRPr>
          </a:p>
          <a:p>
            <a:pPr marL="800123" lvl="1" indent="-342900" algn="just"/>
            <a:r>
              <a:rPr lang="en-IN" sz="2200" dirty="0">
                <a:latin typeface="+mj-lt"/>
              </a:rPr>
              <a:t>Create a replication server.</a:t>
            </a:r>
          </a:p>
          <a:p>
            <a:pPr marL="800123" lvl="1" indent="-342900" algn="just"/>
            <a:endParaRPr lang="en-IN" sz="2200" dirty="0">
              <a:latin typeface="+mj-lt"/>
            </a:endParaRPr>
          </a:p>
          <a:p>
            <a:pPr marL="800123" lvl="1" indent="-342900" algn="just"/>
            <a:r>
              <a:rPr lang="en-IN" sz="2200" dirty="0">
                <a:latin typeface="+mj-lt"/>
              </a:rPr>
              <a:t>Create source and target endpoints that have connection information about your data stores</a:t>
            </a:r>
          </a:p>
          <a:p>
            <a:pPr marL="800123" lvl="1" indent="-342900" algn="just"/>
            <a:endParaRPr lang="en-IN" sz="2200" dirty="0">
              <a:latin typeface="+mj-lt"/>
            </a:endParaRPr>
          </a:p>
          <a:p>
            <a:pPr marL="800123" lvl="1" indent="-342900" algn="just"/>
            <a:r>
              <a:rPr lang="en-IN" sz="2200" dirty="0">
                <a:latin typeface="+mj-lt"/>
              </a:rPr>
              <a:t>Create one or more tasks to migrate data between the source and target  DB’S </a:t>
            </a:r>
          </a:p>
          <a:p>
            <a:pPr marL="762038" lvl="1" indent="-304815" algn="just">
              <a:buFont typeface="Wingdings" panose="05000000000000000000" pitchFamily="2" charset="2"/>
              <a:buChar char="Ø"/>
            </a:pPr>
            <a:endParaRPr lang="en-IN" sz="2200" dirty="0">
              <a:latin typeface="+mj-lt"/>
            </a:endParaRPr>
          </a:p>
        </p:txBody>
      </p:sp>
      <p:sp>
        <p:nvSpPr>
          <p:cNvPr id="3" name="Title 2">
            <a:extLst>
              <a:ext uri="{FF2B5EF4-FFF2-40B4-BE49-F238E27FC236}">
                <a16:creationId xmlns:a16="http://schemas.microsoft.com/office/drawing/2014/main" id="{DE66F0E2-D112-43BA-B670-350E87543533}"/>
              </a:ext>
            </a:extLst>
          </p:cNvPr>
          <p:cNvSpPr>
            <a:spLocks noGrp="1"/>
          </p:cNvSpPr>
          <p:nvPr>
            <p:ph type="title"/>
          </p:nvPr>
        </p:nvSpPr>
        <p:spPr/>
        <p:txBody>
          <a:bodyPr>
            <a:normAutofit/>
          </a:bodyPr>
          <a:lstStyle/>
          <a:p>
            <a:r>
              <a:rPr lang="en-IN" sz="3200" b="1" dirty="0"/>
              <a:t>DMS Configuration </a:t>
            </a:r>
          </a:p>
        </p:txBody>
      </p:sp>
      <p:sp>
        <p:nvSpPr>
          <p:cNvPr id="4" name="Footer Placeholder 3">
            <a:extLst>
              <a:ext uri="{FF2B5EF4-FFF2-40B4-BE49-F238E27FC236}">
                <a16:creationId xmlns:a16="http://schemas.microsoft.com/office/drawing/2014/main" id="{C50709AA-4B3D-499B-B896-7F97C381748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4633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AD377F-BD05-4A96-9899-2473EE5877BD}"/>
              </a:ext>
            </a:extLst>
          </p:cNvPr>
          <p:cNvSpPr>
            <a:spLocks noGrp="1"/>
          </p:cNvSpPr>
          <p:nvPr>
            <p:ph type="title"/>
          </p:nvPr>
        </p:nvSpPr>
        <p:spPr/>
        <p:txBody>
          <a:bodyPr>
            <a:normAutofit/>
          </a:bodyPr>
          <a:lstStyle/>
          <a:p>
            <a:r>
              <a:rPr lang="en-IN" sz="3200" b="1" dirty="0"/>
              <a:t>DMS Configuration Steps </a:t>
            </a:r>
          </a:p>
        </p:txBody>
      </p:sp>
      <p:pic>
        <p:nvPicPr>
          <p:cNvPr id="4" name="Picture 3">
            <a:extLst>
              <a:ext uri="{FF2B5EF4-FFF2-40B4-BE49-F238E27FC236}">
                <a16:creationId xmlns:a16="http://schemas.microsoft.com/office/drawing/2014/main" id="{A5F67BF8-5288-47F8-95C9-3AC9B53EEE84}"/>
              </a:ext>
            </a:extLst>
          </p:cNvPr>
          <p:cNvPicPr>
            <a:picLocks noChangeAspect="1"/>
          </p:cNvPicPr>
          <p:nvPr/>
        </p:nvPicPr>
        <p:blipFill>
          <a:blip r:embed="rId2"/>
          <a:stretch>
            <a:fillRect/>
          </a:stretch>
        </p:blipFill>
        <p:spPr>
          <a:xfrm>
            <a:off x="1103445" y="1412776"/>
            <a:ext cx="10033115" cy="4560507"/>
          </a:xfrm>
          <a:prstGeom prst="rect">
            <a:avLst/>
          </a:prstGeom>
        </p:spPr>
      </p:pic>
      <p:sp>
        <p:nvSpPr>
          <p:cNvPr id="5" name="Rectangle 4">
            <a:extLst>
              <a:ext uri="{FF2B5EF4-FFF2-40B4-BE49-F238E27FC236}">
                <a16:creationId xmlns:a16="http://schemas.microsoft.com/office/drawing/2014/main" id="{28404F74-4EF1-440E-A584-C75901A9CEA1}"/>
              </a:ext>
            </a:extLst>
          </p:cNvPr>
          <p:cNvSpPr/>
          <p:nvPr/>
        </p:nvSpPr>
        <p:spPr bwMode="auto">
          <a:xfrm>
            <a:off x="1007435" y="1988840"/>
            <a:ext cx="1968219" cy="1440160"/>
          </a:xfrm>
          <a:prstGeom prst="rect">
            <a:avLst/>
          </a:prstGeom>
          <a:noFill/>
          <a:ln w="38100" cap="flat" cmpd="sng" algn="ctr">
            <a:solidFill>
              <a:srgbClr val="FF0000"/>
            </a:solidFill>
            <a:prstDash val="solid"/>
            <a:round/>
            <a:headEnd type="none" w="sm" len="sm"/>
            <a:tailEnd type="none" w="sm" len="sm"/>
          </a:ln>
          <a:effectLst/>
        </p:spPr>
        <p:txBody>
          <a:bodyPr vert="horz" wrap="square" lIns="60960" tIns="30480" rIns="60960" bIns="30480" numCol="1" rtlCol="0" anchor="t" anchorCtr="0" compatLnSpc="1">
            <a:prstTxWarp prst="textNoShape">
              <a:avLst/>
            </a:prstTxWarp>
          </a:bodyPr>
          <a:lstStyle/>
          <a:p>
            <a:pPr marL="0" marR="0" lvl="0" indent="0" algn="ctr" defTabSz="152408" rtl="0" eaLnBrk="1" fontAlgn="base" latinLnBrk="0" hangingPunct="1">
              <a:lnSpc>
                <a:spcPct val="100000"/>
              </a:lnSpc>
              <a:spcBef>
                <a:spcPct val="20000"/>
              </a:spcBef>
              <a:spcAft>
                <a:spcPct val="0"/>
              </a:spcAft>
              <a:buClr>
                <a:srgbClr val="FF0000"/>
              </a:buClr>
              <a:buSzTx/>
              <a:buFontTx/>
              <a:buNone/>
              <a:tabLst/>
              <a:defRPr/>
            </a:pPr>
            <a:endParaRPr kumimoji="0" lang="en-IN"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 name="Footer Placeholder 1">
            <a:extLst>
              <a:ext uri="{FF2B5EF4-FFF2-40B4-BE49-F238E27FC236}">
                <a16:creationId xmlns:a16="http://schemas.microsoft.com/office/drawing/2014/main" id="{CE79E1D3-5ABD-47FB-ADFD-2322FB7BE9A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9903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5FB7DE-CC10-4D44-B7CD-D57103219DEF}"/>
              </a:ext>
            </a:extLst>
          </p:cNvPr>
          <p:cNvSpPr>
            <a:spLocks noGrp="1"/>
          </p:cNvSpPr>
          <p:nvPr>
            <p:ph type="title"/>
          </p:nvPr>
        </p:nvSpPr>
        <p:spPr/>
        <p:txBody>
          <a:bodyPr>
            <a:normAutofit/>
          </a:bodyPr>
          <a:lstStyle/>
          <a:p>
            <a:r>
              <a:rPr lang="en-IN" sz="3200" b="1" dirty="0">
                <a:solidFill>
                  <a:schemeClr val="tx1"/>
                </a:solidFill>
              </a:rPr>
              <a:t>AWS Redshift Migration Architecture  </a:t>
            </a:r>
          </a:p>
        </p:txBody>
      </p:sp>
      <p:pic>
        <p:nvPicPr>
          <p:cNvPr id="5122" name="Picture 2" descr="Amazon Redshift Migration Overview&#10;AWS CloudCorporate Data center&#10;Amazon&#10;DynamoDB&#10;Amazon S3&#10;Data&#10;Volume&#10;Amazon Elastic&#10;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93" y="1316765"/>
            <a:ext cx="10502851" cy="408391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2193A7A-D124-4977-9812-55387196A98B}"/>
              </a:ext>
            </a:extLst>
          </p:cNvPr>
          <p:cNvSpPr txBox="1"/>
          <p:nvPr/>
        </p:nvSpPr>
        <p:spPr>
          <a:xfrm>
            <a:off x="815413" y="5493230"/>
            <a:ext cx="54726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Source: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https://www.slideshare.net/AmazonWebServices/migrate-your-data-warehouse-to-amazon-redshift</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8375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sz="3200" b="1" dirty="0"/>
              <a:t>From RDS to AWS Dynamo DB Migration </a:t>
            </a:r>
          </a:p>
        </p:txBody>
      </p:sp>
      <p:pic>
        <p:nvPicPr>
          <p:cNvPr id="2050" name="Picture 2" descr="https://d2908q01vomqb2.cloudfront.net/b6692ea5df920cad691c20319a6fffd7a4a766b8/2017/04/28/ZeroDowntime_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413" y="1460782"/>
            <a:ext cx="9649072" cy="39364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13FB6AB-86AE-4579-A3C8-96B0112D8C7B}"/>
              </a:ext>
            </a:extLst>
          </p:cNvPr>
          <p:cNvSpPr txBox="1"/>
          <p:nvPr/>
        </p:nvSpPr>
        <p:spPr>
          <a:xfrm>
            <a:off x="959429" y="5687940"/>
            <a:ext cx="456050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https://aws.amazon.com/blogs/big-data/near-zero-downtime-migration-from-mysql-to-dynamodb/</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CA24C730-ADFC-4EC8-BF07-A50BF010FF4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99770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300" y="457202"/>
            <a:ext cx="11234340" cy="497415"/>
          </a:xfrm>
        </p:spPr>
        <p:txBody>
          <a:bodyPr>
            <a:normAutofit/>
          </a:bodyPr>
          <a:lstStyle/>
          <a:p>
            <a:r>
              <a:rPr lang="en-IN" sz="3200" b="1" dirty="0">
                <a:solidFill>
                  <a:schemeClr val="tx1"/>
                </a:solidFill>
              </a:rPr>
              <a:t>Use Case Mass DB Transfer To AWS Using Snowball edge </a:t>
            </a:r>
          </a:p>
        </p:txBody>
      </p:sp>
      <p:pic>
        <p:nvPicPr>
          <p:cNvPr id="8194" name="Picture 2" descr="https://d2908q01vomqb2.cloudfront.net/887309d048beef83ad3eabf2a79a64a389ab1c9f/2017/11/15/Architec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126" y="1160144"/>
            <a:ext cx="8400933" cy="46085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572859D-770D-45C9-A14C-DC839081F6EE}"/>
              </a:ext>
            </a:extLst>
          </p:cNvPr>
          <p:cNvSpPr txBox="1"/>
          <p:nvPr/>
        </p:nvSpPr>
        <p:spPr>
          <a:xfrm>
            <a:off x="9168341" y="2417960"/>
            <a:ext cx="2592288"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AWS snowball is both a service and a secure device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AWS Snowball can be used to transfer very large DB’s in the range of 100 TB via shipping logistic, with in two week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This can  avoid issue like bandwidth limitation etc..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D4A9C1F-903A-433A-AE0D-60A596D8478A}"/>
              </a:ext>
            </a:extLst>
          </p:cNvPr>
          <p:cNvSpPr txBox="1"/>
          <p:nvPr/>
        </p:nvSpPr>
        <p:spPr>
          <a:xfrm>
            <a:off x="2591611" y="5757187"/>
            <a:ext cx="619268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https://aws.amazon.com/blogs/database/new-aws-dms-and-aws-snowball-integration-enables-mass-database-migrations-and-migrations-of-large-databases/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05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17DF-AE5F-4D3A-B7A8-D1560F846E08}"/>
              </a:ext>
            </a:extLst>
          </p:cNvPr>
          <p:cNvSpPr>
            <a:spLocks noGrp="1"/>
          </p:cNvSpPr>
          <p:nvPr>
            <p:ph type="title"/>
          </p:nvPr>
        </p:nvSpPr>
        <p:spPr>
          <a:xfrm>
            <a:off x="838200" y="184150"/>
            <a:ext cx="10515600" cy="968375"/>
          </a:xfrm>
        </p:spPr>
        <p:txBody>
          <a:bodyPr>
            <a:normAutofit/>
          </a:bodyPr>
          <a:lstStyle/>
          <a:p>
            <a:r>
              <a:rPr lang="en-IN" sz="3600" dirty="0"/>
              <a:t>Overview of DynamoDB</a:t>
            </a:r>
          </a:p>
        </p:txBody>
      </p:sp>
      <p:pic>
        <p:nvPicPr>
          <p:cNvPr id="4" name="Content Placeholder 3">
            <a:extLst>
              <a:ext uri="{FF2B5EF4-FFF2-40B4-BE49-F238E27FC236}">
                <a16:creationId xmlns:a16="http://schemas.microsoft.com/office/drawing/2014/main" id="{82A7AB4D-209E-4D46-BE46-E8727BE61231}"/>
              </a:ext>
            </a:extLst>
          </p:cNvPr>
          <p:cNvPicPr>
            <a:picLocks noGrp="1" noChangeAspect="1"/>
          </p:cNvPicPr>
          <p:nvPr>
            <p:ph idx="1"/>
          </p:nvPr>
        </p:nvPicPr>
        <p:blipFill>
          <a:blip r:embed="rId2"/>
          <a:stretch>
            <a:fillRect/>
          </a:stretch>
        </p:blipFill>
        <p:spPr>
          <a:xfrm>
            <a:off x="1962327" y="3167758"/>
            <a:ext cx="7681194" cy="3233933"/>
          </a:xfrm>
          <a:prstGeom prst="rect">
            <a:avLst/>
          </a:prstGeom>
        </p:spPr>
      </p:pic>
      <p:sp>
        <p:nvSpPr>
          <p:cNvPr id="5" name="TextBox 4">
            <a:extLst>
              <a:ext uri="{FF2B5EF4-FFF2-40B4-BE49-F238E27FC236}">
                <a16:creationId xmlns:a16="http://schemas.microsoft.com/office/drawing/2014/main" id="{9C0D7956-A059-4193-8DA1-FF9E615FCE66}"/>
              </a:ext>
            </a:extLst>
          </p:cNvPr>
          <p:cNvSpPr txBox="1"/>
          <p:nvPr/>
        </p:nvSpPr>
        <p:spPr>
          <a:xfrm>
            <a:off x="942975" y="1333500"/>
            <a:ext cx="11115675" cy="1969770"/>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mj-lt"/>
              </a:rPr>
              <a:t>It is a fully managed NoSQL Database Service</a:t>
            </a:r>
          </a:p>
          <a:p>
            <a:pPr marL="342900" indent="-342900">
              <a:buFont typeface="Wingdings" panose="05000000000000000000" pitchFamily="2" charset="2"/>
              <a:buChar char="Ø"/>
            </a:pPr>
            <a:endParaRPr lang="en-US" sz="2000" dirty="0">
              <a:latin typeface="+mj-lt"/>
            </a:endParaRPr>
          </a:p>
          <a:p>
            <a:pPr marL="342900" indent="-342900">
              <a:buFont typeface="Wingdings" panose="05000000000000000000" pitchFamily="2" charset="2"/>
              <a:buChar char="Ø"/>
            </a:pPr>
            <a:r>
              <a:rPr lang="en-US" sz="2000" dirty="0">
                <a:latin typeface="+mj-lt"/>
              </a:rPr>
              <a:t>Not to worry about maintenance or administration</a:t>
            </a:r>
          </a:p>
          <a:p>
            <a:pPr marL="342900" indent="-342900">
              <a:buFont typeface="Wingdings" panose="05000000000000000000" pitchFamily="2" charset="2"/>
              <a:buChar char="Ø"/>
            </a:pPr>
            <a:endParaRPr lang="en-US" sz="2000" dirty="0">
              <a:latin typeface="+mj-lt"/>
            </a:endParaRPr>
          </a:p>
          <a:p>
            <a:pPr marL="342900" indent="-342900">
              <a:buFont typeface="Wingdings" panose="05000000000000000000" pitchFamily="2" charset="2"/>
              <a:buChar char="Ø"/>
            </a:pPr>
            <a:r>
              <a:rPr lang="en-US" sz="2000" dirty="0">
                <a:latin typeface="+mj-lt"/>
              </a:rPr>
              <a:t>Helps in creating databases that can restore any amount of data and serve any level of request traffic</a:t>
            </a:r>
          </a:p>
          <a:p>
            <a:endParaRPr lang="en-IN" sz="2200" dirty="0">
              <a:latin typeface="+mj-lt"/>
            </a:endParaRPr>
          </a:p>
        </p:txBody>
      </p:sp>
      <p:sp>
        <p:nvSpPr>
          <p:cNvPr id="3" name="Footer Placeholder 2">
            <a:extLst>
              <a:ext uri="{FF2B5EF4-FFF2-40B4-BE49-F238E27FC236}">
                <a16:creationId xmlns:a16="http://schemas.microsoft.com/office/drawing/2014/main" id="{5AA29D1C-463E-461C-8C8D-F74FB8986C0C}"/>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7413575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C0F7-6825-420B-B8C1-551425C89D16}"/>
              </a:ext>
            </a:extLst>
          </p:cNvPr>
          <p:cNvSpPr>
            <a:spLocks noGrp="1"/>
          </p:cNvSpPr>
          <p:nvPr>
            <p:ph type="title"/>
          </p:nvPr>
        </p:nvSpPr>
        <p:spPr/>
        <p:txBody>
          <a:bodyPr>
            <a:normAutofit/>
          </a:bodyPr>
          <a:lstStyle/>
          <a:p>
            <a:r>
              <a:rPr lang="en-IN" sz="3600" dirty="0"/>
              <a:t> Dynamo DB Benefits</a:t>
            </a:r>
          </a:p>
        </p:txBody>
      </p:sp>
      <p:pic>
        <p:nvPicPr>
          <p:cNvPr id="4" name="Content Placeholder 3">
            <a:extLst>
              <a:ext uri="{FF2B5EF4-FFF2-40B4-BE49-F238E27FC236}">
                <a16:creationId xmlns:a16="http://schemas.microsoft.com/office/drawing/2014/main" id="{A393ED81-3570-46AA-88A7-B9D3451537DF}"/>
              </a:ext>
            </a:extLst>
          </p:cNvPr>
          <p:cNvPicPr>
            <a:picLocks noGrp="1" noChangeAspect="1"/>
          </p:cNvPicPr>
          <p:nvPr>
            <p:ph idx="1"/>
          </p:nvPr>
        </p:nvPicPr>
        <p:blipFill>
          <a:blip r:embed="rId2"/>
          <a:stretch>
            <a:fillRect/>
          </a:stretch>
        </p:blipFill>
        <p:spPr>
          <a:xfrm>
            <a:off x="937902" y="1690688"/>
            <a:ext cx="8381648" cy="4672011"/>
          </a:xfrm>
          <a:prstGeom prst="rect">
            <a:avLst/>
          </a:prstGeom>
        </p:spPr>
      </p:pic>
      <p:sp>
        <p:nvSpPr>
          <p:cNvPr id="3" name="Footer Placeholder 2">
            <a:extLst>
              <a:ext uri="{FF2B5EF4-FFF2-40B4-BE49-F238E27FC236}">
                <a16:creationId xmlns:a16="http://schemas.microsoft.com/office/drawing/2014/main" id="{C21EB3E6-E948-4C72-A6E0-3A433741587E}"/>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8611098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B466-3EC2-43E8-844C-EE8924D06D9C}"/>
              </a:ext>
            </a:extLst>
          </p:cNvPr>
          <p:cNvSpPr>
            <a:spLocks noGrp="1"/>
          </p:cNvSpPr>
          <p:nvPr>
            <p:ph type="title"/>
          </p:nvPr>
        </p:nvSpPr>
        <p:spPr>
          <a:xfrm>
            <a:off x="685800" y="261001"/>
            <a:ext cx="10515600" cy="1325563"/>
          </a:xfrm>
        </p:spPr>
        <p:txBody>
          <a:bodyPr>
            <a:normAutofit/>
          </a:bodyPr>
          <a:lstStyle/>
          <a:p>
            <a:r>
              <a:rPr lang="en-IN" sz="3600" b="1" dirty="0"/>
              <a:t>Working of DynamoDB</a:t>
            </a:r>
          </a:p>
        </p:txBody>
      </p:sp>
      <p:pic>
        <p:nvPicPr>
          <p:cNvPr id="1026" name="Picture 2">
            <a:extLst>
              <a:ext uri="{FF2B5EF4-FFF2-40B4-BE49-F238E27FC236}">
                <a16:creationId xmlns:a16="http://schemas.microsoft.com/office/drawing/2014/main" id="{8F3724C4-D0F5-4D16-98A1-7C28159806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2075" y="1586564"/>
            <a:ext cx="7943798" cy="4825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324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4E866-CD67-4254-9BE4-BFA843FEB47A}"/>
              </a:ext>
            </a:extLst>
          </p:cNvPr>
          <p:cNvSpPr>
            <a:spLocks noGrp="1"/>
          </p:cNvSpPr>
          <p:nvPr>
            <p:ph type="title"/>
          </p:nvPr>
        </p:nvSpPr>
        <p:spPr>
          <a:xfrm>
            <a:off x="838200" y="184150"/>
            <a:ext cx="10515600" cy="1325563"/>
          </a:xfrm>
        </p:spPr>
        <p:txBody>
          <a:bodyPr>
            <a:normAutofit/>
          </a:bodyPr>
          <a:lstStyle/>
          <a:p>
            <a:r>
              <a:rPr lang="en-IN" sz="3600" dirty="0"/>
              <a:t>How DynamoDB works?</a:t>
            </a:r>
          </a:p>
        </p:txBody>
      </p:sp>
      <p:sp>
        <p:nvSpPr>
          <p:cNvPr id="3" name="Content Placeholder 2">
            <a:extLst>
              <a:ext uri="{FF2B5EF4-FFF2-40B4-BE49-F238E27FC236}">
                <a16:creationId xmlns:a16="http://schemas.microsoft.com/office/drawing/2014/main" id="{AE726793-4927-4C74-BA13-2B95E38B9DBB}"/>
              </a:ext>
            </a:extLst>
          </p:cNvPr>
          <p:cNvSpPr>
            <a:spLocks noGrp="1"/>
          </p:cNvSpPr>
          <p:nvPr>
            <p:ph idx="1"/>
          </p:nvPr>
        </p:nvSpPr>
        <p:spPr>
          <a:xfrm>
            <a:off x="647700" y="1057275"/>
            <a:ext cx="10706100" cy="5119688"/>
          </a:xfrm>
        </p:spPr>
        <p:txBody>
          <a:bodyPr>
            <a:normAutofit/>
          </a:bodyPr>
          <a:lstStyle/>
          <a:p>
            <a:pPr marL="0" indent="0">
              <a:buNone/>
            </a:pPr>
            <a:endParaRPr lang="en-IN" sz="2000" dirty="0">
              <a:latin typeface="+mj-lt"/>
            </a:endParaRPr>
          </a:p>
          <a:p>
            <a:pPr>
              <a:buFont typeface="Wingdings" panose="05000000000000000000" pitchFamily="2" charset="2"/>
              <a:buChar char="Ø"/>
            </a:pPr>
            <a:r>
              <a:rPr lang="en-US" sz="2000" dirty="0">
                <a:latin typeface="+mj-lt"/>
              </a:rPr>
              <a:t>In DynamoDB, tables, items, and attributes are the core components that you work with. </a:t>
            </a:r>
          </a:p>
          <a:p>
            <a:pPr>
              <a:buFont typeface="Wingdings" panose="05000000000000000000" pitchFamily="2" charset="2"/>
              <a:buChar char="Ø"/>
            </a:pPr>
            <a:endParaRPr lang="en-IN" sz="2000" dirty="0">
              <a:latin typeface="+mj-lt"/>
            </a:endParaRPr>
          </a:p>
          <a:p>
            <a:pPr>
              <a:buFont typeface="Wingdings" panose="05000000000000000000" pitchFamily="2" charset="2"/>
              <a:buChar char="Ø"/>
            </a:pPr>
            <a:r>
              <a:rPr lang="en-US" sz="2000" dirty="0">
                <a:latin typeface="+mj-lt"/>
              </a:rPr>
              <a:t>A </a:t>
            </a:r>
            <a:r>
              <a:rPr lang="en-US" sz="2000" i="1" dirty="0" err="1">
                <a:latin typeface="+mj-lt"/>
              </a:rPr>
              <a:t>table</a:t>
            </a:r>
            <a:r>
              <a:rPr lang="en-US" sz="2000" dirty="0" err="1">
                <a:latin typeface="+mj-lt"/>
              </a:rPr>
              <a:t>is</a:t>
            </a:r>
            <a:r>
              <a:rPr lang="en-US" sz="2000" dirty="0">
                <a:latin typeface="+mj-lt"/>
              </a:rPr>
              <a:t> a collection of items, and each item is a collection of attributes.</a:t>
            </a:r>
          </a:p>
          <a:p>
            <a:pPr>
              <a:buFont typeface="Wingdings" panose="05000000000000000000" pitchFamily="2" charset="2"/>
              <a:buChar char="Ø"/>
            </a:pPr>
            <a:endParaRPr lang="en-IN" sz="2000" dirty="0">
              <a:latin typeface="+mj-lt"/>
            </a:endParaRPr>
          </a:p>
          <a:p>
            <a:pPr>
              <a:buFont typeface="Wingdings" panose="05000000000000000000" pitchFamily="2" charset="2"/>
              <a:buChar char="Ø"/>
            </a:pPr>
            <a:r>
              <a:rPr lang="en-US" sz="2000" dirty="0">
                <a:latin typeface="+mj-lt"/>
              </a:rPr>
              <a:t>DynamoDB uses primary keys to uniquely identify each item in a table and secondary indexes to provide more querying flexibility.</a:t>
            </a:r>
          </a:p>
          <a:p>
            <a:pPr marL="0" indent="0">
              <a:buNone/>
            </a:pPr>
            <a:endParaRPr lang="en-IN" sz="2000" dirty="0">
              <a:latin typeface="+mj-lt"/>
            </a:endParaRPr>
          </a:p>
          <a:p>
            <a:pPr marL="0" indent="0">
              <a:buNone/>
            </a:pPr>
            <a:r>
              <a:rPr lang="en-IN" sz="2000" dirty="0">
                <a:latin typeface="+mj-lt"/>
              </a:rPr>
              <a:t>    </a:t>
            </a:r>
          </a:p>
        </p:txBody>
      </p:sp>
      <p:pic>
        <p:nvPicPr>
          <p:cNvPr id="5" name="Picture 4">
            <a:extLst>
              <a:ext uri="{FF2B5EF4-FFF2-40B4-BE49-F238E27FC236}">
                <a16:creationId xmlns:a16="http://schemas.microsoft.com/office/drawing/2014/main" id="{D0C1FAB1-B582-430E-A6FF-703E2A0F5540}"/>
              </a:ext>
            </a:extLst>
          </p:cNvPr>
          <p:cNvPicPr>
            <a:picLocks noChangeAspect="1"/>
          </p:cNvPicPr>
          <p:nvPr/>
        </p:nvPicPr>
        <p:blipFill>
          <a:blip r:embed="rId2"/>
          <a:stretch>
            <a:fillRect/>
          </a:stretch>
        </p:blipFill>
        <p:spPr>
          <a:xfrm>
            <a:off x="2125361" y="3759859"/>
            <a:ext cx="6630164" cy="2802866"/>
          </a:xfrm>
          <a:prstGeom prst="rect">
            <a:avLst/>
          </a:prstGeom>
        </p:spPr>
      </p:pic>
      <p:sp>
        <p:nvSpPr>
          <p:cNvPr id="4" name="Footer Placeholder 3">
            <a:extLst>
              <a:ext uri="{FF2B5EF4-FFF2-40B4-BE49-F238E27FC236}">
                <a16:creationId xmlns:a16="http://schemas.microsoft.com/office/drawing/2014/main" id="{AD5589D6-A71A-4B50-AD10-4633BB638884}"/>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8124479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E9C4-C3CD-4C65-B96D-FCE74A6E8471}"/>
              </a:ext>
            </a:extLst>
          </p:cNvPr>
          <p:cNvSpPr>
            <a:spLocks noGrp="1"/>
          </p:cNvSpPr>
          <p:nvPr>
            <p:ph type="title"/>
          </p:nvPr>
        </p:nvSpPr>
        <p:spPr>
          <a:xfrm>
            <a:off x="571500" y="393700"/>
            <a:ext cx="10515600" cy="434975"/>
          </a:xfrm>
        </p:spPr>
        <p:txBody>
          <a:bodyPr>
            <a:noAutofit/>
          </a:bodyPr>
          <a:lstStyle/>
          <a:p>
            <a:r>
              <a:rPr lang="en-IN" sz="3600" b="1" dirty="0"/>
              <a:t>Dynamo DB Streams</a:t>
            </a:r>
          </a:p>
        </p:txBody>
      </p:sp>
      <p:sp>
        <p:nvSpPr>
          <p:cNvPr id="3" name="Content Placeholder 2">
            <a:extLst>
              <a:ext uri="{FF2B5EF4-FFF2-40B4-BE49-F238E27FC236}">
                <a16:creationId xmlns:a16="http://schemas.microsoft.com/office/drawing/2014/main" id="{9CF37A89-A37D-4190-99C5-6816A99BF5DF}"/>
              </a:ext>
            </a:extLst>
          </p:cNvPr>
          <p:cNvSpPr>
            <a:spLocks noGrp="1"/>
          </p:cNvSpPr>
          <p:nvPr>
            <p:ph idx="1"/>
          </p:nvPr>
        </p:nvSpPr>
        <p:spPr>
          <a:xfrm>
            <a:off x="400050" y="942976"/>
            <a:ext cx="11449050" cy="5233988"/>
          </a:xfrm>
        </p:spPr>
        <p:txBody>
          <a:bodyPr>
            <a:noAutofit/>
          </a:bodyPr>
          <a:lstStyle/>
          <a:p>
            <a:r>
              <a:rPr lang="en-US" sz="2100" dirty="0">
                <a:latin typeface="+mj-lt"/>
              </a:rPr>
              <a:t>A DynamoDB stream is an ordered flow of information about changes to items in a DynamoDB table. </a:t>
            </a:r>
          </a:p>
          <a:p>
            <a:r>
              <a:rPr lang="en-US" sz="2100" dirty="0">
                <a:latin typeface="+mj-lt"/>
              </a:rPr>
              <a:t>When you enable a stream on a table, DynamoDB captures information about every modification to data items in the table.</a:t>
            </a:r>
          </a:p>
          <a:p>
            <a:r>
              <a:rPr lang="en-US" sz="2100" dirty="0">
                <a:latin typeface="+mj-lt"/>
              </a:rPr>
              <a:t>Whenever an application creates, updates, or deletes items in the table, DynamoDB Streams writes a stream record with the primary key attributes of the items that were modified. </a:t>
            </a:r>
          </a:p>
          <a:p>
            <a:r>
              <a:rPr lang="en-US" sz="2100" dirty="0">
                <a:latin typeface="+mj-lt"/>
              </a:rPr>
              <a:t>A stream record contains information about a data modification to a single item in a DynamoDB table.</a:t>
            </a:r>
          </a:p>
          <a:p>
            <a:endParaRPr lang="en-US" sz="2100" dirty="0">
              <a:latin typeface="+mj-lt"/>
            </a:endParaRPr>
          </a:p>
          <a:p>
            <a:pPr marL="0" indent="0">
              <a:buNone/>
            </a:pPr>
            <a:r>
              <a:rPr lang="en-US" sz="2100" b="1" dirty="0">
                <a:latin typeface="+mj-lt"/>
              </a:rPr>
              <a:t>DynamoDB Streams helps ensure the following:</a:t>
            </a:r>
          </a:p>
          <a:p>
            <a:r>
              <a:rPr lang="en-US" sz="2100" dirty="0">
                <a:latin typeface="+mj-lt"/>
              </a:rPr>
              <a:t>Each stream record appears exactly once in the stream.</a:t>
            </a:r>
          </a:p>
          <a:p>
            <a:r>
              <a:rPr lang="en-US" sz="2100" dirty="0">
                <a:latin typeface="+mj-lt"/>
              </a:rPr>
              <a:t>For each item that is modified in a DynamoDB table, the stream records appear in the same sequence as the actual modifications to the item.</a:t>
            </a:r>
          </a:p>
          <a:p>
            <a:r>
              <a:rPr lang="en-US" sz="2100" dirty="0">
                <a:latin typeface="+mj-lt"/>
              </a:rPr>
              <a:t>DynamoDB Streams writes stream records in near-real time so that you can build applications that consume these streams and take action based on the contents.</a:t>
            </a:r>
            <a:endParaRPr lang="en-IN" sz="2100" dirty="0">
              <a:latin typeface="+mj-lt"/>
            </a:endParaRPr>
          </a:p>
        </p:txBody>
      </p:sp>
    </p:spTree>
    <p:extLst>
      <p:ext uri="{BB962C8B-B14F-4D97-AF65-F5344CB8AC3E}">
        <p14:creationId xmlns:p14="http://schemas.microsoft.com/office/powerpoint/2010/main" val="22605141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BAC7-781C-40FE-BEB7-7C8C330733AF}"/>
              </a:ext>
            </a:extLst>
          </p:cNvPr>
          <p:cNvSpPr>
            <a:spLocks noGrp="1"/>
          </p:cNvSpPr>
          <p:nvPr>
            <p:ph type="title"/>
          </p:nvPr>
        </p:nvSpPr>
        <p:spPr>
          <a:xfrm>
            <a:off x="514350" y="350837"/>
            <a:ext cx="11677650" cy="492125"/>
          </a:xfrm>
        </p:spPr>
        <p:txBody>
          <a:bodyPr>
            <a:noAutofit/>
          </a:bodyPr>
          <a:lstStyle/>
          <a:p>
            <a:r>
              <a:rPr lang="en-IN" sz="3600" b="1" dirty="0"/>
              <a:t>DynamoDB Streams design patterns (Reference Architecture)</a:t>
            </a:r>
          </a:p>
        </p:txBody>
      </p:sp>
      <p:pic>
        <p:nvPicPr>
          <p:cNvPr id="4098" name="Picture 2">
            <a:extLst>
              <a:ext uri="{FF2B5EF4-FFF2-40B4-BE49-F238E27FC236}">
                <a16:creationId xmlns:a16="http://schemas.microsoft.com/office/drawing/2014/main" id="{2CB3CF76-B5E5-4A54-BF2B-1FCD8FF6CA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3340" y="1133475"/>
            <a:ext cx="7446095" cy="4881563"/>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5903BD-B89E-4905-90EE-719930ADDDBB}"/>
              </a:ext>
            </a:extLst>
          </p:cNvPr>
          <p:cNvSpPr txBox="1"/>
          <p:nvPr/>
        </p:nvSpPr>
        <p:spPr>
          <a:xfrm>
            <a:off x="685800" y="6334125"/>
            <a:ext cx="1077277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Ref:https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://aws.amazon.com/blogs/database/</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dynamodb</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-streams-use-cases-and-design-patterns/</a:t>
            </a:r>
          </a:p>
        </p:txBody>
      </p:sp>
    </p:spTree>
    <p:extLst>
      <p:ext uri="{BB962C8B-B14F-4D97-AF65-F5344CB8AC3E}">
        <p14:creationId xmlns:p14="http://schemas.microsoft.com/office/powerpoint/2010/main" val="2605178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60AB9-6FA8-44E2-8469-EC3ECCF91322}"/>
              </a:ext>
            </a:extLst>
          </p:cNvPr>
          <p:cNvSpPr>
            <a:spLocks noGrp="1"/>
          </p:cNvSpPr>
          <p:nvPr>
            <p:ph type="title"/>
          </p:nvPr>
        </p:nvSpPr>
        <p:spPr>
          <a:xfrm>
            <a:off x="361950" y="298450"/>
            <a:ext cx="10515600" cy="901700"/>
          </a:xfrm>
        </p:spPr>
        <p:txBody>
          <a:bodyPr>
            <a:normAutofit/>
          </a:bodyPr>
          <a:lstStyle/>
          <a:p>
            <a:r>
              <a:rPr lang="en-IN" sz="3600" b="1" dirty="0"/>
              <a:t>DynamoDB - Global Tables</a:t>
            </a:r>
          </a:p>
        </p:txBody>
      </p:sp>
      <p:pic>
        <p:nvPicPr>
          <p:cNvPr id="5122" name="Picture 2" descr="A global table consists of multiple replica tables that DynamoDB treats as a single unit">
            <a:extLst>
              <a:ext uri="{FF2B5EF4-FFF2-40B4-BE49-F238E27FC236}">
                <a16:creationId xmlns:a16="http://schemas.microsoft.com/office/drawing/2014/main" id="{95C2542D-1AF7-43BA-92EE-665DD596A2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46229" y="1200150"/>
            <a:ext cx="5454135" cy="48053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024E3D-AB7F-47A1-B399-1938A72DBB5A}"/>
              </a:ext>
            </a:extLst>
          </p:cNvPr>
          <p:cNvSpPr txBox="1"/>
          <p:nvPr/>
        </p:nvSpPr>
        <p:spPr>
          <a:xfrm>
            <a:off x="228600" y="1266826"/>
            <a:ext cx="5671065" cy="480131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Fully managed, multi-region, and multi-master database that delivers fast, local, read and write performance for massively scaled, global applications.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Replicates  DynamoDB tables automatically across your choice of AWS Regions.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Eliminates the difficult work of replicating data between Regions and resolving update conflicts, enabling to focus on your application's business logic.</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Consists of multiple replica tables (one per AWS Region) that DynamoDB treats as a single unit. Every replica has the same table name and the same primary key schema. When an application writes data to a replica table in one Region, DynamoDB propagates the write to the other replica tables in the other AWS Regions automatically.</a:t>
            </a:r>
            <a:endParaRPr kumimoji="0" lang="en-IN"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356124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60B7-7590-4350-B0BD-32E6C90E7C0B}"/>
              </a:ext>
            </a:extLst>
          </p:cNvPr>
          <p:cNvSpPr>
            <a:spLocks noGrp="1"/>
          </p:cNvSpPr>
          <p:nvPr>
            <p:ph type="title"/>
          </p:nvPr>
        </p:nvSpPr>
        <p:spPr>
          <a:xfrm>
            <a:off x="1095375" y="-380999"/>
            <a:ext cx="10515600" cy="1314449"/>
          </a:xfrm>
        </p:spPr>
        <p:txBody>
          <a:bodyPr>
            <a:normAutofit/>
          </a:bodyPr>
          <a:lstStyle/>
          <a:p>
            <a:r>
              <a:rPr lang="en-IN" sz="3600" dirty="0"/>
              <a:t>Quiz</a:t>
            </a:r>
          </a:p>
        </p:txBody>
      </p:sp>
      <p:sp>
        <p:nvSpPr>
          <p:cNvPr id="3" name="Content Placeholder 2">
            <a:extLst>
              <a:ext uri="{FF2B5EF4-FFF2-40B4-BE49-F238E27FC236}">
                <a16:creationId xmlns:a16="http://schemas.microsoft.com/office/drawing/2014/main" id="{28CDA077-9F3A-42F9-99DE-340FDF1A340F}"/>
              </a:ext>
            </a:extLst>
          </p:cNvPr>
          <p:cNvSpPr>
            <a:spLocks noGrp="1"/>
          </p:cNvSpPr>
          <p:nvPr>
            <p:ph idx="1"/>
          </p:nvPr>
        </p:nvSpPr>
        <p:spPr>
          <a:xfrm>
            <a:off x="200025" y="473075"/>
            <a:ext cx="10515600" cy="4351338"/>
          </a:xfrm>
        </p:spPr>
        <p:txBody>
          <a:bodyPr>
            <a:noAutofit/>
          </a:bodyPr>
          <a:lstStyle/>
          <a:p>
            <a:pPr marL="0" indent="0">
              <a:buNone/>
            </a:pPr>
            <a:r>
              <a:rPr lang="en-US" sz="1800" dirty="0"/>
              <a:t>1.By default, DynamoDB is resilient on a __ basis. (Choose two answers)</a:t>
            </a:r>
          </a:p>
          <a:p>
            <a:pPr marL="342900" indent="-342900">
              <a:buFont typeface="+mj-lt"/>
              <a:buAutoNum type="alphaLcPeriod"/>
            </a:pPr>
            <a:r>
              <a:rPr lang="en-US" sz="1800" dirty="0"/>
              <a:t>Cross AZ</a:t>
            </a:r>
          </a:p>
          <a:p>
            <a:pPr marL="342900" indent="-342900">
              <a:buFont typeface="+mj-lt"/>
              <a:buAutoNum type="alphaLcPeriod"/>
            </a:pPr>
            <a:r>
              <a:rPr lang="en-US" sz="1800" dirty="0"/>
              <a:t>Global</a:t>
            </a:r>
          </a:p>
          <a:p>
            <a:pPr marL="342900" indent="-342900">
              <a:buFont typeface="+mj-lt"/>
              <a:buAutoNum type="alphaLcPeriod"/>
            </a:pPr>
            <a:r>
              <a:rPr lang="en-US" sz="1800" dirty="0"/>
              <a:t>Regional</a:t>
            </a:r>
          </a:p>
          <a:p>
            <a:pPr marL="0" indent="0">
              <a:buNone/>
            </a:pPr>
            <a:endParaRPr lang="en-US" sz="1800" dirty="0"/>
          </a:p>
          <a:p>
            <a:pPr marL="0" indent="0">
              <a:buNone/>
            </a:pPr>
            <a:r>
              <a:rPr lang="en-US" sz="1800" dirty="0"/>
              <a:t>2.In DynamoDB, what does the primary key contain? (Choose all that apply)</a:t>
            </a:r>
          </a:p>
          <a:p>
            <a:pPr marL="342900" indent="-342900">
              <a:buFont typeface="+mj-lt"/>
              <a:buAutoNum type="alphaLcPeriod"/>
            </a:pPr>
            <a:r>
              <a:rPr lang="en-US" sz="1800" dirty="0"/>
              <a:t>A partition key</a:t>
            </a:r>
          </a:p>
          <a:p>
            <a:pPr marL="342900" indent="-342900">
              <a:buFont typeface="+mj-lt"/>
              <a:buAutoNum type="alphaLcPeriod"/>
            </a:pPr>
            <a:r>
              <a:rPr lang="en-US" sz="1800" dirty="0"/>
              <a:t>Only a sort key</a:t>
            </a:r>
          </a:p>
          <a:p>
            <a:pPr marL="342900" indent="-342900">
              <a:buFont typeface="+mj-lt"/>
              <a:buAutoNum type="alphaLcPeriod"/>
            </a:pPr>
            <a:r>
              <a:rPr lang="en-US" sz="1800" dirty="0"/>
              <a:t>A hash key and a range key</a:t>
            </a:r>
          </a:p>
          <a:p>
            <a:pPr marL="0" indent="0">
              <a:buNone/>
            </a:pPr>
            <a:endParaRPr lang="en-US" sz="1800" dirty="0"/>
          </a:p>
          <a:p>
            <a:pPr marL="0" indent="0">
              <a:buNone/>
            </a:pPr>
            <a:r>
              <a:rPr lang="en-US" sz="1800" dirty="0"/>
              <a:t>3. In DynamoDB, what is the difference between a scan and a query operation?</a:t>
            </a:r>
          </a:p>
          <a:p>
            <a:pPr marL="342900" indent="-342900">
              <a:buFont typeface="+mj-lt"/>
              <a:buAutoNum type="alphaLcPeriod"/>
            </a:pPr>
            <a:r>
              <a:rPr lang="en-US" sz="1800" dirty="0"/>
              <a:t>There is no difference between scan and query because they both search through a table.</a:t>
            </a:r>
          </a:p>
          <a:p>
            <a:pPr marL="342900" indent="-342900">
              <a:buFont typeface="+mj-lt"/>
              <a:buAutoNum type="alphaLcPeriod"/>
            </a:pPr>
            <a:r>
              <a:rPr lang="en-US" sz="1800" dirty="0"/>
              <a:t>All of these answers are incorrect.</a:t>
            </a:r>
          </a:p>
          <a:p>
            <a:pPr marL="342900" indent="-342900">
              <a:buFont typeface="+mj-lt"/>
              <a:buAutoNum type="alphaLcPeriod"/>
            </a:pPr>
            <a:r>
              <a:rPr lang="en-US" sz="1800" dirty="0"/>
              <a:t>A scan will search the whole table, which uses more computing power. A query operation searches for only the primary key attributes, that are more efficient.</a:t>
            </a:r>
          </a:p>
          <a:p>
            <a:pPr marL="342900" indent="-342900">
              <a:buFont typeface="+mj-lt"/>
              <a:buAutoNum type="alphaLcPeriod"/>
            </a:pPr>
            <a:r>
              <a:rPr lang="en-US" sz="1800" dirty="0"/>
              <a:t>A scan will search only primary key attributes, which is more efficient. A query will search the whole table, which uses more computing power.</a:t>
            </a:r>
            <a:endParaRPr lang="en-IN" sz="1800" dirty="0"/>
          </a:p>
        </p:txBody>
      </p:sp>
      <p:sp>
        <p:nvSpPr>
          <p:cNvPr id="4" name="Footer Placeholder 3">
            <a:extLst>
              <a:ext uri="{FF2B5EF4-FFF2-40B4-BE49-F238E27FC236}">
                <a16:creationId xmlns:a16="http://schemas.microsoft.com/office/drawing/2014/main" id="{E544B23E-3B73-44FA-B624-D8A7F476FE2C}"/>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9412051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6A51B-D2E1-4341-9D8E-49A04DD0B255}"/>
              </a:ext>
            </a:extLst>
          </p:cNvPr>
          <p:cNvSpPr>
            <a:spLocks noGrp="1"/>
          </p:cNvSpPr>
          <p:nvPr>
            <p:ph type="title"/>
          </p:nvPr>
        </p:nvSpPr>
        <p:spPr>
          <a:xfrm>
            <a:off x="161925" y="0"/>
            <a:ext cx="10515600" cy="1325563"/>
          </a:xfrm>
        </p:spPr>
        <p:txBody>
          <a:bodyPr>
            <a:normAutofit/>
          </a:bodyPr>
          <a:lstStyle/>
          <a:p>
            <a:r>
              <a:rPr lang="en-IN" sz="3600" b="1" dirty="0"/>
              <a:t>Overview of Elasticache</a:t>
            </a:r>
          </a:p>
        </p:txBody>
      </p:sp>
      <p:sp>
        <p:nvSpPr>
          <p:cNvPr id="3" name="Content Placeholder 2">
            <a:extLst>
              <a:ext uri="{FF2B5EF4-FFF2-40B4-BE49-F238E27FC236}">
                <a16:creationId xmlns:a16="http://schemas.microsoft.com/office/drawing/2014/main" id="{AD93C667-0479-4E1A-9CEE-782477E3D2A7}"/>
              </a:ext>
            </a:extLst>
          </p:cNvPr>
          <p:cNvSpPr>
            <a:spLocks noGrp="1"/>
          </p:cNvSpPr>
          <p:nvPr>
            <p:ph idx="1"/>
          </p:nvPr>
        </p:nvSpPr>
        <p:spPr>
          <a:xfrm>
            <a:off x="161924" y="1296988"/>
            <a:ext cx="11725275" cy="4576763"/>
          </a:xfrm>
        </p:spPr>
        <p:txBody>
          <a:bodyPr>
            <a:normAutofit/>
          </a:bodyPr>
          <a:lstStyle/>
          <a:p>
            <a:pPr>
              <a:buFont typeface="Wingdings" panose="05000000000000000000" pitchFamily="2" charset="2"/>
              <a:buChar char="Ø"/>
            </a:pPr>
            <a:endParaRPr lang="en-IN" sz="2000" dirty="0">
              <a:latin typeface="+mj-lt"/>
            </a:endParaRPr>
          </a:p>
          <a:p>
            <a:pPr>
              <a:buFont typeface="Wingdings" panose="05000000000000000000" pitchFamily="2" charset="2"/>
              <a:buChar char="Ø"/>
            </a:pPr>
            <a:r>
              <a:rPr lang="en-US" sz="2000" dirty="0">
                <a:latin typeface="+mj-lt"/>
              </a:rPr>
              <a:t>Web service that makes it easy to set up, manage, and scale a distributed in-memory data store or cache environment in the cloud.</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Provides a high-performance, scalable, and cost-effective caching solution, while removing the complexity associated with deploying and managing a distributed cache environment.</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Quickly deploy your cache environment, without having to provision hardware or install software.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 Memcached or Redis protocol-compliant cache engine software</a:t>
            </a:r>
          </a:p>
          <a:p>
            <a:pPr>
              <a:buFont typeface="Wingdings" panose="05000000000000000000" pitchFamily="2" charset="2"/>
              <a:buChar char="Ø"/>
            </a:pPr>
            <a:endParaRPr lang="en-IN" sz="2000" dirty="0">
              <a:latin typeface="+mj-lt"/>
            </a:endParaRPr>
          </a:p>
        </p:txBody>
      </p:sp>
      <p:sp>
        <p:nvSpPr>
          <p:cNvPr id="4" name="Footer Placeholder 3">
            <a:extLst>
              <a:ext uri="{FF2B5EF4-FFF2-40B4-BE49-F238E27FC236}">
                <a16:creationId xmlns:a16="http://schemas.microsoft.com/office/drawing/2014/main" id="{654FCB16-E899-4615-B9D9-CEA8669D373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24549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8923-1A40-4132-B841-EB70EC8B336F}"/>
              </a:ext>
            </a:extLst>
          </p:cNvPr>
          <p:cNvSpPr>
            <a:spLocks noGrp="1"/>
          </p:cNvSpPr>
          <p:nvPr>
            <p:ph type="title"/>
          </p:nvPr>
        </p:nvSpPr>
        <p:spPr>
          <a:xfrm>
            <a:off x="571500" y="346075"/>
            <a:ext cx="10515600" cy="1325563"/>
          </a:xfrm>
        </p:spPr>
        <p:txBody>
          <a:bodyPr/>
          <a:lstStyle/>
          <a:p>
            <a:r>
              <a:rPr lang="en-IN" dirty="0"/>
              <a:t>Working of Elasticache</a:t>
            </a:r>
          </a:p>
        </p:txBody>
      </p:sp>
      <p:pic>
        <p:nvPicPr>
          <p:cNvPr id="10" name="Content Placeholder 9">
            <a:extLst>
              <a:ext uri="{FF2B5EF4-FFF2-40B4-BE49-F238E27FC236}">
                <a16:creationId xmlns:a16="http://schemas.microsoft.com/office/drawing/2014/main" id="{339EEFF8-CB5F-4D44-A2ED-C97BB647F961}"/>
              </a:ext>
            </a:extLst>
          </p:cNvPr>
          <p:cNvPicPr>
            <a:picLocks noGrp="1" noChangeAspect="1"/>
          </p:cNvPicPr>
          <p:nvPr>
            <p:ph idx="1"/>
          </p:nvPr>
        </p:nvPicPr>
        <p:blipFill>
          <a:blip r:embed="rId2"/>
          <a:stretch>
            <a:fillRect/>
          </a:stretch>
        </p:blipFill>
        <p:spPr>
          <a:xfrm>
            <a:off x="1369329" y="2295525"/>
            <a:ext cx="8638914" cy="3117625"/>
          </a:xfrm>
          <a:prstGeom prst="rect">
            <a:avLst/>
          </a:prstGeom>
        </p:spPr>
      </p:pic>
      <p:sp>
        <p:nvSpPr>
          <p:cNvPr id="3" name="Footer Placeholder 2">
            <a:extLst>
              <a:ext uri="{FF2B5EF4-FFF2-40B4-BE49-F238E27FC236}">
                <a16:creationId xmlns:a16="http://schemas.microsoft.com/office/drawing/2014/main" id="{007544FA-AC92-431B-A37C-D1C9600A2F0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3896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FBE5-249A-4E70-9610-E45C51BDEF80}"/>
              </a:ext>
            </a:extLst>
          </p:cNvPr>
          <p:cNvSpPr>
            <a:spLocks noGrp="1"/>
          </p:cNvSpPr>
          <p:nvPr>
            <p:ph type="title"/>
          </p:nvPr>
        </p:nvSpPr>
        <p:spPr>
          <a:xfrm>
            <a:off x="104775" y="136525"/>
            <a:ext cx="10515600" cy="1325563"/>
          </a:xfrm>
        </p:spPr>
        <p:txBody>
          <a:bodyPr>
            <a:normAutofit/>
          </a:bodyPr>
          <a:lstStyle/>
          <a:p>
            <a:r>
              <a:rPr lang="en-IN" sz="3600" b="1" dirty="0"/>
              <a:t>   Redis vs Memcached</a:t>
            </a:r>
          </a:p>
        </p:txBody>
      </p:sp>
      <p:pic>
        <p:nvPicPr>
          <p:cNvPr id="10" name="Content Placeholder 9">
            <a:extLst>
              <a:ext uri="{FF2B5EF4-FFF2-40B4-BE49-F238E27FC236}">
                <a16:creationId xmlns:a16="http://schemas.microsoft.com/office/drawing/2014/main" id="{797F82DC-344F-4F06-A601-CA291C346DC5}"/>
              </a:ext>
            </a:extLst>
          </p:cNvPr>
          <p:cNvPicPr>
            <a:picLocks noGrp="1" noChangeAspect="1"/>
          </p:cNvPicPr>
          <p:nvPr>
            <p:ph idx="1"/>
          </p:nvPr>
        </p:nvPicPr>
        <p:blipFill>
          <a:blip r:embed="rId2"/>
          <a:stretch>
            <a:fillRect/>
          </a:stretch>
        </p:blipFill>
        <p:spPr>
          <a:xfrm>
            <a:off x="2257425" y="1520370"/>
            <a:ext cx="6925749" cy="4777697"/>
          </a:xfrm>
          <a:prstGeom prst="rect">
            <a:avLst/>
          </a:prstGeom>
        </p:spPr>
      </p:pic>
      <p:sp>
        <p:nvSpPr>
          <p:cNvPr id="3" name="Footer Placeholder 2">
            <a:extLst>
              <a:ext uri="{FF2B5EF4-FFF2-40B4-BE49-F238E27FC236}">
                <a16:creationId xmlns:a16="http://schemas.microsoft.com/office/drawing/2014/main" id="{D279D4C8-B98D-4251-A78D-5B99FEB3914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13558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50816" y="2813447"/>
            <a:ext cx="2635885" cy="615553"/>
          </a:xfrm>
          <a:prstGeom prst="rect">
            <a:avLst/>
          </a:prstGeom>
        </p:spPr>
        <p:txBody>
          <a:bodyPr vert="horz" wrap="square" lIns="0" tIns="0" rIns="0" bIns="0" rtlCol="0">
            <a:spAutoFit/>
          </a:bodyPr>
          <a:lstStyle/>
          <a:p>
            <a:pPr marL="12700">
              <a:lnSpc>
                <a:spcPct val="100000"/>
              </a:lnSpc>
            </a:pPr>
            <a:r>
              <a:rPr sz="4000" b="1" spc="-5" dirty="0">
                <a:latin typeface="Calibri Light" panose="020F0302020204030204" pitchFamily="34" charset="0"/>
                <a:cs typeface="Calibri Light" panose="020F0302020204030204" pitchFamily="34" charset="0"/>
              </a:rPr>
              <a:t>Thank</a:t>
            </a:r>
            <a:r>
              <a:rPr sz="4000" b="1" spc="-80" dirty="0">
                <a:latin typeface="Calibri Light" panose="020F0302020204030204" pitchFamily="34" charset="0"/>
                <a:cs typeface="Calibri Light" panose="020F0302020204030204" pitchFamily="34" charset="0"/>
              </a:rPr>
              <a:t> </a:t>
            </a:r>
            <a:r>
              <a:rPr sz="4000" b="1" spc="-135" dirty="0">
                <a:latin typeface="Calibri Light" panose="020F0302020204030204" pitchFamily="34" charset="0"/>
                <a:cs typeface="Calibri Light" panose="020F0302020204030204" pitchFamily="34" charset="0"/>
              </a:rPr>
              <a:t>You</a:t>
            </a:r>
            <a:endParaRPr sz="4000" dirty="0">
              <a:latin typeface="Calibri Light" panose="020F0302020204030204" pitchFamily="34" charset="0"/>
              <a:cs typeface="Calibri Light" panose="020F0302020204030204" pitchFamily="34" charset="0"/>
            </a:endParaRPr>
          </a:p>
        </p:txBody>
      </p:sp>
      <p:sp>
        <p:nvSpPr>
          <p:cNvPr id="3" name="Footer Placeholder 2">
            <a:extLst>
              <a:ext uri="{FF2B5EF4-FFF2-40B4-BE49-F238E27FC236}">
                <a16:creationId xmlns:a16="http://schemas.microsoft.com/office/drawing/2014/main" id="{13F0D86F-BD9A-4E04-9B6F-8AE8198F1096}"/>
              </a:ext>
            </a:extLst>
          </p:cNvPr>
          <p:cNvSpPr>
            <a:spLocks noGrp="1"/>
          </p:cNvSpPr>
          <p:nvPr>
            <p:ph type="ftr" sz="quarter" idx="11"/>
          </p:nvPr>
        </p:nvSpPr>
        <p:spPr/>
        <p:txBody>
          <a:bodyPr/>
          <a:lstStyle/>
          <a:p>
            <a:r>
              <a:rPr lang="en-US"/>
              <a:t>CHAITANYA R GAAJULA - ALL COPYRIGHTS RESERVED</a:t>
            </a:r>
            <a:endParaRPr lang="en-I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3493</Words>
  <Application>Microsoft Office PowerPoint</Application>
  <PresentationFormat>Widescreen</PresentationFormat>
  <Paragraphs>471</Paragraphs>
  <Slides>65</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65</vt:i4>
      </vt:variant>
    </vt:vector>
  </HeadingPairs>
  <TitlesOfParts>
    <vt:vector size="73" baseType="lpstr">
      <vt:lpstr>AmazonEmberLight</vt:lpstr>
      <vt:lpstr>Arial</vt:lpstr>
      <vt:lpstr>Calibri</vt:lpstr>
      <vt:lpstr>Calibri Light</vt:lpstr>
      <vt:lpstr>Gill Sans</vt:lpstr>
      <vt:lpstr>Wingdings</vt:lpstr>
      <vt:lpstr>Office Theme</vt:lpstr>
      <vt:lpstr>1_Office Theme</vt:lpstr>
      <vt:lpstr>PowerPoint Presentation</vt:lpstr>
      <vt:lpstr>PowerPoint Presentation</vt:lpstr>
      <vt:lpstr>PowerPoint Presentation</vt:lpstr>
      <vt:lpstr>What is AWS RDS</vt:lpstr>
      <vt:lpstr>AWS RDS: Components</vt:lpstr>
      <vt:lpstr>AWS RDS: Interface</vt:lpstr>
      <vt:lpstr>AWS RDS: Working with DB Instance</vt:lpstr>
      <vt:lpstr>AWS RDS: Concept</vt:lpstr>
      <vt:lpstr>AWS RDS: Charges</vt:lpstr>
      <vt:lpstr>AWS RDS: Multi-AZ</vt:lpstr>
      <vt:lpstr>AWS RDS Multi-AZ: Benefits</vt:lpstr>
      <vt:lpstr>AWS RDS Multi-AZ: Failover Process</vt:lpstr>
      <vt:lpstr>AWS RDS: Read Replica</vt:lpstr>
      <vt:lpstr>AWS RDS: Maintenance Window</vt:lpstr>
      <vt:lpstr>AWS RDS: Backup</vt:lpstr>
      <vt:lpstr>AWS RDS: Restoration</vt:lpstr>
      <vt:lpstr>AWS RDS: Copying Snapshot</vt:lpstr>
      <vt:lpstr> Overview of Amazon Aurora</vt:lpstr>
      <vt:lpstr>Aurora DB Replication</vt:lpstr>
      <vt:lpstr>Benefits of Amazon Aurora</vt:lpstr>
      <vt:lpstr>Quiz</vt:lpstr>
      <vt:lpstr>AWS Database Migration(DMS) Service</vt:lpstr>
      <vt:lpstr> AWS Database Migration Service (DMS) – Overview  </vt:lpstr>
      <vt:lpstr>How is AWS DMS different ?  </vt:lpstr>
      <vt:lpstr> AWS  DMS Overview</vt:lpstr>
      <vt:lpstr> AWS Services related to AWS DMS</vt:lpstr>
      <vt:lpstr>Overview of Schema Conversion Tool</vt:lpstr>
      <vt:lpstr>   DB Conversions supported by SCT</vt:lpstr>
      <vt:lpstr> AWS SCT Project Window</vt:lpstr>
      <vt:lpstr>   AWS Schema Conversion Tool (Oracle to Aurora2)</vt:lpstr>
      <vt:lpstr> Sample SCT Service Report</vt:lpstr>
      <vt:lpstr>Sample SCT Service Report</vt:lpstr>
      <vt:lpstr>DB Migration Use Cases  –  From Source to Target </vt:lpstr>
      <vt:lpstr>DB Migration Use Cases – Homogeneous  </vt:lpstr>
      <vt:lpstr>DB Migration Use Cases – Heterogeneous   </vt:lpstr>
      <vt:lpstr>DB Migration Use Cases –  DB Consolidation </vt:lpstr>
      <vt:lpstr>DB Migration Use Cases –   Continuous Data Replication </vt:lpstr>
      <vt:lpstr>DMS &amp; SCT Working  together  </vt:lpstr>
      <vt:lpstr>How Database Migration Service Works </vt:lpstr>
      <vt:lpstr> How AWS DMS Works</vt:lpstr>
      <vt:lpstr>  AWS DMS Components</vt:lpstr>
      <vt:lpstr>  AWS DMS Components</vt:lpstr>
      <vt:lpstr>DB Migration to AWS – 3 Stages </vt:lpstr>
      <vt:lpstr>DB Migration to AWS –  Stage 1</vt:lpstr>
      <vt:lpstr>Identifying and Prioritizing DB’s for Migration </vt:lpstr>
      <vt:lpstr>DB Migration to AWS –   Stage 2 </vt:lpstr>
      <vt:lpstr>Running SCT tool for Heterogeneous DB Migrations </vt:lpstr>
      <vt:lpstr>DB Migration to AWS – Stage 3 </vt:lpstr>
      <vt:lpstr>DMS Configuration </vt:lpstr>
      <vt:lpstr>DMS Configuration Steps </vt:lpstr>
      <vt:lpstr>AWS Redshift Migration Architecture  </vt:lpstr>
      <vt:lpstr>From RDS to AWS Dynamo DB Migration </vt:lpstr>
      <vt:lpstr>Use Case Mass DB Transfer To AWS Using Snowball edge </vt:lpstr>
      <vt:lpstr>Overview of DynamoDB</vt:lpstr>
      <vt:lpstr> Dynamo DB Benefits</vt:lpstr>
      <vt:lpstr>Working of DynamoDB</vt:lpstr>
      <vt:lpstr>How DynamoDB works?</vt:lpstr>
      <vt:lpstr>Dynamo DB Streams</vt:lpstr>
      <vt:lpstr>DynamoDB Streams design patterns (Reference Architecture)</vt:lpstr>
      <vt:lpstr>DynamoDB - Global Tables</vt:lpstr>
      <vt:lpstr>Quiz</vt:lpstr>
      <vt:lpstr>Overview of Elasticache</vt:lpstr>
      <vt:lpstr>Working of Elasticache</vt:lpstr>
      <vt:lpstr>   Redis vs Memcached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Chaitanya Gaajula</dc:creator>
  <cp:lastModifiedBy>Chaitanya Gaajula</cp:lastModifiedBy>
  <cp:revision>21</cp:revision>
  <dcterms:created xsi:type="dcterms:W3CDTF">2020-05-16T14:01:52Z</dcterms:created>
  <dcterms:modified xsi:type="dcterms:W3CDTF">2026-02-18T06:18:49Z</dcterms:modified>
</cp:coreProperties>
</file>