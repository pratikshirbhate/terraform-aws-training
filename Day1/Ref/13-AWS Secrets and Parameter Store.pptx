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8maPUl9+AwPhIhP2Ru0odA==" hashData="dRpCOuTjDO/t6VzMqGdfVyy8cnx26Myou19VYilODZQVIWq9Brl+I2d9zjX96stt6vbXk0yUU6PEac5nZTV/A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209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417320"/>
            <a:ext cx="2834640" cy="2834640"/>
          </a:xfrm>
          <a:prstGeom prst="ellipse">
            <a:avLst/>
          </a:prstGeom>
          <a:solidFill>
            <a:srgbClr val="161E2B"/>
          </a:solidFill>
          <a:ln w="25400">
            <a:solidFill>
              <a:srgbClr val="FF9900"/>
            </a:solidFill>
            <a:prstDash val="solid"/>
          </a:ln>
        </p:spPr>
      </p:sp>
      <p:pic>
        <p:nvPicPr>
          <p:cNvPr id="3" name="Image 0" descr="assets/FaKey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10312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9456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&amp; PARAMETER STORE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58368" y="31546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Credentials &amp; Config for Data Pipelines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" y="3886200"/>
            <a:ext cx="50292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Store  ·  Secrets Manager  ·  Rotation  ·  IAM  ·  Cost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Data Engineering  |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" name="Image 0" descr="assets/FaClipboard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400"/>
              </a:spcAft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Why Data Pipelines Need Secrets Management</a:t>
            </a:r>
            <a:endParaRPr lang="en-US" sz="1550" dirty="0"/>
          </a:p>
          <a:p>
            <a:pPr marL="0" indent="0">
              <a:lnSpc>
                <a:spcPct val="110000"/>
              </a:lnSpc>
              <a:spcAft>
                <a:spcPts val="2400"/>
              </a:spcAft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AWS Systems Manager Parameter Store</a:t>
            </a:r>
            <a:endParaRPr lang="en-US" sz="1550" dirty="0"/>
          </a:p>
          <a:p>
            <a:pPr marL="0" indent="0">
              <a:lnSpc>
                <a:spcPct val="110000"/>
              </a:lnSpc>
              <a:spcAft>
                <a:spcPts val="2400"/>
              </a:spcAft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AWS Secrets Manager</a:t>
            </a:r>
            <a:endParaRPr lang="en-US" sz="1550" dirty="0"/>
          </a:p>
          <a:p>
            <a:pPr marL="0" indent="0">
              <a:lnSpc>
                <a:spcPct val="110000"/>
              </a:lnSpc>
              <a:spcAft>
                <a:spcPts val="2400"/>
              </a:spcAft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Choosing the Right Tool</a:t>
            </a:r>
            <a:endParaRPr lang="en-US" sz="1550" dirty="0"/>
          </a:p>
          <a:p>
            <a:pPr marL="0" indent="0">
              <a:lnSpc>
                <a:spcPct val="110000"/>
              </a:lnSpc>
              <a:spcAft>
                <a:spcPts val="2400"/>
              </a:spcAft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Encryption with AWS KMS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17920" y="16916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400"/>
              </a:spcAft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Automatic Rotation for Data Stores</a:t>
            </a:r>
            <a:endParaRPr lang="en-US" sz="1550" dirty="0"/>
          </a:p>
          <a:p>
            <a:pPr marL="0" indent="0">
              <a:lnSpc>
                <a:spcPct val="110000"/>
              </a:lnSpc>
              <a:spcAft>
                <a:spcPts val="2400"/>
              </a:spcAft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IAM Access Control for Pipelines</a:t>
            </a:r>
            <a:endParaRPr lang="en-US" sz="1550" dirty="0"/>
          </a:p>
          <a:p>
            <a:pPr marL="0" indent="0">
              <a:lnSpc>
                <a:spcPct val="110000"/>
              </a:lnSpc>
              <a:spcAft>
                <a:spcPts val="2400"/>
              </a:spcAft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Integration Patterns: Glue, EMR, MWAA, Lambda</a:t>
            </a:r>
            <a:endParaRPr lang="en-US" sz="1550" dirty="0"/>
          </a:p>
          <a:p>
            <a:pPr marL="0" indent="0">
              <a:lnSpc>
                <a:spcPct val="110000"/>
              </a:lnSpc>
              <a:spcAft>
                <a:spcPts val="2400"/>
              </a:spcAft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Cost at Scale</a:t>
            </a:r>
            <a:endParaRPr lang="en-US" sz="1550" dirty="0"/>
          </a:p>
          <a:p>
            <a:pPr marL="0" indent="0">
              <a:lnSpc>
                <a:spcPct val="110000"/>
              </a:lnSpc>
              <a:spcAft>
                <a:spcPts val="2400"/>
              </a:spcAft>
              <a:buNone/>
            </a:pPr>
            <a:r>
              <a:rPr lang="en-US" sz="15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Best Practices &amp; Key Takeaways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&amp; Parameter Store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" name="Image 0" descr="assets/FaExclamationTrian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Pipelines Need Secrets Management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3F3"/>
          </a:solidFill>
          <a:ln/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" y="1828800"/>
            <a:ext cx="4764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Hardcoded credentials leak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" y="2377440"/>
            <a:ext cx="4764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passwords and API keys committed to notebooks, DAGs, and job configs are a top source of data breaches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3F3"/>
          </a:solidFill>
          <a:ln/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19088" y="1828800"/>
            <a:ext cx="4764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touch many systems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19088" y="2377440"/>
            <a:ext cx="4764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Redshift, RDS, S3, Kafka, Snowflake, and third-party APIs each need their own credential, often per environment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3F3"/>
          </a:solidFill>
          <a:ln/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9808" y="4297680"/>
            <a:ext cx="4764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Rotation is manual and risky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9808" y="4846320"/>
            <a:ext cx="4764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automation, rotating a warehouse password means coordinating downtime across every consuming job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2648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3F3"/>
          </a:solidFill>
          <a:ln/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19088" y="4297680"/>
            <a:ext cx="4764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sprawl across environments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19088" y="4846320"/>
            <a:ext cx="4764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staging, and prod each need distinct connection strings, batch sizes, and endpoints — easy to drift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&amp; Parameter Store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" name="Image 0" descr="assets/Fa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Systems Manager Parameter Store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namespace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Organize config by path, e.g. /prod/redshift/host, /dev/api/stripe_key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tier is free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Up to 10,000 parameters at no charge; Advanced tier adds larger values for $0.05/parameter/month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Up to 10,000 transactions per second — well suited to fan-out reads from many pipeline workers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SecureString type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Values are encrypted at rest with a KMS key; plain String/StringList types suit non-sensitive config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52360" y="1554480"/>
            <a:ext cx="4279392" cy="4846320"/>
          </a:xfrm>
          <a:prstGeom prst="roundRect">
            <a:avLst>
              <a:gd name="adj" fmla="val 1709"/>
            </a:avLst>
          </a:prstGeom>
          <a:solidFill>
            <a:srgbClr val="232F3E"/>
          </a:solidFill>
          <a:ln/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18120" y="233172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161E2B"/>
          </a:solidFill>
          <a:ln/>
        </p:spPr>
      </p:sp>
      <p:sp>
        <p:nvSpPr>
          <p:cNvPr id="9" name="Text 6"/>
          <p:cNvSpPr/>
          <p:nvPr/>
        </p:nvSpPr>
        <p:spPr>
          <a:xfrm>
            <a:off x="7973568" y="23317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connection strings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18120" y="3008376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161E2B"/>
          </a:solidFill>
          <a:ln/>
        </p:spPr>
      </p:sp>
      <p:sp>
        <p:nvSpPr>
          <p:cNvPr id="11" name="Text 8"/>
          <p:cNvSpPr/>
          <p:nvPr/>
        </p:nvSpPr>
        <p:spPr>
          <a:xfrm>
            <a:off x="7973568" y="30083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sizes &amp; feature flags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685032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161E2B"/>
          </a:solidFill>
          <a:ln/>
        </p:spPr>
      </p:sp>
      <p:sp>
        <p:nvSpPr>
          <p:cNvPr id="13" name="Text 10"/>
          <p:cNvSpPr/>
          <p:nvPr/>
        </p:nvSpPr>
        <p:spPr>
          <a:xfrm>
            <a:off x="7973568" y="36850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paths per environment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4361688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161E2B"/>
          </a:solidFill>
          <a:ln/>
        </p:spPr>
      </p:sp>
      <p:sp>
        <p:nvSpPr>
          <p:cNvPr id="15" name="Text 12"/>
          <p:cNvSpPr/>
          <p:nvPr/>
        </p:nvSpPr>
        <p:spPr>
          <a:xfrm>
            <a:off x="7973568" y="43616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Non-rotating API endpoints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&amp; Parameter Store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" name="Image 0" descr="assets/Fa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Secrets Manager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credentials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Purpose-built to store, retrieve, and rotate database and API credentials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rotation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Native rotation Lambdas for RDS, Aurora, Redshift, and DocumentDB — no custom code needed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values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Stores up to 64 KB per secret — full connection objects, TLS chains, or multi-key JSON blobs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replication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Replicate secrets to disaster-recovery regions for multi-region pipelines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52360" y="1554480"/>
            <a:ext cx="4279392" cy="4846320"/>
          </a:xfrm>
          <a:prstGeom prst="roundRect">
            <a:avLst>
              <a:gd name="adj" fmla="val 1709"/>
            </a:avLst>
          </a:prstGeom>
          <a:solidFill>
            <a:srgbClr val="232F3E"/>
          </a:solidFill>
          <a:ln/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18120" y="233172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161E2B"/>
          </a:solidFill>
          <a:ln/>
        </p:spPr>
      </p:sp>
      <p:sp>
        <p:nvSpPr>
          <p:cNvPr id="9" name="Text 6"/>
          <p:cNvSpPr/>
          <p:nvPr/>
        </p:nvSpPr>
        <p:spPr>
          <a:xfrm>
            <a:off x="7973568" y="23317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/ RDS / Aurora credentials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18120" y="3008376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161E2B"/>
          </a:solidFill>
          <a:ln/>
        </p:spPr>
      </p:sp>
      <p:sp>
        <p:nvSpPr>
          <p:cNvPr id="11" name="Text 8"/>
          <p:cNvSpPr/>
          <p:nvPr/>
        </p:nvSpPr>
        <p:spPr>
          <a:xfrm>
            <a:off x="7973568" y="30083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keys (Snowflake, etc.)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685032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161E2B"/>
          </a:solidFill>
          <a:ln/>
        </p:spPr>
      </p:sp>
      <p:sp>
        <p:nvSpPr>
          <p:cNvPr id="13" name="Text 10"/>
          <p:cNvSpPr/>
          <p:nvPr/>
        </p:nvSpPr>
        <p:spPr>
          <a:xfrm>
            <a:off x="7973568" y="36850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needing rotation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4361688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161E2B"/>
          </a:solidFill>
          <a:ln/>
        </p:spPr>
      </p:sp>
      <p:sp>
        <p:nvSpPr>
          <p:cNvPr id="15" name="Text 12"/>
          <p:cNvSpPr/>
          <p:nvPr/>
        </p:nvSpPr>
        <p:spPr>
          <a:xfrm>
            <a:off x="7973568" y="43616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Service-to-service auth tokens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&amp; Parameter Store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" name="Image 0" descr="assets/FaBalance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Tool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2834640" cy="658368"/>
          </a:xfrm>
          <a:prstGeom prst="rect">
            <a:avLst/>
          </a:prstGeom>
          <a:solidFill>
            <a:srgbClr val="232F3E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6002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91840" y="1600200"/>
            <a:ext cx="4206240" cy="658368"/>
          </a:xfrm>
          <a:prstGeom prst="rect">
            <a:avLst/>
          </a:prstGeom>
          <a:solidFill>
            <a:srgbClr val="232F3E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0" y="1600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Store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98080" y="1600200"/>
            <a:ext cx="4206240" cy="658368"/>
          </a:xfrm>
          <a:prstGeom prst="rect">
            <a:avLst/>
          </a:prstGeom>
          <a:solidFill>
            <a:srgbClr val="232F3E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600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Manager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58568"/>
            <a:ext cx="2834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25856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91840" y="2258568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22585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(std.) / $0.05 per adv. param/mo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98080" y="2258568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22585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$0.40 per secret/mo + API calls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2916936"/>
            <a:ext cx="2834640" cy="658368"/>
          </a:xfrm>
          <a:prstGeom prst="rect">
            <a:avLst/>
          </a:prstGeom>
          <a:solidFill>
            <a:srgbClr val="F2F3F3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291693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value size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291840" y="2916936"/>
            <a:ext cx="4206240" cy="658368"/>
          </a:xfrm>
          <a:prstGeom prst="rect">
            <a:avLst/>
          </a:prstGeom>
          <a:solidFill>
            <a:srgbClr val="F2F3F3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29000" y="29169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(std.) / 8 KB (adv.)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498080" y="2916936"/>
            <a:ext cx="4206240" cy="658368"/>
          </a:xfrm>
          <a:prstGeom prst="rect">
            <a:avLst/>
          </a:prstGeom>
          <a:solidFill>
            <a:srgbClr val="F2F3F3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35240" y="29169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KB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7200" y="3575304"/>
            <a:ext cx="2834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357530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rotation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291840" y="3575304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29000" y="35753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(build your own)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498080" y="3575304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35240" y="35753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native for RDS/Aurora/Redshift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57200" y="4233672"/>
            <a:ext cx="2834640" cy="658368"/>
          </a:xfrm>
          <a:prstGeom prst="rect">
            <a:avLst/>
          </a:prstGeom>
          <a:solidFill>
            <a:srgbClr val="F2F3F3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42336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3291840" y="4233672"/>
            <a:ext cx="4206240" cy="658368"/>
          </a:xfrm>
          <a:prstGeom prst="rect">
            <a:avLst/>
          </a:prstGeom>
          <a:solidFill>
            <a:srgbClr val="F2F3F3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29000" y="42336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10,000 TPS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498080" y="4233672"/>
            <a:ext cx="4206240" cy="658368"/>
          </a:xfrm>
          <a:prstGeom prst="rect">
            <a:avLst/>
          </a:prstGeom>
          <a:solidFill>
            <a:srgbClr val="F2F3F3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2336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5,000 TPS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57200" y="4892040"/>
            <a:ext cx="2834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892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fit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3291840" y="4892040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29000" y="48920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config &amp; non-secret settings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7498080" y="4892040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635240" y="48920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 credentials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457200" y="582472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pattern at scale: Parameter Store for config, Secrets Manager for credentials that rotate.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&amp; Parameter Store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" name="Image 0" descr="assets/Fa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with AWS KMS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6309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by default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SecureString parameters and all Secrets Manager secrets are encrypted at rest with AWS KMS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vs customer managed keys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AWS managed key (aws/ssm, aws/secretsmanager) works out of the box; use a CMK for per-pipeline key policies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permission is separate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Reading a secret's value requires both the resource permission and kms:Decrypt on its key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 access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Every GetParameter / GetSecretValue call, and every KMS Decrypt, is logged to CloudTrail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040880" y="1554480"/>
            <a:ext cx="4663440" cy="4846320"/>
          </a:xfrm>
          <a:prstGeom prst="roundRect">
            <a:avLst>
              <a:gd name="adj" fmla="val 1569"/>
            </a:avLst>
          </a:prstGeom>
          <a:solidFill>
            <a:srgbClr val="F2F3F3"/>
          </a:solidFill>
          <a:ln/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Path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0" y="22860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2286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/ Lambda / Airflow job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0" y="2926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</a:rPr>
              <a:t>↓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0" y="3163824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52360" y="31638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checks resource policy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0" y="38039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15200" y="4041648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9900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40416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KMS: kms:Decrypt on the key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0" y="4681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</a:rPr>
              <a:t>↓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5200" y="4919472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49194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credential returned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&amp; Parameter Store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" name="Image 0" descr="assets/FaSyncA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Rotation for Data Stores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rotation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Secrets Manager's Lambda rotates the DB password and updates it in place, in step with RDS/Redshift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for warehouses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One-click rotation templates exist for RDS, Aurora, Redshift, and DocumentDB — no custom scripting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always read current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Jobs call GetSecretValue at runtime instead of caching credentials, so rotation is transparent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to fit maintenance windows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Rotate on a fixed interval (e.g. every 30 days) or trigger on demand before an audit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52360" y="1554480"/>
            <a:ext cx="4279392" cy="4846320"/>
          </a:xfrm>
          <a:prstGeom prst="roundRect">
            <a:avLst>
              <a:gd name="adj" fmla="val 1709"/>
            </a:avLst>
          </a:prstGeom>
          <a:solidFill>
            <a:srgbClr val="232F3E"/>
          </a:solidFill>
          <a:ln/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18120" y="18745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8" name="Image 1" descr="assets/FaSyncAl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443" y="1945843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49640" y="1874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Rotation Cycle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81812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new credential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818120" y="31729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Update the database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818120" y="37398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the new credential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818120" y="43068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Mark it current for retrieval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&amp; Parameter Store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" name="Image 0" descr="assets/FaUser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Access Control for Pipelines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Per-job execution roles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Give each Glue job, EMR cluster, or Lambda its own role — never share one broad pipeline role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by resource ARN and path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Restrict ssm:GetParameter to /prod/etl/* and secretsmanager:GetSecretValue to named secret ARNs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 policies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Attach policies directly to a secret to grant cross-account access without broadening IAM roles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code or env files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Roles + runtime retrieval replace credentials baked into Docker images or DAG source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52360" y="1554480"/>
            <a:ext cx="4279392" cy="4846320"/>
          </a:xfrm>
          <a:prstGeom prst="roundRect">
            <a:avLst>
              <a:gd name="adj" fmla="val 1709"/>
            </a:avLst>
          </a:prstGeom>
          <a:solidFill>
            <a:srgbClr val="161E2B"/>
          </a:solidFill>
          <a:ln/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Scoped Glue Job Role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2286000"/>
            <a:ext cx="3657600" cy="3840480"/>
          </a:xfrm>
          <a:prstGeom prst="roundRect">
            <a:avLst>
              <a:gd name="adj" fmla="val 1500"/>
            </a:avLst>
          </a:prstGeom>
          <a:solidFill>
            <a:srgbClr val="0F151F"/>
          </a:solidFill>
          <a:ln/>
        </p:spPr>
      </p:sp>
      <p:sp>
        <p:nvSpPr>
          <p:cNvPr id="9" name="Text 6"/>
          <p:cNvSpPr/>
          <p:nvPr/>
        </p:nvSpPr>
        <p:spPr>
          <a:xfrm>
            <a:off x="7936992" y="2450592"/>
            <a:ext cx="3337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"Effect": "Allow",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[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"secretsmanager:GetSecretValue"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"Resource":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"arn:aws:secretsmanager:*: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*:secret:prod/etl/redshift-*"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&amp; Parameter Store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" name="Image 0" descr="assets/FaCoin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572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at Scale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Store standard is free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Up to 10,000 parameters at no charge — ideal for the long tail of pipeline config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is per-secret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$0.40 per secret per month plus $0.05 per 10,000 API calls — costs add up with many small pipelines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parameters cost little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$0.05 per advanced parameter/month when 4 KB isn't enough, far cheaper than a secret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 cut API costs</a:t>
            </a: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Client-side caching (e.g. Lambda extension, connection pooling) reduces repeated GetSecretValue calls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52360" y="1554480"/>
            <a:ext cx="4279392" cy="4846320"/>
          </a:xfrm>
          <a:prstGeom prst="roundRect">
            <a:avLst>
              <a:gd name="adj" fmla="val 1709"/>
            </a:avLst>
          </a:prstGeom>
          <a:solidFill>
            <a:srgbClr val="232F3E"/>
          </a:solidFill>
          <a:ln/>
          <a:effectLst>
            <a:outerShdw blurRad="76200" dist="254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of Thumb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812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pipeline configs in Parameter Store: $0/mo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18120" y="3017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rotating DB credentials in Secrets Manager: ~$8/mo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18120" y="40233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sensitivity and rotation need, not by convenience.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&amp; Parameter Store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" name="Image 0" descr="assets/FaCheckCirc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5029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Key Takeaways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61E2B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508760" y="189280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by purpose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8760" y="246888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Store for config, Secrets Manager for anything that needs rotation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61E2B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178040" y="189280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hardcode credentials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178040" y="246888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DAG, Glue job, and notebook should fetch secrets at runtime via IAM roles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61E2B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508760" y="43616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rotation for databases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508760" y="493776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native Secrets Manager rotation for RDS, Aurora, and Redshift credentials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2648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61E2B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178040" y="43616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IAM tightly, cache wisely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178040" y="493776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Per-job roles restricted by path/ARN, with client-side caching to control API cost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97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every pipeline credential as a first-class, rotatable resource — not a config value.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&amp; Parameter Store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1184</Words>
  <Application>Microsoft Office PowerPoint</Application>
  <PresentationFormat>Widescreen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Chaitanya Gaajula</cp:lastModifiedBy>
  <cp:revision>3</cp:revision>
  <dcterms:created xsi:type="dcterms:W3CDTF">2026-07-19T14:13:10Z</dcterms:created>
  <dcterms:modified xsi:type="dcterms:W3CDTF">2026-07-19T14:45:35Z</dcterms:modified>
</cp:coreProperties>
</file>