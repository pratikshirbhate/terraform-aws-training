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63" r:id="rId2"/>
    <p:sldId id="517" r:id="rId3"/>
    <p:sldId id="518" r:id="rId4"/>
    <p:sldId id="593" r:id="rId5"/>
    <p:sldId id="594" r:id="rId6"/>
    <p:sldId id="519" r:id="rId7"/>
    <p:sldId id="520" r:id="rId8"/>
    <p:sldId id="584" r:id="rId9"/>
    <p:sldId id="521" r:id="rId10"/>
    <p:sldId id="523" r:id="rId11"/>
    <p:sldId id="522" r:id="rId12"/>
    <p:sldId id="59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IE3Byu40SUn2v15j4iVXeA==" hashData="VTwIccgi9ZcMqYgIn6ABtuiJ56G3UZDHB9fcFx5IUZteFWtfAHtaTddP2u8gXD4OmPExq6GjJdcD6A7RfQRKeQ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41EC8-136F-4F20-8893-6F929C16544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CCC889-0D53-4F4E-A3C9-4D00389E4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684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B7453-DE7F-488F-AE7B-1A1442BCEF8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846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🧠 1. AI Model as a Student Learning from 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model</a:t>
            </a:r>
            <a:r>
              <a:rPr lang="en-IN" dirty="0"/>
              <a:t> is like a </a:t>
            </a:r>
            <a:r>
              <a:rPr lang="en-IN" b="1" dirty="0"/>
              <a:t>student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studies from </a:t>
            </a:r>
            <a:r>
              <a:rPr lang="en-IN" b="1" dirty="0"/>
              <a:t>examples</a:t>
            </a:r>
            <a:r>
              <a:rPr lang="en-IN" dirty="0"/>
              <a:t> (training data).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After learning, it takes </a:t>
            </a:r>
            <a:r>
              <a:rPr lang="en-IN" b="1" dirty="0"/>
              <a:t>tests</a:t>
            </a:r>
            <a:r>
              <a:rPr lang="en-IN" dirty="0"/>
              <a:t> (new data) and tries to give the </a:t>
            </a:r>
            <a:r>
              <a:rPr lang="en-IN" b="1" dirty="0"/>
              <a:t>right answers</a:t>
            </a:r>
            <a:r>
              <a:rPr lang="en-IN" dirty="0"/>
              <a:t> (predictions).</a:t>
            </a:r>
          </a:p>
          <a:p>
            <a:r>
              <a:rPr lang="en-IN" dirty="0"/>
              <a:t>💡 </a:t>
            </a:r>
            <a:r>
              <a:rPr lang="en-IN" i="1" dirty="0"/>
              <a:t>Just like a student improves with practice, a model improves with more data and training.</a:t>
            </a:r>
            <a:endParaRPr lang="en-I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D150-CEC0-4293-A1E0-FB5D77CA902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031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27BAB-DCD9-DE4D-80DE-DE009BDAA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53BA2-599C-31FF-3166-874D3C928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F7673-2EC4-4BC2-9CB1-9D51B4DB5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🧠 1. AI Model as a Student Learning from 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model</a:t>
            </a:r>
            <a:r>
              <a:rPr lang="en-IN" dirty="0"/>
              <a:t> is like a </a:t>
            </a:r>
            <a:r>
              <a:rPr lang="en-IN" b="1" dirty="0"/>
              <a:t>student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studies from </a:t>
            </a:r>
            <a:r>
              <a:rPr lang="en-IN" b="1" dirty="0"/>
              <a:t>examples</a:t>
            </a:r>
            <a:r>
              <a:rPr lang="en-IN" dirty="0"/>
              <a:t> (training data).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After learning, it takes </a:t>
            </a:r>
            <a:r>
              <a:rPr lang="en-IN" b="1" dirty="0"/>
              <a:t>tests</a:t>
            </a:r>
            <a:r>
              <a:rPr lang="en-IN" dirty="0"/>
              <a:t> (new data) and tries to give the </a:t>
            </a:r>
            <a:r>
              <a:rPr lang="en-IN" b="1" dirty="0"/>
              <a:t>right answers</a:t>
            </a:r>
            <a:r>
              <a:rPr lang="en-IN" dirty="0"/>
              <a:t> (predictions).</a:t>
            </a:r>
          </a:p>
          <a:p>
            <a:r>
              <a:rPr lang="en-IN" dirty="0"/>
              <a:t>💡 </a:t>
            </a:r>
            <a:r>
              <a:rPr lang="en-IN" i="1" dirty="0"/>
              <a:t>Just like a student improves with practice, a model improves with more data and training.</a:t>
            </a:r>
            <a:endParaRPr lang="en-I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8C9B2-981B-5567-5335-92D5A91D9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D150-CEC0-4293-A1E0-FB5D77CA902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900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09123-0A45-734F-3183-6F64FDA8E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2BDD8-1C6E-2E05-F00D-16EAC5B93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BB57F9-C658-53C2-7208-C5BBC3165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91583-0D09-52F8-ADD7-165F3C068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B7453-DE7F-488F-AE7B-1A1442BCEF8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853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759DE-50FE-F87C-6A7D-8862CDA46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DAE96-F9C7-4319-4B80-9FED4E7DA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D4056-D37D-425A-A370-BEB47A412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22DF-9DDC-4228-B308-D0EFF3D0DDC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85ED8-4DAA-509F-A27E-612BE2DDC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35272-EE76-8B11-65E5-4ED12052E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A9124-CF2D-46D0-9FF7-EB35A10AF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93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BF9EB-0C57-911E-7867-A22DAF8C4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07A05-A005-6A5A-509C-676803962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7A7DE-70C8-8D8A-2969-1237F44AE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22DF-9DDC-4228-B308-D0EFF3D0DDC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0D1B1-F83B-E82C-730D-842A7ECD7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043F9-FA4D-C655-28F2-B8E4727F0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A9124-CF2D-46D0-9FF7-EB35A10AF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36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08FF4-0C45-310B-1EF2-07CC1DD55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B0DA7-4C73-EB64-5012-5BD5AA5A3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432A3-986F-8B15-A1EE-AE7563099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22DF-9DDC-4228-B308-D0EFF3D0DDC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C1B9F-25C9-C255-2A6A-C8CF0BB18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013E2-CF59-4125-3E6B-EC239C63D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A9124-CF2D-46D0-9FF7-EB35A10AF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527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5D864-5D37-B704-859D-38379F23D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5C4EE-112B-8A0D-874C-BBB19FE5AB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8D578-2BBA-04F3-F26F-86F4AFB5B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C1DFB-72BD-9B49-2D4C-D30FB87F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22DF-9DDC-4228-B308-D0EFF3D0DDC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BB3DB-5881-2DE3-E277-DA5BE6D3C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939D6-8A36-E970-71FF-E2EABDDD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A9124-CF2D-46D0-9FF7-EB35A10AF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62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B9413-3722-9E2C-3872-D85EA56D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5AF32-4A1C-ACBF-CF2C-3433A3BE3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80BDC-D67F-75C7-6E85-82199FDEB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F3EB2-3D7E-14C2-44B2-AA6752B805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F8E4B-6BF5-3CEF-823C-70D025AB8A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0F3CA0-65EA-6C13-2073-4A884DED2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22DF-9DDC-4228-B308-D0EFF3D0DDC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7240EC-27AC-3839-F5F1-104260489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3DB05-2C7B-5822-B2FB-36D74D142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A9124-CF2D-46D0-9FF7-EB35A10AF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264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F205C-DF98-E031-AD3F-CF6E8EDA6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1091B0-9551-898C-E036-AE260E5D5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22DF-9DDC-4228-B308-D0EFF3D0DDC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24716-4295-FA3B-89A1-4B65E36E7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E5034-200A-AB64-FE21-171E4D684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A9124-CF2D-46D0-9FF7-EB35A10AF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0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851FCE-E6A6-424C-0324-FF8689393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22DF-9DDC-4228-B308-D0EFF3D0DDC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01E008-1E13-EF29-B9EA-822988D29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EF497-C760-C7EF-F7A7-0DFDF86E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A9124-CF2D-46D0-9FF7-EB35A10AF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418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93FE5-D5DC-DFD1-8E8A-40B590C7D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4EC2-427A-91C5-3CB8-C0224C08B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89D9D-5D02-46DC-1974-85372574C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4ADCD-3DB5-A905-6EEE-6EE51F337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22DF-9DDC-4228-B308-D0EFF3D0DDC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C0771-9628-35F4-DDAD-D2FA55E1C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F0DDA-5C91-FFAE-A833-3D7FAE321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A9124-CF2D-46D0-9FF7-EB35A10AF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613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BEAD-3575-8746-74A8-E99EC4E4D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CC5871-A801-9A86-BDDF-91EBDD3466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42CC0D-ACC4-2256-0EC0-6601F5BA7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12CE1A-EA50-5890-7885-15F65F5B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22DF-9DDC-4228-B308-D0EFF3D0DDC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6893E-77E2-AF93-7A6F-B602C33E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E5963-2DD8-1842-CCDF-419A659A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A9124-CF2D-46D0-9FF7-EB35A10AF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26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54EC-D62C-CC46-F4F2-7F887F6CD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ABAA85-2F25-71C0-1063-E368F5B0D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C172F-018E-9329-49C6-B5FE86FAD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22DF-9DDC-4228-B308-D0EFF3D0DDC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E1CD1-AFA1-C4D6-B761-A0633AF8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44F42-AC8C-8DCA-4D5C-0878A324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A9124-CF2D-46D0-9FF7-EB35A10AF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27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5FB26D-7BE5-568A-7DA3-78A09B3D34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242FB-C964-AF1F-0118-C1204D7FA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DB338-28CF-897E-CBC2-2457A4887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22DF-9DDC-4228-B308-D0EFF3D0DDC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0FCBB-6457-7EAC-6497-44EDDE216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4B76-9479-C3F9-61BD-8BB64B84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A9124-CF2D-46D0-9FF7-EB35A10AF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759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B68E63-1948-B534-A398-D27890AE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58822-2922-5FF4-8757-3D95EAD5C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23CE9-269A-DD4B-171D-DB1F90ADD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B22DF-9DDC-4228-B308-D0EFF3D0DDCD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EBA11-600D-CD5E-D68A-784E3A84C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E4B1B-4D35-2ECE-E38A-ED42B66A1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A9124-CF2D-46D0-9FF7-EB35A10AF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637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0378FFF-A87F-43F5-A413-BFA3F5C9D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367" y="0"/>
            <a:ext cx="12498734" cy="70305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C35566-110D-4C39-AF48-7755FF1C12F4}"/>
              </a:ext>
            </a:extLst>
          </p:cNvPr>
          <p:cNvSpPr txBox="1"/>
          <p:nvPr/>
        </p:nvSpPr>
        <p:spPr>
          <a:xfrm>
            <a:off x="1676969" y="3044279"/>
            <a:ext cx="91086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bg1"/>
                </a:solidFill>
                <a:latin typeface="Aptos SemiBold" panose="020B0004020202020204" pitchFamily="34" charset="0"/>
              </a:rPr>
              <a:t>Generative AI</a:t>
            </a:r>
            <a:endParaRPr lang="en-IN" sz="4400" b="1" dirty="0">
              <a:solidFill>
                <a:schemeClr val="bg1"/>
              </a:solidFill>
              <a:latin typeface="Aptos SemiBold" panose="020B00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C26C5B-9FBF-2A11-9479-0F2E399C8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DFCB5A-8219-3618-C32A-41E322FD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220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37B46-D2C2-FD46-85A6-6A4B2A4FC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EA32EC-52A8-4FA4-91A4-57E7DF84AD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5506C8-26EE-4F8A-8B9D-EAEED837DA5A}"/>
              </a:ext>
            </a:extLst>
          </p:cNvPr>
          <p:cNvSpPr txBox="1"/>
          <p:nvPr/>
        </p:nvSpPr>
        <p:spPr>
          <a:xfrm>
            <a:off x="2518963" y="610549"/>
            <a:ext cx="7154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What is Generative AI?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D5259B-F511-4689-AAB1-7452D0AD870E}"/>
              </a:ext>
            </a:extLst>
          </p:cNvPr>
          <p:cNvSpPr txBox="1"/>
          <p:nvPr/>
        </p:nvSpPr>
        <p:spPr>
          <a:xfrm>
            <a:off x="525971" y="2439631"/>
            <a:ext cx="5971351" cy="2642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Generative AI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, a branch of artificial intelligence which is more like a combination of deep learning and machine learning to identity new patterns and generating new content based on models.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endParaRPr lang="en-IN" altLang="en-US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Example –</a:t>
            </a: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Image Generation, Video synthesis, content generation etc</a:t>
            </a:r>
          </a:p>
        </p:txBody>
      </p:sp>
      <p:sp>
        <p:nvSpPr>
          <p:cNvPr id="21" name="Round Diagonal Corner of Rectangle 9">
            <a:extLst>
              <a:ext uri="{FF2B5EF4-FFF2-40B4-BE49-F238E27FC236}">
                <a16:creationId xmlns:a16="http://schemas.microsoft.com/office/drawing/2014/main" id="{C9698968-C880-4596-8F56-15B367B44B9F}"/>
              </a:ext>
            </a:extLst>
          </p:cNvPr>
          <p:cNvSpPr/>
          <p:nvPr/>
        </p:nvSpPr>
        <p:spPr>
          <a:xfrm>
            <a:off x="6828713" y="1848266"/>
            <a:ext cx="4966055" cy="4050277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">
            <a:extLst>
              <a:ext uri="{FF2B5EF4-FFF2-40B4-BE49-F238E27FC236}">
                <a16:creationId xmlns:a16="http://schemas.microsoft.com/office/drawing/2014/main" id="{4049BDE5-7163-4FBF-8CBD-D9C587B63FDE}"/>
              </a:ext>
            </a:extLst>
          </p:cNvPr>
          <p:cNvSpPr/>
          <p:nvPr/>
        </p:nvSpPr>
        <p:spPr>
          <a:xfrm>
            <a:off x="7199947" y="2181243"/>
            <a:ext cx="4174068" cy="34036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D0FD4F49-A2C1-4097-9D2E-27A96CCCD662}"/>
              </a:ext>
            </a:extLst>
          </p:cNvPr>
          <p:cNvSpPr/>
          <p:nvPr/>
        </p:nvSpPr>
        <p:spPr>
          <a:xfrm>
            <a:off x="7565857" y="2731577"/>
            <a:ext cx="3437467" cy="285115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34C4285D-FF8D-49FC-A201-1448C9E0FA08}"/>
              </a:ext>
            </a:extLst>
          </p:cNvPr>
          <p:cNvSpPr/>
          <p:nvPr/>
        </p:nvSpPr>
        <p:spPr>
          <a:xfrm>
            <a:off x="7811550" y="3281911"/>
            <a:ext cx="2954866" cy="230081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F5F00CFD-CCA3-4588-BEAC-E2D00130F25E}"/>
              </a:ext>
            </a:extLst>
          </p:cNvPr>
          <p:cNvSpPr/>
          <p:nvPr/>
        </p:nvSpPr>
        <p:spPr>
          <a:xfrm>
            <a:off x="8070703" y="3874577"/>
            <a:ext cx="2451098" cy="170815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79C842-8528-4C2D-80E7-3FA71178D644}"/>
              </a:ext>
            </a:extLst>
          </p:cNvPr>
          <p:cNvSpPr txBox="1"/>
          <p:nvPr/>
        </p:nvSpPr>
        <p:spPr>
          <a:xfrm>
            <a:off x="8168780" y="2275517"/>
            <a:ext cx="2214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Artificial Intelligence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191BF2-64DA-49B6-88BA-01AB7F06CD5B}"/>
              </a:ext>
            </a:extLst>
          </p:cNvPr>
          <p:cNvSpPr txBox="1"/>
          <p:nvPr/>
        </p:nvSpPr>
        <p:spPr>
          <a:xfrm>
            <a:off x="8305331" y="2806746"/>
            <a:ext cx="1946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Machine Learning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EA86B4-0ED7-4DC1-9314-BE3808E5E5A5}"/>
              </a:ext>
            </a:extLst>
          </p:cNvPr>
          <p:cNvSpPr txBox="1"/>
          <p:nvPr/>
        </p:nvSpPr>
        <p:spPr>
          <a:xfrm>
            <a:off x="8474331" y="3391462"/>
            <a:ext cx="1564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Deep learning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3C714E-9661-4EBD-A061-8D134E560660}"/>
              </a:ext>
            </a:extLst>
          </p:cNvPr>
          <p:cNvSpPr txBox="1"/>
          <p:nvPr/>
        </p:nvSpPr>
        <p:spPr>
          <a:xfrm>
            <a:off x="8479838" y="4032812"/>
            <a:ext cx="1583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Generative AI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B2FB38-D132-C54B-0CE1-659DE9A22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6BAA85-527F-8282-2A2A-67D58EB3C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843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838E8-0541-A27F-4A7A-7C3684B17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49E82A7-042E-4BA0-9848-287619391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2800" cy="69573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F9688B1-6BCE-42BE-BA83-331255D5791F}"/>
              </a:ext>
            </a:extLst>
          </p:cNvPr>
          <p:cNvSpPr txBox="1"/>
          <p:nvPr/>
        </p:nvSpPr>
        <p:spPr>
          <a:xfrm>
            <a:off x="2565401" y="532006"/>
            <a:ext cx="7238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solidFill>
                  <a:srgbClr val="FF7D00"/>
                </a:solidFill>
                <a:latin typeface="Fieldwork 06 Geo Bold" pitchFamily="50" charset="0"/>
              </a:defRPr>
            </a:lvl1pPr>
          </a:lstStyle>
          <a:p>
            <a:r>
              <a:rPr lang="en-GB" sz="3200" dirty="0">
                <a:solidFill>
                  <a:schemeClr val="bg1"/>
                </a:solidFill>
                <a:latin typeface="Aptos" panose="020B0004020202020204"/>
              </a:rPr>
              <a:t>Generative AI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37F31C-EF19-4936-BCE5-D2624858C2A3}"/>
              </a:ext>
            </a:extLst>
          </p:cNvPr>
          <p:cNvSpPr/>
          <p:nvPr/>
        </p:nvSpPr>
        <p:spPr>
          <a:xfrm>
            <a:off x="573577" y="1274670"/>
            <a:ext cx="112220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4FABFF"/>
                </a:solidFill>
                <a:latin typeface="Aptos" panose="020B0004020202020204" pitchFamily="34" charset="0"/>
              </a:rPr>
              <a:t>Generative AI </a:t>
            </a:r>
            <a:r>
              <a:rPr lang="en-IN" sz="2400" dirty="0">
                <a:solidFill>
                  <a:schemeClr val="bg1"/>
                </a:solidFill>
                <a:latin typeface="Aptos" panose="020B0004020202020204" pitchFamily="34" charset="0"/>
              </a:rPr>
              <a:t>is type of Artificial Intelligence that can create a wide variety</a:t>
            </a:r>
          </a:p>
          <a:p>
            <a:pPr algn="ctr"/>
            <a:r>
              <a:rPr lang="en-IN" sz="2400" dirty="0">
                <a:solidFill>
                  <a:schemeClr val="bg1"/>
                </a:solidFill>
                <a:latin typeface="Aptos" panose="020B0004020202020204" pitchFamily="34" charset="0"/>
              </a:rPr>
              <a:t>of data, images, video, audio, 3D models etc</a:t>
            </a:r>
          </a:p>
        </p:txBody>
      </p:sp>
      <p:sp>
        <p:nvSpPr>
          <p:cNvPr id="20" name="Round Diagonal Corner of Rectangle 9">
            <a:extLst>
              <a:ext uri="{FF2B5EF4-FFF2-40B4-BE49-F238E27FC236}">
                <a16:creationId xmlns:a16="http://schemas.microsoft.com/office/drawing/2014/main" id="{3A848678-E7EB-4BC5-B8C5-914756901134}"/>
              </a:ext>
            </a:extLst>
          </p:cNvPr>
          <p:cNvSpPr/>
          <p:nvPr/>
        </p:nvSpPr>
        <p:spPr>
          <a:xfrm>
            <a:off x="7619386" y="2492747"/>
            <a:ext cx="3920066" cy="3801533"/>
          </a:xfrm>
          <a:prstGeom prst="round2DiagRect">
            <a:avLst>
              <a:gd name="adj1" fmla="val 9005"/>
              <a:gd name="adj2" fmla="val 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66B4377-B7BF-4C25-BA62-878FFDF69F6F}"/>
              </a:ext>
            </a:extLst>
          </p:cNvPr>
          <p:cNvSpPr/>
          <p:nvPr/>
        </p:nvSpPr>
        <p:spPr>
          <a:xfrm>
            <a:off x="907576" y="2897643"/>
            <a:ext cx="1471353" cy="47798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668740-A0BB-4E86-A8EF-5B7CAAC17C95}"/>
              </a:ext>
            </a:extLst>
          </p:cNvPr>
          <p:cNvSpPr txBox="1"/>
          <p:nvPr/>
        </p:nvSpPr>
        <p:spPr>
          <a:xfrm>
            <a:off x="834477" y="2718523"/>
            <a:ext cx="5175004" cy="2713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000" b="1" dirty="0">
                <a:solidFill>
                  <a:schemeClr val="bg1"/>
                </a:solidFill>
                <a:latin typeface="Aptos" panose="020B0004020202020204" pitchFamily="34" charset="0"/>
              </a:rPr>
              <a:t>     Prompt: </a:t>
            </a:r>
          </a:p>
          <a:p>
            <a:pPr>
              <a:lnSpc>
                <a:spcPct val="13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  <a:latin typeface="Aptos" panose="020B0004020202020204" pitchFamily="34" charset="0"/>
              </a:rPr>
              <a:t>A Pixar-style 3D image of the student sitting at a modern desk in a tech lab, coding on a sleek laptop. Other students are visible working in the background. The environment has tech posters, whiteboards, and soft lighting.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2305595-03BA-4EA7-A01D-82D1E0619EF7}"/>
              </a:ext>
            </a:extLst>
          </p:cNvPr>
          <p:cNvSpPr/>
          <p:nvPr/>
        </p:nvSpPr>
        <p:spPr>
          <a:xfrm>
            <a:off x="6136356" y="3994484"/>
            <a:ext cx="943781" cy="43972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C5877F-7150-D1F2-EBAB-CC2746F11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67FCE7-B962-A1E6-1690-C4FDE47E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536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2B3A28-7CD5-7E95-C040-A3F194A8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7B6E61-811E-CF7E-47A7-B5B1A34D3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CE0CFF-4677-0AA9-B507-BC7BDC40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9733"/>
            <a:ext cx="12192000" cy="51985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9E2E8F-CAEA-A071-25E5-840C3D55C6EE}"/>
              </a:ext>
            </a:extLst>
          </p:cNvPr>
          <p:cNvSpPr txBox="1"/>
          <p:nvPr/>
        </p:nvSpPr>
        <p:spPr>
          <a:xfrm>
            <a:off x="3153747" y="167951"/>
            <a:ext cx="613021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What is Generative AI?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126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230E7B-3AAB-6F55-AD04-ED95EF1F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AE22AF-888D-CCBF-1DC6-DCE16E79F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EFBE70-4F57-0C1C-31A3-01CF4ED72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1327"/>
            <a:ext cx="12192000" cy="45753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0803E7-012B-B7D9-5A59-FE14952B2037}"/>
              </a:ext>
            </a:extLst>
          </p:cNvPr>
          <p:cNvSpPr txBox="1"/>
          <p:nvPr/>
        </p:nvSpPr>
        <p:spPr>
          <a:xfrm>
            <a:off x="2799184" y="363894"/>
            <a:ext cx="51598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How Generative AI Works?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56429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2ECD6-1DDD-AB1E-0BC0-D1E648F25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0B4684-5D61-4882-B61B-346ACB6574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9" name="Round Diagonal Corner of Rectangle 9">
            <a:extLst>
              <a:ext uri="{FF2B5EF4-FFF2-40B4-BE49-F238E27FC236}">
                <a16:creationId xmlns:a16="http://schemas.microsoft.com/office/drawing/2014/main" id="{2CDD9C06-840F-4A09-A620-34724FC351FA}"/>
              </a:ext>
            </a:extLst>
          </p:cNvPr>
          <p:cNvSpPr/>
          <p:nvPr/>
        </p:nvSpPr>
        <p:spPr>
          <a:xfrm>
            <a:off x="1180407" y="1195324"/>
            <a:ext cx="9831184" cy="5288603"/>
          </a:xfrm>
          <a:prstGeom prst="round2DiagRect">
            <a:avLst>
              <a:gd name="adj1" fmla="val 7137"/>
              <a:gd name="adj2" fmla="val 0"/>
            </a:avLst>
          </a:prstGeom>
          <a:solidFill>
            <a:srgbClr val="FAF5F5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72231D-FF72-4BD7-B83A-D71161F3278D}"/>
              </a:ext>
            </a:extLst>
          </p:cNvPr>
          <p:cNvSpPr txBox="1"/>
          <p:nvPr/>
        </p:nvSpPr>
        <p:spPr>
          <a:xfrm>
            <a:off x="2518963" y="610549"/>
            <a:ext cx="7154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How Generative AI Works?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47A8ABA0-D545-43FD-B9D2-0BAA8FBAEE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" t="12320" r="1876" b="1421"/>
          <a:stretch/>
        </p:blipFill>
        <p:spPr bwMode="auto">
          <a:xfrm>
            <a:off x="1664143" y="1374901"/>
            <a:ext cx="8863713" cy="495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CBBB7C-D390-0444-CC8D-225F9DCF4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0F1AEA-1420-2137-9840-9A882B615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677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C7381-99AD-3DCD-B245-ED6D3ADE6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3AE32E-0956-4B42-8C9A-F06B2CB109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B6C3DA-78A8-4713-143C-31351750454D}"/>
              </a:ext>
            </a:extLst>
          </p:cNvPr>
          <p:cNvSpPr txBox="1"/>
          <p:nvPr/>
        </p:nvSpPr>
        <p:spPr>
          <a:xfrm>
            <a:off x="2518963" y="610549"/>
            <a:ext cx="7154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What is a Model in AI?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43BC76-7660-9D98-C2E7-FD8F8080D43D}"/>
              </a:ext>
            </a:extLst>
          </p:cNvPr>
          <p:cNvSpPr txBox="1"/>
          <p:nvPr/>
        </p:nvSpPr>
        <p:spPr>
          <a:xfrm>
            <a:off x="420944" y="1475040"/>
            <a:ext cx="499892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ts val="3000"/>
              </a:spcBef>
              <a:spcAft>
                <a:spcPts val="3000"/>
              </a:spcAft>
              <a:buClr>
                <a:srgbClr val="0084FF"/>
              </a:buClr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An AI model is a mathematical system trained on data to recognise patterns and make predictions, classifications, or decisions.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>
                <a:srgbClr val="0084FF"/>
              </a:buClr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🔑 </a:t>
            </a: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Key Points: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Learns from data (training process)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Uses input to generate meaningful output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Examples: Spam filter, image classifier, language translator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Core of all machine learning and AI applications</a:t>
            </a:r>
          </a:p>
        </p:txBody>
      </p:sp>
      <p:sp>
        <p:nvSpPr>
          <p:cNvPr id="3" name="Round Diagonal Corner of Rectangle 9">
            <a:extLst>
              <a:ext uri="{FF2B5EF4-FFF2-40B4-BE49-F238E27FC236}">
                <a16:creationId xmlns:a16="http://schemas.microsoft.com/office/drawing/2014/main" id="{B1A8C38D-756F-7C6B-3A70-94AC0560BFC8}"/>
              </a:ext>
            </a:extLst>
          </p:cNvPr>
          <p:cNvSpPr/>
          <p:nvPr/>
        </p:nvSpPr>
        <p:spPr>
          <a:xfrm>
            <a:off x="5714263" y="1694045"/>
            <a:ext cx="6160869" cy="4070758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6C21D0-1927-EA07-CD46-D623ED1BE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388" y="2238959"/>
            <a:ext cx="5583349" cy="292499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583ACF-BAEF-BF4D-948C-1D4C0741B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C02F8-BED1-AE8F-F1A0-8C977AFA8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327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6D271-FC67-8268-1D19-341AE29D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C07BE0-FA00-4167-84EC-5AE1166B1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7D53F1-FA11-1B47-D384-A4C43CAB23E2}"/>
              </a:ext>
            </a:extLst>
          </p:cNvPr>
          <p:cNvSpPr txBox="1"/>
          <p:nvPr/>
        </p:nvSpPr>
        <p:spPr>
          <a:xfrm>
            <a:off x="0" y="610549"/>
            <a:ext cx="12217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What is a Foundation Model?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FFA7D5-4946-5A14-8277-9AEE443EA3EB}"/>
              </a:ext>
            </a:extLst>
          </p:cNvPr>
          <p:cNvSpPr txBox="1"/>
          <p:nvPr/>
        </p:nvSpPr>
        <p:spPr>
          <a:xfrm>
            <a:off x="435620" y="1473128"/>
            <a:ext cx="5248004" cy="488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ts val="3000"/>
              </a:spcBef>
              <a:spcAft>
                <a:spcPts val="3000"/>
              </a:spcAft>
              <a:buClr>
                <a:srgbClr val="0084FF"/>
              </a:buClr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A Foundation Model is a large AI model trained on vast and diverse datasets that can be adapted to perform many different tasks — such as text generation, image recognition, translation, and more.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sz="20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🔑 </a:t>
            </a: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Key Points: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endParaRPr kumimoji="0" lang="en-IN" altLang="en-US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Pre-trained on massive, general-purpose data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Can be fine-tuned for specific applications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Examples: GPT, BERT, DALL·E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Powers modern AI tools and assistants</a:t>
            </a:r>
          </a:p>
        </p:txBody>
      </p:sp>
      <p:sp>
        <p:nvSpPr>
          <p:cNvPr id="3" name="Round Diagonal Corner of Rectangle 9">
            <a:extLst>
              <a:ext uri="{FF2B5EF4-FFF2-40B4-BE49-F238E27FC236}">
                <a16:creationId xmlns:a16="http://schemas.microsoft.com/office/drawing/2014/main" id="{0655C873-905D-A989-6C40-D062FBF1C38F}"/>
              </a:ext>
            </a:extLst>
          </p:cNvPr>
          <p:cNvSpPr/>
          <p:nvPr/>
        </p:nvSpPr>
        <p:spPr>
          <a:xfrm>
            <a:off x="5975269" y="2018891"/>
            <a:ext cx="5996113" cy="3584051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825DA0-B747-0557-613B-F0781DD92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390" y="2323570"/>
            <a:ext cx="5440373" cy="300146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CAEFD0-003D-A2D9-6FF4-36F919BEB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A9472D-ABD6-652B-607C-7A7E262C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847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9DB47-7494-94D7-EFB3-3C68CCF0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22103FD-7E4F-4501-A32D-307C65BF6E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11" name="Round Diagonal Corner of Rectangle 9">
            <a:extLst>
              <a:ext uri="{FF2B5EF4-FFF2-40B4-BE49-F238E27FC236}">
                <a16:creationId xmlns:a16="http://schemas.microsoft.com/office/drawing/2014/main" id="{CFB7E46D-77AF-43F5-8E9F-A3F7630852C7}"/>
              </a:ext>
            </a:extLst>
          </p:cNvPr>
          <p:cNvSpPr/>
          <p:nvPr/>
        </p:nvSpPr>
        <p:spPr>
          <a:xfrm>
            <a:off x="8224988" y="1350687"/>
            <a:ext cx="3435921" cy="5132521"/>
          </a:xfrm>
          <a:prstGeom prst="round2DiagRect">
            <a:avLst>
              <a:gd name="adj1" fmla="val 7137"/>
              <a:gd name="adj2" fmla="val 0"/>
            </a:avLst>
          </a:prstGeom>
          <a:solidFill>
            <a:srgbClr val="C6DCE9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6008CA-CE82-4716-8411-8274DF43A0FA}"/>
              </a:ext>
            </a:extLst>
          </p:cNvPr>
          <p:cNvSpPr txBox="1"/>
          <p:nvPr/>
        </p:nvSpPr>
        <p:spPr>
          <a:xfrm>
            <a:off x="1355511" y="605774"/>
            <a:ext cx="9480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Uses of </a:t>
            </a:r>
            <a:r>
              <a:rPr lang="en-IN" sz="3200" b="1" dirty="0">
                <a:solidFill>
                  <a:srgbClr val="0A7CFB"/>
                </a:solidFill>
                <a:latin typeface="Aptos" panose="020B0004020202020204" pitchFamily="34" charset="0"/>
              </a:rPr>
              <a:t>Generative </a:t>
            </a:r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AI in Workplace Automation</a:t>
            </a:r>
          </a:p>
        </p:txBody>
      </p:sp>
      <p:sp>
        <p:nvSpPr>
          <p:cNvPr id="15" name="Round Diagonal Corner of Rectangle 9">
            <a:extLst>
              <a:ext uri="{FF2B5EF4-FFF2-40B4-BE49-F238E27FC236}">
                <a16:creationId xmlns:a16="http://schemas.microsoft.com/office/drawing/2014/main" id="{65A039F1-3A85-4DBA-AA34-66881012BC6D}"/>
              </a:ext>
            </a:extLst>
          </p:cNvPr>
          <p:cNvSpPr/>
          <p:nvPr/>
        </p:nvSpPr>
        <p:spPr>
          <a:xfrm>
            <a:off x="489373" y="1432600"/>
            <a:ext cx="7500081" cy="4944550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screen shot of a robot&#10;&#10;AI-generated content may be incorrect.">
            <a:extLst>
              <a:ext uri="{FF2B5EF4-FFF2-40B4-BE49-F238E27FC236}">
                <a16:creationId xmlns:a16="http://schemas.microsoft.com/office/drawing/2014/main" id="{32F92D73-C5A1-4561-BE56-06DFB9ED1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181" y="1432599"/>
            <a:ext cx="3296367" cy="494455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C345600-05C7-4C24-ABA9-EBF0E5BD0BBB}"/>
              </a:ext>
            </a:extLst>
          </p:cNvPr>
          <p:cNvSpPr txBox="1"/>
          <p:nvPr/>
        </p:nvSpPr>
        <p:spPr>
          <a:xfrm>
            <a:off x="800415" y="1781215"/>
            <a:ext cx="703848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Content creation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– auto-generate emails, reports, blogs.</a:t>
            </a: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Customer support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AI chatbots for instant responses.</a:t>
            </a: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Data analysis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summarise and interpret large datasets.</a:t>
            </a: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Code generation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assist in writing and debugging code.</a:t>
            </a: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Meeting productivity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transcribe, summarise, and action items.</a:t>
            </a: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Design assistance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generate graphics, layouts, and prototypes.</a:t>
            </a: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Process automation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streamline repetitive tasks and workflows.</a:t>
            </a: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endParaRPr kumimoji="0" lang="en-I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Training and onboarding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create interactive learning content.</a:t>
            </a:r>
            <a:endParaRPr kumimoji="0" lang="en-IN" altLang="en-US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D07503-A743-E8FE-7B06-F09B926E3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94C8E2-DEFB-074A-7545-8B6C5E12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490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D0C8F-B1E9-F043-8A91-3AFB8C697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AB189AC-B696-482F-ABB4-459FCF364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254753" cy="69046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34350C-1556-4400-9605-C601AAB3B65A}"/>
              </a:ext>
            </a:extLst>
          </p:cNvPr>
          <p:cNvSpPr txBox="1"/>
          <p:nvPr/>
        </p:nvSpPr>
        <p:spPr>
          <a:xfrm>
            <a:off x="2587650" y="532006"/>
            <a:ext cx="7193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solidFill>
                  <a:srgbClr val="FF7D00"/>
                </a:solidFill>
                <a:latin typeface="Fieldwork 06 Geo Bold" pitchFamily="50" charset="0"/>
              </a:defRPr>
            </a:lvl1pPr>
          </a:lstStyle>
          <a:p>
            <a:r>
              <a:rPr lang="en-GB" sz="3200" dirty="0">
                <a:solidFill>
                  <a:schemeClr val="bg1"/>
                </a:solidFill>
                <a:latin typeface="Aptos" panose="020B0004020202020204"/>
              </a:rPr>
              <a:t>Generative AI Tools</a:t>
            </a:r>
          </a:p>
        </p:txBody>
      </p:sp>
      <p:pic>
        <p:nvPicPr>
          <p:cNvPr id="16" name="Picture 15" descr="A circular chart with different logos&#10;&#10;AI-generated content may be incorrect.">
            <a:extLst>
              <a:ext uri="{FF2B5EF4-FFF2-40B4-BE49-F238E27FC236}">
                <a16:creationId xmlns:a16="http://schemas.microsoft.com/office/drawing/2014/main" id="{9483AC3E-70F8-4188-BDAC-6AAEE442E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676" y="1220712"/>
            <a:ext cx="5445883" cy="546999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ED0428-0AAE-1053-9D0D-6A9C6CE07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F39F6B-5725-4A40-250F-95CE55CB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597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1CE0E-47BC-CBD5-21EB-EDFFDDD3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AABD529-689C-4AAF-A020-EAF62A7F36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5B1D98-6EA8-4B43-9757-82DD27FC0627}"/>
              </a:ext>
            </a:extLst>
          </p:cNvPr>
          <p:cNvSpPr txBox="1"/>
          <p:nvPr/>
        </p:nvSpPr>
        <p:spPr>
          <a:xfrm>
            <a:off x="1355511" y="605774"/>
            <a:ext cx="9480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Generative AI Tools</a:t>
            </a:r>
          </a:p>
        </p:txBody>
      </p:sp>
      <p:sp>
        <p:nvSpPr>
          <p:cNvPr id="12" name="Round Diagonal Corner of Rectangle 9">
            <a:extLst>
              <a:ext uri="{FF2B5EF4-FFF2-40B4-BE49-F238E27FC236}">
                <a16:creationId xmlns:a16="http://schemas.microsoft.com/office/drawing/2014/main" id="{7420DC14-55ED-4BD4-8671-DFC5817286CB}"/>
              </a:ext>
            </a:extLst>
          </p:cNvPr>
          <p:cNvSpPr/>
          <p:nvPr/>
        </p:nvSpPr>
        <p:spPr>
          <a:xfrm>
            <a:off x="965200" y="1669804"/>
            <a:ext cx="10246618" cy="4085539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F62163-55E8-4656-BA81-D80F3C7E3001}"/>
              </a:ext>
            </a:extLst>
          </p:cNvPr>
          <p:cNvSpPr txBox="1"/>
          <p:nvPr/>
        </p:nvSpPr>
        <p:spPr>
          <a:xfrm>
            <a:off x="1427643" y="1955517"/>
            <a:ext cx="9628284" cy="334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Text-based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– Generates written content (e.g., Copilot, </a:t>
            </a:r>
            <a:r>
              <a:rPr kumimoji="0" lang="en-IN" altLang="en-US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ChatGPT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Image-based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– Creates visuals and artwork (e.g., DALL·E, Midjourney)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Audio-based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– Produces speech, music, and sound (e.g., </a:t>
            </a:r>
            <a:r>
              <a:rPr kumimoji="0" lang="en-IN" altLang="en-US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ElevenLabs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kumimoji="0" lang="en-IN" altLang="en-US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Soundraw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Video-based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– Generates video content (e.g., </a:t>
            </a:r>
            <a:r>
              <a:rPr kumimoji="0" lang="en-IN" altLang="en-US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Synthesia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kumimoji="0" lang="en-IN" altLang="en-US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Pictory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Code-based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Assists with programming tasks (e.g., GitHub Copilot, </a:t>
            </a:r>
            <a:r>
              <a:rPr kumimoji="0" lang="en-IN" altLang="en-US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CodeWhisperer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Multimodal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– Combines text, image, and voice (e.g., Gemini, GPT-4 with vision)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E76A44-DF28-B4A0-6527-9F55F646A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258A52-74CF-18FD-452D-82A2EA1BA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304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9A141-140B-8B43-9846-63266490C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A368B51-9227-DB79-6EEF-CCD18869B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2713" y="-319089"/>
            <a:ext cx="12759269" cy="71770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089F1D-E5D9-A92F-8FD8-49633A73FB3D}"/>
              </a:ext>
            </a:extLst>
          </p:cNvPr>
          <p:cNvSpPr txBox="1"/>
          <p:nvPr/>
        </p:nvSpPr>
        <p:spPr>
          <a:xfrm>
            <a:off x="1676969" y="3044279"/>
            <a:ext cx="91086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bg1"/>
                </a:solidFill>
                <a:latin typeface="Aptos SemiBold" panose="020B0004020202020204" pitchFamily="34" charset="0"/>
              </a:rPr>
              <a:t>Thank You</a:t>
            </a:r>
            <a:endParaRPr lang="en-IN" sz="4400" b="1" dirty="0">
              <a:solidFill>
                <a:schemeClr val="bg1"/>
              </a:solidFill>
              <a:latin typeface="Aptos SemiBold" panose="020B00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CAD3D9E-0645-05C7-0076-44840A9DD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671B8-CE9D-5032-A048-D72C53950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37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Microsoft Office PowerPoint</Application>
  <PresentationFormat>Widescreen</PresentationFormat>
  <Paragraphs>101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SemiBold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Gaajula</dc:creator>
  <cp:lastModifiedBy>Chaitanya Gaajula</cp:lastModifiedBy>
  <cp:revision>2</cp:revision>
  <dcterms:created xsi:type="dcterms:W3CDTF">2026-05-19T10:19:12Z</dcterms:created>
  <dcterms:modified xsi:type="dcterms:W3CDTF">2026-06-08T03:41:20Z</dcterms:modified>
</cp:coreProperties>
</file>