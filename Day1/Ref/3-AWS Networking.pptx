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8" r:id="rId2"/>
    <p:sldId id="279" r:id="rId3"/>
    <p:sldId id="260" r:id="rId4"/>
    <p:sldId id="261" r:id="rId5"/>
    <p:sldId id="262" r:id="rId6"/>
    <p:sldId id="263" r:id="rId7"/>
    <p:sldId id="358" r:id="rId8"/>
    <p:sldId id="286" r:id="rId9"/>
    <p:sldId id="271" r:id="rId10"/>
    <p:sldId id="283" r:id="rId11"/>
    <p:sldId id="264" r:id="rId12"/>
    <p:sldId id="265" r:id="rId13"/>
    <p:sldId id="267" r:id="rId14"/>
    <p:sldId id="296" r:id="rId15"/>
    <p:sldId id="266" r:id="rId16"/>
    <p:sldId id="287" r:id="rId17"/>
    <p:sldId id="288" r:id="rId18"/>
    <p:sldId id="289" r:id="rId19"/>
    <p:sldId id="295" r:id="rId20"/>
    <p:sldId id="361" r:id="rId21"/>
    <p:sldId id="362" r:id="rId22"/>
    <p:sldId id="356" r:id="rId23"/>
    <p:sldId id="357"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Mf4zT2LJ3/0qVZ4f0dkHBA==" hashData="RZ3Cbjwd5cX0JgM7p6paMhRGsUvZLZ8yaBpOcT1XwpXkSmgkCiun0hDNSUMjXQBRT6YMgFiOUDo7TIPYq/Hjpg=="/>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3C1713-59BE-4774-BAAD-BF7B0ED471F6}" type="datetimeFigureOut">
              <a:rPr lang="en-IN" smtClean="0"/>
              <a:t>23-08-2021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66D36-D0D9-4B49-AE26-E2BD08DB2AF5}" type="slidenum">
              <a:rPr lang="en-IN" smtClean="0"/>
              <a:t>‹#›</a:t>
            </a:fld>
            <a:endParaRPr lang="en-IN"/>
          </a:p>
        </p:txBody>
      </p:sp>
    </p:spTree>
    <p:extLst>
      <p:ext uri="{BB962C8B-B14F-4D97-AF65-F5344CB8AC3E}">
        <p14:creationId xmlns:p14="http://schemas.microsoft.com/office/powerpoint/2010/main" val="70598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736A86-BED5-413C-8AB0-579CE553B225}" type="slidenum">
              <a:rPr lang="en-US" smtClean="0"/>
              <a:t>18</a:t>
            </a:fld>
            <a:endParaRPr lang="en-US"/>
          </a:p>
        </p:txBody>
      </p:sp>
    </p:spTree>
    <p:extLst>
      <p:ext uri="{BB962C8B-B14F-4D97-AF65-F5344CB8AC3E}">
        <p14:creationId xmlns:p14="http://schemas.microsoft.com/office/powerpoint/2010/main" val="1926594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78AFC-FA8F-4F30-8F5E-03A54CB841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9A182AE-40A2-434B-B241-807CDB4270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D09BA7-D9A8-44CA-91DC-CC9519D1BF74}"/>
              </a:ext>
            </a:extLst>
          </p:cNvPr>
          <p:cNvSpPr>
            <a:spLocks noGrp="1"/>
          </p:cNvSpPr>
          <p:nvPr>
            <p:ph type="dt" sz="half" idx="10"/>
          </p:nvPr>
        </p:nvSpPr>
        <p:spPr/>
        <p:txBody>
          <a:bodyPr/>
          <a:lstStyle/>
          <a:p>
            <a:fld id="{336975FA-559E-492F-834C-C30BFA684269}" type="datetime1">
              <a:rPr lang="en-IN" smtClean="0"/>
              <a:t>23-08-2021</a:t>
            </a:fld>
            <a:endParaRPr lang="en-IN"/>
          </a:p>
        </p:txBody>
      </p:sp>
      <p:sp>
        <p:nvSpPr>
          <p:cNvPr id="5" name="Footer Placeholder 4">
            <a:extLst>
              <a:ext uri="{FF2B5EF4-FFF2-40B4-BE49-F238E27FC236}">
                <a16:creationId xmlns:a16="http://schemas.microsoft.com/office/drawing/2014/main" id="{BD9C7A33-B69B-4FA8-8EBD-5E6F4CE6B0BB}"/>
              </a:ext>
            </a:extLst>
          </p:cNvPr>
          <p:cNvSpPr>
            <a:spLocks noGrp="1"/>
          </p:cNvSpPr>
          <p:nvPr>
            <p:ph type="ftr" sz="quarter" idx="11"/>
          </p:nvPr>
        </p:nvSpPr>
        <p:spPr/>
        <p:txBody>
          <a:bodyPr/>
          <a:lstStyle/>
          <a:p>
            <a:r>
              <a:rPr lang="en-US"/>
              <a:t>CHAITANYA R GAAJULA- ALL COPYRIGHTS RESERVED</a:t>
            </a:r>
            <a:endParaRPr lang="en-IN"/>
          </a:p>
        </p:txBody>
      </p:sp>
      <p:sp>
        <p:nvSpPr>
          <p:cNvPr id="6" name="Slide Number Placeholder 5">
            <a:extLst>
              <a:ext uri="{FF2B5EF4-FFF2-40B4-BE49-F238E27FC236}">
                <a16:creationId xmlns:a16="http://schemas.microsoft.com/office/drawing/2014/main" id="{DAFAE14F-CE18-430A-A595-D9C8366B263A}"/>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1926862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2954-98B1-4C86-9D47-9B9BBE5866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1CC5CC-08EE-4467-9C5A-90911FE1CD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AAABD4-8639-4607-944E-1897B611110C}"/>
              </a:ext>
            </a:extLst>
          </p:cNvPr>
          <p:cNvSpPr>
            <a:spLocks noGrp="1"/>
          </p:cNvSpPr>
          <p:nvPr>
            <p:ph type="dt" sz="half" idx="10"/>
          </p:nvPr>
        </p:nvSpPr>
        <p:spPr/>
        <p:txBody>
          <a:bodyPr/>
          <a:lstStyle/>
          <a:p>
            <a:fld id="{DA8F1070-3F32-4541-9668-DD091CD0211C}" type="datetime1">
              <a:rPr lang="en-IN" smtClean="0"/>
              <a:t>23-08-2021</a:t>
            </a:fld>
            <a:endParaRPr lang="en-IN"/>
          </a:p>
        </p:txBody>
      </p:sp>
      <p:sp>
        <p:nvSpPr>
          <p:cNvPr id="5" name="Footer Placeholder 4">
            <a:extLst>
              <a:ext uri="{FF2B5EF4-FFF2-40B4-BE49-F238E27FC236}">
                <a16:creationId xmlns:a16="http://schemas.microsoft.com/office/drawing/2014/main" id="{E377C195-5119-47B3-9202-5E8906460302}"/>
              </a:ext>
            </a:extLst>
          </p:cNvPr>
          <p:cNvSpPr>
            <a:spLocks noGrp="1"/>
          </p:cNvSpPr>
          <p:nvPr>
            <p:ph type="ftr" sz="quarter" idx="11"/>
          </p:nvPr>
        </p:nvSpPr>
        <p:spPr/>
        <p:txBody>
          <a:bodyPr/>
          <a:lstStyle/>
          <a:p>
            <a:r>
              <a:rPr lang="en-US"/>
              <a:t>CHAITANYA R GAAJULA- ALL COPYRIGHTS RESERVED</a:t>
            </a:r>
            <a:endParaRPr lang="en-IN"/>
          </a:p>
        </p:txBody>
      </p:sp>
      <p:sp>
        <p:nvSpPr>
          <p:cNvPr id="6" name="Slide Number Placeholder 5">
            <a:extLst>
              <a:ext uri="{FF2B5EF4-FFF2-40B4-BE49-F238E27FC236}">
                <a16:creationId xmlns:a16="http://schemas.microsoft.com/office/drawing/2014/main" id="{14AB4F3B-49E2-47E7-9DDD-C43CC504DA02}"/>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3063852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82CF4-6930-4B89-A1D6-876111EA38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585429-EAFD-4E98-AC4B-C8E7277128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191F11-B673-439D-9B55-EF237057D28E}"/>
              </a:ext>
            </a:extLst>
          </p:cNvPr>
          <p:cNvSpPr>
            <a:spLocks noGrp="1"/>
          </p:cNvSpPr>
          <p:nvPr>
            <p:ph type="dt" sz="half" idx="10"/>
          </p:nvPr>
        </p:nvSpPr>
        <p:spPr/>
        <p:txBody>
          <a:bodyPr/>
          <a:lstStyle/>
          <a:p>
            <a:fld id="{113D9DD2-4A11-4039-8054-9E66D4A2B9E2}" type="datetime1">
              <a:rPr lang="en-IN" smtClean="0"/>
              <a:t>23-08-2021</a:t>
            </a:fld>
            <a:endParaRPr lang="en-IN"/>
          </a:p>
        </p:txBody>
      </p:sp>
      <p:sp>
        <p:nvSpPr>
          <p:cNvPr id="5" name="Footer Placeholder 4">
            <a:extLst>
              <a:ext uri="{FF2B5EF4-FFF2-40B4-BE49-F238E27FC236}">
                <a16:creationId xmlns:a16="http://schemas.microsoft.com/office/drawing/2014/main" id="{36DE648D-63B6-43AC-9EC1-EF26E105D24E}"/>
              </a:ext>
            </a:extLst>
          </p:cNvPr>
          <p:cNvSpPr>
            <a:spLocks noGrp="1"/>
          </p:cNvSpPr>
          <p:nvPr>
            <p:ph type="ftr" sz="quarter" idx="11"/>
          </p:nvPr>
        </p:nvSpPr>
        <p:spPr/>
        <p:txBody>
          <a:bodyPr/>
          <a:lstStyle/>
          <a:p>
            <a:r>
              <a:rPr lang="en-US"/>
              <a:t>CHAITANYA R GAAJULA- ALL COPYRIGHTS RESERVED</a:t>
            </a:r>
            <a:endParaRPr lang="en-IN"/>
          </a:p>
        </p:txBody>
      </p:sp>
      <p:sp>
        <p:nvSpPr>
          <p:cNvPr id="6" name="Slide Number Placeholder 5">
            <a:extLst>
              <a:ext uri="{FF2B5EF4-FFF2-40B4-BE49-F238E27FC236}">
                <a16:creationId xmlns:a16="http://schemas.microsoft.com/office/drawing/2014/main" id="{6EAD3F96-1874-4FCA-8818-7B8B47A560FD}"/>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2174252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4978C-50B2-40F8-8D6F-69A48847BF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689886-94FA-4C71-ABDC-C7A2AA4B83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BC89A98-254F-4409-A33B-AB95A27D1D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E64B1A-2913-40AD-A922-6A568819ED18}"/>
              </a:ext>
            </a:extLst>
          </p:cNvPr>
          <p:cNvSpPr>
            <a:spLocks noGrp="1"/>
          </p:cNvSpPr>
          <p:nvPr>
            <p:ph type="dt" sz="half" idx="10"/>
          </p:nvPr>
        </p:nvSpPr>
        <p:spPr/>
        <p:txBody>
          <a:bodyPr/>
          <a:lstStyle/>
          <a:p>
            <a:fld id="{F9DFDDAE-8F45-416F-81CB-B5DC7F55B641}" type="datetime1">
              <a:rPr lang="en-IN" smtClean="0"/>
              <a:t>23-08-2021</a:t>
            </a:fld>
            <a:endParaRPr lang="en-IN"/>
          </a:p>
        </p:txBody>
      </p:sp>
      <p:sp>
        <p:nvSpPr>
          <p:cNvPr id="6" name="Footer Placeholder 5">
            <a:extLst>
              <a:ext uri="{FF2B5EF4-FFF2-40B4-BE49-F238E27FC236}">
                <a16:creationId xmlns:a16="http://schemas.microsoft.com/office/drawing/2014/main" id="{8EB181C3-9BB2-4BE8-A679-5CB6E656B1D2}"/>
              </a:ext>
            </a:extLst>
          </p:cNvPr>
          <p:cNvSpPr>
            <a:spLocks noGrp="1"/>
          </p:cNvSpPr>
          <p:nvPr>
            <p:ph type="ftr" sz="quarter" idx="11"/>
          </p:nvPr>
        </p:nvSpPr>
        <p:spPr/>
        <p:txBody>
          <a:bodyPr/>
          <a:lstStyle/>
          <a:p>
            <a:r>
              <a:rPr lang="en-US"/>
              <a:t>CHAITANYA R GAAJULA- ALL COPYRIGHTS RESERVED</a:t>
            </a:r>
            <a:endParaRPr lang="en-IN"/>
          </a:p>
        </p:txBody>
      </p:sp>
      <p:sp>
        <p:nvSpPr>
          <p:cNvPr id="7" name="Slide Number Placeholder 6">
            <a:extLst>
              <a:ext uri="{FF2B5EF4-FFF2-40B4-BE49-F238E27FC236}">
                <a16:creationId xmlns:a16="http://schemas.microsoft.com/office/drawing/2014/main" id="{18512AEE-B8CA-4796-A62B-47F0DC011173}"/>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3523954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DDD9A-D9E7-487F-9D8C-892CC53906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50FED2-22B2-4E6B-ABEB-4D9724B8A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99ECD1-DA04-4C5E-8212-78C104AFCA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2145A9C-0DBC-4CD1-887F-391CB46CD8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7A3245-B6C1-48E3-A6AE-30CF11B04D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5518E7-0782-4DD8-ABF7-3EE4CD5D765E}"/>
              </a:ext>
            </a:extLst>
          </p:cNvPr>
          <p:cNvSpPr>
            <a:spLocks noGrp="1"/>
          </p:cNvSpPr>
          <p:nvPr>
            <p:ph type="dt" sz="half" idx="10"/>
          </p:nvPr>
        </p:nvSpPr>
        <p:spPr/>
        <p:txBody>
          <a:bodyPr/>
          <a:lstStyle/>
          <a:p>
            <a:fld id="{577A7E10-3705-43BE-AF38-4E817E761789}" type="datetime1">
              <a:rPr lang="en-IN" smtClean="0"/>
              <a:t>23-08-2021</a:t>
            </a:fld>
            <a:endParaRPr lang="en-IN"/>
          </a:p>
        </p:txBody>
      </p:sp>
      <p:sp>
        <p:nvSpPr>
          <p:cNvPr id="8" name="Footer Placeholder 7">
            <a:extLst>
              <a:ext uri="{FF2B5EF4-FFF2-40B4-BE49-F238E27FC236}">
                <a16:creationId xmlns:a16="http://schemas.microsoft.com/office/drawing/2014/main" id="{378AA26D-1620-4AF7-9FF2-0C2A87ED9426}"/>
              </a:ext>
            </a:extLst>
          </p:cNvPr>
          <p:cNvSpPr>
            <a:spLocks noGrp="1"/>
          </p:cNvSpPr>
          <p:nvPr>
            <p:ph type="ftr" sz="quarter" idx="11"/>
          </p:nvPr>
        </p:nvSpPr>
        <p:spPr/>
        <p:txBody>
          <a:bodyPr/>
          <a:lstStyle/>
          <a:p>
            <a:r>
              <a:rPr lang="en-US"/>
              <a:t>CHAITANYA R GAAJULA- ALL COPYRIGHTS RESERVED</a:t>
            </a:r>
            <a:endParaRPr lang="en-IN"/>
          </a:p>
        </p:txBody>
      </p:sp>
      <p:sp>
        <p:nvSpPr>
          <p:cNvPr id="9" name="Slide Number Placeholder 8">
            <a:extLst>
              <a:ext uri="{FF2B5EF4-FFF2-40B4-BE49-F238E27FC236}">
                <a16:creationId xmlns:a16="http://schemas.microsoft.com/office/drawing/2014/main" id="{00640040-88E1-4433-8944-6DE85C8EDA80}"/>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2305678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3830-7E53-45DE-BCB5-BF86FEEA11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75500B7-432B-47A6-BE6C-E0334DF562BE}"/>
              </a:ext>
            </a:extLst>
          </p:cNvPr>
          <p:cNvSpPr>
            <a:spLocks noGrp="1"/>
          </p:cNvSpPr>
          <p:nvPr>
            <p:ph type="dt" sz="half" idx="10"/>
          </p:nvPr>
        </p:nvSpPr>
        <p:spPr/>
        <p:txBody>
          <a:bodyPr/>
          <a:lstStyle/>
          <a:p>
            <a:fld id="{E6FE3714-9417-4B29-B76C-2FEE5B3F442C}" type="datetime1">
              <a:rPr lang="en-IN" smtClean="0"/>
              <a:t>23-08-2021</a:t>
            </a:fld>
            <a:endParaRPr lang="en-IN"/>
          </a:p>
        </p:txBody>
      </p:sp>
      <p:sp>
        <p:nvSpPr>
          <p:cNvPr id="4" name="Footer Placeholder 3">
            <a:extLst>
              <a:ext uri="{FF2B5EF4-FFF2-40B4-BE49-F238E27FC236}">
                <a16:creationId xmlns:a16="http://schemas.microsoft.com/office/drawing/2014/main" id="{7FE7FD1B-1CDB-437F-B724-7CA650FBDFD0}"/>
              </a:ext>
            </a:extLst>
          </p:cNvPr>
          <p:cNvSpPr>
            <a:spLocks noGrp="1"/>
          </p:cNvSpPr>
          <p:nvPr>
            <p:ph type="ftr" sz="quarter" idx="11"/>
          </p:nvPr>
        </p:nvSpPr>
        <p:spPr/>
        <p:txBody>
          <a:bodyPr/>
          <a:lstStyle/>
          <a:p>
            <a:r>
              <a:rPr lang="en-US"/>
              <a:t>CHAITANYA R GAAJULA- ALL COPYRIGHTS RESERVED</a:t>
            </a:r>
            <a:endParaRPr lang="en-IN"/>
          </a:p>
        </p:txBody>
      </p:sp>
      <p:sp>
        <p:nvSpPr>
          <p:cNvPr id="5" name="Slide Number Placeholder 4">
            <a:extLst>
              <a:ext uri="{FF2B5EF4-FFF2-40B4-BE49-F238E27FC236}">
                <a16:creationId xmlns:a16="http://schemas.microsoft.com/office/drawing/2014/main" id="{A3602FC1-7870-487D-8260-221E08304684}"/>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3312152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8A78CE-B3D3-4DEC-861B-BDED05CA73CF}"/>
              </a:ext>
            </a:extLst>
          </p:cNvPr>
          <p:cNvSpPr>
            <a:spLocks noGrp="1"/>
          </p:cNvSpPr>
          <p:nvPr>
            <p:ph type="dt" sz="half" idx="10"/>
          </p:nvPr>
        </p:nvSpPr>
        <p:spPr/>
        <p:txBody>
          <a:bodyPr/>
          <a:lstStyle/>
          <a:p>
            <a:fld id="{028C694C-D837-4FF1-8B6D-3045D9324B69}" type="datetime1">
              <a:rPr lang="en-IN" smtClean="0"/>
              <a:t>23-08-2021</a:t>
            </a:fld>
            <a:endParaRPr lang="en-IN"/>
          </a:p>
        </p:txBody>
      </p:sp>
      <p:sp>
        <p:nvSpPr>
          <p:cNvPr id="3" name="Footer Placeholder 2">
            <a:extLst>
              <a:ext uri="{FF2B5EF4-FFF2-40B4-BE49-F238E27FC236}">
                <a16:creationId xmlns:a16="http://schemas.microsoft.com/office/drawing/2014/main" id="{92F321D1-09A7-47E7-A3CF-53F4AB0BC229}"/>
              </a:ext>
            </a:extLst>
          </p:cNvPr>
          <p:cNvSpPr>
            <a:spLocks noGrp="1"/>
          </p:cNvSpPr>
          <p:nvPr>
            <p:ph type="ftr" sz="quarter" idx="11"/>
          </p:nvPr>
        </p:nvSpPr>
        <p:spPr/>
        <p:txBody>
          <a:bodyPr/>
          <a:lstStyle/>
          <a:p>
            <a:r>
              <a:rPr lang="en-US"/>
              <a:t>CHAITANYA R GAAJULA- ALL COPYRIGHTS RESERVED</a:t>
            </a:r>
            <a:endParaRPr lang="en-IN"/>
          </a:p>
        </p:txBody>
      </p:sp>
      <p:sp>
        <p:nvSpPr>
          <p:cNvPr id="4" name="Slide Number Placeholder 3">
            <a:extLst>
              <a:ext uri="{FF2B5EF4-FFF2-40B4-BE49-F238E27FC236}">
                <a16:creationId xmlns:a16="http://schemas.microsoft.com/office/drawing/2014/main" id="{B7AFB562-CD9F-4DF2-8386-AE23020D6A40}"/>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3721295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8CAA2-299B-4013-AF2E-4EF7075E6E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B5582C-A8D9-4465-AE87-2E5E1F1EB9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841E05-E6C0-40E1-8A73-C969617C1B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29D931-B241-4A82-B59D-DD958A44C183}"/>
              </a:ext>
            </a:extLst>
          </p:cNvPr>
          <p:cNvSpPr>
            <a:spLocks noGrp="1"/>
          </p:cNvSpPr>
          <p:nvPr>
            <p:ph type="dt" sz="half" idx="10"/>
          </p:nvPr>
        </p:nvSpPr>
        <p:spPr/>
        <p:txBody>
          <a:bodyPr/>
          <a:lstStyle/>
          <a:p>
            <a:fld id="{A6B8BE18-E095-4B68-8332-FF6762321CE4}" type="datetime1">
              <a:rPr lang="en-IN" smtClean="0"/>
              <a:t>23-08-2021</a:t>
            </a:fld>
            <a:endParaRPr lang="en-IN"/>
          </a:p>
        </p:txBody>
      </p:sp>
      <p:sp>
        <p:nvSpPr>
          <p:cNvPr id="6" name="Footer Placeholder 5">
            <a:extLst>
              <a:ext uri="{FF2B5EF4-FFF2-40B4-BE49-F238E27FC236}">
                <a16:creationId xmlns:a16="http://schemas.microsoft.com/office/drawing/2014/main" id="{7C79E462-AEDC-427E-9B0A-632204C70FE0}"/>
              </a:ext>
            </a:extLst>
          </p:cNvPr>
          <p:cNvSpPr>
            <a:spLocks noGrp="1"/>
          </p:cNvSpPr>
          <p:nvPr>
            <p:ph type="ftr" sz="quarter" idx="11"/>
          </p:nvPr>
        </p:nvSpPr>
        <p:spPr/>
        <p:txBody>
          <a:bodyPr/>
          <a:lstStyle/>
          <a:p>
            <a:r>
              <a:rPr lang="en-US"/>
              <a:t>CHAITANYA R GAAJULA- ALL COPYRIGHTS RESERVED</a:t>
            </a:r>
            <a:endParaRPr lang="en-IN"/>
          </a:p>
        </p:txBody>
      </p:sp>
      <p:sp>
        <p:nvSpPr>
          <p:cNvPr id="7" name="Slide Number Placeholder 6">
            <a:extLst>
              <a:ext uri="{FF2B5EF4-FFF2-40B4-BE49-F238E27FC236}">
                <a16:creationId xmlns:a16="http://schemas.microsoft.com/office/drawing/2014/main" id="{823D82F7-A706-4D9D-9CD0-E40248BFCFA3}"/>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54026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6AE9E-7B2F-4E8F-BC27-0A0B3D7264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658A3C-F848-49D2-855E-F9FEE0EB41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A8323A-2CFC-47B7-8216-E7EB3626FE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AEB9ED-2FB8-4064-AB7A-89D55E3C3613}"/>
              </a:ext>
            </a:extLst>
          </p:cNvPr>
          <p:cNvSpPr>
            <a:spLocks noGrp="1"/>
          </p:cNvSpPr>
          <p:nvPr>
            <p:ph type="dt" sz="half" idx="10"/>
          </p:nvPr>
        </p:nvSpPr>
        <p:spPr/>
        <p:txBody>
          <a:bodyPr/>
          <a:lstStyle/>
          <a:p>
            <a:fld id="{99E97336-9B5D-46A1-BC1A-10ED031BC0CC}" type="datetime1">
              <a:rPr lang="en-IN" smtClean="0"/>
              <a:t>23-08-2021</a:t>
            </a:fld>
            <a:endParaRPr lang="en-IN"/>
          </a:p>
        </p:txBody>
      </p:sp>
      <p:sp>
        <p:nvSpPr>
          <p:cNvPr id="6" name="Footer Placeholder 5">
            <a:extLst>
              <a:ext uri="{FF2B5EF4-FFF2-40B4-BE49-F238E27FC236}">
                <a16:creationId xmlns:a16="http://schemas.microsoft.com/office/drawing/2014/main" id="{50549EDF-14A4-41F1-9C46-0F8696B9AA31}"/>
              </a:ext>
            </a:extLst>
          </p:cNvPr>
          <p:cNvSpPr>
            <a:spLocks noGrp="1"/>
          </p:cNvSpPr>
          <p:nvPr>
            <p:ph type="ftr" sz="quarter" idx="11"/>
          </p:nvPr>
        </p:nvSpPr>
        <p:spPr/>
        <p:txBody>
          <a:bodyPr/>
          <a:lstStyle/>
          <a:p>
            <a:r>
              <a:rPr lang="en-US"/>
              <a:t>CHAITANYA R GAAJULA- ALL COPYRIGHTS RESERVED</a:t>
            </a:r>
            <a:endParaRPr lang="en-IN"/>
          </a:p>
        </p:txBody>
      </p:sp>
      <p:sp>
        <p:nvSpPr>
          <p:cNvPr id="7" name="Slide Number Placeholder 6">
            <a:extLst>
              <a:ext uri="{FF2B5EF4-FFF2-40B4-BE49-F238E27FC236}">
                <a16:creationId xmlns:a16="http://schemas.microsoft.com/office/drawing/2014/main" id="{DAA13901-4BE4-4ECA-98B5-B763C1DC0AB2}"/>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2555284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61FE9-327F-4D92-B992-2379502028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153D8B-397F-4195-9FC0-F120BAA245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7DBD07-6181-4066-8B65-80DD11AD980F}"/>
              </a:ext>
            </a:extLst>
          </p:cNvPr>
          <p:cNvSpPr>
            <a:spLocks noGrp="1"/>
          </p:cNvSpPr>
          <p:nvPr>
            <p:ph type="dt" sz="half" idx="10"/>
          </p:nvPr>
        </p:nvSpPr>
        <p:spPr/>
        <p:txBody>
          <a:bodyPr/>
          <a:lstStyle/>
          <a:p>
            <a:fld id="{305DD884-4AC1-4796-B049-087AAD499818}" type="datetime1">
              <a:rPr lang="en-IN" smtClean="0"/>
              <a:t>23-08-2021</a:t>
            </a:fld>
            <a:endParaRPr lang="en-IN"/>
          </a:p>
        </p:txBody>
      </p:sp>
      <p:sp>
        <p:nvSpPr>
          <p:cNvPr id="5" name="Footer Placeholder 4">
            <a:extLst>
              <a:ext uri="{FF2B5EF4-FFF2-40B4-BE49-F238E27FC236}">
                <a16:creationId xmlns:a16="http://schemas.microsoft.com/office/drawing/2014/main" id="{1A17C4F1-CFC9-45C4-8D52-68DD98B285F2}"/>
              </a:ext>
            </a:extLst>
          </p:cNvPr>
          <p:cNvSpPr>
            <a:spLocks noGrp="1"/>
          </p:cNvSpPr>
          <p:nvPr>
            <p:ph type="ftr" sz="quarter" idx="11"/>
          </p:nvPr>
        </p:nvSpPr>
        <p:spPr/>
        <p:txBody>
          <a:bodyPr/>
          <a:lstStyle/>
          <a:p>
            <a:r>
              <a:rPr lang="en-US"/>
              <a:t>CHAITANYA R GAAJULA- ALL COPYRIGHTS RESERVED</a:t>
            </a:r>
            <a:endParaRPr lang="en-IN"/>
          </a:p>
        </p:txBody>
      </p:sp>
      <p:sp>
        <p:nvSpPr>
          <p:cNvPr id="6" name="Slide Number Placeholder 5">
            <a:extLst>
              <a:ext uri="{FF2B5EF4-FFF2-40B4-BE49-F238E27FC236}">
                <a16:creationId xmlns:a16="http://schemas.microsoft.com/office/drawing/2014/main" id="{C4CF2B92-8584-4DB3-A9F5-9406A0772CB8}"/>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4037381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71D3B4-F80C-423F-99C1-76FD71E1E0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C7DC10-2EFC-4351-8ED0-0B869C5EF5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FD66A-C37B-4315-B70F-9EAF6B944D30}"/>
              </a:ext>
            </a:extLst>
          </p:cNvPr>
          <p:cNvSpPr>
            <a:spLocks noGrp="1"/>
          </p:cNvSpPr>
          <p:nvPr>
            <p:ph type="dt" sz="half" idx="10"/>
          </p:nvPr>
        </p:nvSpPr>
        <p:spPr/>
        <p:txBody>
          <a:bodyPr/>
          <a:lstStyle/>
          <a:p>
            <a:fld id="{1E12C578-D8F4-46B8-9984-AC4046DFACCC}" type="datetime1">
              <a:rPr lang="en-IN" smtClean="0"/>
              <a:t>23-08-2021</a:t>
            </a:fld>
            <a:endParaRPr lang="en-IN"/>
          </a:p>
        </p:txBody>
      </p:sp>
      <p:sp>
        <p:nvSpPr>
          <p:cNvPr id="5" name="Footer Placeholder 4">
            <a:extLst>
              <a:ext uri="{FF2B5EF4-FFF2-40B4-BE49-F238E27FC236}">
                <a16:creationId xmlns:a16="http://schemas.microsoft.com/office/drawing/2014/main" id="{59333E09-3AA9-42E2-9217-3A2CD07EBB5B}"/>
              </a:ext>
            </a:extLst>
          </p:cNvPr>
          <p:cNvSpPr>
            <a:spLocks noGrp="1"/>
          </p:cNvSpPr>
          <p:nvPr>
            <p:ph type="ftr" sz="quarter" idx="11"/>
          </p:nvPr>
        </p:nvSpPr>
        <p:spPr/>
        <p:txBody>
          <a:bodyPr/>
          <a:lstStyle/>
          <a:p>
            <a:r>
              <a:rPr lang="en-US"/>
              <a:t>CHAITANYA R GAAJULA- ALL COPYRIGHTS RESERVED</a:t>
            </a:r>
            <a:endParaRPr lang="en-IN"/>
          </a:p>
        </p:txBody>
      </p:sp>
      <p:sp>
        <p:nvSpPr>
          <p:cNvPr id="6" name="Slide Number Placeholder 5">
            <a:extLst>
              <a:ext uri="{FF2B5EF4-FFF2-40B4-BE49-F238E27FC236}">
                <a16:creationId xmlns:a16="http://schemas.microsoft.com/office/drawing/2014/main" id="{B8CF1F04-413D-447B-B21F-33EF227F9D8F}"/>
              </a:ext>
            </a:extLst>
          </p:cNvPr>
          <p:cNvSpPr>
            <a:spLocks noGrp="1"/>
          </p:cNvSpPr>
          <p:nvPr>
            <p:ph type="sldNum" sz="quarter" idx="12"/>
          </p:nvPr>
        </p:nvSpPr>
        <p:spPr/>
        <p:txBody>
          <a:bodyPr/>
          <a:lstStyle/>
          <a:p>
            <a:fld id="{89E7C130-224B-4120-B5CD-07D97FE33FFE}" type="slidenum">
              <a:rPr lang="en-IN" smtClean="0"/>
              <a:t>‹#›</a:t>
            </a:fld>
            <a:endParaRPr lang="en-IN"/>
          </a:p>
        </p:txBody>
      </p:sp>
    </p:spTree>
    <p:extLst>
      <p:ext uri="{BB962C8B-B14F-4D97-AF65-F5344CB8AC3E}">
        <p14:creationId xmlns:p14="http://schemas.microsoft.com/office/powerpoint/2010/main" val="3511062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EC5553"/>
                </a:solidFill>
                <a:latin typeface="Carlito"/>
                <a:cs typeface="Carlito"/>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R GAAJULA- ALL COPYRIGHTS RESERVED</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DCE0D48-94FC-4851-99A9-D21E045225D3}" type="datetime1">
              <a:rPr lang="en-IN" smtClean="0"/>
              <a:t>23-08-2021</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787924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6D5A9B-BF47-4363-B54B-03980BA0DC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75CFF8-D121-444C-B7A1-BE83F342C3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237EF1-ADC7-48FA-B1F7-15C5D3213E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80D792-6461-4A9A-8DC8-8C5D0246238C}" type="datetime1">
              <a:rPr lang="en-IN" smtClean="0"/>
              <a:t>23-08-2021</a:t>
            </a:fld>
            <a:endParaRPr lang="en-IN"/>
          </a:p>
        </p:txBody>
      </p:sp>
      <p:sp>
        <p:nvSpPr>
          <p:cNvPr id="5" name="Footer Placeholder 4">
            <a:extLst>
              <a:ext uri="{FF2B5EF4-FFF2-40B4-BE49-F238E27FC236}">
                <a16:creationId xmlns:a16="http://schemas.microsoft.com/office/drawing/2014/main" id="{D72B5ECA-7200-46A6-A828-41DFE3DF40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R GAAJULA- ALL COPYRIGHTS RESERVED</a:t>
            </a:r>
            <a:endParaRPr lang="en-IN"/>
          </a:p>
        </p:txBody>
      </p:sp>
      <p:sp>
        <p:nvSpPr>
          <p:cNvPr id="6" name="Slide Number Placeholder 5">
            <a:extLst>
              <a:ext uri="{FF2B5EF4-FFF2-40B4-BE49-F238E27FC236}">
                <a16:creationId xmlns:a16="http://schemas.microsoft.com/office/drawing/2014/main" id="{B26AD65C-7165-4840-A746-0AA379FDEE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E7C130-224B-4120-B5CD-07D97FE33FFE}" type="slidenum">
              <a:rPr lang="en-IN" smtClean="0"/>
              <a:t>‹#›</a:t>
            </a:fld>
            <a:endParaRPr lang="en-IN"/>
          </a:p>
        </p:txBody>
      </p:sp>
    </p:spTree>
    <p:extLst>
      <p:ext uri="{BB962C8B-B14F-4D97-AF65-F5344CB8AC3E}">
        <p14:creationId xmlns:p14="http://schemas.microsoft.com/office/powerpoint/2010/main" val="578497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www.subnet-calculator.com/cidr.ph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5616" y="2926969"/>
            <a:ext cx="7176134" cy="677108"/>
          </a:xfrm>
          <a:prstGeom prst="rect">
            <a:avLst/>
          </a:prstGeom>
        </p:spPr>
        <p:txBody>
          <a:bodyPr vert="horz" wrap="square" lIns="0" tIns="0" rIns="0" bIns="0" rtlCol="0">
            <a:spAutoFit/>
          </a:bodyPr>
          <a:lstStyle/>
          <a:p>
            <a:pPr algn="ctr"/>
            <a:r>
              <a:rPr lang="en-US" sz="4400" dirty="0">
                <a:ea typeface="Verdana" panose="020B0604030504040204" pitchFamily="34" charset="0"/>
                <a:cs typeface="Verdana" panose="020B0604030504040204" pitchFamily="34" charset="0"/>
              </a:rPr>
              <a:t>AWS Networking</a:t>
            </a:r>
            <a:endParaRPr lang="en-US" sz="4800" b="1" dirty="0">
              <a:ea typeface="Verdana" panose="020B0604030504040204" pitchFamily="34" charset="0"/>
              <a:cs typeface="Verdana" panose="020B0604030504040204" pitchFamily="34" charset="0"/>
            </a:endParaRPr>
          </a:p>
        </p:txBody>
      </p:sp>
      <p:sp>
        <p:nvSpPr>
          <p:cNvPr id="4" name="Footer Placeholder 3">
            <a:extLst>
              <a:ext uri="{FF2B5EF4-FFF2-40B4-BE49-F238E27FC236}">
                <a16:creationId xmlns:a16="http://schemas.microsoft.com/office/drawing/2014/main" id="{E009369E-AEC9-44B8-A4D1-7D9006EEC942}"/>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226" y="1143001"/>
            <a:ext cx="11306176" cy="5105399"/>
          </a:xfrm>
        </p:spPr>
        <p:txBody>
          <a:bodyPr>
            <a:normAutofit/>
          </a:bodyPr>
          <a:lstStyle/>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Amazon Virtual Private Cloud (VPC) enables you to launch AWS resources into a virtual network that you've deﬁned.</a:t>
            </a: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 Virtual Private Cloud is a virtual network dedicated to your AWS account. </a:t>
            </a: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It is logically isolated from other virtual networks in the AWS cloud. </a:t>
            </a: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You can launch your AWS resources, such as Amazon EC2 instances, into your VPC. </a:t>
            </a: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You can conﬁgure your VPC; you can select its IP address range, create subnets, and conﬁgure route tables, network gateways, and security settings.</a:t>
            </a: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Use a public subnet for resources that must be connected to the Internet, and a private subnet for resources that won't be connected to the Internet. </a:t>
            </a: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What is VPC</a:t>
            </a:r>
          </a:p>
        </p:txBody>
      </p:sp>
      <p:sp>
        <p:nvSpPr>
          <p:cNvPr id="5" name="Footer Placeholder 4">
            <a:extLst>
              <a:ext uri="{FF2B5EF4-FFF2-40B4-BE49-F238E27FC236}">
                <a16:creationId xmlns:a16="http://schemas.microsoft.com/office/drawing/2014/main" id="{6FC1CE9B-6CC0-4657-A871-6EF70C19B651}"/>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129509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300355"/>
            <a:ext cx="2628265" cy="513715"/>
          </a:xfrm>
          <a:prstGeom prst="rect">
            <a:avLst/>
          </a:prstGeom>
        </p:spPr>
        <p:txBody>
          <a:bodyPr vert="horz" wrap="square" lIns="0" tIns="12700" rIns="0" bIns="0" rtlCol="0">
            <a:spAutoFit/>
          </a:bodyPr>
          <a:lstStyle/>
          <a:p>
            <a:pPr marL="12700">
              <a:lnSpc>
                <a:spcPct val="100000"/>
              </a:lnSpc>
              <a:spcBef>
                <a:spcPts val="100"/>
              </a:spcBef>
            </a:pPr>
            <a:r>
              <a:rPr sz="3200" b="0" spc="-5" dirty="0">
                <a:solidFill>
                  <a:schemeClr val="tx1"/>
                </a:solidFill>
                <a:latin typeface="TeXGyreAdventor"/>
                <a:cs typeface="TeXGyreAdventor"/>
              </a:rPr>
              <a:t>VPC</a:t>
            </a:r>
            <a:r>
              <a:rPr sz="3200" b="0" spc="-80" dirty="0">
                <a:solidFill>
                  <a:schemeClr val="tx1"/>
                </a:solidFill>
                <a:latin typeface="TeXGyreAdventor"/>
                <a:cs typeface="TeXGyreAdventor"/>
              </a:rPr>
              <a:t> </a:t>
            </a:r>
            <a:r>
              <a:rPr sz="3200" b="0" dirty="0">
                <a:solidFill>
                  <a:schemeClr val="tx1"/>
                </a:solidFill>
                <a:latin typeface="TeXGyreAdventor"/>
                <a:cs typeface="TeXGyreAdventor"/>
              </a:rPr>
              <a:t>Features</a:t>
            </a:r>
          </a:p>
        </p:txBody>
      </p:sp>
      <p:grpSp>
        <p:nvGrpSpPr>
          <p:cNvPr id="3" name="object 3"/>
          <p:cNvGrpSpPr/>
          <p:nvPr/>
        </p:nvGrpSpPr>
        <p:grpSpPr>
          <a:xfrm>
            <a:off x="2563367" y="3101339"/>
            <a:ext cx="3343910" cy="1329055"/>
            <a:chOff x="2563367" y="3101339"/>
            <a:chExt cx="3343910" cy="1329055"/>
          </a:xfrm>
        </p:grpSpPr>
        <p:sp>
          <p:nvSpPr>
            <p:cNvPr id="4" name="object 4"/>
            <p:cNvSpPr/>
            <p:nvPr/>
          </p:nvSpPr>
          <p:spPr>
            <a:xfrm>
              <a:off x="2573273" y="3111245"/>
              <a:ext cx="3324225" cy="1309370"/>
            </a:xfrm>
            <a:custGeom>
              <a:avLst/>
              <a:gdLst/>
              <a:ahLst/>
              <a:cxnLst/>
              <a:rect l="l" t="t" r="r" b="b"/>
              <a:pathLst>
                <a:path w="3324225" h="1309370">
                  <a:moveTo>
                    <a:pt x="3105658" y="0"/>
                  </a:moveTo>
                  <a:lnTo>
                    <a:pt x="218186" y="0"/>
                  </a:lnTo>
                  <a:lnTo>
                    <a:pt x="168150" y="5761"/>
                  </a:lnTo>
                  <a:lnTo>
                    <a:pt x="122223" y="22172"/>
                  </a:lnTo>
                  <a:lnTo>
                    <a:pt x="81712" y="47926"/>
                  </a:lnTo>
                  <a:lnTo>
                    <a:pt x="47926" y="81712"/>
                  </a:lnTo>
                  <a:lnTo>
                    <a:pt x="22172" y="122223"/>
                  </a:lnTo>
                  <a:lnTo>
                    <a:pt x="5761" y="168150"/>
                  </a:lnTo>
                  <a:lnTo>
                    <a:pt x="0" y="218186"/>
                  </a:lnTo>
                  <a:lnTo>
                    <a:pt x="0" y="1090929"/>
                  </a:lnTo>
                  <a:lnTo>
                    <a:pt x="5761" y="1140965"/>
                  </a:lnTo>
                  <a:lnTo>
                    <a:pt x="22172" y="1186892"/>
                  </a:lnTo>
                  <a:lnTo>
                    <a:pt x="47926" y="1227403"/>
                  </a:lnTo>
                  <a:lnTo>
                    <a:pt x="81712" y="1261189"/>
                  </a:lnTo>
                  <a:lnTo>
                    <a:pt x="122223" y="1286943"/>
                  </a:lnTo>
                  <a:lnTo>
                    <a:pt x="168150" y="1303354"/>
                  </a:lnTo>
                  <a:lnTo>
                    <a:pt x="218186" y="1309115"/>
                  </a:lnTo>
                  <a:lnTo>
                    <a:pt x="3105658" y="1309115"/>
                  </a:lnTo>
                  <a:lnTo>
                    <a:pt x="3155693" y="1303354"/>
                  </a:lnTo>
                  <a:lnTo>
                    <a:pt x="3201620" y="1286943"/>
                  </a:lnTo>
                  <a:lnTo>
                    <a:pt x="3242131" y="1261189"/>
                  </a:lnTo>
                  <a:lnTo>
                    <a:pt x="3275917" y="1227403"/>
                  </a:lnTo>
                  <a:lnTo>
                    <a:pt x="3301671" y="1186892"/>
                  </a:lnTo>
                  <a:lnTo>
                    <a:pt x="3318082" y="1140965"/>
                  </a:lnTo>
                  <a:lnTo>
                    <a:pt x="3323843" y="1090929"/>
                  </a:lnTo>
                  <a:lnTo>
                    <a:pt x="3323843" y="218186"/>
                  </a:lnTo>
                  <a:lnTo>
                    <a:pt x="3318082" y="168150"/>
                  </a:lnTo>
                  <a:lnTo>
                    <a:pt x="3301671" y="122223"/>
                  </a:lnTo>
                  <a:lnTo>
                    <a:pt x="3275917" y="81712"/>
                  </a:lnTo>
                  <a:lnTo>
                    <a:pt x="3242131" y="47926"/>
                  </a:lnTo>
                  <a:lnTo>
                    <a:pt x="3201620" y="22172"/>
                  </a:lnTo>
                  <a:lnTo>
                    <a:pt x="3155693" y="5761"/>
                  </a:lnTo>
                  <a:lnTo>
                    <a:pt x="3105658" y="0"/>
                  </a:lnTo>
                  <a:close/>
                </a:path>
              </a:pathLst>
            </a:custGeom>
            <a:solidFill>
              <a:srgbClr val="9E5E9B"/>
            </a:solidFill>
          </p:spPr>
          <p:txBody>
            <a:bodyPr wrap="square" lIns="0" tIns="0" rIns="0" bIns="0" rtlCol="0"/>
            <a:lstStyle/>
            <a:p>
              <a:endParaRPr/>
            </a:p>
          </p:txBody>
        </p:sp>
        <p:sp>
          <p:nvSpPr>
            <p:cNvPr id="5" name="object 5"/>
            <p:cNvSpPr/>
            <p:nvPr/>
          </p:nvSpPr>
          <p:spPr>
            <a:xfrm>
              <a:off x="2573273" y="3111245"/>
              <a:ext cx="3324225" cy="1309370"/>
            </a:xfrm>
            <a:custGeom>
              <a:avLst/>
              <a:gdLst/>
              <a:ahLst/>
              <a:cxnLst/>
              <a:rect l="l" t="t" r="r" b="b"/>
              <a:pathLst>
                <a:path w="3324225" h="1309370">
                  <a:moveTo>
                    <a:pt x="0" y="218186"/>
                  </a:moveTo>
                  <a:lnTo>
                    <a:pt x="5761" y="168150"/>
                  </a:lnTo>
                  <a:lnTo>
                    <a:pt x="22172" y="122223"/>
                  </a:lnTo>
                  <a:lnTo>
                    <a:pt x="47926" y="81712"/>
                  </a:lnTo>
                  <a:lnTo>
                    <a:pt x="81712" y="47926"/>
                  </a:lnTo>
                  <a:lnTo>
                    <a:pt x="122223" y="22172"/>
                  </a:lnTo>
                  <a:lnTo>
                    <a:pt x="168150" y="5761"/>
                  </a:lnTo>
                  <a:lnTo>
                    <a:pt x="218186" y="0"/>
                  </a:lnTo>
                  <a:lnTo>
                    <a:pt x="3105658" y="0"/>
                  </a:lnTo>
                  <a:lnTo>
                    <a:pt x="3155693" y="5761"/>
                  </a:lnTo>
                  <a:lnTo>
                    <a:pt x="3201620" y="22172"/>
                  </a:lnTo>
                  <a:lnTo>
                    <a:pt x="3242131" y="47926"/>
                  </a:lnTo>
                  <a:lnTo>
                    <a:pt x="3275917" y="81712"/>
                  </a:lnTo>
                  <a:lnTo>
                    <a:pt x="3301671" y="122223"/>
                  </a:lnTo>
                  <a:lnTo>
                    <a:pt x="3318082" y="168150"/>
                  </a:lnTo>
                  <a:lnTo>
                    <a:pt x="3323843" y="218186"/>
                  </a:lnTo>
                  <a:lnTo>
                    <a:pt x="3323843" y="1090929"/>
                  </a:lnTo>
                  <a:lnTo>
                    <a:pt x="3318082" y="1140965"/>
                  </a:lnTo>
                  <a:lnTo>
                    <a:pt x="3301671" y="1186892"/>
                  </a:lnTo>
                  <a:lnTo>
                    <a:pt x="3275917" y="1227403"/>
                  </a:lnTo>
                  <a:lnTo>
                    <a:pt x="3242131" y="1261189"/>
                  </a:lnTo>
                  <a:lnTo>
                    <a:pt x="3201620" y="1286943"/>
                  </a:lnTo>
                  <a:lnTo>
                    <a:pt x="3155693" y="1303354"/>
                  </a:lnTo>
                  <a:lnTo>
                    <a:pt x="3105658" y="1309115"/>
                  </a:lnTo>
                  <a:lnTo>
                    <a:pt x="218186" y="1309115"/>
                  </a:lnTo>
                  <a:lnTo>
                    <a:pt x="168150" y="1303354"/>
                  </a:lnTo>
                  <a:lnTo>
                    <a:pt x="122223" y="1286943"/>
                  </a:lnTo>
                  <a:lnTo>
                    <a:pt x="81712" y="1261189"/>
                  </a:lnTo>
                  <a:lnTo>
                    <a:pt x="47926" y="1227403"/>
                  </a:lnTo>
                  <a:lnTo>
                    <a:pt x="22172" y="1186892"/>
                  </a:lnTo>
                  <a:lnTo>
                    <a:pt x="5761" y="1140965"/>
                  </a:lnTo>
                  <a:lnTo>
                    <a:pt x="0" y="1090929"/>
                  </a:lnTo>
                  <a:lnTo>
                    <a:pt x="0" y="218186"/>
                  </a:lnTo>
                  <a:close/>
                </a:path>
              </a:pathLst>
            </a:custGeom>
            <a:ln w="19812">
              <a:solidFill>
                <a:srgbClr val="734370"/>
              </a:solidFill>
            </a:ln>
          </p:spPr>
          <p:txBody>
            <a:bodyPr wrap="square" lIns="0" tIns="0" rIns="0" bIns="0" rtlCol="0"/>
            <a:lstStyle/>
            <a:p>
              <a:endParaRPr/>
            </a:p>
          </p:txBody>
        </p:sp>
      </p:grpSp>
      <p:grpSp>
        <p:nvGrpSpPr>
          <p:cNvPr id="6" name="object 6"/>
          <p:cNvGrpSpPr/>
          <p:nvPr/>
        </p:nvGrpSpPr>
        <p:grpSpPr>
          <a:xfrm>
            <a:off x="2563367" y="1623060"/>
            <a:ext cx="3331845" cy="1315720"/>
            <a:chOff x="2563367" y="1623060"/>
            <a:chExt cx="3331845" cy="1315720"/>
          </a:xfrm>
        </p:grpSpPr>
        <p:sp>
          <p:nvSpPr>
            <p:cNvPr id="7" name="object 7"/>
            <p:cNvSpPr/>
            <p:nvPr/>
          </p:nvSpPr>
          <p:spPr>
            <a:xfrm>
              <a:off x="2573273" y="1632966"/>
              <a:ext cx="3312160" cy="1295400"/>
            </a:xfrm>
            <a:custGeom>
              <a:avLst/>
              <a:gdLst/>
              <a:ahLst/>
              <a:cxnLst/>
              <a:rect l="l" t="t" r="r" b="b"/>
              <a:pathLst>
                <a:path w="3312160" h="1295400">
                  <a:moveTo>
                    <a:pt x="3095752" y="0"/>
                  </a:moveTo>
                  <a:lnTo>
                    <a:pt x="215900" y="0"/>
                  </a:lnTo>
                  <a:lnTo>
                    <a:pt x="166391" y="5701"/>
                  </a:lnTo>
                  <a:lnTo>
                    <a:pt x="120946" y="21941"/>
                  </a:lnTo>
                  <a:lnTo>
                    <a:pt x="80859" y="47426"/>
                  </a:lnTo>
                  <a:lnTo>
                    <a:pt x="47426" y="80859"/>
                  </a:lnTo>
                  <a:lnTo>
                    <a:pt x="21941" y="120946"/>
                  </a:lnTo>
                  <a:lnTo>
                    <a:pt x="5701" y="166391"/>
                  </a:lnTo>
                  <a:lnTo>
                    <a:pt x="0" y="215900"/>
                  </a:lnTo>
                  <a:lnTo>
                    <a:pt x="0" y="1079500"/>
                  </a:lnTo>
                  <a:lnTo>
                    <a:pt x="5701" y="1129008"/>
                  </a:lnTo>
                  <a:lnTo>
                    <a:pt x="21941" y="1174453"/>
                  </a:lnTo>
                  <a:lnTo>
                    <a:pt x="47426" y="1214540"/>
                  </a:lnTo>
                  <a:lnTo>
                    <a:pt x="80859" y="1247973"/>
                  </a:lnTo>
                  <a:lnTo>
                    <a:pt x="120946" y="1273458"/>
                  </a:lnTo>
                  <a:lnTo>
                    <a:pt x="166391" y="1289698"/>
                  </a:lnTo>
                  <a:lnTo>
                    <a:pt x="215900" y="1295400"/>
                  </a:lnTo>
                  <a:lnTo>
                    <a:pt x="3095752" y="1295400"/>
                  </a:lnTo>
                  <a:lnTo>
                    <a:pt x="3145260" y="1289698"/>
                  </a:lnTo>
                  <a:lnTo>
                    <a:pt x="3190705" y="1273458"/>
                  </a:lnTo>
                  <a:lnTo>
                    <a:pt x="3230792" y="1247973"/>
                  </a:lnTo>
                  <a:lnTo>
                    <a:pt x="3264225" y="1214540"/>
                  </a:lnTo>
                  <a:lnTo>
                    <a:pt x="3289710" y="1174453"/>
                  </a:lnTo>
                  <a:lnTo>
                    <a:pt x="3305950" y="1129008"/>
                  </a:lnTo>
                  <a:lnTo>
                    <a:pt x="3311652" y="1079500"/>
                  </a:lnTo>
                  <a:lnTo>
                    <a:pt x="3311652" y="215900"/>
                  </a:lnTo>
                  <a:lnTo>
                    <a:pt x="3305950" y="166391"/>
                  </a:lnTo>
                  <a:lnTo>
                    <a:pt x="3289710" y="120946"/>
                  </a:lnTo>
                  <a:lnTo>
                    <a:pt x="3264225" y="80859"/>
                  </a:lnTo>
                  <a:lnTo>
                    <a:pt x="3230792" y="47426"/>
                  </a:lnTo>
                  <a:lnTo>
                    <a:pt x="3190705" y="21941"/>
                  </a:lnTo>
                  <a:lnTo>
                    <a:pt x="3145260" y="5701"/>
                  </a:lnTo>
                  <a:lnTo>
                    <a:pt x="3095752" y="0"/>
                  </a:lnTo>
                  <a:close/>
                </a:path>
              </a:pathLst>
            </a:custGeom>
            <a:solidFill>
              <a:srgbClr val="9E5E9B"/>
            </a:solidFill>
          </p:spPr>
          <p:txBody>
            <a:bodyPr wrap="square" lIns="0" tIns="0" rIns="0" bIns="0" rtlCol="0"/>
            <a:lstStyle/>
            <a:p>
              <a:endParaRPr/>
            </a:p>
          </p:txBody>
        </p:sp>
        <p:sp>
          <p:nvSpPr>
            <p:cNvPr id="8" name="object 8"/>
            <p:cNvSpPr/>
            <p:nvPr/>
          </p:nvSpPr>
          <p:spPr>
            <a:xfrm>
              <a:off x="2573273" y="1632966"/>
              <a:ext cx="3312160" cy="1295400"/>
            </a:xfrm>
            <a:custGeom>
              <a:avLst/>
              <a:gdLst/>
              <a:ahLst/>
              <a:cxnLst/>
              <a:rect l="l" t="t" r="r" b="b"/>
              <a:pathLst>
                <a:path w="3312160" h="1295400">
                  <a:moveTo>
                    <a:pt x="0" y="215900"/>
                  </a:moveTo>
                  <a:lnTo>
                    <a:pt x="5701" y="166391"/>
                  </a:lnTo>
                  <a:lnTo>
                    <a:pt x="21941" y="120946"/>
                  </a:lnTo>
                  <a:lnTo>
                    <a:pt x="47426" y="80859"/>
                  </a:lnTo>
                  <a:lnTo>
                    <a:pt x="80859" y="47426"/>
                  </a:lnTo>
                  <a:lnTo>
                    <a:pt x="120946" y="21941"/>
                  </a:lnTo>
                  <a:lnTo>
                    <a:pt x="166391" y="5701"/>
                  </a:lnTo>
                  <a:lnTo>
                    <a:pt x="215900" y="0"/>
                  </a:lnTo>
                  <a:lnTo>
                    <a:pt x="3095752" y="0"/>
                  </a:lnTo>
                  <a:lnTo>
                    <a:pt x="3145260" y="5701"/>
                  </a:lnTo>
                  <a:lnTo>
                    <a:pt x="3190705" y="21941"/>
                  </a:lnTo>
                  <a:lnTo>
                    <a:pt x="3230792" y="47426"/>
                  </a:lnTo>
                  <a:lnTo>
                    <a:pt x="3264225" y="80859"/>
                  </a:lnTo>
                  <a:lnTo>
                    <a:pt x="3289710" y="120946"/>
                  </a:lnTo>
                  <a:lnTo>
                    <a:pt x="3305950" y="166391"/>
                  </a:lnTo>
                  <a:lnTo>
                    <a:pt x="3311652" y="215900"/>
                  </a:lnTo>
                  <a:lnTo>
                    <a:pt x="3311652" y="1079500"/>
                  </a:lnTo>
                  <a:lnTo>
                    <a:pt x="3305950" y="1129008"/>
                  </a:lnTo>
                  <a:lnTo>
                    <a:pt x="3289710" y="1174453"/>
                  </a:lnTo>
                  <a:lnTo>
                    <a:pt x="3264225" y="1214540"/>
                  </a:lnTo>
                  <a:lnTo>
                    <a:pt x="3230792" y="1247973"/>
                  </a:lnTo>
                  <a:lnTo>
                    <a:pt x="3190705" y="1273458"/>
                  </a:lnTo>
                  <a:lnTo>
                    <a:pt x="3145260" y="1289698"/>
                  </a:lnTo>
                  <a:lnTo>
                    <a:pt x="3095752" y="1295400"/>
                  </a:lnTo>
                  <a:lnTo>
                    <a:pt x="215900" y="1295400"/>
                  </a:lnTo>
                  <a:lnTo>
                    <a:pt x="166391" y="1289698"/>
                  </a:lnTo>
                  <a:lnTo>
                    <a:pt x="120946" y="1273458"/>
                  </a:lnTo>
                  <a:lnTo>
                    <a:pt x="80859" y="1247973"/>
                  </a:lnTo>
                  <a:lnTo>
                    <a:pt x="47426" y="1214540"/>
                  </a:lnTo>
                  <a:lnTo>
                    <a:pt x="21941" y="1174453"/>
                  </a:lnTo>
                  <a:lnTo>
                    <a:pt x="5701" y="1129008"/>
                  </a:lnTo>
                  <a:lnTo>
                    <a:pt x="0" y="1079500"/>
                  </a:lnTo>
                  <a:lnTo>
                    <a:pt x="0" y="215900"/>
                  </a:lnTo>
                  <a:close/>
                </a:path>
              </a:pathLst>
            </a:custGeom>
            <a:ln w="19812">
              <a:solidFill>
                <a:srgbClr val="734370"/>
              </a:solidFill>
            </a:ln>
          </p:spPr>
          <p:txBody>
            <a:bodyPr wrap="square" lIns="0" tIns="0" rIns="0" bIns="0" rtlCol="0"/>
            <a:lstStyle/>
            <a:p>
              <a:endParaRPr/>
            </a:p>
          </p:txBody>
        </p:sp>
      </p:grpSp>
      <p:sp>
        <p:nvSpPr>
          <p:cNvPr id="9" name="object 9"/>
          <p:cNvSpPr txBox="1"/>
          <p:nvPr/>
        </p:nvSpPr>
        <p:spPr>
          <a:xfrm>
            <a:off x="2783585" y="1850897"/>
            <a:ext cx="2891790" cy="2198038"/>
          </a:xfrm>
          <a:prstGeom prst="rect">
            <a:avLst/>
          </a:prstGeom>
        </p:spPr>
        <p:txBody>
          <a:bodyPr vert="horz" wrap="square" lIns="0" tIns="12700" rIns="0" bIns="0" rtlCol="0">
            <a:spAutoFit/>
          </a:bodyPr>
          <a:lstStyle/>
          <a:p>
            <a:pPr marL="12700" marR="5080" indent="-635" algn="ctr">
              <a:lnSpc>
                <a:spcPct val="100000"/>
              </a:lnSpc>
              <a:spcBef>
                <a:spcPts val="100"/>
              </a:spcBef>
            </a:pPr>
            <a:r>
              <a:rPr sz="1800" b="1" spc="-5" dirty="0">
                <a:solidFill>
                  <a:srgbClr val="FFFFFF"/>
                </a:solidFill>
                <a:latin typeface="TeXGyreAdventor"/>
                <a:cs typeface="TeXGyreAdventor"/>
              </a:rPr>
              <a:t>Attach one or </a:t>
            </a:r>
            <a:r>
              <a:rPr sz="1800" b="1" dirty="0">
                <a:solidFill>
                  <a:srgbClr val="FFFFFF"/>
                </a:solidFill>
                <a:latin typeface="TeXGyreAdventor"/>
                <a:cs typeface="TeXGyreAdventor"/>
              </a:rPr>
              <a:t>more  </a:t>
            </a:r>
            <a:r>
              <a:rPr sz="1800" b="1" spc="-5" dirty="0">
                <a:solidFill>
                  <a:srgbClr val="FFFFFF"/>
                </a:solidFill>
                <a:latin typeface="TeXGyreAdventor"/>
                <a:cs typeface="TeXGyreAdventor"/>
              </a:rPr>
              <a:t>network </a:t>
            </a:r>
            <a:r>
              <a:rPr sz="1800" b="1" dirty="0">
                <a:solidFill>
                  <a:srgbClr val="FFFFFF"/>
                </a:solidFill>
                <a:latin typeface="TeXGyreAdventor"/>
                <a:cs typeface="TeXGyreAdventor"/>
              </a:rPr>
              <a:t>interfaces to</a:t>
            </a:r>
            <a:r>
              <a:rPr sz="1800" b="1" spc="-140" dirty="0">
                <a:solidFill>
                  <a:srgbClr val="FFFFFF"/>
                </a:solidFill>
                <a:latin typeface="TeXGyreAdventor"/>
                <a:cs typeface="TeXGyreAdventor"/>
              </a:rPr>
              <a:t> </a:t>
            </a:r>
            <a:r>
              <a:rPr sz="1800" b="1" spc="-5" dirty="0">
                <a:solidFill>
                  <a:srgbClr val="FFFFFF"/>
                </a:solidFill>
                <a:latin typeface="TeXGyreAdventor"/>
                <a:cs typeface="TeXGyreAdventor"/>
              </a:rPr>
              <a:t>your  </a:t>
            </a:r>
            <a:r>
              <a:rPr sz="1800" b="1" dirty="0">
                <a:solidFill>
                  <a:srgbClr val="FFFFFF"/>
                </a:solidFill>
                <a:latin typeface="TeXGyreAdventor"/>
                <a:cs typeface="TeXGyreAdventor"/>
              </a:rPr>
              <a:t>instances</a:t>
            </a:r>
            <a:endParaRPr sz="1800" dirty="0">
              <a:latin typeface="TeXGyreAdventor"/>
              <a:cs typeface="TeXGyreAdventor"/>
            </a:endParaRPr>
          </a:p>
          <a:p>
            <a:pPr>
              <a:lnSpc>
                <a:spcPct val="100000"/>
              </a:lnSpc>
            </a:pPr>
            <a:endParaRPr sz="2200" dirty="0">
              <a:latin typeface="TeXGyreAdventor"/>
              <a:cs typeface="TeXGyreAdventor"/>
            </a:endParaRPr>
          </a:p>
          <a:p>
            <a:pPr marL="93980" marR="75565" algn="ctr">
              <a:lnSpc>
                <a:spcPct val="100000"/>
              </a:lnSpc>
              <a:spcBef>
                <a:spcPts val="1835"/>
              </a:spcBef>
            </a:pPr>
            <a:endParaRPr lang="en-IN" sz="1800" b="1" dirty="0">
              <a:solidFill>
                <a:srgbClr val="FFFFFF"/>
              </a:solidFill>
              <a:latin typeface="TeXGyreAdventor"/>
              <a:cs typeface="TeXGyreAdventor"/>
            </a:endParaRPr>
          </a:p>
          <a:p>
            <a:pPr marL="93980" marR="75565" algn="ctr">
              <a:lnSpc>
                <a:spcPct val="100000"/>
              </a:lnSpc>
              <a:spcBef>
                <a:spcPts val="1835"/>
              </a:spcBef>
            </a:pPr>
            <a:r>
              <a:rPr sz="1800" b="1" dirty="0">
                <a:solidFill>
                  <a:srgbClr val="FFFFFF"/>
                </a:solidFill>
                <a:latin typeface="TeXGyreAdventor"/>
                <a:cs typeface="TeXGyreAdventor"/>
              </a:rPr>
              <a:t>Assign static </a:t>
            </a:r>
            <a:r>
              <a:rPr sz="1800" b="1" spc="-5" dirty="0">
                <a:solidFill>
                  <a:srgbClr val="FFFFFF"/>
                </a:solidFill>
                <a:latin typeface="TeXGyreAdventor"/>
                <a:cs typeface="TeXGyreAdventor"/>
              </a:rPr>
              <a:t>private</a:t>
            </a:r>
            <a:r>
              <a:rPr sz="1800" b="1" spc="-95" dirty="0">
                <a:solidFill>
                  <a:srgbClr val="FFFFFF"/>
                </a:solidFill>
                <a:latin typeface="TeXGyreAdventor"/>
                <a:cs typeface="TeXGyreAdventor"/>
              </a:rPr>
              <a:t> </a:t>
            </a:r>
            <a:r>
              <a:rPr sz="1800" b="1" spc="-5" dirty="0">
                <a:solidFill>
                  <a:srgbClr val="FFFFFF"/>
                </a:solidFill>
                <a:latin typeface="TeXGyreAdventor"/>
                <a:cs typeface="TeXGyreAdventor"/>
              </a:rPr>
              <a:t>IPv4  addresses to your  </a:t>
            </a:r>
            <a:r>
              <a:rPr sz="1800" b="1" dirty="0">
                <a:solidFill>
                  <a:srgbClr val="FFFFFF"/>
                </a:solidFill>
                <a:latin typeface="TeXGyreAdventor"/>
                <a:cs typeface="TeXGyreAdventor"/>
              </a:rPr>
              <a:t>instances</a:t>
            </a:r>
            <a:endParaRPr sz="1800" dirty="0">
              <a:latin typeface="TeXGyreAdventor"/>
              <a:cs typeface="TeXGyreAdventor"/>
            </a:endParaRPr>
          </a:p>
        </p:txBody>
      </p:sp>
      <p:grpSp>
        <p:nvGrpSpPr>
          <p:cNvPr id="10" name="object 10"/>
          <p:cNvGrpSpPr/>
          <p:nvPr/>
        </p:nvGrpSpPr>
        <p:grpSpPr>
          <a:xfrm>
            <a:off x="6911340" y="3115055"/>
            <a:ext cx="3298190" cy="1315720"/>
            <a:chOff x="6911340" y="3115055"/>
            <a:chExt cx="3298190" cy="1315720"/>
          </a:xfrm>
        </p:grpSpPr>
        <p:sp>
          <p:nvSpPr>
            <p:cNvPr id="11" name="object 11"/>
            <p:cNvSpPr/>
            <p:nvPr/>
          </p:nvSpPr>
          <p:spPr>
            <a:xfrm>
              <a:off x="6921246" y="3124961"/>
              <a:ext cx="3278504" cy="1295400"/>
            </a:xfrm>
            <a:custGeom>
              <a:avLst/>
              <a:gdLst/>
              <a:ahLst/>
              <a:cxnLst/>
              <a:rect l="l" t="t" r="r" b="b"/>
              <a:pathLst>
                <a:path w="3278504" h="1295400">
                  <a:moveTo>
                    <a:pt x="3062224" y="0"/>
                  </a:moveTo>
                  <a:lnTo>
                    <a:pt x="215900" y="0"/>
                  </a:lnTo>
                  <a:lnTo>
                    <a:pt x="166391" y="5701"/>
                  </a:lnTo>
                  <a:lnTo>
                    <a:pt x="120946" y="21941"/>
                  </a:lnTo>
                  <a:lnTo>
                    <a:pt x="80859" y="47426"/>
                  </a:lnTo>
                  <a:lnTo>
                    <a:pt x="47426" y="80859"/>
                  </a:lnTo>
                  <a:lnTo>
                    <a:pt x="21941" y="120946"/>
                  </a:lnTo>
                  <a:lnTo>
                    <a:pt x="5701" y="166391"/>
                  </a:lnTo>
                  <a:lnTo>
                    <a:pt x="0" y="215900"/>
                  </a:lnTo>
                  <a:lnTo>
                    <a:pt x="0" y="1079500"/>
                  </a:lnTo>
                  <a:lnTo>
                    <a:pt x="5701" y="1129008"/>
                  </a:lnTo>
                  <a:lnTo>
                    <a:pt x="21941" y="1174453"/>
                  </a:lnTo>
                  <a:lnTo>
                    <a:pt x="47426" y="1214540"/>
                  </a:lnTo>
                  <a:lnTo>
                    <a:pt x="80859" y="1247973"/>
                  </a:lnTo>
                  <a:lnTo>
                    <a:pt x="120946" y="1273458"/>
                  </a:lnTo>
                  <a:lnTo>
                    <a:pt x="166391" y="1289698"/>
                  </a:lnTo>
                  <a:lnTo>
                    <a:pt x="215900" y="1295400"/>
                  </a:lnTo>
                  <a:lnTo>
                    <a:pt x="3062224" y="1295400"/>
                  </a:lnTo>
                  <a:lnTo>
                    <a:pt x="3111732" y="1289698"/>
                  </a:lnTo>
                  <a:lnTo>
                    <a:pt x="3157177" y="1273458"/>
                  </a:lnTo>
                  <a:lnTo>
                    <a:pt x="3197264" y="1247973"/>
                  </a:lnTo>
                  <a:lnTo>
                    <a:pt x="3230697" y="1214540"/>
                  </a:lnTo>
                  <a:lnTo>
                    <a:pt x="3256182" y="1174453"/>
                  </a:lnTo>
                  <a:lnTo>
                    <a:pt x="3272422" y="1129008"/>
                  </a:lnTo>
                  <a:lnTo>
                    <a:pt x="3278124" y="1079500"/>
                  </a:lnTo>
                  <a:lnTo>
                    <a:pt x="3278124" y="215900"/>
                  </a:lnTo>
                  <a:lnTo>
                    <a:pt x="3272422" y="166391"/>
                  </a:lnTo>
                  <a:lnTo>
                    <a:pt x="3256182" y="120946"/>
                  </a:lnTo>
                  <a:lnTo>
                    <a:pt x="3230697" y="80859"/>
                  </a:lnTo>
                  <a:lnTo>
                    <a:pt x="3197264" y="47426"/>
                  </a:lnTo>
                  <a:lnTo>
                    <a:pt x="3157177" y="21941"/>
                  </a:lnTo>
                  <a:lnTo>
                    <a:pt x="3111732" y="5701"/>
                  </a:lnTo>
                  <a:lnTo>
                    <a:pt x="3062224" y="0"/>
                  </a:lnTo>
                  <a:close/>
                </a:path>
              </a:pathLst>
            </a:custGeom>
            <a:solidFill>
              <a:srgbClr val="9E5E9B"/>
            </a:solidFill>
          </p:spPr>
          <p:txBody>
            <a:bodyPr wrap="square" lIns="0" tIns="0" rIns="0" bIns="0" rtlCol="0"/>
            <a:lstStyle/>
            <a:p>
              <a:endParaRPr/>
            </a:p>
          </p:txBody>
        </p:sp>
        <p:sp>
          <p:nvSpPr>
            <p:cNvPr id="12" name="object 12"/>
            <p:cNvSpPr/>
            <p:nvPr/>
          </p:nvSpPr>
          <p:spPr>
            <a:xfrm>
              <a:off x="6921246" y="3124961"/>
              <a:ext cx="3278504" cy="1295400"/>
            </a:xfrm>
            <a:custGeom>
              <a:avLst/>
              <a:gdLst/>
              <a:ahLst/>
              <a:cxnLst/>
              <a:rect l="l" t="t" r="r" b="b"/>
              <a:pathLst>
                <a:path w="3278504" h="1295400">
                  <a:moveTo>
                    <a:pt x="0" y="215900"/>
                  </a:moveTo>
                  <a:lnTo>
                    <a:pt x="5701" y="166391"/>
                  </a:lnTo>
                  <a:lnTo>
                    <a:pt x="21941" y="120946"/>
                  </a:lnTo>
                  <a:lnTo>
                    <a:pt x="47426" y="80859"/>
                  </a:lnTo>
                  <a:lnTo>
                    <a:pt x="80859" y="47426"/>
                  </a:lnTo>
                  <a:lnTo>
                    <a:pt x="120946" y="21941"/>
                  </a:lnTo>
                  <a:lnTo>
                    <a:pt x="166391" y="5701"/>
                  </a:lnTo>
                  <a:lnTo>
                    <a:pt x="215900" y="0"/>
                  </a:lnTo>
                  <a:lnTo>
                    <a:pt x="3062224" y="0"/>
                  </a:lnTo>
                  <a:lnTo>
                    <a:pt x="3111732" y="5701"/>
                  </a:lnTo>
                  <a:lnTo>
                    <a:pt x="3157177" y="21941"/>
                  </a:lnTo>
                  <a:lnTo>
                    <a:pt x="3197264" y="47426"/>
                  </a:lnTo>
                  <a:lnTo>
                    <a:pt x="3230697" y="80859"/>
                  </a:lnTo>
                  <a:lnTo>
                    <a:pt x="3256182" y="120946"/>
                  </a:lnTo>
                  <a:lnTo>
                    <a:pt x="3272422" y="166391"/>
                  </a:lnTo>
                  <a:lnTo>
                    <a:pt x="3278124" y="215900"/>
                  </a:lnTo>
                  <a:lnTo>
                    <a:pt x="3278124" y="1079500"/>
                  </a:lnTo>
                  <a:lnTo>
                    <a:pt x="3272422" y="1129008"/>
                  </a:lnTo>
                  <a:lnTo>
                    <a:pt x="3256182" y="1174453"/>
                  </a:lnTo>
                  <a:lnTo>
                    <a:pt x="3230697" y="1214540"/>
                  </a:lnTo>
                  <a:lnTo>
                    <a:pt x="3197264" y="1247973"/>
                  </a:lnTo>
                  <a:lnTo>
                    <a:pt x="3157177" y="1273458"/>
                  </a:lnTo>
                  <a:lnTo>
                    <a:pt x="3111732" y="1289698"/>
                  </a:lnTo>
                  <a:lnTo>
                    <a:pt x="3062224" y="1295400"/>
                  </a:lnTo>
                  <a:lnTo>
                    <a:pt x="215900" y="1295400"/>
                  </a:lnTo>
                  <a:lnTo>
                    <a:pt x="166391" y="1289698"/>
                  </a:lnTo>
                  <a:lnTo>
                    <a:pt x="120946" y="1273458"/>
                  </a:lnTo>
                  <a:lnTo>
                    <a:pt x="80859" y="1247973"/>
                  </a:lnTo>
                  <a:lnTo>
                    <a:pt x="47426" y="1214540"/>
                  </a:lnTo>
                  <a:lnTo>
                    <a:pt x="21941" y="1174453"/>
                  </a:lnTo>
                  <a:lnTo>
                    <a:pt x="5701" y="1129008"/>
                  </a:lnTo>
                  <a:lnTo>
                    <a:pt x="0" y="1079500"/>
                  </a:lnTo>
                  <a:lnTo>
                    <a:pt x="0" y="215900"/>
                  </a:lnTo>
                  <a:close/>
                </a:path>
              </a:pathLst>
            </a:custGeom>
            <a:ln w="19812">
              <a:solidFill>
                <a:srgbClr val="734370"/>
              </a:solidFill>
            </a:ln>
          </p:spPr>
          <p:txBody>
            <a:bodyPr wrap="square" lIns="0" tIns="0" rIns="0" bIns="0" rtlCol="0"/>
            <a:lstStyle/>
            <a:p>
              <a:endParaRPr/>
            </a:p>
          </p:txBody>
        </p:sp>
      </p:grpSp>
      <p:sp>
        <p:nvSpPr>
          <p:cNvPr id="13" name="object 13"/>
          <p:cNvSpPr txBox="1"/>
          <p:nvPr/>
        </p:nvSpPr>
        <p:spPr>
          <a:xfrm>
            <a:off x="7161656" y="3618357"/>
            <a:ext cx="279717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TeXGyreAdventor"/>
                <a:cs typeface="TeXGyreAdventor"/>
              </a:rPr>
              <a:t>Access </a:t>
            </a:r>
            <a:r>
              <a:rPr sz="1800" b="1" spc="-5" dirty="0">
                <a:solidFill>
                  <a:srgbClr val="FFFFFF"/>
                </a:solidFill>
                <a:latin typeface="TeXGyreAdventor"/>
                <a:cs typeface="TeXGyreAdventor"/>
              </a:rPr>
              <a:t>control lists</a:t>
            </a:r>
            <a:r>
              <a:rPr sz="1800" b="1" spc="-80" dirty="0">
                <a:solidFill>
                  <a:srgbClr val="FFFFFF"/>
                </a:solidFill>
                <a:latin typeface="TeXGyreAdventor"/>
                <a:cs typeface="TeXGyreAdventor"/>
              </a:rPr>
              <a:t> </a:t>
            </a:r>
            <a:r>
              <a:rPr sz="1800" b="1" spc="-5" dirty="0">
                <a:solidFill>
                  <a:srgbClr val="FFFFFF"/>
                </a:solidFill>
                <a:latin typeface="TeXGyreAdventor"/>
                <a:cs typeface="TeXGyreAdventor"/>
              </a:rPr>
              <a:t>(ACL)</a:t>
            </a:r>
            <a:endParaRPr sz="1800">
              <a:latin typeface="TeXGyreAdventor"/>
              <a:cs typeface="TeXGyreAdventor"/>
            </a:endParaRPr>
          </a:p>
        </p:txBody>
      </p:sp>
      <p:grpSp>
        <p:nvGrpSpPr>
          <p:cNvPr id="14" name="object 14"/>
          <p:cNvGrpSpPr/>
          <p:nvPr/>
        </p:nvGrpSpPr>
        <p:grpSpPr>
          <a:xfrm>
            <a:off x="6923531" y="1667255"/>
            <a:ext cx="3298190" cy="1315720"/>
            <a:chOff x="6923531" y="1667255"/>
            <a:chExt cx="3298190" cy="1315720"/>
          </a:xfrm>
        </p:grpSpPr>
        <p:sp>
          <p:nvSpPr>
            <p:cNvPr id="15" name="object 15"/>
            <p:cNvSpPr/>
            <p:nvPr/>
          </p:nvSpPr>
          <p:spPr>
            <a:xfrm>
              <a:off x="6933437" y="1677161"/>
              <a:ext cx="3278504" cy="1295400"/>
            </a:xfrm>
            <a:custGeom>
              <a:avLst/>
              <a:gdLst/>
              <a:ahLst/>
              <a:cxnLst/>
              <a:rect l="l" t="t" r="r" b="b"/>
              <a:pathLst>
                <a:path w="3278504" h="1295400">
                  <a:moveTo>
                    <a:pt x="3062223" y="0"/>
                  </a:moveTo>
                  <a:lnTo>
                    <a:pt x="215900" y="0"/>
                  </a:lnTo>
                  <a:lnTo>
                    <a:pt x="166391" y="5701"/>
                  </a:lnTo>
                  <a:lnTo>
                    <a:pt x="120946" y="21941"/>
                  </a:lnTo>
                  <a:lnTo>
                    <a:pt x="80859" y="47426"/>
                  </a:lnTo>
                  <a:lnTo>
                    <a:pt x="47426" y="80859"/>
                  </a:lnTo>
                  <a:lnTo>
                    <a:pt x="21941" y="120946"/>
                  </a:lnTo>
                  <a:lnTo>
                    <a:pt x="5701" y="166391"/>
                  </a:lnTo>
                  <a:lnTo>
                    <a:pt x="0" y="215900"/>
                  </a:lnTo>
                  <a:lnTo>
                    <a:pt x="0" y="1079500"/>
                  </a:lnTo>
                  <a:lnTo>
                    <a:pt x="5701" y="1129008"/>
                  </a:lnTo>
                  <a:lnTo>
                    <a:pt x="21941" y="1174453"/>
                  </a:lnTo>
                  <a:lnTo>
                    <a:pt x="47426" y="1214540"/>
                  </a:lnTo>
                  <a:lnTo>
                    <a:pt x="80859" y="1247973"/>
                  </a:lnTo>
                  <a:lnTo>
                    <a:pt x="120946" y="1273458"/>
                  </a:lnTo>
                  <a:lnTo>
                    <a:pt x="166391" y="1289698"/>
                  </a:lnTo>
                  <a:lnTo>
                    <a:pt x="215900" y="1295400"/>
                  </a:lnTo>
                  <a:lnTo>
                    <a:pt x="3062223" y="1295400"/>
                  </a:lnTo>
                  <a:lnTo>
                    <a:pt x="3111732" y="1289698"/>
                  </a:lnTo>
                  <a:lnTo>
                    <a:pt x="3157177" y="1273458"/>
                  </a:lnTo>
                  <a:lnTo>
                    <a:pt x="3197264" y="1247973"/>
                  </a:lnTo>
                  <a:lnTo>
                    <a:pt x="3230697" y="1214540"/>
                  </a:lnTo>
                  <a:lnTo>
                    <a:pt x="3256182" y="1174453"/>
                  </a:lnTo>
                  <a:lnTo>
                    <a:pt x="3272422" y="1129008"/>
                  </a:lnTo>
                  <a:lnTo>
                    <a:pt x="3278123" y="1079500"/>
                  </a:lnTo>
                  <a:lnTo>
                    <a:pt x="3278123" y="215900"/>
                  </a:lnTo>
                  <a:lnTo>
                    <a:pt x="3272422" y="166391"/>
                  </a:lnTo>
                  <a:lnTo>
                    <a:pt x="3256182" y="120946"/>
                  </a:lnTo>
                  <a:lnTo>
                    <a:pt x="3230697" y="80859"/>
                  </a:lnTo>
                  <a:lnTo>
                    <a:pt x="3197264" y="47426"/>
                  </a:lnTo>
                  <a:lnTo>
                    <a:pt x="3157177" y="21941"/>
                  </a:lnTo>
                  <a:lnTo>
                    <a:pt x="3111732" y="5701"/>
                  </a:lnTo>
                  <a:lnTo>
                    <a:pt x="3062223" y="0"/>
                  </a:lnTo>
                  <a:close/>
                </a:path>
              </a:pathLst>
            </a:custGeom>
            <a:solidFill>
              <a:srgbClr val="9E5E9B"/>
            </a:solidFill>
          </p:spPr>
          <p:txBody>
            <a:bodyPr wrap="square" lIns="0" tIns="0" rIns="0" bIns="0" rtlCol="0"/>
            <a:lstStyle/>
            <a:p>
              <a:endParaRPr/>
            </a:p>
          </p:txBody>
        </p:sp>
        <p:sp>
          <p:nvSpPr>
            <p:cNvPr id="16" name="object 16"/>
            <p:cNvSpPr/>
            <p:nvPr/>
          </p:nvSpPr>
          <p:spPr>
            <a:xfrm>
              <a:off x="6933437" y="1677161"/>
              <a:ext cx="3278504" cy="1295400"/>
            </a:xfrm>
            <a:custGeom>
              <a:avLst/>
              <a:gdLst/>
              <a:ahLst/>
              <a:cxnLst/>
              <a:rect l="l" t="t" r="r" b="b"/>
              <a:pathLst>
                <a:path w="3278504" h="1295400">
                  <a:moveTo>
                    <a:pt x="0" y="215900"/>
                  </a:moveTo>
                  <a:lnTo>
                    <a:pt x="5701" y="166391"/>
                  </a:lnTo>
                  <a:lnTo>
                    <a:pt x="21941" y="120946"/>
                  </a:lnTo>
                  <a:lnTo>
                    <a:pt x="47426" y="80859"/>
                  </a:lnTo>
                  <a:lnTo>
                    <a:pt x="80859" y="47426"/>
                  </a:lnTo>
                  <a:lnTo>
                    <a:pt x="120946" y="21941"/>
                  </a:lnTo>
                  <a:lnTo>
                    <a:pt x="166391" y="5701"/>
                  </a:lnTo>
                  <a:lnTo>
                    <a:pt x="215900" y="0"/>
                  </a:lnTo>
                  <a:lnTo>
                    <a:pt x="3062223" y="0"/>
                  </a:lnTo>
                  <a:lnTo>
                    <a:pt x="3111732" y="5701"/>
                  </a:lnTo>
                  <a:lnTo>
                    <a:pt x="3157177" y="21941"/>
                  </a:lnTo>
                  <a:lnTo>
                    <a:pt x="3197264" y="47426"/>
                  </a:lnTo>
                  <a:lnTo>
                    <a:pt x="3230697" y="80859"/>
                  </a:lnTo>
                  <a:lnTo>
                    <a:pt x="3256182" y="120946"/>
                  </a:lnTo>
                  <a:lnTo>
                    <a:pt x="3272422" y="166391"/>
                  </a:lnTo>
                  <a:lnTo>
                    <a:pt x="3278123" y="215900"/>
                  </a:lnTo>
                  <a:lnTo>
                    <a:pt x="3278123" y="1079500"/>
                  </a:lnTo>
                  <a:lnTo>
                    <a:pt x="3272422" y="1129008"/>
                  </a:lnTo>
                  <a:lnTo>
                    <a:pt x="3256182" y="1174453"/>
                  </a:lnTo>
                  <a:lnTo>
                    <a:pt x="3230697" y="1214540"/>
                  </a:lnTo>
                  <a:lnTo>
                    <a:pt x="3197264" y="1247973"/>
                  </a:lnTo>
                  <a:lnTo>
                    <a:pt x="3157177" y="1273458"/>
                  </a:lnTo>
                  <a:lnTo>
                    <a:pt x="3111732" y="1289698"/>
                  </a:lnTo>
                  <a:lnTo>
                    <a:pt x="3062223" y="1295400"/>
                  </a:lnTo>
                  <a:lnTo>
                    <a:pt x="215900" y="1295400"/>
                  </a:lnTo>
                  <a:lnTo>
                    <a:pt x="166391" y="1289698"/>
                  </a:lnTo>
                  <a:lnTo>
                    <a:pt x="120946" y="1273458"/>
                  </a:lnTo>
                  <a:lnTo>
                    <a:pt x="80859" y="1247973"/>
                  </a:lnTo>
                  <a:lnTo>
                    <a:pt x="47426" y="1214540"/>
                  </a:lnTo>
                  <a:lnTo>
                    <a:pt x="21941" y="1174453"/>
                  </a:lnTo>
                  <a:lnTo>
                    <a:pt x="5701" y="1129008"/>
                  </a:lnTo>
                  <a:lnTo>
                    <a:pt x="0" y="1079500"/>
                  </a:lnTo>
                  <a:lnTo>
                    <a:pt x="0" y="215900"/>
                  </a:lnTo>
                  <a:close/>
                </a:path>
              </a:pathLst>
            </a:custGeom>
            <a:ln w="19812">
              <a:solidFill>
                <a:srgbClr val="734370"/>
              </a:solidFill>
            </a:ln>
          </p:spPr>
          <p:txBody>
            <a:bodyPr wrap="square" lIns="0" tIns="0" rIns="0" bIns="0" rtlCol="0"/>
            <a:lstStyle/>
            <a:p>
              <a:endParaRPr/>
            </a:p>
          </p:txBody>
        </p:sp>
      </p:grpSp>
      <p:sp>
        <p:nvSpPr>
          <p:cNvPr id="17" name="object 17"/>
          <p:cNvSpPr txBox="1"/>
          <p:nvPr/>
        </p:nvSpPr>
        <p:spPr>
          <a:xfrm>
            <a:off x="7585709" y="1895983"/>
            <a:ext cx="1972945" cy="848360"/>
          </a:xfrm>
          <a:prstGeom prst="rect">
            <a:avLst/>
          </a:prstGeom>
        </p:spPr>
        <p:txBody>
          <a:bodyPr vert="horz" wrap="square" lIns="0" tIns="12700" rIns="0" bIns="0" rtlCol="0">
            <a:spAutoFit/>
          </a:bodyPr>
          <a:lstStyle/>
          <a:p>
            <a:pPr marL="12700" marR="5080" indent="1270" algn="ctr">
              <a:lnSpc>
                <a:spcPct val="100000"/>
              </a:lnSpc>
              <a:spcBef>
                <a:spcPts val="100"/>
              </a:spcBef>
            </a:pPr>
            <a:r>
              <a:rPr sz="1800" b="1" spc="-5" dirty="0">
                <a:solidFill>
                  <a:srgbClr val="FFFFFF"/>
                </a:solidFill>
                <a:latin typeface="TeXGyreAdventor"/>
                <a:cs typeface="TeXGyreAdventor"/>
              </a:rPr>
              <a:t>Assign multiple IP  addresses to</a:t>
            </a:r>
            <a:r>
              <a:rPr sz="1800" b="1" spc="-120" dirty="0">
                <a:solidFill>
                  <a:srgbClr val="FFFFFF"/>
                </a:solidFill>
                <a:latin typeface="TeXGyreAdventor"/>
                <a:cs typeface="TeXGyreAdventor"/>
              </a:rPr>
              <a:t> </a:t>
            </a:r>
            <a:r>
              <a:rPr sz="1800" b="1" spc="-5" dirty="0">
                <a:solidFill>
                  <a:srgbClr val="FFFFFF"/>
                </a:solidFill>
                <a:latin typeface="TeXGyreAdventor"/>
                <a:cs typeface="TeXGyreAdventor"/>
              </a:rPr>
              <a:t>your  </a:t>
            </a:r>
            <a:r>
              <a:rPr sz="1800" b="1" dirty="0">
                <a:solidFill>
                  <a:srgbClr val="FFFFFF"/>
                </a:solidFill>
                <a:latin typeface="TeXGyreAdventor"/>
                <a:cs typeface="TeXGyreAdventor"/>
              </a:rPr>
              <a:t>instances</a:t>
            </a:r>
            <a:endParaRPr sz="1800">
              <a:latin typeface="TeXGyreAdventor"/>
              <a:cs typeface="TeXGyreAdventor"/>
            </a:endParaRPr>
          </a:p>
        </p:txBody>
      </p:sp>
      <p:grpSp>
        <p:nvGrpSpPr>
          <p:cNvPr id="18" name="object 18"/>
          <p:cNvGrpSpPr/>
          <p:nvPr/>
        </p:nvGrpSpPr>
        <p:grpSpPr>
          <a:xfrm>
            <a:off x="6923531" y="4562855"/>
            <a:ext cx="3298190" cy="1315720"/>
            <a:chOff x="6923531" y="4562855"/>
            <a:chExt cx="3298190" cy="1315720"/>
          </a:xfrm>
        </p:grpSpPr>
        <p:sp>
          <p:nvSpPr>
            <p:cNvPr id="19" name="object 19"/>
            <p:cNvSpPr/>
            <p:nvPr/>
          </p:nvSpPr>
          <p:spPr>
            <a:xfrm>
              <a:off x="6933437" y="4572761"/>
              <a:ext cx="3278504" cy="1295400"/>
            </a:xfrm>
            <a:custGeom>
              <a:avLst/>
              <a:gdLst/>
              <a:ahLst/>
              <a:cxnLst/>
              <a:rect l="l" t="t" r="r" b="b"/>
              <a:pathLst>
                <a:path w="3278504" h="1295400">
                  <a:moveTo>
                    <a:pt x="3062223" y="0"/>
                  </a:moveTo>
                  <a:lnTo>
                    <a:pt x="215900" y="0"/>
                  </a:lnTo>
                  <a:lnTo>
                    <a:pt x="166391" y="5701"/>
                  </a:lnTo>
                  <a:lnTo>
                    <a:pt x="120946" y="21941"/>
                  </a:lnTo>
                  <a:lnTo>
                    <a:pt x="80859" y="47426"/>
                  </a:lnTo>
                  <a:lnTo>
                    <a:pt x="47426" y="80859"/>
                  </a:lnTo>
                  <a:lnTo>
                    <a:pt x="21941" y="120946"/>
                  </a:lnTo>
                  <a:lnTo>
                    <a:pt x="5701" y="166391"/>
                  </a:lnTo>
                  <a:lnTo>
                    <a:pt x="0" y="215900"/>
                  </a:lnTo>
                  <a:lnTo>
                    <a:pt x="0" y="1079500"/>
                  </a:lnTo>
                  <a:lnTo>
                    <a:pt x="5701" y="1129004"/>
                  </a:lnTo>
                  <a:lnTo>
                    <a:pt x="21941" y="1174448"/>
                  </a:lnTo>
                  <a:lnTo>
                    <a:pt x="47426" y="1214535"/>
                  </a:lnTo>
                  <a:lnTo>
                    <a:pt x="80859" y="1247969"/>
                  </a:lnTo>
                  <a:lnTo>
                    <a:pt x="120946" y="1273456"/>
                  </a:lnTo>
                  <a:lnTo>
                    <a:pt x="166391" y="1289698"/>
                  </a:lnTo>
                  <a:lnTo>
                    <a:pt x="215900" y="1295400"/>
                  </a:lnTo>
                  <a:lnTo>
                    <a:pt x="3062223" y="1295400"/>
                  </a:lnTo>
                  <a:lnTo>
                    <a:pt x="3111732" y="1289698"/>
                  </a:lnTo>
                  <a:lnTo>
                    <a:pt x="3157177" y="1273456"/>
                  </a:lnTo>
                  <a:lnTo>
                    <a:pt x="3197264" y="1247969"/>
                  </a:lnTo>
                  <a:lnTo>
                    <a:pt x="3230697" y="1214535"/>
                  </a:lnTo>
                  <a:lnTo>
                    <a:pt x="3256182" y="1174448"/>
                  </a:lnTo>
                  <a:lnTo>
                    <a:pt x="3272422" y="1129004"/>
                  </a:lnTo>
                  <a:lnTo>
                    <a:pt x="3278123" y="1079500"/>
                  </a:lnTo>
                  <a:lnTo>
                    <a:pt x="3278123" y="215900"/>
                  </a:lnTo>
                  <a:lnTo>
                    <a:pt x="3272422" y="166391"/>
                  </a:lnTo>
                  <a:lnTo>
                    <a:pt x="3256182" y="120946"/>
                  </a:lnTo>
                  <a:lnTo>
                    <a:pt x="3230697" y="80859"/>
                  </a:lnTo>
                  <a:lnTo>
                    <a:pt x="3197264" y="47426"/>
                  </a:lnTo>
                  <a:lnTo>
                    <a:pt x="3157177" y="21941"/>
                  </a:lnTo>
                  <a:lnTo>
                    <a:pt x="3111732" y="5701"/>
                  </a:lnTo>
                  <a:lnTo>
                    <a:pt x="3062223" y="0"/>
                  </a:lnTo>
                  <a:close/>
                </a:path>
              </a:pathLst>
            </a:custGeom>
            <a:solidFill>
              <a:srgbClr val="9E5E9B"/>
            </a:solidFill>
          </p:spPr>
          <p:txBody>
            <a:bodyPr wrap="square" lIns="0" tIns="0" rIns="0" bIns="0" rtlCol="0"/>
            <a:lstStyle/>
            <a:p>
              <a:endParaRPr/>
            </a:p>
          </p:txBody>
        </p:sp>
        <p:sp>
          <p:nvSpPr>
            <p:cNvPr id="20" name="object 20"/>
            <p:cNvSpPr/>
            <p:nvPr/>
          </p:nvSpPr>
          <p:spPr>
            <a:xfrm>
              <a:off x="6933437" y="4572761"/>
              <a:ext cx="3278504" cy="1295400"/>
            </a:xfrm>
            <a:custGeom>
              <a:avLst/>
              <a:gdLst/>
              <a:ahLst/>
              <a:cxnLst/>
              <a:rect l="l" t="t" r="r" b="b"/>
              <a:pathLst>
                <a:path w="3278504" h="1295400">
                  <a:moveTo>
                    <a:pt x="0" y="215900"/>
                  </a:moveTo>
                  <a:lnTo>
                    <a:pt x="5701" y="166391"/>
                  </a:lnTo>
                  <a:lnTo>
                    <a:pt x="21941" y="120946"/>
                  </a:lnTo>
                  <a:lnTo>
                    <a:pt x="47426" y="80859"/>
                  </a:lnTo>
                  <a:lnTo>
                    <a:pt x="80859" y="47426"/>
                  </a:lnTo>
                  <a:lnTo>
                    <a:pt x="120946" y="21941"/>
                  </a:lnTo>
                  <a:lnTo>
                    <a:pt x="166391" y="5701"/>
                  </a:lnTo>
                  <a:lnTo>
                    <a:pt x="215900" y="0"/>
                  </a:lnTo>
                  <a:lnTo>
                    <a:pt x="3062223" y="0"/>
                  </a:lnTo>
                  <a:lnTo>
                    <a:pt x="3111732" y="5701"/>
                  </a:lnTo>
                  <a:lnTo>
                    <a:pt x="3157177" y="21941"/>
                  </a:lnTo>
                  <a:lnTo>
                    <a:pt x="3197264" y="47426"/>
                  </a:lnTo>
                  <a:lnTo>
                    <a:pt x="3230697" y="80859"/>
                  </a:lnTo>
                  <a:lnTo>
                    <a:pt x="3256182" y="120946"/>
                  </a:lnTo>
                  <a:lnTo>
                    <a:pt x="3272422" y="166391"/>
                  </a:lnTo>
                  <a:lnTo>
                    <a:pt x="3278123" y="215900"/>
                  </a:lnTo>
                  <a:lnTo>
                    <a:pt x="3278123" y="1079500"/>
                  </a:lnTo>
                  <a:lnTo>
                    <a:pt x="3272422" y="1129004"/>
                  </a:lnTo>
                  <a:lnTo>
                    <a:pt x="3256182" y="1174448"/>
                  </a:lnTo>
                  <a:lnTo>
                    <a:pt x="3230697" y="1214535"/>
                  </a:lnTo>
                  <a:lnTo>
                    <a:pt x="3197264" y="1247969"/>
                  </a:lnTo>
                  <a:lnTo>
                    <a:pt x="3157177" y="1273456"/>
                  </a:lnTo>
                  <a:lnTo>
                    <a:pt x="3111732" y="1289698"/>
                  </a:lnTo>
                  <a:lnTo>
                    <a:pt x="3062223" y="1295400"/>
                  </a:lnTo>
                  <a:lnTo>
                    <a:pt x="215900" y="1295400"/>
                  </a:lnTo>
                  <a:lnTo>
                    <a:pt x="166391" y="1289698"/>
                  </a:lnTo>
                  <a:lnTo>
                    <a:pt x="120946" y="1273456"/>
                  </a:lnTo>
                  <a:lnTo>
                    <a:pt x="80859" y="1247969"/>
                  </a:lnTo>
                  <a:lnTo>
                    <a:pt x="47426" y="1214535"/>
                  </a:lnTo>
                  <a:lnTo>
                    <a:pt x="21941" y="1174448"/>
                  </a:lnTo>
                  <a:lnTo>
                    <a:pt x="5701" y="1129004"/>
                  </a:lnTo>
                  <a:lnTo>
                    <a:pt x="0" y="1079500"/>
                  </a:lnTo>
                  <a:lnTo>
                    <a:pt x="0" y="215900"/>
                  </a:lnTo>
                  <a:close/>
                </a:path>
              </a:pathLst>
            </a:custGeom>
            <a:ln w="19812">
              <a:solidFill>
                <a:srgbClr val="734370"/>
              </a:solidFill>
            </a:ln>
          </p:spPr>
          <p:txBody>
            <a:bodyPr wrap="square" lIns="0" tIns="0" rIns="0" bIns="0" rtlCol="0"/>
            <a:lstStyle/>
            <a:p>
              <a:endParaRPr/>
            </a:p>
          </p:txBody>
        </p:sp>
      </p:grpSp>
      <p:sp>
        <p:nvSpPr>
          <p:cNvPr id="21" name="object 21"/>
          <p:cNvSpPr txBox="1"/>
          <p:nvPr/>
        </p:nvSpPr>
        <p:spPr>
          <a:xfrm>
            <a:off x="7255002" y="5066538"/>
            <a:ext cx="263588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eXGyreAdventor"/>
                <a:cs typeface="TeXGyreAdventor"/>
              </a:rPr>
              <a:t>Egress </a:t>
            </a:r>
            <a:r>
              <a:rPr sz="1800" b="1" dirty="0">
                <a:solidFill>
                  <a:srgbClr val="FFFFFF"/>
                </a:solidFill>
                <a:latin typeface="TeXGyreAdventor"/>
                <a:cs typeface="TeXGyreAdventor"/>
              </a:rPr>
              <a:t>&amp; Ingress</a:t>
            </a:r>
            <a:r>
              <a:rPr sz="1800" b="1" spc="-105" dirty="0">
                <a:solidFill>
                  <a:srgbClr val="FFFFFF"/>
                </a:solidFill>
                <a:latin typeface="TeXGyreAdventor"/>
                <a:cs typeface="TeXGyreAdventor"/>
              </a:rPr>
              <a:t> </a:t>
            </a:r>
            <a:r>
              <a:rPr sz="1800" b="1" spc="-5" dirty="0">
                <a:solidFill>
                  <a:srgbClr val="FFFFFF"/>
                </a:solidFill>
                <a:latin typeface="TeXGyreAdventor"/>
                <a:cs typeface="TeXGyreAdventor"/>
              </a:rPr>
              <a:t>ﬁltering</a:t>
            </a:r>
            <a:endParaRPr sz="1800">
              <a:latin typeface="TeXGyreAdventor"/>
              <a:cs typeface="TeXGyreAdventor"/>
            </a:endParaRPr>
          </a:p>
        </p:txBody>
      </p:sp>
      <p:grpSp>
        <p:nvGrpSpPr>
          <p:cNvPr id="22" name="object 22"/>
          <p:cNvGrpSpPr/>
          <p:nvPr/>
        </p:nvGrpSpPr>
        <p:grpSpPr>
          <a:xfrm>
            <a:off x="2575560" y="4562855"/>
            <a:ext cx="3331845" cy="1315720"/>
            <a:chOff x="2575560" y="4562855"/>
            <a:chExt cx="3331845" cy="1315720"/>
          </a:xfrm>
        </p:grpSpPr>
        <p:sp>
          <p:nvSpPr>
            <p:cNvPr id="23" name="object 23"/>
            <p:cNvSpPr/>
            <p:nvPr/>
          </p:nvSpPr>
          <p:spPr>
            <a:xfrm>
              <a:off x="2585466" y="4572761"/>
              <a:ext cx="3312160" cy="1295400"/>
            </a:xfrm>
            <a:custGeom>
              <a:avLst/>
              <a:gdLst/>
              <a:ahLst/>
              <a:cxnLst/>
              <a:rect l="l" t="t" r="r" b="b"/>
              <a:pathLst>
                <a:path w="3312160" h="1295400">
                  <a:moveTo>
                    <a:pt x="3095751" y="0"/>
                  </a:moveTo>
                  <a:lnTo>
                    <a:pt x="215900" y="0"/>
                  </a:lnTo>
                  <a:lnTo>
                    <a:pt x="166391" y="5701"/>
                  </a:lnTo>
                  <a:lnTo>
                    <a:pt x="120946" y="21941"/>
                  </a:lnTo>
                  <a:lnTo>
                    <a:pt x="80859" y="47426"/>
                  </a:lnTo>
                  <a:lnTo>
                    <a:pt x="47426" y="80859"/>
                  </a:lnTo>
                  <a:lnTo>
                    <a:pt x="21941" y="120946"/>
                  </a:lnTo>
                  <a:lnTo>
                    <a:pt x="5701" y="166391"/>
                  </a:lnTo>
                  <a:lnTo>
                    <a:pt x="0" y="215900"/>
                  </a:lnTo>
                  <a:lnTo>
                    <a:pt x="0" y="1079487"/>
                  </a:lnTo>
                  <a:lnTo>
                    <a:pt x="5701" y="1128996"/>
                  </a:lnTo>
                  <a:lnTo>
                    <a:pt x="21941" y="1174443"/>
                  </a:lnTo>
                  <a:lnTo>
                    <a:pt x="47426" y="1214532"/>
                  </a:lnTo>
                  <a:lnTo>
                    <a:pt x="80859" y="1247968"/>
                  </a:lnTo>
                  <a:lnTo>
                    <a:pt x="120946" y="1273455"/>
                  </a:lnTo>
                  <a:lnTo>
                    <a:pt x="166391" y="1289697"/>
                  </a:lnTo>
                  <a:lnTo>
                    <a:pt x="215900" y="1295400"/>
                  </a:lnTo>
                  <a:lnTo>
                    <a:pt x="3095751" y="1295400"/>
                  </a:lnTo>
                  <a:lnTo>
                    <a:pt x="3145260" y="1289697"/>
                  </a:lnTo>
                  <a:lnTo>
                    <a:pt x="3190705" y="1273455"/>
                  </a:lnTo>
                  <a:lnTo>
                    <a:pt x="3230792" y="1247968"/>
                  </a:lnTo>
                  <a:lnTo>
                    <a:pt x="3264225" y="1214532"/>
                  </a:lnTo>
                  <a:lnTo>
                    <a:pt x="3289710" y="1174443"/>
                  </a:lnTo>
                  <a:lnTo>
                    <a:pt x="3305950" y="1128996"/>
                  </a:lnTo>
                  <a:lnTo>
                    <a:pt x="3311652" y="1079487"/>
                  </a:lnTo>
                  <a:lnTo>
                    <a:pt x="3311652" y="215900"/>
                  </a:lnTo>
                  <a:lnTo>
                    <a:pt x="3305950" y="166391"/>
                  </a:lnTo>
                  <a:lnTo>
                    <a:pt x="3289710" y="120946"/>
                  </a:lnTo>
                  <a:lnTo>
                    <a:pt x="3264225" y="80859"/>
                  </a:lnTo>
                  <a:lnTo>
                    <a:pt x="3230792" y="47426"/>
                  </a:lnTo>
                  <a:lnTo>
                    <a:pt x="3190705" y="21941"/>
                  </a:lnTo>
                  <a:lnTo>
                    <a:pt x="3145260" y="5701"/>
                  </a:lnTo>
                  <a:lnTo>
                    <a:pt x="3095751" y="0"/>
                  </a:lnTo>
                  <a:close/>
                </a:path>
              </a:pathLst>
            </a:custGeom>
            <a:solidFill>
              <a:srgbClr val="9E5E9B"/>
            </a:solidFill>
          </p:spPr>
          <p:txBody>
            <a:bodyPr wrap="square" lIns="0" tIns="0" rIns="0" bIns="0" rtlCol="0"/>
            <a:lstStyle/>
            <a:p>
              <a:endParaRPr/>
            </a:p>
          </p:txBody>
        </p:sp>
        <p:sp>
          <p:nvSpPr>
            <p:cNvPr id="24" name="object 24"/>
            <p:cNvSpPr/>
            <p:nvPr/>
          </p:nvSpPr>
          <p:spPr>
            <a:xfrm>
              <a:off x="2585466" y="4572761"/>
              <a:ext cx="3312160" cy="1295400"/>
            </a:xfrm>
            <a:custGeom>
              <a:avLst/>
              <a:gdLst/>
              <a:ahLst/>
              <a:cxnLst/>
              <a:rect l="l" t="t" r="r" b="b"/>
              <a:pathLst>
                <a:path w="3312160" h="1295400">
                  <a:moveTo>
                    <a:pt x="0" y="215900"/>
                  </a:moveTo>
                  <a:lnTo>
                    <a:pt x="5701" y="166391"/>
                  </a:lnTo>
                  <a:lnTo>
                    <a:pt x="21941" y="120946"/>
                  </a:lnTo>
                  <a:lnTo>
                    <a:pt x="47426" y="80859"/>
                  </a:lnTo>
                  <a:lnTo>
                    <a:pt x="80859" y="47426"/>
                  </a:lnTo>
                  <a:lnTo>
                    <a:pt x="120946" y="21941"/>
                  </a:lnTo>
                  <a:lnTo>
                    <a:pt x="166391" y="5701"/>
                  </a:lnTo>
                  <a:lnTo>
                    <a:pt x="215900" y="0"/>
                  </a:lnTo>
                  <a:lnTo>
                    <a:pt x="3095751" y="0"/>
                  </a:lnTo>
                  <a:lnTo>
                    <a:pt x="3145260" y="5701"/>
                  </a:lnTo>
                  <a:lnTo>
                    <a:pt x="3190705" y="21941"/>
                  </a:lnTo>
                  <a:lnTo>
                    <a:pt x="3230792" y="47426"/>
                  </a:lnTo>
                  <a:lnTo>
                    <a:pt x="3264225" y="80859"/>
                  </a:lnTo>
                  <a:lnTo>
                    <a:pt x="3289710" y="120946"/>
                  </a:lnTo>
                  <a:lnTo>
                    <a:pt x="3305950" y="166391"/>
                  </a:lnTo>
                  <a:lnTo>
                    <a:pt x="3311652" y="215900"/>
                  </a:lnTo>
                  <a:lnTo>
                    <a:pt x="3311652" y="1079487"/>
                  </a:lnTo>
                  <a:lnTo>
                    <a:pt x="3305950" y="1128996"/>
                  </a:lnTo>
                  <a:lnTo>
                    <a:pt x="3289710" y="1174443"/>
                  </a:lnTo>
                  <a:lnTo>
                    <a:pt x="3264225" y="1214532"/>
                  </a:lnTo>
                  <a:lnTo>
                    <a:pt x="3230792" y="1247968"/>
                  </a:lnTo>
                  <a:lnTo>
                    <a:pt x="3190705" y="1273455"/>
                  </a:lnTo>
                  <a:lnTo>
                    <a:pt x="3145260" y="1289697"/>
                  </a:lnTo>
                  <a:lnTo>
                    <a:pt x="3095751" y="1295400"/>
                  </a:lnTo>
                  <a:lnTo>
                    <a:pt x="215900" y="1295400"/>
                  </a:lnTo>
                  <a:lnTo>
                    <a:pt x="166391" y="1289697"/>
                  </a:lnTo>
                  <a:lnTo>
                    <a:pt x="120946" y="1273455"/>
                  </a:lnTo>
                  <a:lnTo>
                    <a:pt x="80859" y="1247968"/>
                  </a:lnTo>
                  <a:lnTo>
                    <a:pt x="47426" y="1214532"/>
                  </a:lnTo>
                  <a:lnTo>
                    <a:pt x="21941" y="1174443"/>
                  </a:lnTo>
                  <a:lnTo>
                    <a:pt x="5701" y="1128996"/>
                  </a:lnTo>
                  <a:lnTo>
                    <a:pt x="0" y="1079487"/>
                  </a:lnTo>
                  <a:lnTo>
                    <a:pt x="0" y="215900"/>
                  </a:lnTo>
                  <a:close/>
                </a:path>
              </a:pathLst>
            </a:custGeom>
            <a:ln w="19812">
              <a:solidFill>
                <a:srgbClr val="734370"/>
              </a:solidFill>
            </a:ln>
          </p:spPr>
          <p:txBody>
            <a:bodyPr wrap="square" lIns="0" tIns="0" rIns="0" bIns="0" rtlCol="0"/>
            <a:lstStyle/>
            <a:p>
              <a:endParaRPr/>
            </a:p>
          </p:txBody>
        </p:sp>
      </p:grpSp>
      <p:sp>
        <p:nvSpPr>
          <p:cNvPr id="25" name="object 25"/>
          <p:cNvSpPr txBox="1"/>
          <p:nvPr/>
        </p:nvSpPr>
        <p:spPr>
          <a:xfrm>
            <a:off x="2939923" y="4929378"/>
            <a:ext cx="2601595" cy="574040"/>
          </a:xfrm>
          <a:prstGeom prst="rect">
            <a:avLst/>
          </a:prstGeom>
        </p:spPr>
        <p:txBody>
          <a:bodyPr vert="horz" wrap="square" lIns="0" tIns="12700" rIns="0" bIns="0" rtlCol="0">
            <a:spAutoFit/>
          </a:bodyPr>
          <a:lstStyle/>
          <a:p>
            <a:pPr marL="12700" marR="5080" indent="81915">
              <a:lnSpc>
                <a:spcPct val="100000"/>
              </a:lnSpc>
              <a:spcBef>
                <a:spcPts val="100"/>
              </a:spcBef>
            </a:pPr>
            <a:r>
              <a:rPr sz="1800" b="1" spc="-5" dirty="0">
                <a:solidFill>
                  <a:srgbClr val="FFFFFF"/>
                </a:solidFill>
                <a:latin typeface="TeXGyreAdventor"/>
                <a:cs typeface="TeXGyreAdventor"/>
              </a:rPr>
              <a:t>Run your </a:t>
            </a:r>
            <a:r>
              <a:rPr sz="1800" b="1" dirty="0">
                <a:solidFill>
                  <a:srgbClr val="FFFFFF"/>
                </a:solidFill>
                <a:latin typeface="TeXGyreAdventor"/>
                <a:cs typeface="TeXGyreAdventor"/>
              </a:rPr>
              <a:t>instances </a:t>
            </a:r>
            <a:r>
              <a:rPr sz="1800" b="1" spc="-5" dirty="0">
                <a:solidFill>
                  <a:srgbClr val="FFFFFF"/>
                </a:solidFill>
                <a:latin typeface="TeXGyreAdventor"/>
                <a:cs typeface="TeXGyreAdventor"/>
              </a:rPr>
              <a:t>on  single-tenant</a:t>
            </a:r>
            <a:r>
              <a:rPr sz="1800" b="1" spc="-65" dirty="0">
                <a:solidFill>
                  <a:srgbClr val="FFFFFF"/>
                </a:solidFill>
                <a:latin typeface="TeXGyreAdventor"/>
                <a:cs typeface="TeXGyreAdventor"/>
              </a:rPr>
              <a:t> </a:t>
            </a:r>
            <a:r>
              <a:rPr sz="1800" b="1" spc="-5" dirty="0">
                <a:solidFill>
                  <a:srgbClr val="FFFFFF"/>
                </a:solidFill>
                <a:latin typeface="TeXGyreAdventor"/>
                <a:cs typeface="TeXGyreAdventor"/>
              </a:rPr>
              <a:t>hardware</a:t>
            </a:r>
            <a:endParaRPr sz="1800">
              <a:latin typeface="TeXGyreAdventor"/>
              <a:cs typeface="TeXGyreAdventor"/>
            </a:endParaRPr>
          </a:p>
        </p:txBody>
      </p:sp>
      <p:sp>
        <p:nvSpPr>
          <p:cNvPr id="26" name="object 26"/>
          <p:cNvSpPr txBox="1"/>
          <p:nvPr/>
        </p:nvSpPr>
        <p:spPr>
          <a:xfrm>
            <a:off x="10661650" y="570992"/>
            <a:ext cx="22225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FFFFFF"/>
                </a:solidFill>
                <a:latin typeface="TeXGyreAdventor"/>
                <a:cs typeface="TeXGyreAdventor"/>
              </a:rPr>
              <a:t>5</a:t>
            </a:r>
            <a:endParaRPr sz="2800">
              <a:latin typeface="TeXGyreAdventor"/>
              <a:cs typeface="TeXGyreAdventor"/>
            </a:endParaRPr>
          </a:p>
        </p:txBody>
      </p:sp>
      <p:sp>
        <p:nvSpPr>
          <p:cNvPr id="27" name="object 27"/>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endParaRPr/>
          </a:p>
        </p:txBody>
      </p:sp>
      <p:sp>
        <p:nvSpPr>
          <p:cNvPr id="28" name="object 28"/>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29" name="object 29"/>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endParaRPr/>
          </a:p>
        </p:txBody>
      </p:sp>
      <p:sp>
        <p:nvSpPr>
          <p:cNvPr id="31" name="Footer Placeholder 30">
            <a:extLst>
              <a:ext uri="{FF2B5EF4-FFF2-40B4-BE49-F238E27FC236}">
                <a16:creationId xmlns:a16="http://schemas.microsoft.com/office/drawing/2014/main" id="{730EE4E1-9665-4878-9DE8-DFD65D8B8ADF}"/>
              </a:ext>
            </a:extLst>
          </p:cNvPr>
          <p:cNvSpPr>
            <a:spLocks noGrp="1"/>
          </p:cNvSpPr>
          <p:nvPr>
            <p:ph type="ftr" sz="quarter" idx="5"/>
          </p:nvPr>
        </p:nvSpPr>
        <p:spPr/>
        <p:txBody>
          <a:bodyPr/>
          <a:lstStyle/>
          <a:p>
            <a:r>
              <a:rPr lang="en-US"/>
              <a:t>CHAITANYA R GAAJULA- ALL COPYRIGHTS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300355"/>
            <a:ext cx="318897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TeXGyreAdventor"/>
                <a:cs typeface="TeXGyreAdventor"/>
              </a:rPr>
              <a:t>AWS </a:t>
            </a:r>
            <a:r>
              <a:rPr sz="3200" spc="-5" dirty="0">
                <a:latin typeface="TeXGyreAdventor"/>
                <a:cs typeface="TeXGyreAdventor"/>
              </a:rPr>
              <a:t>VPC:</a:t>
            </a:r>
            <a:r>
              <a:rPr sz="3200" spc="-90" dirty="0">
                <a:latin typeface="TeXGyreAdventor"/>
                <a:cs typeface="TeXGyreAdventor"/>
              </a:rPr>
              <a:t> </a:t>
            </a:r>
            <a:r>
              <a:rPr sz="3200" dirty="0">
                <a:latin typeface="TeXGyreAdventor"/>
                <a:cs typeface="TeXGyreAdventor"/>
              </a:rPr>
              <a:t>Types</a:t>
            </a:r>
            <a:endParaRPr sz="3200">
              <a:latin typeface="TeXGyreAdventor"/>
              <a:cs typeface="TeXGyreAdventor"/>
            </a:endParaRPr>
          </a:p>
        </p:txBody>
      </p:sp>
      <p:grpSp>
        <p:nvGrpSpPr>
          <p:cNvPr id="3" name="object 3"/>
          <p:cNvGrpSpPr/>
          <p:nvPr/>
        </p:nvGrpSpPr>
        <p:grpSpPr>
          <a:xfrm>
            <a:off x="751077" y="1590802"/>
            <a:ext cx="10386695" cy="1087120"/>
            <a:chOff x="751077" y="1590802"/>
            <a:chExt cx="10386695" cy="1087120"/>
          </a:xfrm>
        </p:grpSpPr>
        <p:sp>
          <p:nvSpPr>
            <p:cNvPr id="4" name="object 4"/>
            <p:cNvSpPr/>
            <p:nvPr/>
          </p:nvSpPr>
          <p:spPr>
            <a:xfrm>
              <a:off x="761237" y="1600962"/>
              <a:ext cx="10366375" cy="1066800"/>
            </a:xfrm>
            <a:custGeom>
              <a:avLst/>
              <a:gdLst/>
              <a:ahLst/>
              <a:cxnLst/>
              <a:rect l="l" t="t" r="r" b="b"/>
              <a:pathLst>
                <a:path w="10366375" h="1066800">
                  <a:moveTo>
                    <a:pt x="10188448" y="0"/>
                  </a:moveTo>
                  <a:lnTo>
                    <a:pt x="177800" y="0"/>
                  </a:lnTo>
                  <a:lnTo>
                    <a:pt x="130533" y="6352"/>
                  </a:lnTo>
                  <a:lnTo>
                    <a:pt x="88060" y="24280"/>
                  </a:lnTo>
                  <a:lnTo>
                    <a:pt x="52076" y="52085"/>
                  </a:lnTo>
                  <a:lnTo>
                    <a:pt x="24274" y="88072"/>
                  </a:lnTo>
                  <a:lnTo>
                    <a:pt x="6351" y="130542"/>
                  </a:lnTo>
                  <a:lnTo>
                    <a:pt x="0" y="177800"/>
                  </a:lnTo>
                  <a:lnTo>
                    <a:pt x="0" y="889000"/>
                  </a:lnTo>
                  <a:lnTo>
                    <a:pt x="6351" y="936257"/>
                  </a:lnTo>
                  <a:lnTo>
                    <a:pt x="24274" y="978727"/>
                  </a:lnTo>
                  <a:lnTo>
                    <a:pt x="52076" y="1014714"/>
                  </a:lnTo>
                  <a:lnTo>
                    <a:pt x="88060" y="1042519"/>
                  </a:lnTo>
                  <a:lnTo>
                    <a:pt x="130533" y="1060447"/>
                  </a:lnTo>
                  <a:lnTo>
                    <a:pt x="177800" y="1066800"/>
                  </a:lnTo>
                  <a:lnTo>
                    <a:pt x="10188448" y="1066800"/>
                  </a:lnTo>
                  <a:lnTo>
                    <a:pt x="10235705" y="1060447"/>
                  </a:lnTo>
                  <a:lnTo>
                    <a:pt x="10278175" y="1042519"/>
                  </a:lnTo>
                  <a:lnTo>
                    <a:pt x="10314162" y="1014714"/>
                  </a:lnTo>
                  <a:lnTo>
                    <a:pt x="10341967" y="978727"/>
                  </a:lnTo>
                  <a:lnTo>
                    <a:pt x="10359895" y="936257"/>
                  </a:lnTo>
                  <a:lnTo>
                    <a:pt x="10366248" y="889000"/>
                  </a:lnTo>
                  <a:lnTo>
                    <a:pt x="10366248" y="177800"/>
                  </a:lnTo>
                  <a:lnTo>
                    <a:pt x="10359895" y="130542"/>
                  </a:lnTo>
                  <a:lnTo>
                    <a:pt x="10341967" y="88072"/>
                  </a:lnTo>
                  <a:lnTo>
                    <a:pt x="10314162" y="52085"/>
                  </a:lnTo>
                  <a:lnTo>
                    <a:pt x="10278175" y="24280"/>
                  </a:lnTo>
                  <a:lnTo>
                    <a:pt x="10235705" y="6352"/>
                  </a:lnTo>
                  <a:lnTo>
                    <a:pt x="10188448" y="0"/>
                  </a:lnTo>
                  <a:close/>
                </a:path>
              </a:pathLst>
            </a:custGeom>
            <a:solidFill>
              <a:srgbClr val="9E5E9B"/>
            </a:solidFill>
          </p:spPr>
          <p:txBody>
            <a:bodyPr wrap="square" lIns="0" tIns="0" rIns="0" bIns="0" rtlCol="0"/>
            <a:lstStyle/>
            <a:p>
              <a:endParaRPr/>
            </a:p>
          </p:txBody>
        </p:sp>
        <p:sp>
          <p:nvSpPr>
            <p:cNvPr id="5" name="object 5"/>
            <p:cNvSpPr/>
            <p:nvPr/>
          </p:nvSpPr>
          <p:spPr>
            <a:xfrm>
              <a:off x="761237" y="1600962"/>
              <a:ext cx="10366375" cy="1066800"/>
            </a:xfrm>
            <a:custGeom>
              <a:avLst/>
              <a:gdLst/>
              <a:ahLst/>
              <a:cxnLst/>
              <a:rect l="l" t="t" r="r" b="b"/>
              <a:pathLst>
                <a:path w="10366375" h="1066800">
                  <a:moveTo>
                    <a:pt x="0" y="177800"/>
                  </a:moveTo>
                  <a:lnTo>
                    <a:pt x="6351" y="130542"/>
                  </a:lnTo>
                  <a:lnTo>
                    <a:pt x="24274" y="88072"/>
                  </a:lnTo>
                  <a:lnTo>
                    <a:pt x="52076" y="52085"/>
                  </a:lnTo>
                  <a:lnTo>
                    <a:pt x="88060" y="24280"/>
                  </a:lnTo>
                  <a:lnTo>
                    <a:pt x="130533" y="6352"/>
                  </a:lnTo>
                  <a:lnTo>
                    <a:pt x="177800" y="0"/>
                  </a:lnTo>
                  <a:lnTo>
                    <a:pt x="10188448" y="0"/>
                  </a:lnTo>
                  <a:lnTo>
                    <a:pt x="10235705" y="6352"/>
                  </a:lnTo>
                  <a:lnTo>
                    <a:pt x="10278175" y="24280"/>
                  </a:lnTo>
                  <a:lnTo>
                    <a:pt x="10314162" y="52085"/>
                  </a:lnTo>
                  <a:lnTo>
                    <a:pt x="10341967" y="88072"/>
                  </a:lnTo>
                  <a:lnTo>
                    <a:pt x="10359895" y="130542"/>
                  </a:lnTo>
                  <a:lnTo>
                    <a:pt x="10366248" y="177800"/>
                  </a:lnTo>
                  <a:lnTo>
                    <a:pt x="10366248" y="889000"/>
                  </a:lnTo>
                  <a:lnTo>
                    <a:pt x="10359895" y="936257"/>
                  </a:lnTo>
                  <a:lnTo>
                    <a:pt x="10341967" y="978727"/>
                  </a:lnTo>
                  <a:lnTo>
                    <a:pt x="10314162" y="1014714"/>
                  </a:lnTo>
                  <a:lnTo>
                    <a:pt x="10278175" y="1042519"/>
                  </a:lnTo>
                  <a:lnTo>
                    <a:pt x="10235705" y="1060447"/>
                  </a:lnTo>
                  <a:lnTo>
                    <a:pt x="10188448" y="1066800"/>
                  </a:lnTo>
                  <a:lnTo>
                    <a:pt x="177800" y="1066800"/>
                  </a:lnTo>
                  <a:lnTo>
                    <a:pt x="130533" y="1060447"/>
                  </a:lnTo>
                  <a:lnTo>
                    <a:pt x="88060" y="1042519"/>
                  </a:lnTo>
                  <a:lnTo>
                    <a:pt x="52076" y="1014714"/>
                  </a:lnTo>
                  <a:lnTo>
                    <a:pt x="24274" y="978727"/>
                  </a:lnTo>
                  <a:lnTo>
                    <a:pt x="6351" y="936257"/>
                  </a:lnTo>
                  <a:lnTo>
                    <a:pt x="0" y="889000"/>
                  </a:lnTo>
                  <a:lnTo>
                    <a:pt x="0" y="177800"/>
                  </a:lnTo>
                  <a:close/>
                </a:path>
              </a:pathLst>
            </a:custGeom>
            <a:ln w="19812">
              <a:solidFill>
                <a:srgbClr val="734370"/>
              </a:solidFill>
            </a:ln>
          </p:spPr>
          <p:txBody>
            <a:bodyPr wrap="square" lIns="0" tIns="0" rIns="0" bIns="0" rtlCol="0"/>
            <a:lstStyle/>
            <a:p>
              <a:endParaRPr/>
            </a:p>
          </p:txBody>
        </p:sp>
      </p:grpSp>
      <p:sp>
        <p:nvSpPr>
          <p:cNvPr id="6" name="object 6"/>
          <p:cNvSpPr txBox="1"/>
          <p:nvPr/>
        </p:nvSpPr>
        <p:spPr>
          <a:xfrm>
            <a:off x="5275834" y="1979803"/>
            <a:ext cx="133540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eXGyreAdventor"/>
                <a:cs typeface="TeXGyreAdventor"/>
              </a:rPr>
              <a:t>Default</a:t>
            </a:r>
            <a:r>
              <a:rPr sz="1800" b="1" spc="-90" dirty="0">
                <a:solidFill>
                  <a:srgbClr val="FFFFFF"/>
                </a:solidFill>
                <a:latin typeface="TeXGyreAdventor"/>
                <a:cs typeface="TeXGyreAdventor"/>
              </a:rPr>
              <a:t> </a:t>
            </a:r>
            <a:r>
              <a:rPr sz="1800" b="1" spc="-5" dirty="0">
                <a:solidFill>
                  <a:srgbClr val="FFFFFF"/>
                </a:solidFill>
                <a:latin typeface="TeXGyreAdventor"/>
                <a:cs typeface="TeXGyreAdventor"/>
              </a:rPr>
              <a:t>VPC</a:t>
            </a:r>
            <a:endParaRPr sz="1800">
              <a:latin typeface="TeXGyreAdventor"/>
              <a:cs typeface="TeXGyreAdventor"/>
            </a:endParaRPr>
          </a:p>
        </p:txBody>
      </p:sp>
      <p:grpSp>
        <p:nvGrpSpPr>
          <p:cNvPr id="7" name="object 7"/>
          <p:cNvGrpSpPr/>
          <p:nvPr/>
        </p:nvGrpSpPr>
        <p:grpSpPr>
          <a:xfrm>
            <a:off x="1437132" y="3115055"/>
            <a:ext cx="9206865" cy="1087120"/>
            <a:chOff x="1437132" y="3115055"/>
            <a:chExt cx="9206865" cy="1087120"/>
          </a:xfrm>
        </p:grpSpPr>
        <p:sp>
          <p:nvSpPr>
            <p:cNvPr id="8" name="object 8"/>
            <p:cNvSpPr/>
            <p:nvPr/>
          </p:nvSpPr>
          <p:spPr>
            <a:xfrm>
              <a:off x="1447038" y="3124961"/>
              <a:ext cx="9187180" cy="1066800"/>
            </a:xfrm>
            <a:custGeom>
              <a:avLst/>
              <a:gdLst/>
              <a:ahLst/>
              <a:cxnLst/>
              <a:rect l="l" t="t" r="r" b="b"/>
              <a:pathLst>
                <a:path w="9187180" h="1066800">
                  <a:moveTo>
                    <a:pt x="9008871" y="0"/>
                  </a:moveTo>
                  <a:lnTo>
                    <a:pt x="177800" y="0"/>
                  </a:lnTo>
                  <a:lnTo>
                    <a:pt x="130542" y="6352"/>
                  </a:lnTo>
                  <a:lnTo>
                    <a:pt x="88072" y="24280"/>
                  </a:lnTo>
                  <a:lnTo>
                    <a:pt x="52085" y="52085"/>
                  </a:lnTo>
                  <a:lnTo>
                    <a:pt x="24280" y="88072"/>
                  </a:lnTo>
                  <a:lnTo>
                    <a:pt x="6352" y="130542"/>
                  </a:lnTo>
                  <a:lnTo>
                    <a:pt x="0" y="177800"/>
                  </a:lnTo>
                  <a:lnTo>
                    <a:pt x="0" y="889000"/>
                  </a:lnTo>
                  <a:lnTo>
                    <a:pt x="6352" y="936257"/>
                  </a:lnTo>
                  <a:lnTo>
                    <a:pt x="24280" y="978727"/>
                  </a:lnTo>
                  <a:lnTo>
                    <a:pt x="52085" y="1014714"/>
                  </a:lnTo>
                  <a:lnTo>
                    <a:pt x="88072" y="1042519"/>
                  </a:lnTo>
                  <a:lnTo>
                    <a:pt x="130542" y="1060447"/>
                  </a:lnTo>
                  <a:lnTo>
                    <a:pt x="177800" y="1066800"/>
                  </a:lnTo>
                  <a:lnTo>
                    <a:pt x="9008871" y="1066800"/>
                  </a:lnTo>
                  <a:lnTo>
                    <a:pt x="9056129" y="1060447"/>
                  </a:lnTo>
                  <a:lnTo>
                    <a:pt x="9098599" y="1042519"/>
                  </a:lnTo>
                  <a:lnTo>
                    <a:pt x="9134586" y="1014714"/>
                  </a:lnTo>
                  <a:lnTo>
                    <a:pt x="9162391" y="978727"/>
                  </a:lnTo>
                  <a:lnTo>
                    <a:pt x="9180319" y="936257"/>
                  </a:lnTo>
                  <a:lnTo>
                    <a:pt x="9186671" y="889000"/>
                  </a:lnTo>
                  <a:lnTo>
                    <a:pt x="9186671" y="177800"/>
                  </a:lnTo>
                  <a:lnTo>
                    <a:pt x="9180319" y="130542"/>
                  </a:lnTo>
                  <a:lnTo>
                    <a:pt x="9162391" y="88072"/>
                  </a:lnTo>
                  <a:lnTo>
                    <a:pt x="9134586" y="52085"/>
                  </a:lnTo>
                  <a:lnTo>
                    <a:pt x="9098599" y="24280"/>
                  </a:lnTo>
                  <a:lnTo>
                    <a:pt x="9056129" y="6352"/>
                  </a:lnTo>
                  <a:lnTo>
                    <a:pt x="9008871" y="0"/>
                  </a:lnTo>
                  <a:close/>
                </a:path>
              </a:pathLst>
            </a:custGeom>
            <a:solidFill>
              <a:srgbClr val="9E5E9B"/>
            </a:solidFill>
          </p:spPr>
          <p:txBody>
            <a:bodyPr wrap="square" lIns="0" tIns="0" rIns="0" bIns="0" rtlCol="0"/>
            <a:lstStyle/>
            <a:p>
              <a:endParaRPr/>
            </a:p>
          </p:txBody>
        </p:sp>
        <p:sp>
          <p:nvSpPr>
            <p:cNvPr id="9" name="object 9"/>
            <p:cNvSpPr/>
            <p:nvPr/>
          </p:nvSpPr>
          <p:spPr>
            <a:xfrm>
              <a:off x="1447038" y="3124961"/>
              <a:ext cx="9187180" cy="1066800"/>
            </a:xfrm>
            <a:custGeom>
              <a:avLst/>
              <a:gdLst/>
              <a:ahLst/>
              <a:cxnLst/>
              <a:rect l="l" t="t" r="r" b="b"/>
              <a:pathLst>
                <a:path w="9187180" h="1066800">
                  <a:moveTo>
                    <a:pt x="0" y="177800"/>
                  </a:moveTo>
                  <a:lnTo>
                    <a:pt x="6352" y="130542"/>
                  </a:lnTo>
                  <a:lnTo>
                    <a:pt x="24280" y="88072"/>
                  </a:lnTo>
                  <a:lnTo>
                    <a:pt x="52085" y="52085"/>
                  </a:lnTo>
                  <a:lnTo>
                    <a:pt x="88072" y="24280"/>
                  </a:lnTo>
                  <a:lnTo>
                    <a:pt x="130542" y="6352"/>
                  </a:lnTo>
                  <a:lnTo>
                    <a:pt x="177800" y="0"/>
                  </a:lnTo>
                  <a:lnTo>
                    <a:pt x="9008871" y="0"/>
                  </a:lnTo>
                  <a:lnTo>
                    <a:pt x="9056129" y="6352"/>
                  </a:lnTo>
                  <a:lnTo>
                    <a:pt x="9098599" y="24280"/>
                  </a:lnTo>
                  <a:lnTo>
                    <a:pt x="9134586" y="52085"/>
                  </a:lnTo>
                  <a:lnTo>
                    <a:pt x="9162391" y="88072"/>
                  </a:lnTo>
                  <a:lnTo>
                    <a:pt x="9180319" y="130542"/>
                  </a:lnTo>
                  <a:lnTo>
                    <a:pt x="9186671" y="177800"/>
                  </a:lnTo>
                  <a:lnTo>
                    <a:pt x="9186671" y="889000"/>
                  </a:lnTo>
                  <a:lnTo>
                    <a:pt x="9180319" y="936257"/>
                  </a:lnTo>
                  <a:lnTo>
                    <a:pt x="9162391" y="978727"/>
                  </a:lnTo>
                  <a:lnTo>
                    <a:pt x="9134586" y="1014714"/>
                  </a:lnTo>
                  <a:lnTo>
                    <a:pt x="9098599" y="1042519"/>
                  </a:lnTo>
                  <a:lnTo>
                    <a:pt x="9056129" y="1060447"/>
                  </a:lnTo>
                  <a:lnTo>
                    <a:pt x="9008871" y="1066800"/>
                  </a:lnTo>
                  <a:lnTo>
                    <a:pt x="177800" y="1066800"/>
                  </a:lnTo>
                  <a:lnTo>
                    <a:pt x="130542" y="1060447"/>
                  </a:lnTo>
                  <a:lnTo>
                    <a:pt x="88072" y="1042519"/>
                  </a:lnTo>
                  <a:lnTo>
                    <a:pt x="52085" y="1014714"/>
                  </a:lnTo>
                  <a:lnTo>
                    <a:pt x="24280" y="978727"/>
                  </a:lnTo>
                  <a:lnTo>
                    <a:pt x="6352" y="936257"/>
                  </a:lnTo>
                  <a:lnTo>
                    <a:pt x="0" y="889000"/>
                  </a:lnTo>
                  <a:lnTo>
                    <a:pt x="0" y="177800"/>
                  </a:lnTo>
                  <a:close/>
                </a:path>
              </a:pathLst>
            </a:custGeom>
            <a:ln w="19811">
              <a:solidFill>
                <a:srgbClr val="734370"/>
              </a:solidFill>
            </a:ln>
          </p:spPr>
          <p:txBody>
            <a:bodyPr wrap="square" lIns="0" tIns="0" rIns="0" bIns="0" rtlCol="0"/>
            <a:lstStyle/>
            <a:p>
              <a:endParaRPr/>
            </a:p>
          </p:txBody>
        </p:sp>
      </p:grpSp>
      <p:sp>
        <p:nvSpPr>
          <p:cNvPr id="10" name="object 10"/>
          <p:cNvSpPr txBox="1"/>
          <p:nvPr/>
        </p:nvSpPr>
        <p:spPr>
          <a:xfrm>
            <a:off x="5098541" y="3504057"/>
            <a:ext cx="188468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eXGyreAdventor"/>
                <a:cs typeface="TeXGyreAdventor"/>
              </a:rPr>
              <a:t>Non-Default</a:t>
            </a:r>
            <a:r>
              <a:rPr sz="1800" b="1" spc="-75" dirty="0">
                <a:solidFill>
                  <a:srgbClr val="FFFFFF"/>
                </a:solidFill>
                <a:latin typeface="TeXGyreAdventor"/>
                <a:cs typeface="TeXGyreAdventor"/>
              </a:rPr>
              <a:t> </a:t>
            </a:r>
            <a:r>
              <a:rPr sz="1800" b="1" spc="-5" dirty="0">
                <a:solidFill>
                  <a:srgbClr val="FFFFFF"/>
                </a:solidFill>
                <a:latin typeface="TeXGyreAdventor"/>
                <a:cs typeface="TeXGyreAdventor"/>
              </a:rPr>
              <a:t>VPC</a:t>
            </a:r>
            <a:endParaRPr sz="1800">
              <a:latin typeface="TeXGyreAdventor"/>
              <a:cs typeface="TeXGyreAdventor"/>
            </a:endParaRPr>
          </a:p>
        </p:txBody>
      </p:sp>
      <p:sp>
        <p:nvSpPr>
          <p:cNvPr id="11" name="object 11"/>
          <p:cNvSpPr txBox="1"/>
          <p:nvPr/>
        </p:nvSpPr>
        <p:spPr>
          <a:xfrm>
            <a:off x="10661650" y="570992"/>
            <a:ext cx="22225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FFFFFF"/>
                </a:solidFill>
                <a:latin typeface="TeXGyreAdventor"/>
                <a:cs typeface="TeXGyreAdventor"/>
              </a:rPr>
              <a:t>6</a:t>
            </a:r>
            <a:endParaRPr sz="2800">
              <a:latin typeface="TeXGyreAdventor"/>
              <a:cs typeface="TeXGyreAdventor"/>
            </a:endParaRPr>
          </a:p>
        </p:txBody>
      </p:sp>
      <p:sp>
        <p:nvSpPr>
          <p:cNvPr id="12" name="object 12"/>
          <p:cNvSpPr/>
          <p:nvPr/>
        </p:nvSpPr>
        <p:spPr>
          <a:xfrm>
            <a:off x="10802746" y="1537842"/>
            <a:ext cx="107950" cy="1974850"/>
          </a:xfrm>
          <a:custGeom>
            <a:avLst/>
            <a:gdLst/>
            <a:ahLst/>
            <a:cxnLst/>
            <a:rect l="l" t="t" r="r" b="b"/>
            <a:pathLst>
              <a:path w="107950" h="1974850">
                <a:moveTo>
                  <a:pt x="54355" y="0"/>
                </a:moveTo>
                <a:lnTo>
                  <a:pt x="16367" y="15748"/>
                </a:lnTo>
                <a:lnTo>
                  <a:pt x="634" y="53848"/>
                </a:lnTo>
                <a:lnTo>
                  <a:pt x="1100" y="60960"/>
                </a:lnTo>
                <a:lnTo>
                  <a:pt x="21572" y="96452"/>
                </a:lnTo>
                <a:lnTo>
                  <a:pt x="54355" y="107569"/>
                </a:lnTo>
                <a:lnTo>
                  <a:pt x="61400" y="107116"/>
                </a:lnTo>
                <a:lnTo>
                  <a:pt x="68230" y="105759"/>
                </a:lnTo>
                <a:lnTo>
                  <a:pt x="74822" y="103497"/>
                </a:lnTo>
                <a:lnTo>
                  <a:pt x="81152" y="100330"/>
                </a:lnTo>
                <a:lnTo>
                  <a:pt x="81538" y="100076"/>
                </a:lnTo>
                <a:lnTo>
                  <a:pt x="45974" y="100076"/>
                </a:lnTo>
                <a:lnTo>
                  <a:pt x="38226" y="98044"/>
                </a:lnTo>
                <a:lnTo>
                  <a:pt x="10032" y="69850"/>
                </a:lnTo>
                <a:lnTo>
                  <a:pt x="7874" y="62103"/>
                </a:lnTo>
                <a:lnTo>
                  <a:pt x="7909" y="45466"/>
                </a:lnTo>
                <a:lnTo>
                  <a:pt x="31114" y="13716"/>
                </a:lnTo>
                <a:lnTo>
                  <a:pt x="38226" y="9525"/>
                </a:lnTo>
                <a:lnTo>
                  <a:pt x="45974" y="7493"/>
                </a:lnTo>
                <a:lnTo>
                  <a:pt x="81532" y="7493"/>
                </a:lnTo>
                <a:lnTo>
                  <a:pt x="81152" y="7239"/>
                </a:lnTo>
                <a:lnTo>
                  <a:pt x="74822" y="4071"/>
                </a:lnTo>
                <a:lnTo>
                  <a:pt x="68230" y="1809"/>
                </a:lnTo>
                <a:lnTo>
                  <a:pt x="61400" y="452"/>
                </a:lnTo>
                <a:lnTo>
                  <a:pt x="54355" y="0"/>
                </a:lnTo>
                <a:close/>
              </a:path>
              <a:path w="107950" h="1974850">
                <a:moveTo>
                  <a:pt x="81532" y="7493"/>
                </a:moveTo>
                <a:lnTo>
                  <a:pt x="62610" y="7493"/>
                </a:lnTo>
                <a:lnTo>
                  <a:pt x="70357" y="9525"/>
                </a:lnTo>
                <a:lnTo>
                  <a:pt x="77470" y="13716"/>
                </a:lnTo>
                <a:lnTo>
                  <a:pt x="100710" y="45466"/>
                </a:lnTo>
                <a:lnTo>
                  <a:pt x="100710" y="62103"/>
                </a:lnTo>
                <a:lnTo>
                  <a:pt x="98678" y="69850"/>
                </a:lnTo>
                <a:lnTo>
                  <a:pt x="94487" y="76962"/>
                </a:lnTo>
                <a:lnTo>
                  <a:pt x="90297" y="84201"/>
                </a:lnTo>
                <a:lnTo>
                  <a:pt x="84708" y="89789"/>
                </a:lnTo>
                <a:lnTo>
                  <a:pt x="70357" y="98044"/>
                </a:lnTo>
                <a:lnTo>
                  <a:pt x="62610" y="100076"/>
                </a:lnTo>
                <a:lnTo>
                  <a:pt x="81538" y="100076"/>
                </a:lnTo>
                <a:lnTo>
                  <a:pt x="106140" y="67738"/>
                </a:lnTo>
                <a:lnTo>
                  <a:pt x="107950" y="53848"/>
                </a:lnTo>
                <a:lnTo>
                  <a:pt x="107497" y="46730"/>
                </a:lnTo>
                <a:lnTo>
                  <a:pt x="87030" y="11172"/>
                </a:lnTo>
                <a:lnTo>
                  <a:pt x="81532" y="7493"/>
                </a:lnTo>
                <a:close/>
              </a:path>
              <a:path w="107950" h="1974850">
                <a:moveTo>
                  <a:pt x="53975" y="25654"/>
                </a:moveTo>
                <a:lnTo>
                  <a:pt x="44196" y="25654"/>
                </a:lnTo>
                <a:lnTo>
                  <a:pt x="36575" y="28321"/>
                </a:lnTo>
                <a:lnTo>
                  <a:pt x="30987" y="33401"/>
                </a:lnTo>
                <a:lnTo>
                  <a:pt x="25400" y="38608"/>
                </a:lnTo>
                <a:lnTo>
                  <a:pt x="22605" y="45466"/>
                </a:lnTo>
                <a:lnTo>
                  <a:pt x="22605" y="60960"/>
                </a:lnTo>
                <a:lnTo>
                  <a:pt x="24892" y="66802"/>
                </a:lnTo>
                <a:lnTo>
                  <a:pt x="29336" y="71628"/>
                </a:lnTo>
                <a:lnTo>
                  <a:pt x="33654" y="76454"/>
                </a:lnTo>
                <a:lnTo>
                  <a:pt x="39624" y="79248"/>
                </a:lnTo>
                <a:lnTo>
                  <a:pt x="47117" y="80137"/>
                </a:lnTo>
                <a:lnTo>
                  <a:pt x="47117" y="70866"/>
                </a:lnTo>
                <a:lnTo>
                  <a:pt x="41528" y="69977"/>
                </a:lnTo>
                <a:lnTo>
                  <a:pt x="37337" y="68072"/>
                </a:lnTo>
                <a:lnTo>
                  <a:pt x="34544" y="65151"/>
                </a:lnTo>
                <a:lnTo>
                  <a:pt x="31750" y="62103"/>
                </a:lnTo>
                <a:lnTo>
                  <a:pt x="30352" y="58293"/>
                </a:lnTo>
                <a:lnTo>
                  <a:pt x="30352" y="48387"/>
                </a:lnTo>
                <a:lnTo>
                  <a:pt x="32384" y="43942"/>
                </a:lnTo>
                <a:lnTo>
                  <a:pt x="36322" y="40512"/>
                </a:lnTo>
                <a:lnTo>
                  <a:pt x="40385" y="37211"/>
                </a:lnTo>
                <a:lnTo>
                  <a:pt x="46227" y="35433"/>
                </a:lnTo>
                <a:lnTo>
                  <a:pt x="79913" y="35433"/>
                </a:lnTo>
                <a:lnTo>
                  <a:pt x="78104" y="33782"/>
                </a:lnTo>
                <a:lnTo>
                  <a:pt x="73388" y="30208"/>
                </a:lnTo>
                <a:lnTo>
                  <a:pt x="67802" y="27670"/>
                </a:lnTo>
                <a:lnTo>
                  <a:pt x="61335" y="26156"/>
                </a:lnTo>
                <a:lnTo>
                  <a:pt x="53975" y="25654"/>
                </a:lnTo>
                <a:close/>
              </a:path>
              <a:path w="107950" h="1974850">
                <a:moveTo>
                  <a:pt x="79913" y="35433"/>
                </a:moveTo>
                <a:lnTo>
                  <a:pt x="61722" y="35433"/>
                </a:lnTo>
                <a:lnTo>
                  <a:pt x="67691" y="37211"/>
                </a:lnTo>
                <a:lnTo>
                  <a:pt x="71881" y="40767"/>
                </a:lnTo>
                <a:lnTo>
                  <a:pt x="75946" y="44323"/>
                </a:lnTo>
                <a:lnTo>
                  <a:pt x="77977" y="48895"/>
                </a:lnTo>
                <a:lnTo>
                  <a:pt x="77977" y="59182"/>
                </a:lnTo>
                <a:lnTo>
                  <a:pt x="76961" y="62737"/>
                </a:lnTo>
                <a:lnTo>
                  <a:pt x="72898" y="68072"/>
                </a:lnTo>
                <a:lnTo>
                  <a:pt x="69850" y="69850"/>
                </a:lnTo>
                <a:lnTo>
                  <a:pt x="65785" y="70866"/>
                </a:lnTo>
                <a:lnTo>
                  <a:pt x="65785" y="80137"/>
                </a:lnTo>
                <a:lnTo>
                  <a:pt x="86741" y="45974"/>
                </a:lnTo>
                <a:lnTo>
                  <a:pt x="83947" y="39116"/>
                </a:lnTo>
                <a:lnTo>
                  <a:pt x="79913" y="35433"/>
                </a:lnTo>
                <a:close/>
              </a:path>
              <a:path w="107950" h="1974850">
                <a:moveTo>
                  <a:pt x="2539" y="148844"/>
                </a:moveTo>
                <a:lnTo>
                  <a:pt x="2539" y="217170"/>
                </a:lnTo>
                <a:lnTo>
                  <a:pt x="12192" y="217170"/>
                </a:lnTo>
                <a:lnTo>
                  <a:pt x="12192" y="170815"/>
                </a:lnTo>
                <a:lnTo>
                  <a:pt x="26261" y="170815"/>
                </a:lnTo>
                <a:lnTo>
                  <a:pt x="2539" y="148844"/>
                </a:lnTo>
                <a:close/>
              </a:path>
              <a:path w="107950" h="1974850">
                <a:moveTo>
                  <a:pt x="26261" y="170815"/>
                </a:moveTo>
                <a:lnTo>
                  <a:pt x="12192" y="170815"/>
                </a:lnTo>
                <a:lnTo>
                  <a:pt x="39243" y="195834"/>
                </a:lnTo>
                <a:lnTo>
                  <a:pt x="69976" y="215900"/>
                </a:lnTo>
                <a:lnTo>
                  <a:pt x="83693" y="215900"/>
                </a:lnTo>
                <a:lnTo>
                  <a:pt x="90804" y="212979"/>
                </a:lnTo>
                <a:lnTo>
                  <a:pt x="97967" y="206121"/>
                </a:lnTo>
                <a:lnTo>
                  <a:pt x="70993" y="206121"/>
                </a:lnTo>
                <a:lnTo>
                  <a:pt x="66801" y="204851"/>
                </a:lnTo>
                <a:lnTo>
                  <a:pt x="62737" y="202565"/>
                </a:lnTo>
                <a:lnTo>
                  <a:pt x="58674" y="200152"/>
                </a:lnTo>
                <a:lnTo>
                  <a:pt x="52450" y="195072"/>
                </a:lnTo>
                <a:lnTo>
                  <a:pt x="26261" y="170815"/>
                </a:lnTo>
                <a:close/>
              </a:path>
              <a:path w="107950" h="1974850">
                <a:moveTo>
                  <a:pt x="71754" y="151257"/>
                </a:moveTo>
                <a:lnTo>
                  <a:pt x="71754" y="160909"/>
                </a:lnTo>
                <a:lnTo>
                  <a:pt x="79501" y="161417"/>
                </a:lnTo>
                <a:lnTo>
                  <a:pt x="85471" y="163957"/>
                </a:lnTo>
                <a:lnTo>
                  <a:pt x="89788" y="168148"/>
                </a:lnTo>
                <a:lnTo>
                  <a:pt x="94106" y="172466"/>
                </a:lnTo>
                <a:lnTo>
                  <a:pt x="96266" y="177800"/>
                </a:lnTo>
                <a:lnTo>
                  <a:pt x="96266" y="190373"/>
                </a:lnTo>
                <a:lnTo>
                  <a:pt x="94233" y="195453"/>
                </a:lnTo>
                <a:lnTo>
                  <a:pt x="90170" y="199771"/>
                </a:lnTo>
                <a:lnTo>
                  <a:pt x="85978" y="203962"/>
                </a:lnTo>
                <a:lnTo>
                  <a:pt x="81152" y="206121"/>
                </a:lnTo>
                <a:lnTo>
                  <a:pt x="97967" y="206121"/>
                </a:lnTo>
                <a:lnTo>
                  <a:pt x="102743" y="201549"/>
                </a:lnTo>
                <a:lnTo>
                  <a:pt x="105791" y="194056"/>
                </a:lnTo>
                <a:lnTo>
                  <a:pt x="105791" y="184785"/>
                </a:lnTo>
                <a:lnTo>
                  <a:pt x="78851" y="152019"/>
                </a:lnTo>
                <a:lnTo>
                  <a:pt x="71754" y="151257"/>
                </a:lnTo>
                <a:close/>
              </a:path>
              <a:path w="107950" h="1974850">
                <a:moveTo>
                  <a:pt x="52831" y="226822"/>
                </a:moveTo>
                <a:lnTo>
                  <a:pt x="14731" y="234061"/>
                </a:lnTo>
                <a:lnTo>
                  <a:pt x="5587" y="243205"/>
                </a:lnTo>
                <a:lnTo>
                  <a:pt x="1777" y="248412"/>
                </a:lnTo>
                <a:lnTo>
                  <a:pt x="0" y="254254"/>
                </a:lnTo>
                <a:lnTo>
                  <a:pt x="0" y="267208"/>
                </a:lnTo>
                <a:lnTo>
                  <a:pt x="1904" y="273050"/>
                </a:lnTo>
                <a:lnTo>
                  <a:pt x="5714" y="278384"/>
                </a:lnTo>
                <a:lnTo>
                  <a:pt x="9525" y="283845"/>
                </a:lnTo>
                <a:lnTo>
                  <a:pt x="52831" y="295529"/>
                </a:lnTo>
                <a:lnTo>
                  <a:pt x="61878" y="295243"/>
                </a:lnTo>
                <a:lnTo>
                  <a:pt x="93102" y="286131"/>
                </a:lnTo>
                <a:lnTo>
                  <a:pt x="52704" y="286131"/>
                </a:lnTo>
                <a:lnTo>
                  <a:pt x="45370" y="285892"/>
                </a:lnTo>
                <a:lnTo>
                  <a:pt x="10541" y="269621"/>
                </a:lnTo>
                <a:lnTo>
                  <a:pt x="9144" y="265430"/>
                </a:lnTo>
                <a:lnTo>
                  <a:pt x="9144" y="256540"/>
                </a:lnTo>
                <a:lnTo>
                  <a:pt x="44658" y="236537"/>
                </a:lnTo>
                <a:lnTo>
                  <a:pt x="52704" y="236347"/>
                </a:lnTo>
                <a:lnTo>
                  <a:pt x="94174" y="236347"/>
                </a:lnTo>
                <a:lnTo>
                  <a:pt x="90931" y="233934"/>
                </a:lnTo>
                <a:lnTo>
                  <a:pt x="83693" y="231140"/>
                </a:lnTo>
                <a:lnTo>
                  <a:pt x="77692" y="229233"/>
                </a:lnTo>
                <a:lnTo>
                  <a:pt x="70548" y="227885"/>
                </a:lnTo>
                <a:lnTo>
                  <a:pt x="62261" y="227085"/>
                </a:lnTo>
                <a:lnTo>
                  <a:pt x="52831" y="226822"/>
                </a:lnTo>
                <a:close/>
              </a:path>
              <a:path w="107950" h="1974850">
                <a:moveTo>
                  <a:pt x="94174" y="236347"/>
                </a:moveTo>
                <a:lnTo>
                  <a:pt x="52704" y="236347"/>
                </a:lnTo>
                <a:lnTo>
                  <a:pt x="60751" y="236537"/>
                </a:lnTo>
                <a:lnTo>
                  <a:pt x="67738" y="237109"/>
                </a:lnTo>
                <a:lnTo>
                  <a:pt x="91694" y="248412"/>
                </a:lnTo>
                <a:lnTo>
                  <a:pt x="94742" y="252349"/>
                </a:lnTo>
                <a:lnTo>
                  <a:pt x="96266" y="256540"/>
                </a:lnTo>
                <a:lnTo>
                  <a:pt x="96266" y="265430"/>
                </a:lnTo>
                <a:lnTo>
                  <a:pt x="94742" y="269494"/>
                </a:lnTo>
                <a:lnTo>
                  <a:pt x="91599" y="273558"/>
                </a:lnTo>
                <a:lnTo>
                  <a:pt x="88773" y="277368"/>
                </a:lnTo>
                <a:lnTo>
                  <a:pt x="84074" y="280543"/>
                </a:lnTo>
                <a:lnTo>
                  <a:pt x="77597" y="282702"/>
                </a:lnTo>
                <a:lnTo>
                  <a:pt x="71120" y="284988"/>
                </a:lnTo>
                <a:lnTo>
                  <a:pt x="62864" y="286131"/>
                </a:lnTo>
                <a:lnTo>
                  <a:pt x="93102" y="286131"/>
                </a:lnTo>
                <a:lnTo>
                  <a:pt x="96393" y="283718"/>
                </a:lnTo>
                <a:lnTo>
                  <a:pt x="100075" y="278384"/>
                </a:lnTo>
                <a:lnTo>
                  <a:pt x="103885" y="273050"/>
                </a:lnTo>
                <a:lnTo>
                  <a:pt x="105791" y="267208"/>
                </a:lnTo>
                <a:lnTo>
                  <a:pt x="105791" y="254254"/>
                </a:lnTo>
                <a:lnTo>
                  <a:pt x="103885" y="248412"/>
                </a:lnTo>
                <a:lnTo>
                  <a:pt x="100202" y="243205"/>
                </a:lnTo>
                <a:lnTo>
                  <a:pt x="96393" y="237998"/>
                </a:lnTo>
                <a:lnTo>
                  <a:pt x="94174" y="236347"/>
                </a:lnTo>
                <a:close/>
              </a:path>
              <a:path w="107950" h="1974850">
                <a:moveTo>
                  <a:pt x="93345" y="320040"/>
                </a:moveTo>
                <a:lnTo>
                  <a:pt x="93345" y="335788"/>
                </a:lnTo>
                <a:lnTo>
                  <a:pt x="2539" y="335788"/>
                </a:lnTo>
                <a:lnTo>
                  <a:pt x="2539" y="345821"/>
                </a:lnTo>
                <a:lnTo>
                  <a:pt x="103250" y="345821"/>
                </a:lnTo>
                <a:lnTo>
                  <a:pt x="103250" y="326009"/>
                </a:lnTo>
                <a:lnTo>
                  <a:pt x="93345" y="320040"/>
                </a:lnTo>
                <a:close/>
              </a:path>
              <a:path w="107950" h="1974850">
                <a:moveTo>
                  <a:pt x="36195" y="382524"/>
                </a:moveTo>
                <a:lnTo>
                  <a:pt x="22859" y="382524"/>
                </a:lnTo>
                <a:lnTo>
                  <a:pt x="15875" y="385445"/>
                </a:lnTo>
                <a:lnTo>
                  <a:pt x="0" y="416560"/>
                </a:lnTo>
                <a:lnTo>
                  <a:pt x="670" y="424654"/>
                </a:lnTo>
                <a:lnTo>
                  <a:pt x="23622" y="450723"/>
                </a:lnTo>
                <a:lnTo>
                  <a:pt x="36956" y="450723"/>
                </a:lnTo>
                <a:lnTo>
                  <a:pt x="41909" y="449326"/>
                </a:lnTo>
                <a:lnTo>
                  <a:pt x="46227" y="446278"/>
                </a:lnTo>
                <a:lnTo>
                  <a:pt x="50546" y="443357"/>
                </a:lnTo>
                <a:lnTo>
                  <a:pt x="52751" y="440563"/>
                </a:lnTo>
                <a:lnTo>
                  <a:pt x="25400" y="440563"/>
                </a:lnTo>
                <a:lnTo>
                  <a:pt x="20320" y="438404"/>
                </a:lnTo>
                <a:lnTo>
                  <a:pt x="11683" y="429768"/>
                </a:lnTo>
                <a:lnTo>
                  <a:pt x="9525" y="423926"/>
                </a:lnTo>
                <a:lnTo>
                  <a:pt x="9525" y="411861"/>
                </a:lnTo>
                <a:lnTo>
                  <a:pt x="10413" y="407670"/>
                </a:lnTo>
                <a:lnTo>
                  <a:pt x="13970" y="400558"/>
                </a:lnTo>
                <a:lnTo>
                  <a:pt x="16509" y="397637"/>
                </a:lnTo>
                <a:lnTo>
                  <a:pt x="19811" y="395732"/>
                </a:lnTo>
                <a:lnTo>
                  <a:pt x="23113" y="393700"/>
                </a:lnTo>
                <a:lnTo>
                  <a:pt x="26543" y="392684"/>
                </a:lnTo>
                <a:lnTo>
                  <a:pt x="52358" y="392684"/>
                </a:lnTo>
                <a:lnTo>
                  <a:pt x="50292" y="390017"/>
                </a:lnTo>
                <a:lnTo>
                  <a:pt x="45720" y="387096"/>
                </a:lnTo>
                <a:lnTo>
                  <a:pt x="41275" y="384048"/>
                </a:lnTo>
                <a:lnTo>
                  <a:pt x="36195" y="382524"/>
                </a:lnTo>
                <a:close/>
              </a:path>
              <a:path w="107950" h="1974850">
                <a:moveTo>
                  <a:pt x="68072" y="431673"/>
                </a:moveTo>
                <a:lnTo>
                  <a:pt x="57784" y="431673"/>
                </a:lnTo>
                <a:lnTo>
                  <a:pt x="60325" y="436499"/>
                </a:lnTo>
                <a:lnTo>
                  <a:pt x="63500" y="440055"/>
                </a:lnTo>
                <a:lnTo>
                  <a:pt x="70611" y="444881"/>
                </a:lnTo>
                <a:lnTo>
                  <a:pt x="74675" y="446024"/>
                </a:lnTo>
                <a:lnTo>
                  <a:pt x="83820" y="446024"/>
                </a:lnTo>
                <a:lnTo>
                  <a:pt x="99832" y="435991"/>
                </a:lnTo>
                <a:lnTo>
                  <a:pt x="76707" y="435991"/>
                </a:lnTo>
                <a:lnTo>
                  <a:pt x="73913" y="435102"/>
                </a:lnTo>
                <a:lnTo>
                  <a:pt x="70993" y="433451"/>
                </a:lnTo>
                <a:lnTo>
                  <a:pt x="68199" y="431800"/>
                </a:lnTo>
                <a:close/>
              </a:path>
              <a:path w="107950" h="1974850">
                <a:moveTo>
                  <a:pt x="52358" y="392684"/>
                </a:moveTo>
                <a:lnTo>
                  <a:pt x="36195" y="392684"/>
                </a:lnTo>
                <a:lnTo>
                  <a:pt x="41401" y="394970"/>
                </a:lnTo>
                <a:lnTo>
                  <a:pt x="45974" y="399669"/>
                </a:lnTo>
                <a:lnTo>
                  <a:pt x="50419" y="404368"/>
                </a:lnTo>
                <a:lnTo>
                  <a:pt x="52704" y="410210"/>
                </a:lnTo>
                <a:lnTo>
                  <a:pt x="52604" y="423926"/>
                </a:lnTo>
                <a:lnTo>
                  <a:pt x="50546" y="429133"/>
                </a:lnTo>
                <a:lnTo>
                  <a:pt x="46227" y="433705"/>
                </a:lnTo>
                <a:lnTo>
                  <a:pt x="41782" y="438277"/>
                </a:lnTo>
                <a:lnTo>
                  <a:pt x="36829" y="440563"/>
                </a:lnTo>
                <a:lnTo>
                  <a:pt x="52751" y="440563"/>
                </a:lnTo>
                <a:lnTo>
                  <a:pt x="54355" y="438531"/>
                </a:lnTo>
                <a:lnTo>
                  <a:pt x="57784" y="431673"/>
                </a:lnTo>
                <a:lnTo>
                  <a:pt x="68072" y="431673"/>
                </a:lnTo>
                <a:lnTo>
                  <a:pt x="65912" y="429514"/>
                </a:lnTo>
                <a:lnTo>
                  <a:pt x="64261" y="426466"/>
                </a:lnTo>
                <a:lnTo>
                  <a:pt x="62610" y="423545"/>
                </a:lnTo>
                <a:lnTo>
                  <a:pt x="61849" y="420370"/>
                </a:lnTo>
                <a:lnTo>
                  <a:pt x="61849" y="411861"/>
                </a:lnTo>
                <a:lnTo>
                  <a:pt x="63626" y="407289"/>
                </a:lnTo>
                <a:lnTo>
                  <a:pt x="67309" y="403352"/>
                </a:lnTo>
                <a:lnTo>
                  <a:pt x="68457" y="402082"/>
                </a:lnTo>
                <a:lnTo>
                  <a:pt x="57784" y="402082"/>
                </a:lnTo>
                <a:lnTo>
                  <a:pt x="54228" y="395097"/>
                </a:lnTo>
                <a:lnTo>
                  <a:pt x="52358" y="392684"/>
                </a:lnTo>
                <a:close/>
              </a:path>
              <a:path w="107950" h="1974850">
                <a:moveTo>
                  <a:pt x="99822" y="397510"/>
                </a:moveTo>
                <a:lnTo>
                  <a:pt x="83947" y="397510"/>
                </a:lnTo>
                <a:lnTo>
                  <a:pt x="87756" y="399288"/>
                </a:lnTo>
                <a:lnTo>
                  <a:pt x="91058" y="402971"/>
                </a:lnTo>
                <a:lnTo>
                  <a:pt x="94360" y="406527"/>
                </a:lnTo>
                <a:lnTo>
                  <a:pt x="96011" y="411099"/>
                </a:lnTo>
                <a:lnTo>
                  <a:pt x="96011" y="422910"/>
                </a:lnTo>
                <a:lnTo>
                  <a:pt x="94233" y="427736"/>
                </a:lnTo>
                <a:lnTo>
                  <a:pt x="87375" y="434340"/>
                </a:lnTo>
                <a:lnTo>
                  <a:pt x="83693" y="435991"/>
                </a:lnTo>
                <a:lnTo>
                  <a:pt x="99832" y="435991"/>
                </a:lnTo>
                <a:lnTo>
                  <a:pt x="104521" y="427355"/>
                </a:lnTo>
                <a:lnTo>
                  <a:pt x="105791" y="422402"/>
                </a:lnTo>
                <a:lnTo>
                  <a:pt x="105791" y="411861"/>
                </a:lnTo>
                <a:lnTo>
                  <a:pt x="104521" y="406781"/>
                </a:lnTo>
                <a:lnTo>
                  <a:pt x="102046" y="402082"/>
                </a:lnTo>
                <a:lnTo>
                  <a:pt x="99822" y="397510"/>
                </a:lnTo>
                <a:close/>
              </a:path>
              <a:path w="107950" h="1974850">
                <a:moveTo>
                  <a:pt x="83820" y="387350"/>
                </a:moveTo>
                <a:lnTo>
                  <a:pt x="75183" y="387350"/>
                </a:lnTo>
                <a:lnTo>
                  <a:pt x="71120" y="388620"/>
                </a:lnTo>
                <a:lnTo>
                  <a:pt x="63500" y="393446"/>
                </a:lnTo>
                <a:lnTo>
                  <a:pt x="60325" y="397256"/>
                </a:lnTo>
                <a:lnTo>
                  <a:pt x="57784" y="402082"/>
                </a:lnTo>
                <a:lnTo>
                  <a:pt x="68457" y="402082"/>
                </a:lnTo>
                <a:lnTo>
                  <a:pt x="70866" y="399415"/>
                </a:lnTo>
                <a:lnTo>
                  <a:pt x="74929" y="397510"/>
                </a:lnTo>
                <a:lnTo>
                  <a:pt x="99822" y="397510"/>
                </a:lnTo>
                <a:lnTo>
                  <a:pt x="96520" y="393954"/>
                </a:lnTo>
                <a:lnTo>
                  <a:pt x="88137" y="388620"/>
                </a:lnTo>
                <a:lnTo>
                  <a:pt x="83820" y="387350"/>
                </a:lnTo>
                <a:close/>
              </a:path>
              <a:path w="107950" h="1974850">
                <a:moveTo>
                  <a:pt x="53467" y="501269"/>
                </a:moveTo>
                <a:lnTo>
                  <a:pt x="17525" y="514096"/>
                </a:lnTo>
                <a:lnTo>
                  <a:pt x="11" y="555625"/>
                </a:lnTo>
                <a:lnTo>
                  <a:pt x="31" y="556387"/>
                </a:lnTo>
                <a:lnTo>
                  <a:pt x="13716" y="594614"/>
                </a:lnTo>
                <a:lnTo>
                  <a:pt x="20066" y="599694"/>
                </a:lnTo>
                <a:lnTo>
                  <a:pt x="26034" y="591693"/>
                </a:lnTo>
                <a:lnTo>
                  <a:pt x="18794" y="584194"/>
                </a:lnTo>
                <a:lnTo>
                  <a:pt x="13636" y="575802"/>
                </a:lnTo>
                <a:lnTo>
                  <a:pt x="10550" y="566529"/>
                </a:lnTo>
                <a:lnTo>
                  <a:pt x="9525" y="556387"/>
                </a:lnTo>
                <a:lnTo>
                  <a:pt x="10288" y="547173"/>
                </a:lnTo>
                <a:lnTo>
                  <a:pt x="35686" y="515016"/>
                </a:lnTo>
                <a:lnTo>
                  <a:pt x="52577" y="511810"/>
                </a:lnTo>
                <a:lnTo>
                  <a:pt x="84835" y="511810"/>
                </a:lnTo>
                <a:lnTo>
                  <a:pt x="82702" y="510002"/>
                </a:lnTo>
                <a:lnTo>
                  <a:pt x="73834" y="505158"/>
                </a:lnTo>
                <a:lnTo>
                  <a:pt x="64085" y="502243"/>
                </a:lnTo>
                <a:lnTo>
                  <a:pt x="53467" y="501269"/>
                </a:lnTo>
                <a:close/>
              </a:path>
              <a:path w="107950" h="1974850">
                <a:moveTo>
                  <a:pt x="84835" y="511810"/>
                </a:moveTo>
                <a:lnTo>
                  <a:pt x="60705" y="511810"/>
                </a:lnTo>
                <a:lnTo>
                  <a:pt x="67945" y="513715"/>
                </a:lnTo>
                <a:lnTo>
                  <a:pt x="74549" y="517525"/>
                </a:lnTo>
                <a:lnTo>
                  <a:pt x="81025" y="521335"/>
                </a:lnTo>
                <a:lnTo>
                  <a:pt x="86232" y="526542"/>
                </a:lnTo>
                <a:lnTo>
                  <a:pt x="93852" y="540258"/>
                </a:lnTo>
                <a:lnTo>
                  <a:pt x="95884" y="547751"/>
                </a:lnTo>
                <a:lnTo>
                  <a:pt x="95884" y="563118"/>
                </a:lnTo>
                <a:lnTo>
                  <a:pt x="94360" y="569849"/>
                </a:lnTo>
                <a:lnTo>
                  <a:pt x="91439" y="575945"/>
                </a:lnTo>
                <a:lnTo>
                  <a:pt x="88519" y="582168"/>
                </a:lnTo>
                <a:lnTo>
                  <a:pt x="84200" y="587375"/>
                </a:lnTo>
                <a:lnTo>
                  <a:pt x="78485" y="591693"/>
                </a:lnTo>
                <a:lnTo>
                  <a:pt x="84581" y="599694"/>
                </a:lnTo>
                <a:lnTo>
                  <a:pt x="105435" y="562504"/>
                </a:lnTo>
                <a:lnTo>
                  <a:pt x="105791" y="555625"/>
                </a:lnTo>
                <a:lnTo>
                  <a:pt x="104840" y="544409"/>
                </a:lnTo>
                <a:lnTo>
                  <a:pt x="101996" y="534193"/>
                </a:lnTo>
                <a:lnTo>
                  <a:pt x="97272" y="524978"/>
                </a:lnTo>
                <a:lnTo>
                  <a:pt x="90677" y="516763"/>
                </a:lnTo>
                <a:lnTo>
                  <a:pt x="84835" y="511810"/>
                </a:lnTo>
                <a:close/>
              </a:path>
              <a:path w="107950" h="1974850">
                <a:moveTo>
                  <a:pt x="103250" y="681355"/>
                </a:moveTo>
                <a:lnTo>
                  <a:pt x="2539" y="681355"/>
                </a:lnTo>
                <a:lnTo>
                  <a:pt x="2539" y="691515"/>
                </a:lnTo>
                <a:lnTo>
                  <a:pt x="103250" y="691515"/>
                </a:lnTo>
                <a:lnTo>
                  <a:pt x="103250" y="681355"/>
                </a:lnTo>
                <a:close/>
              </a:path>
              <a:path w="107950" h="1974850">
                <a:moveTo>
                  <a:pt x="60959" y="630174"/>
                </a:moveTo>
                <a:lnTo>
                  <a:pt x="51180" y="630174"/>
                </a:lnTo>
                <a:lnTo>
                  <a:pt x="51180" y="681355"/>
                </a:lnTo>
                <a:lnTo>
                  <a:pt x="60959" y="681355"/>
                </a:lnTo>
                <a:lnTo>
                  <a:pt x="60959" y="630174"/>
                </a:lnTo>
                <a:close/>
              </a:path>
              <a:path w="107950" h="1974850">
                <a:moveTo>
                  <a:pt x="103250" y="620014"/>
                </a:moveTo>
                <a:lnTo>
                  <a:pt x="2539" y="620014"/>
                </a:lnTo>
                <a:lnTo>
                  <a:pt x="2539" y="630174"/>
                </a:lnTo>
                <a:lnTo>
                  <a:pt x="103250" y="630174"/>
                </a:lnTo>
                <a:lnTo>
                  <a:pt x="103250" y="620014"/>
                </a:lnTo>
                <a:close/>
              </a:path>
              <a:path w="107950" h="1974850">
                <a:moveTo>
                  <a:pt x="2539" y="707263"/>
                </a:moveTo>
                <a:lnTo>
                  <a:pt x="2539" y="718566"/>
                </a:lnTo>
                <a:lnTo>
                  <a:pt x="35686" y="734187"/>
                </a:lnTo>
                <a:lnTo>
                  <a:pt x="35686" y="777621"/>
                </a:lnTo>
                <a:lnTo>
                  <a:pt x="2539" y="793496"/>
                </a:lnTo>
                <a:lnTo>
                  <a:pt x="2539" y="804291"/>
                </a:lnTo>
                <a:lnTo>
                  <a:pt x="68954" y="773303"/>
                </a:lnTo>
                <a:lnTo>
                  <a:pt x="45338" y="773303"/>
                </a:lnTo>
                <a:lnTo>
                  <a:pt x="45338" y="738886"/>
                </a:lnTo>
                <a:lnTo>
                  <a:pt x="69412" y="738886"/>
                </a:lnTo>
                <a:lnTo>
                  <a:pt x="2539" y="707263"/>
                </a:lnTo>
                <a:close/>
              </a:path>
              <a:path w="107950" h="1974850">
                <a:moveTo>
                  <a:pt x="69412" y="738886"/>
                </a:moveTo>
                <a:lnTo>
                  <a:pt x="45338" y="738886"/>
                </a:lnTo>
                <a:lnTo>
                  <a:pt x="81787" y="756031"/>
                </a:lnTo>
                <a:lnTo>
                  <a:pt x="45338" y="773303"/>
                </a:lnTo>
                <a:lnTo>
                  <a:pt x="68954" y="773303"/>
                </a:lnTo>
                <a:lnTo>
                  <a:pt x="103250" y="757301"/>
                </a:lnTo>
                <a:lnTo>
                  <a:pt x="103250" y="754888"/>
                </a:lnTo>
                <a:lnTo>
                  <a:pt x="69412" y="738886"/>
                </a:lnTo>
                <a:close/>
              </a:path>
              <a:path w="107950" h="1974850">
                <a:moveTo>
                  <a:pt x="103250" y="815340"/>
                </a:moveTo>
                <a:lnTo>
                  <a:pt x="2539" y="815340"/>
                </a:lnTo>
                <a:lnTo>
                  <a:pt x="2539" y="825373"/>
                </a:lnTo>
                <a:lnTo>
                  <a:pt x="103250" y="825373"/>
                </a:lnTo>
                <a:lnTo>
                  <a:pt x="103250" y="815340"/>
                </a:lnTo>
                <a:close/>
              </a:path>
              <a:path w="107950" h="1974850">
                <a:moveTo>
                  <a:pt x="103250" y="841883"/>
                </a:moveTo>
                <a:lnTo>
                  <a:pt x="93345" y="841883"/>
                </a:lnTo>
                <a:lnTo>
                  <a:pt x="93345" y="864362"/>
                </a:lnTo>
                <a:lnTo>
                  <a:pt x="2539" y="864362"/>
                </a:lnTo>
                <a:lnTo>
                  <a:pt x="2539" y="874522"/>
                </a:lnTo>
                <a:lnTo>
                  <a:pt x="93345" y="874522"/>
                </a:lnTo>
                <a:lnTo>
                  <a:pt x="93345" y="897001"/>
                </a:lnTo>
                <a:lnTo>
                  <a:pt x="103250" y="897001"/>
                </a:lnTo>
                <a:lnTo>
                  <a:pt x="103250" y="841883"/>
                </a:lnTo>
                <a:close/>
              </a:path>
              <a:path w="107950" h="1974850">
                <a:moveTo>
                  <a:pt x="2539" y="902335"/>
                </a:moveTo>
                <a:lnTo>
                  <a:pt x="2539" y="913638"/>
                </a:lnTo>
                <a:lnTo>
                  <a:pt x="35686" y="929259"/>
                </a:lnTo>
                <a:lnTo>
                  <a:pt x="35686" y="972693"/>
                </a:lnTo>
                <a:lnTo>
                  <a:pt x="2539" y="988568"/>
                </a:lnTo>
                <a:lnTo>
                  <a:pt x="2539" y="999363"/>
                </a:lnTo>
                <a:lnTo>
                  <a:pt x="68954" y="968375"/>
                </a:lnTo>
                <a:lnTo>
                  <a:pt x="45338" y="968375"/>
                </a:lnTo>
                <a:lnTo>
                  <a:pt x="45338" y="933958"/>
                </a:lnTo>
                <a:lnTo>
                  <a:pt x="69412" y="933958"/>
                </a:lnTo>
                <a:lnTo>
                  <a:pt x="2539" y="902335"/>
                </a:lnTo>
                <a:close/>
              </a:path>
              <a:path w="107950" h="1974850">
                <a:moveTo>
                  <a:pt x="69412" y="933958"/>
                </a:moveTo>
                <a:lnTo>
                  <a:pt x="45338" y="933958"/>
                </a:lnTo>
                <a:lnTo>
                  <a:pt x="81787" y="951103"/>
                </a:lnTo>
                <a:lnTo>
                  <a:pt x="45338" y="968375"/>
                </a:lnTo>
                <a:lnTo>
                  <a:pt x="68954" y="968375"/>
                </a:lnTo>
                <a:lnTo>
                  <a:pt x="103250" y="952373"/>
                </a:lnTo>
                <a:lnTo>
                  <a:pt x="103250" y="949960"/>
                </a:lnTo>
                <a:lnTo>
                  <a:pt x="69412" y="933958"/>
                </a:lnTo>
                <a:close/>
              </a:path>
              <a:path w="107950" h="1974850">
                <a:moveTo>
                  <a:pt x="103250" y="1011936"/>
                </a:moveTo>
                <a:lnTo>
                  <a:pt x="2539" y="1011936"/>
                </a:lnTo>
                <a:lnTo>
                  <a:pt x="2539" y="1022350"/>
                </a:lnTo>
                <a:lnTo>
                  <a:pt x="78739" y="1022350"/>
                </a:lnTo>
                <a:lnTo>
                  <a:pt x="2539" y="1088771"/>
                </a:lnTo>
                <a:lnTo>
                  <a:pt x="2539" y="1091057"/>
                </a:lnTo>
                <a:lnTo>
                  <a:pt x="103250" y="1091057"/>
                </a:lnTo>
                <a:lnTo>
                  <a:pt x="103250" y="1081151"/>
                </a:lnTo>
                <a:lnTo>
                  <a:pt x="26034" y="1081151"/>
                </a:lnTo>
                <a:lnTo>
                  <a:pt x="103250" y="1014095"/>
                </a:lnTo>
                <a:lnTo>
                  <a:pt x="103250" y="1011936"/>
                </a:lnTo>
                <a:close/>
              </a:path>
              <a:path w="107950" h="1974850">
                <a:moveTo>
                  <a:pt x="103250" y="1107567"/>
                </a:moveTo>
                <a:lnTo>
                  <a:pt x="50673" y="1140079"/>
                </a:lnTo>
                <a:lnTo>
                  <a:pt x="2539" y="1140079"/>
                </a:lnTo>
                <a:lnTo>
                  <a:pt x="2539" y="1149985"/>
                </a:lnTo>
                <a:lnTo>
                  <a:pt x="50673" y="1149985"/>
                </a:lnTo>
                <a:lnTo>
                  <a:pt x="103250" y="1181862"/>
                </a:lnTo>
                <a:lnTo>
                  <a:pt x="103250" y="1170305"/>
                </a:lnTo>
                <a:lnTo>
                  <a:pt x="61722" y="1144905"/>
                </a:lnTo>
                <a:lnTo>
                  <a:pt x="103250" y="1119124"/>
                </a:lnTo>
                <a:lnTo>
                  <a:pt x="103250" y="1107567"/>
                </a:lnTo>
                <a:close/>
              </a:path>
              <a:path w="107950" h="1974850">
                <a:moveTo>
                  <a:pt x="2539" y="1188847"/>
                </a:moveTo>
                <a:lnTo>
                  <a:pt x="2539" y="1200150"/>
                </a:lnTo>
                <a:lnTo>
                  <a:pt x="35686" y="1215771"/>
                </a:lnTo>
                <a:lnTo>
                  <a:pt x="35686" y="1259205"/>
                </a:lnTo>
                <a:lnTo>
                  <a:pt x="2539" y="1275080"/>
                </a:lnTo>
                <a:lnTo>
                  <a:pt x="2539" y="1285875"/>
                </a:lnTo>
                <a:lnTo>
                  <a:pt x="68954" y="1254887"/>
                </a:lnTo>
                <a:lnTo>
                  <a:pt x="45338" y="1254887"/>
                </a:lnTo>
                <a:lnTo>
                  <a:pt x="45338" y="1220470"/>
                </a:lnTo>
                <a:lnTo>
                  <a:pt x="69412" y="1220470"/>
                </a:lnTo>
                <a:lnTo>
                  <a:pt x="2539" y="1188847"/>
                </a:lnTo>
                <a:close/>
              </a:path>
              <a:path w="107950" h="1974850">
                <a:moveTo>
                  <a:pt x="69412" y="1220470"/>
                </a:moveTo>
                <a:lnTo>
                  <a:pt x="45338" y="1220470"/>
                </a:lnTo>
                <a:lnTo>
                  <a:pt x="81787" y="1237615"/>
                </a:lnTo>
                <a:lnTo>
                  <a:pt x="45338" y="1254887"/>
                </a:lnTo>
                <a:lnTo>
                  <a:pt x="68954" y="1254887"/>
                </a:lnTo>
                <a:lnTo>
                  <a:pt x="103250" y="1238885"/>
                </a:lnTo>
                <a:lnTo>
                  <a:pt x="103250" y="1236472"/>
                </a:lnTo>
                <a:lnTo>
                  <a:pt x="69412" y="1220470"/>
                </a:lnTo>
                <a:close/>
              </a:path>
              <a:path w="107950" h="1974850">
                <a:moveTo>
                  <a:pt x="52958" y="1335278"/>
                </a:moveTo>
                <a:lnTo>
                  <a:pt x="10715" y="1356685"/>
                </a:lnTo>
                <a:lnTo>
                  <a:pt x="19" y="1392301"/>
                </a:lnTo>
                <a:lnTo>
                  <a:pt x="857" y="1402978"/>
                </a:lnTo>
                <a:lnTo>
                  <a:pt x="29829" y="1439100"/>
                </a:lnTo>
                <a:lnTo>
                  <a:pt x="50800" y="1442593"/>
                </a:lnTo>
                <a:lnTo>
                  <a:pt x="50800" y="1431290"/>
                </a:lnTo>
                <a:lnTo>
                  <a:pt x="41021" y="1431290"/>
                </a:lnTo>
                <a:lnTo>
                  <a:pt x="34379" y="1429787"/>
                </a:lnTo>
                <a:lnTo>
                  <a:pt x="10072" y="1399801"/>
                </a:lnTo>
                <a:lnTo>
                  <a:pt x="9525" y="1392301"/>
                </a:lnTo>
                <a:lnTo>
                  <a:pt x="9525" y="1383792"/>
                </a:lnTo>
                <a:lnTo>
                  <a:pt x="38353" y="1347851"/>
                </a:lnTo>
                <a:lnTo>
                  <a:pt x="45593" y="1345819"/>
                </a:lnTo>
                <a:lnTo>
                  <a:pt x="84486" y="1345819"/>
                </a:lnTo>
                <a:lnTo>
                  <a:pt x="79501" y="1342517"/>
                </a:lnTo>
                <a:lnTo>
                  <a:pt x="73265" y="1339349"/>
                </a:lnTo>
                <a:lnTo>
                  <a:pt x="66754" y="1337087"/>
                </a:lnTo>
                <a:lnTo>
                  <a:pt x="59981" y="1335730"/>
                </a:lnTo>
                <a:lnTo>
                  <a:pt x="52958" y="1335278"/>
                </a:lnTo>
                <a:close/>
              </a:path>
              <a:path w="107950" h="1974850">
                <a:moveTo>
                  <a:pt x="84486" y="1345819"/>
                </a:moveTo>
                <a:lnTo>
                  <a:pt x="60451" y="1345819"/>
                </a:lnTo>
                <a:lnTo>
                  <a:pt x="67563" y="1347851"/>
                </a:lnTo>
                <a:lnTo>
                  <a:pt x="74168" y="1351661"/>
                </a:lnTo>
                <a:lnTo>
                  <a:pt x="80772" y="1355598"/>
                </a:lnTo>
                <a:lnTo>
                  <a:pt x="86105" y="1361186"/>
                </a:lnTo>
                <a:lnTo>
                  <a:pt x="90197" y="1368806"/>
                </a:lnTo>
                <a:lnTo>
                  <a:pt x="93852" y="1375410"/>
                </a:lnTo>
                <a:lnTo>
                  <a:pt x="95707" y="1382829"/>
                </a:lnTo>
                <a:lnTo>
                  <a:pt x="95757" y="1397254"/>
                </a:lnTo>
                <a:lnTo>
                  <a:pt x="94360" y="1403731"/>
                </a:lnTo>
                <a:lnTo>
                  <a:pt x="91439" y="1410462"/>
                </a:lnTo>
                <a:lnTo>
                  <a:pt x="88646" y="1417066"/>
                </a:lnTo>
                <a:lnTo>
                  <a:pt x="84454" y="1423289"/>
                </a:lnTo>
                <a:lnTo>
                  <a:pt x="78867" y="1428877"/>
                </a:lnTo>
                <a:lnTo>
                  <a:pt x="86359" y="1436624"/>
                </a:lnTo>
                <a:lnTo>
                  <a:pt x="105743" y="1399286"/>
                </a:lnTo>
                <a:lnTo>
                  <a:pt x="105791" y="1390523"/>
                </a:lnTo>
                <a:lnTo>
                  <a:pt x="105360" y="1382829"/>
                </a:lnTo>
                <a:lnTo>
                  <a:pt x="85357" y="1346396"/>
                </a:lnTo>
                <a:lnTo>
                  <a:pt x="84486" y="1345819"/>
                </a:lnTo>
                <a:close/>
              </a:path>
              <a:path w="107950" h="1974850">
                <a:moveTo>
                  <a:pt x="50800" y="1399286"/>
                </a:moveTo>
                <a:lnTo>
                  <a:pt x="41021" y="1399286"/>
                </a:lnTo>
                <a:lnTo>
                  <a:pt x="41021" y="1431290"/>
                </a:lnTo>
                <a:lnTo>
                  <a:pt x="50800" y="1431290"/>
                </a:lnTo>
                <a:lnTo>
                  <a:pt x="50800" y="1399286"/>
                </a:lnTo>
                <a:close/>
              </a:path>
              <a:path w="107950" h="1974850">
                <a:moveTo>
                  <a:pt x="2539" y="1452499"/>
                </a:moveTo>
                <a:lnTo>
                  <a:pt x="2539" y="1463802"/>
                </a:lnTo>
                <a:lnTo>
                  <a:pt x="35686" y="1479423"/>
                </a:lnTo>
                <a:lnTo>
                  <a:pt x="35686" y="1522857"/>
                </a:lnTo>
                <a:lnTo>
                  <a:pt x="2539" y="1538732"/>
                </a:lnTo>
                <a:lnTo>
                  <a:pt x="2539" y="1549527"/>
                </a:lnTo>
                <a:lnTo>
                  <a:pt x="68954" y="1518539"/>
                </a:lnTo>
                <a:lnTo>
                  <a:pt x="45338" y="1518539"/>
                </a:lnTo>
                <a:lnTo>
                  <a:pt x="45338" y="1484122"/>
                </a:lnTo>
                <a:lnTo>
                  <a:pt x="69412" y="1484122"/>
                </a:lnTo>
                <a:lnTo>
                  <a:pt x="2539" y="1452499"/>
                </a:lnTo>
                <a:close/>
              </a:path>
              <a:path w="107950" h="1974850">
                <a:moveTo>
                  <a:pt x="69412" y="1484122"/>
                </a:moveTo>
                <a:lnTo>
                  <a:pt x="45338" y="1484122"/>
                </a:lnTo>
                <a:lnTo>
                  <a:pt x="81787" y="1501267"/>
                </a:lnTo>
                <a:lnTo>
                  <a:pt x="45338" y="1518539"/>
                </a:lnTo>
                <a:lnTo>
                  <a:pt x="68954" y="1518539"/>
                </a:lnTo>
                <a:lnTo>
                  <a:pt x="103250" y="1502537"/>
                </a:lnTo>
                <a:lnTo>
                  <a:pt x="103250" y="1500124"/>
                </a:lnTo>
                <a:lnTo>
                  <a:pt x="69412" y="1484122"/>
                </a:lnTo>
                <a:close/>
              </a:path>
              <a:path w="107950" h="1974850">
                <a:moveTo>
                  <a:pt x="2539" y="1553083"/>
                </a:moveTo>
                <a:lnTo>
                  <a:pt x="2539" y="1564386"/>
                </a:lnTo>
                <a:lnTo>
                  <a:pt x="35686" y="1580007"/>
                </a:lnTo>
                <a:lnTo>
                  <a:pt x="35686" y="1623441"/>
                </a:lnTo>
                <a:lnTo>
                  <a:pt x="2539" y="1639316"/>
                </a:lnTo>
                <a:lnTo>
                  <a:pt x="2539" y="1650111"/>
                </a:lnTo>
                <a:lnTo>
                  <a:pt x="68954" y="1619123"/>
                </a:lnTo>
                <a:lnTo>
                  <a:pt x="45338" y="1619123"/>
                </a:lnTo>
                <a:lnTo>
                  <a:pt x="45338" y="1584706"/>
                </a:lnTo>
                <a:lnTo>
                  <a:pt x="69412" y="1584706"/>
                </a:lnTo>
                <a:lnTo>
                  <a:pt x="2539" y="1553083"/>
                </a:lnTo>
                <a:close/>
              </a:path>
              <a:path w="107950" h="1974850">
                <a:moveTo>
                  <a:pt x="69412" y="1584706"/>
                </a:moveTo>
                <a:lnTo>
                  <a:pt x="45338" y="1584706"/>
                </a:lnTo>
                <a:lnTo>
                  <a:pt x="81787" y="1601851"/>
                </a:lnTo>
                <a:lnTo>
                  <a:pt x="45338" y="1619123"/>
                </a:lnTo>
                <a:lnTo>
                  <a:pt x="68954" y="1619123"/>
                </a:lnTo>
                <a:lnTo>
                  <a:pt x="103250" y="1603121"/>
                </a:lnTo>
                <a:lnTo>
                  <a:pt x="103250" y="1600708"/>
                </a:lnTo>
                <a:lnTo>
                  <a:pt x="69412" y="1584706"/>
                </a:lnTo>
                <a:close/>
              </a:path>
              <a:path w="107950" h="1974850">
                <a:moveTo>
                  <a:pt x="10668" y="1656207"/>
                </a:moveTo>
                <a:lnTo>
                  <a:pt x="6730" y="1661033"/>
                </a:lnTo>
                <a:lnTo>
                  <a:pt x="3936" y="1665478"/>
                </a:lnTo>
                <a:lnTo>
                  <a:pt x="2412" y="1669415"/>
                </a:lnTo>
                <a:lnTo>
                  <a:pt x="761" y="1673352"/>
                </a:lnTo>
                <a:lnTo>
                  <a:pt x="49" y="1677035"/>
                </a:lnTo>
                <a:lnTo>
                  <a:pt x="35" y="1686941"/>
                </a:lnTo>
                <a:lnTo>
                  <a:pt x="1270" y="1691386"/>
                </a:lnTo>
                <a:lnTo>
                  <a:pt x="3682" y="1695196"/>
                </a:lnTo>
                <a:lnTo>
                  <a:pt x="6096" y="1698879"/>
                </a:lnTo>
                <a:lnTo>
                  <a:pt x="9398" y="1701673"/>
                </a:lnTo>
                <a:lnTo>
                  <a:pt x="13461" y="1703197"/>
                </a:lnTo>
                <a:lnTo>
                  <a:pt x="17525" y="1704848"/>
                </a:lnTo>
                <a:lnTo>
                  <a:pt x="24764" y="1705737"/>
                </a:lnTo>
                <a:lnTo>
                  <a:pt x="103250" y="1705737"/>
                </a:lnTo>
                <a:lnTo>
                  <a:pt x="103250" y="1695577"/>
                </a:lnTo>
                <a:lnTo>
                  <a:pt x="27304" y="1695577"/>
                </a:lnTo>
                <a:lnTo>
                  <a:pt x="21717" y="1695196"/>
                </a:lnTo>
                <a:lnTo>
                  <a:pt x="18923" y="1694180"/>
                </a:lnTo>
                <a:lnTo>
                  <a:pt x="16001" y="1693291"/>
                </a:lnTo>
                <a:lnTo>
                  <a:pt x="13716" y="1691640"/>
                </a:lnTo>
                <a:lnTo>
                  <a:pt x="11937" y="1689227"/>
                </a:lnTo>
                <a:lnTo>
                  <a:pt x="10286" y="1686941"/>
                </a:lnTo>
                <a:lnTo>
                  <a:pt x="9398" y="1684274"/>
                </a:lnTo>
                <a:lnTo>
                  <a:pt x="9398" y="1679194"/>
                </a:lnTo>
                <a:lnTo>
                  <a:pt x="9905" y="1677035"/>
                </a:lnTo>
                <a:lnTo>
                  <a:pt x="10922" y="1674749"/>
                </a:lnTo>
                <a:lnTo>
                  <a:pt x="12319" y="1671193"/>
                </a:lnTo>
                <a:lnTo>
                  <a:pt x="14985" y="1666875"/>
                </a:lnTo>
                <a:lnTo>
                  <a:pt x="18669" y="1661541"/>
                </a:lnTo>
                <a:lnTo>
                  <a:pt x="10668" y="1656207"/>
                </a:lnTo>
                <a:close/>
              </a:path>
              <a:path w="107950" h="1974850">
                <a:moveTo>
                  <a:pt x="103250" y="1729994"/>
                </a:moveTo>
                <a:lnTo>
                  <a:pt x="32257" y="1729994"/>
                </a:lnTo>
                <a:lnTo>
                  <a:pt x="25146" y="1730629"/>
                </a:lnTo>
                <a:lnTo>
                  <a:pt x="21208" y="1731899"/>
                </a:lnTo>
                <a:lnTo>
                  <a:pt x="14858" y="1733804"/>
                </a:lnTo>
                <a:lnTo>
                  <a:pt x="9651" y="1737741"/>
                </a:lnTo>
                <a:lnTo>
                  <a:pt x="5842" y="1743456"/>
                </a:lnTo>
                <a:lnTo>
                  <a:pt x="1904" y="1749298"/>
                </a:lnTo>
                <a:lnTo>
                  <a:pt x="34" y="1756156"/>
                </a:lnTo>
                <a:lnTo>
                  <a:pt x="0" y="1771904"/>
                </a:lnTo>
                <a:lnTo>
                  <a:pt x="2031" y="1778254"/>
                </a:lnTo>
                <a:lnTo>
                  <a:pt x="10286" y="1788795"/>
                </a:lnTo>
                <a:lnTo>
                  <a:pt x="15112" y="1792351"/>
                </a:lnTo>
                <a:lnTo>
                  <a:pt x="20574" y="1794002"/>
                </a:lnTo>
                <a:lnTo>
                  <a:pt x="26161" y="1795780"/>
                </a:lnTo>
                <a:lnTo>
                  <a:pt x="33400" y="1796669"/>
                </a:lnTo>
                <a:lnTo>
                  <a:pt x="103250" y="1796669"/>
                </a:lnTo>
                <a:lnTo>
                  <a:pt x="103250" y="1786636"/>
                </a:lnTo>
                <a:lnTo>
                  <a:pt x="34544" y="1786636"/>
                </a:lnTo>
                <a:lnTo>
                  <a:pt x="29209" y="1786255"/>
                </a:lnTo>
                <a:lnTo>
                  <a:pt x="9525" y="1767205"/>
                </a:lnTo>
                <a:lnTo>
                  <a:pt x="9525" y="1759966"/>
                </a:lnTo>
                <a:lnTo>
                  <a:pt x="10413" y="1756156"/>
                </a:lnTo>
                <a:lnTo>
                  <a:pt x="12319" y="1752346"/>
                </a:lnTo>
                <a:lnTo>
                  <a:pt x="14097" y="1748663"/>
                </a:lnTo>
                <a:lnTo>
                  <a:pt x="28955" y="1740535"/>
                </a:lnTo>
                <a:lnTo>
                  <a:pt x="30733" y="1740281"/>
                </a:lnTo>
                <a:lnTo>
                  <a:pt x="35178" y="1740027"/>
                </a:lnTo>
                <a:lnTo>
                  <a:pt x="103250" y="1740027"/>
                </a:lnTo>
                <a:lnTo>
                  <a:pt x="103250" y="1729994"/>
                </a:lnTo>
                <a:close/>
              </a:path>
              <a:path w="107950" h="1974850">
                <a:moveTo>
                  <a:pt x="103250" y="1821053"/>
                </a:moveTo>
                <a:lnTo>
                  <a:pt x="2539" y="1821053"/>
                </a:lnTo>
                <a:lnTo>
                  <a:pt x="2539" y="1869948"/>
                </a:lnTo>
                <a:lnTo>
                  <a:pt x="12192" y="1869948"/>
                </a:lnTo>
                <a:lnTo>
                  <a:pt x="12192" y="1831213"/>
                </a:lnTo>
                <a:lnTo>
                  <a:pt x="103250" y="1831213"/>
                </a:lnTo>
                <a:lnTo>
                  <a:pt x="103250" y="1821053"/>
                </a:lnTo>
                <a:close/>
              </a:path>
              <a:path w="107950" h="1974850">
                <a:moveTo>
                  <a:pt x="2539" y="1877695"/>
                </a:moveTo>
                <a:lnTo>
                  <a:pt x="2539" y="1888998"/>
                </a:lnTo>
                <a:lnTo>
                  <a:pt x="35686" y="1904619"/>
                </a:lnTo>
                <a:lnTo>
                  <a:pt x="35686" y="1948053"/>
                </a:lnTo>
                <a:lnTo>
                  <a:pt x="2539" y="1963928"/>
                </a:lnTo>
                <a:lnTo>
                  <a:pt x="2539" y="1974723"/>
                </a:lnTo>
                <a:lnTo>
                  <a:pt x="68954" y="1943735"/>
                </a:lnTo>
                <a:lnTo>
                  <a:pt x="45338" y="1943735"/>
                </a:lnTo>
                <a:lnTo>
                  <a:pt x="45338" y="1909318"/>
                </a:lnTo>
                <a:lnTo>
                  <a:pt x="69412" y="1909318"/>
                </a:lnTo>
                <a:lnTo>
                  <a:pt x="2539" y="1877695"/>
                </a:lnTo>
                <a:close/>
              </a:path>
              <a:path w="107950" h="1974850">
                <a:moveTo>
                  <a:pt x="69412" y="1909318"/>
                </a:moveTo>
                <a:lnTo>
                  <a:pt x="45338" y="1909318"/>
                </a:lnTo>
                <a:lnTo>
                  <a:pt x="81787" y="1926463"/>
                </a:lnTo>
                <a:lnTo>
                  <a:pt x="45338" y="1943735"/>
                </a:lnTo>
                <a:lnTo>
                  <a:pt x="68954" y="1943735"/>
                </a:lnTo>
                <a:lnTo>
                  <a:pt x="103250" y="1927733"/>
                </a:lnTo>
                <a:lnTo>
                  <a:pt x="103250" y="1925320"/>
                </a:lnTo>
                <a:lnTo>
                  <a:pt x="69412" y="1909318"/>
                </a:lnTo>
                <a:close/>
              </a:path>
            </a:pathLst>
          </a:custGeom>
          <a:solidFill>
            <a:srgbClr val="FFFFFF">
              <a:alpha val="59999"/>
            </a:srgbClr>
          </a:solidFill>
        </p:spPr>
        <p:txBody>
          <a:bodyPr wrap="square" lIns="0" tIns="0" rIns="0" bIns="0" rtlCol="0"/>
          <a:lstStyle/>
          <a:p>
            <a:endParaRPr/>
          </a:p>
        </p:txBody>
      </p:sp>
      <p:sp>
        <p:nvSpPr>
          <p:cNvPr id="13" name="object 13"/>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14" name="object 14"/>
          <p:cNvSpPr/>
          <p:nvPr/>
        </p:nvSpPr>
        <p:spPr>
          <a:xfrm>
            <a:off x="10802746" y="3645661"/>
            <a:ext cx="105791" cy="1425702"/>
          </a:xfrm>
          <a:prstGeom prst="rect">
            <a:avLst/>
          </a:prstGeom>
          <a:blipFill>
            <a:blip r:embed="rId2" cstate="print"/>
            <a:stretch>
              <a:fillRect/>
            </a:stretch>
          </a:blipFill>
        </p:spPr>
        <p:txBody>
          <a:bodyPr wrap="square" lIns="0" tIns="0" rIns="0" bIns="0" rtlCol="0"/>
          <a:lstStyle/>
          <a:p>
            <a:endParaRPr/>
          </a:p>
        </p:txBody>
      </p:sp>
      <p:sp>
        <p:nvSpPr>
          <p:cNvPr id="16" name="Footer Placeholder 15">
            <a:extLst>
              <a:ext uri="{FF2B5EF4-FFF2-40B4-BE49-F238E27FC236}">
                <a16:creationId xmlns:a16="http://schemas.microsoft.com/office/drawing/2014/main" id="{C29C1A0F-5ADE-4CB8-BB71-3D69631A7536}"/>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0572" y="473709"/>
            <a:ext cx="7586345" cy="665480"/>
          </a:xfrm>
          <a:prstGeom prst="rect">
            <a:avLst/>
          </a:prstGeom>
        </p:spPr>
        <p:txBody>
          <a:bodyPr vert="horz" wrap="square" lIns="0" tIns="12700" rIns="0" bIns="0" rtlCol="0">
            <a:spAutoFit/>
          </a:bodyPr>
          <a:lstStyle/>
          <a:p>
            <a:pPr marL="12700">
              <a:lnSpc>
                <a:spcPct val="100000"/>
              </a:lnSpc>
              <a:spcBef>
                <a:spcPts val="100"/>
              </a:spcBef>
            </a:pPr>
            <a:r>
              <a:rPr sz="4200" b="0" spc="-5" dirty="0">
                <a:latin typeface="TeXGyreAdventor"/>
                <a:cs typeface="TeXGyreAdventor"/>
              </a:rPr>
              <a:t>Default Vs Non-Default</a:t>
            </a:r>
            <a:r>
              <a:rPr sz="4200" b="0" spc="-75" dirty="0">
                <a:latin typeface="TeXGyreAdventor"/>
                <a:cs typeface="TeXGyreAdventor"/>
              </a:rPr>
              <a:t> </a:t>
            </a:r>
            <a:r>
              <a:rPr sz="4200" b="0" spc="-5" dirty="0">
                <a:latin typeface="TeXGyreAdventor"/>
                <a:cs typeface="TeXGyreAdventor"/>
              </a:rPr>
              <a:t>VPC’s</a:t>
            </a:r>
            <a:endParaRPr sz="4200">
              <a:latin typeface="TeXGyreAdventor"/>
              <a:cs typeface="TeXGyreAdventor"/>
            </a:endParaRPr>
          </a:p>
        </p:txBody>
      </p:sp>
      <p:graphicFrame>
        <p:nvGraphicFramePr>
          <p:cNvPr id="3" name="object 3"/>
          <p:cNvGraphicFramePr>
            <a:graphicFrameLocks noGrp="1"/>
          </p:cNvGraphicFramePr>
          <p:nvPr>
            <p:extLst>
              <p:ext uri="{D42A27DB-BD31-4B8C-83A1-F6EECF244321}">
                <p14:modId xmlns:p14="http://schemas.microsoft.com/office/powerpoint/2010/main" val="3154340062"/>
              </p:ext>
            </p:extLst>
          </p:nvPr>
        </p:nvGraphicFramePr>
        <p:xfrm>
          <a:off x="646430" y="1537843"/>
          <a:ext cx="10075850" cy="4520056"/>
        </p:xfrm>
        <a:graphic>
          <a:graphicData uri="http://schemas.openxmlformats.org/drawingml/2006/table">
            <a:tbl>
              <a:tblPr firstRow="1" bandRow="1">
                <a:tableStyleId>{2D5ABB26-0587-4C30-8999-92F81FD0307C}</a:tableStyleId>
              </a:tblPr>
              <a:tblGrid>
                <a:gridCol w="3358617">
                  <a:extLst>
                    <a:ext uri="{9D8B030D-6E8A-4147-A177-3AD203B41FA5}">
                      <a16:colId xmlns:a16="http://schemas.microsoft.com/office/drawing/2014/main" val="20000"/>
                    </a:ext>
                  </a:extLst>
                </a:gridCol>
                <a:gridCol w="3358617">
                  <a:extLst>
                    <a:ext uri="{9D8B030D-6E8A-4147-A177-3AD203B41FA5}">
                      <a16:colId xmlns:a16="http://schemas.microsoft.com/office/drawing/2014/main" val="20001"/>
                    </a:ext>
                  </a:extLst>
                </a:gridCol>
                <a:gridCol w="3358616">
                  <a:extLst>
                    <a:ext uri="{9D8B030D-6E8A-4147-A177-3AD203B41FA5}">
                      <a16:colId xmlns:a16="http://schemas.microsoft.com/office/drawing/2014/main" val="20002"/>
                    </a:ext>
                  </a:extLst>
                </a:gridCol>
              </a:tblGrid>
              <a:tr h="753002">
                <a:tc>
                  <a:txBody>
                    <a:bodyPr/>
                    <a:lstStyle/>
                    <a:p>
                      <a:pPr marL="91440">
                        <a:lnSpc>
                          <a:spcPct val="100000"/>
                        </a:lnSpc>
                        <a:spcBef>
                          <a:spcPts val="334"/>
                        </a:spcBef>
                      </a:pPr>
                      <a:r>
                        <a:rPr sz="1400" b="1" spc="-5" dirty="0">
                          <a:solidFill>
                            <a:srgbClr val="FFFFFF"/>
                          </a:solidFill>
                          <a:latin typeface="TeXGyreAdventor"/>
                          <a:cs typeface="TeXGyreAdventor"/>
                        </a:rPr>
                        <a:t>Characterisitics</a:t>
                      </a:r>
                      <a:endParaRPr sz="1400">
                        <a:latin typeface="TeXGyreAdventor"/>
                        <a:cs typeface="TeXGyreAdventor"/>
                      </a:endParaRPr>
                    </a:p>
                  </a:txBody>
                  <a:tcPr marL="0" marR="0" marT="4254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3849A"/>
                    </a:solidFill>
                  </a:tcPr>
                </a:tc>
                <a:tc>
                  <a:txBody>
                    <a:bodyPr/>
                    <a:lstStyle/>
                    <a:p>
                      <a:pPr marL="91440">
                        <a:lnSpc>
                          <a:spcPct val="100000"/>
                        </a:lnSpc>
                        <a:spcBef>
                          <a:spcPts val="334"/>
                        </a:spcBef>
                      </a:pPr>
                      <a:r>
                        <a:rPr sz="1400" b="1" spc="-10" dirty="0">
                          <a:solidFill>
                            <a:srgbClr val="FFFFFF"/>
                          </a:solidFill>
                          <a:latin typeface="TeXGyreAdventor"/>
                          <a:cs typeface="TeXGyreAdventor"/>
                        </a:rPr>
                        <a:t>Default</a:t>
                      </a:r>
                      <a:r>
                        <a:rPr sz="1400" b="1" spc="25" dirty="0">
                          <a:solidFill>
                            <a:srgbClr val="FFFFFF"/>
                          </a:solidFill>
                          <a:latin typeface="TeXGyreAdventor"/>
                          <a:cs typeface="TeXGyreAdventor"/>
                        </a:rPr>
                        <a:t> </a:t>
                      </a:r>
                      <a:r>
                        <a:rPr sz="1400" b="1" spc="-10" dirty="0">
                          <a:solidFill>
                            <a:srgbClr val="FFFFFF"/>
                          </a:solidFill>
                          <a:latin typeface="TeXGyreAdventor"/>
                          <a:cs typeface="TeXGyreAdventor"/>
                        </a:rPr>
                        <a:t>VPC</a:t>
                      </a:r>
                      <a:endParaRPr sz="1400">
                        <a:latin typeface="TeXGyreAdventor"/>
                        <a:cs typeface="TeXGyreAdventor"/>
                      </a:endParaRPr>
                    </a:p>
                  </a:txBody>
                  <a:tcPr marL="0" marR="0" marT="4254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3849A"/>
                    </a:solidFill>
                  </a:tcPr>
                </a:tc>
                <a:tc>
                  <a:txBody>
                    <a:bodyPr/>
                    <a:lstStyle/>
                    <a:p>
                      <a:pPr marL="92075">
                        <a:lnSpc>
                          <a:spcPct val="100000"/>
                        </a:lnSpc>
                        <a:spcBef>
                          <a:spcPts val="334"/>
                        </a:spcBef>
                      </a:pPr>
                      <a:r>
                        <a:rPr sz="1400" b="1" spc="-10" dirty="0">
                          <a:solidFill>
                            <a:srgbClr val="FFFFFF"/>
                          </a:solidFill>
                          <a:latin typeface="TeXGyreAdventor"/>
                          <a:cs typeface="TeXGyreAdventor"/>
                        </a:rPr>
                        <a:t>Non-Default</a:t>
                      </a:r>
                      <a:r>
                        <a:rPr sz="1400" b="1" spc="50" dirty="0">
                          <a:solidFill>
                            <a:srgbClr val="FFFFFF"/>
                          </a:solidFill>
                          <a:latin typeface="TeXGyreAdventor"/>
                          <a:cs typeface="TeXGyreAdventor"/>
                        </a:rPr>
                        <a:t> </a:t>
                      </a:r>
                      <a:r>
                        <a:rPr sz="1400" b="1" spc="-10" dirty="0">
                          <a:solidFill>
                            <a:srgbClr val="FFFFFF"/>
                          </a:solidFill>
                          <a:latin typeface="TeXGyreAdventor"/>
                          <a:cs typeface="TeXGyreAdventor"/>
                        </a:rPr>
                        <a:t>VPC</a:t>
                      </a:r>
                      <a:endParaRPr sz="1400">
                        <a:latin typeface="TeXGyreAdventor"/>
                        <a:cs typeface="TeXGyreAdventor"/>
                      </a:endParaRPr>
                    </a:p>
                  </a:txBody>
                  <a:tcPr marL="0" marR="0" marT="4254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3849A"/>
                    </a:solidFill>
                  </a:tcPr>
                </a:tc>
                <a:extLst>
                  <a:ext uri="{0D108BD9-81ED-4DB2-BD59-A6C34878D82A}">
                    <a16:rowId xmlns:a16="http://schemas.microsoft.com/office/drawing/2014/main" val="10000"/>
                  </a:ext>
                </a:extLst>
              </a:tr>
              <a:tr h="753002">
                <a:tc>
                  <a:txBody>
                    <a:bodyPr/>
                    <a:lstStyle/>
                    <a:p>
                      <a:pPr marL="91440">
                        <a:lnSpc>
                          <a:spcPct val="100000"/>
                        </a:lnSpc>
                        <a:spcBef>
                          <a:spcPts val="340"/>
                        </a:spcBef>
                      </a:pPr>
                      <a:r>
                        <a:rPr sz="1400" dirty="0">
                          <a:latin typeface="TeXGyreAdventor"/>
                          <a:cs typeface="TeXGyreAdventor"/>
                        </a:rPr>
                        <a:t>Public </a:t>
                      </a:r>
                      <a:r>
                        <a:rPr sz="1400" spc="10" dirty="0">
                          <a:latin typeface="TeXGyreAdventor"/>
                          <a:cs typeface="TeXGyreAdventor"/>
                        </a:rPr>
                        <a:t>IP</a:t>
                      </a:r>
                      <a:r>
                        <a:rPr sz="1400" spc="265" dirty="0">
                          <a:latin typeface="TeXGyreAdventor"/>
                          <a:cs typeface="TeXGyreAdventor"/>
                        </a:rPr>
                        <a:t> </a:t>
                      </a:r>
                      <a:r>
                        <a:rPr sz="1400" dirty="0">
                          <a:latin typeface="TeXGyreAdventor"/>
                          <a:cs typeface="TeXGyreAdventor"/>
                        </a:rPr>
                        <a:t>Address</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9DE"/>
                    </a:solidFill>
                  </a:tcPr>
                </a:tc>
                <a:tc>
                  <a:txBody>
                    <a:bodyPr/>
                    <a:lstStyle/>
                    <a:p>
                      <a:pPr marL="91440" marR="352425">
                        <a:lnSpc>
                          <a:spcPct val="100000"/>
                        </a:lnSpc>
                        <a:spcBef>
                          <a:spcPts val="340"/>
                        </a:spcBef>
                      </a:pPr>
                      <a:r>
                        <a:rPr sz="1400" spc="-5" dirty="0">
                          <a:latin typeface="TeXGyreAdventor"/>
                          <a:cs typeface="TeXGyreAdventor"/>
                        </a:rPr>
                        <a:t>Instance </a:t>
                      </a:r>
                      <a:r>
                        <a:rPr sz="1400" dirty="0">
                          <a:latin typeface="TeXGyreAdventor"/>
                          <a:cs typeface="TeXGyreAdventor"/>
                        </a:rPr>
                        <a:t>receives Public </a:t>
                      </a:r>
                      <a:r>
                        <a:rPr sz="1400" spc="10" dirty="0">
                          <a:latin typeface="TeXGyreAdventor"/>
                          <a:cs typeface="TeXGyreAdventor"/>
                        </a:rPr>
                        <a:t>IP </a:t>
                      </a:r>
                      <a:r>
                        <a:rPr sz="1400" dirty="0">
                          <a:latin typeface="TeXGyreAdventor"/>
                          <a:cs typeface="TeXGyreAdventor"/>
                        </a:rPr>
                        <a:t>Address</a:t>
                      </a:r>
                      <a:r>
                        <a:rPr sz="1400" spc="-125" dirty="0">
                          <a:latin typeface="TeXGyreAdventor"/>
                          <a:cs typeface="TeXGyreAdventor"/>
                        </a:rPr>
                        <a:t> </a:t>
                      </a:r>
                      <a:r>
                        <a:rPr sz="1400" spc="-5" dirty="0">
                          <a:latin typeface="TeXGyreAdventor"/>
                          <a:cs typeface="TeXGyreAdventor"/>
                        </a:rPr>
                        <a:t>by  </a:t>
                      </a:r>
                      <a:r>
                        <a:rPr sz="1400" dirty="0">
                          <a:latin typeface="TeXGyreAdventor"/>
                          <a:cs typeface="TeXGyreAdventor"/>
                        </a:rPr>
                        <a:t>default</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9DE"/>
                    </a:solidFill>
                  </a:tcPr>
                </a:tc>
                <a:tc>
                  <a:txBody>
                    <a:bodyPr/>
                    <a:lstStyle/>
                    <a:p>
                      <a:pPr marL="92075" marR="570230">
                        <a:lnSpc>
                          <a:spcPct val="100000"/>
                        </a:lnSpc>
                        <a:spcBef>
                          <a:spcPts val="340"/>
                        </a:spcBef>
                      </a:pPr>
                      <a:r>
                        <a:rPr sz="1400" spc="-5" dirty="0">
                          <a:latin typeface="TeXGyreAdventor"/>
                          <a:cs typeface="TeXGyreAdventor"/>
                        </a:rPr>
                        <a:t>Instance does not </a:t>
                      </a:r>
                      <a:r>
                        <a:rPr sz="1400" dirty="0">
                          <a:latin typeface="TeXGyreAdventor"/>
                          <a:cs typeface="TeXGyreAdventor"/>
                        </a:rPr>
                        <a:t>receive Public </a:t>
                      </a:r>
                      <a:r>
                        <a:rPr sz="1400" spc="10" dirty="0">
                          <a:latin typeface="TeXGyreAdventor"/>
                          <a:cs typeface="TeXGyreAdventor"/>
                        </a:rPr>
                        <a:t>IP  </a:t>
                      </a:r>
                      <a:r>
                        <a:rPr sz="1400" dirty="0">
                          <a:latin typeface="TeXGyreAdventor"/>
                          <a:cs typeface="TeXGyreAdventor"/>
                        </a:rPr>
                        <a:t>Address </a:t>
                      </a:r>
                      <a:r>
                        <a:rPr sz="1400" spc="-5" dirty="0">
                          <a:latin typeface="TeXGyreAdventor"/>
                          <a:cs typeface="TeXGyreAdventor"/>
                        </a:rPr>
                        <a:t>by</a:t>
                      </a:r>
                      <a:r>
                        <a:rPr sz="1400" spc="-35" dirty="0">
                          <a:latin typeface="TeXGyreAdventor"/>
                          <a:cs typeface="TeXGyreAdventor"/>
                        </a:rPr>
                        <a:t> </a:t>
                      </a:r>
                      <a:r>
                        <a:rPr sz="1400" dirty="0">
                          <a:latin typeface="TeXGyreAdventor"/>
                          <a:cs typeface="TeXGyreAdventor"/>
                        </a:rPr>
                        <a:t>default</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9DE"/>
                    </a:solidFill>
                  </a:tcPr>
                </a:tc>
                <a:extLst>
                  <a:ext uri="{0D108BD9-81ED-4DB2-BD59-A6C34878D82A}">
                    <a16:rowId xmlns:a16="http://schemas.microsoft.com/office/drawing/2014/main" val="10001"/>
                  </a:ext>
                </a:extLst>
              </a:tr>
              <a:tr h="755178">
                <a:tc>
                  <a:txBody>
                    <a:bodyPr/>
                    <a:lstStyle/>
                    <a:p>
                      <a:pPr marL="91440">
                        <a:lnSpc>
                          <a:spcPct val="100000"/>
                        </a:lnSpc>
                        <a:spcBef>
                          <a:spcPts val="340"/>
                        </a:spcBef>
                      </a:pPr>
                      <a:r>
                        <a:rPr sz="1400" spc="-10" dirty="0">
                          <a:latin typeface="TeXGyreAdventor"/>
                          <a:cs typeface="TeXGyreAdventor"/>
                        </a:rPr>
                        <a:t>Private </a:t>
                      </a:r>
                      <a:r>
                        <a:rPr sz="1400" spc="10" dirty="0">
                          <a:latin typeface="TeXGyreAdventor"/>
                          <a:cs typeface="TeXGyreAdventor"/>
                        </a:rPr>
                        <a:t>IP</a:t>
                      </a:r>
                      <a:r>
                        <a:rPr sz="1400" spc="25" dirty="0">
                          <a:latin typeface="TeXGyreAdventor"/>
                          <a:cs typeface="TeXGyreAdventor"/>
                        </a:rPr>
                        <a:t> </a:t>
                      </a:r>
                      <a:r>
                        <a:rPr sz="1400" dirty="0">
                          <a:latin typeface="TeXGyreAdventor"/>
                          <a:cs typeface="TeXGyreAdventor"/>
                        </a:rPr>
                        <a:t>Address</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91440">
                        <a:lnSpc>
                          <a:spcPct val="100000"/>
                        </a:lnSpc>
                        <a:spcBef>
                          <a:spcPts val="340"/>
                        </a:spcBef>
                      </a:pPr>
                      <a:r>
                        <a:rPr sz="1400" dirty="0">
                          <a:latin typeface="TeXGyreAdventor"/>
                          <a:cs typeface="TeXGyreAdventor"/>
                        </a:rPr>
                        <a:t>Instance receives a </a:t>
                      </a:r>
                      <a:r>
                        <a:rPr sz="1400" spc="-10" dirty="0">
                          <a:latin typeface="TeXGyreAdventor"/>
                          <a:cs typeface="TeXGyreAdventor"/>
                        </a:rPr>
                        <a:t>static </a:t>
                      </a:r>
                      <a:r>
                        <a:rPr sz="1400" spc="10" dirty="0">
                          <a:latin typeface="TeXGyreAdventor"/>
                          <a:cs typeface="TeXGyreAdventor"/>
                        </a:rPr>
                        <a:t>IP</a:t>
                      </a:r>
                      <a:r>
                        <a:rPr sz="1400" spc="20" dirty="0">
                          <a:latin typeface="TeXGyreAdventor"/>
                          <a:cs typeface="TeXGyreAdventor"/>
                        </a:rPr>
                        <a:t> </a:t>
                      </a:r>
                      <a:r>
                        <a:rPr sz="1400" spc="-10" dirty="0">
                          <a:latin typeface="TeXGyreAdventor"/>
                          <a:cs typeface="TeXGyreAdventor"/>
                        </a:rPr>
                        <a:t>private</a:t>
                      </a:r>
                      <a:endParaRPr sz="1400">
                        <a:latin typeface="TeXGyreAdventor"/>
                        <a:cs typeface="TeXGyreAdventor"/>
                      </a:endParaRPr>
                    </a:p>
                    <a:p>
                      <a:pPr marL="91440">
                        <a:lnSpc>
                          <a:spcPct val="100000"/>
                        </a:lnSpc>
                      </a:pPr>
                      <a:r>
                        <a:rPr sz="1400" spc="-5" dirty="0">
                          <a:latin typeface="TeXGyreAdventor"/>
                          <a:cs typeface="TeXGyreAdventor"/>
                        </a:rPr>
                        <a:t>address from </a:t>
                      </a:r>
                      <a:r>
                        <a:rPr sz="1400" spc="-10" dirty="0">
                          <a:latin typeface="TeXGyreAdventor"/>
                          <a:cs typeface="TeXGyreAdventor"/>
                        </a:rPr>
                        <a:t>the </a:t>
                      </a:r>
                      <a:r>
                        <a:rPr sz="1400" spc="-5" dirty="0">
                          <a:latin typeface="TeXGyreAdventor"/>
                          <a:cs typeface="TeXGyreAdventor"/>
                        </a:rPr>
                        <a:t>range </a:t>
                      </a:r>
                      <a:r>
                        <a:rPr sz="1400" spc="-10" dirty="0">
                          <a:latin typeface="TeXGyreAdventor"/>
                          <a:cs typeface="TeXGyreAdventor"/>
                        </a:rPr>
                        <a:t>of </a:t>
                      </a:r>
                      <a:r>
                        <a:rPr sz="1400" dirty="0">
                          <a:latin typeface="TeXGyreAdventor"/>
                          <a:cs typeface="TeXGyreAdventor"/>
                        </a:rPr>
                        <a:t>default</a:t>
                      </a:r>
                      <a:r>
                        <a:rPr sz="1400" spc="65" dirty="0">
                          <a:latin typeface="TeXGyreAdventor"/>
                          <a:cs typeface="TeXGyreAdventor"/>
                        </a:rPr>
                        <a:t> </a:t>
                      </a:r>
                      <a:r>
                        <a:rPr sz="1400" spc="-5" dirty="0">
                          <a:latin typeface="TeXGyreAdventor"/>
                          <a:cs typeface="TeXGyreAdventor"/>
                        </a:rPr>
                        <a:t>VPC</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92075">
                        <a:lnSpc>
                          <a:spcPct val="100000"/>
                        </a:lnSpc>
                        <a:spcBef>
                          <a:spcPts val="340"/>
                        </a:spcBef>
                      </a:pPr>
                      <a:r>
                        <a:rPr sz="1400" dirty="0">
                          <a:latin typeface="TeXGyreAdventor"/>
                          <a:cs typeface="TeXGyreAdventor"/>
                        </a:rPr>
                        <a:t>Instance receives a </a:t>
                      </a:r>
                      <a:r>
                        <a:rPr sz="1400" spc="-10" dirty="0">
                          <a:latin typeface="TeXGyreAdventor"/>
                          <a:cs typeface="TeXGyreAdventor"/>
                        </a:rPr>
                        <a:t>static </a:t>
                      </a:r>
                      <a:r>
                        <a:rPr sz="1400" spc="10" dirty="0">
                          <a:latin typeface="TeXGyreAdventor"/>
                          <a:cs typeface="TeXGyreAdventor"/>
                        </a:rPr>
                        <a:t>IP</a:t>
                      </a:r>
                      <a:r>
                        <a:rPr sz="1400" spc="20" dirty="0">
                          <a:latin typeface="TeXGyreAdventor"/>
                          <a:cs typeface="TeXGyreAdventor"/>
                        </a:rPr>
                        <a:t> </a:t>
                      </a:r>
                      <a:r>
                        <a:rPr sz="1400" spc="-10" dirty="0">
                          <a:latin typeface="TeXGyreAdventor"/>
                          <a:cs typeface="TeXGyreAdventor"/>
                        </a:rPr>
                        <a:t>private</a:t>
                      </a:r>
                      <a:endParaRPr sz="1400">
                        <a:latin typeface="TeXGyreAdventor"/>
                        <a:cs typeface="TeXGyreAdventor"/>
                      </a:endParaRPr>
                    </a:p>
                    <a:p>
                      <a:pPr marL="92075">
                        <a:lnSpc>
                          <a:spcPct val="100000"/>
                        </a:lnSpc>
                      </a:pPr>
                      <a:r>
                        <a:rPr sz="1400" spc="-5" dirty="0">
                          <a:latin typeface="TeXGyreAdventor"/>
                          <a:cs typeface="TeXGyreAdventor"/>
                        </a:rPr>
                        <a:t>address from </a:t>
                      </a:r>
                      <a:r>
                        <a:rPr sz="1400" spc="-10" dirty="0">
                          <a:latin typeface="TeXGyreAdventor"/>
                          <a:cs typeface="TeXGyreAdventor"/>
                        </a:rPr>
                        <a:t>the </a:t>
                      </a:r>
                      <a:r>
                        <a:rPr sz="1400" spc="-5" dirty="0">
                          <a:latin typeface="TeXGyreAdventor"/>
                          <a:cs typeface="TeXGyreAdventor"/>
                        </a:rPr>
                        <a:t>range </a:t>
                      </a:r>
                      <a:r>
                        <a:rPr sz="1400" spc="-10" dirty="0">
                          <a:latin typeface="TeXGyreAdventor"/>
                          <a:cs typeface="TeXGyreAdventor"/>
                        </a:rPr>
                        <a:t>of</a:t>
                      </a:r>
                      <a:r>
                        <a:rPr sz="1400" spc="90" dirty="0">
                          <a:latin typeface="TeXGyreAdventor"/>
                          <a:cs typeface="TeXGyreAdventor"/>
                        </a:rPr>
                        <a:t> </a:t>
                      </a:r>
                      <a:r>
                        <a:rPr sz="1400" spc="-5" dirty="0">
                          <a:latin typeface="TeXGyreAdventor"/>
                          <a:cs typeface="TeXGyreAdventor"/>
                        </a:rPr>
                        <a:t>VPC</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extLst>
                  <a:ext uri="{0D108BD9-81ED-4DB2-BD59-A6C34878D82A}">
                    <a16:rowId xmlns:a16="http://schemas.microsoft.com/office/drawing/2014/main" val="10002"/>
                  </a:ext>
                </a:extLst>
              </a:tr>
              <a:tr h="752856">
                <a:tc>
                  <a:txBody>
                    <a:bodyPr/>
                    <a:lstStyle/>
                    <a:p>
                      <a:pPr marL="91440">
                        <a:lnSpc>
                          <a:spcPct val="100000"/>
                        </a:lnSpc>
                        <a:spcBef>
                          <a:spcPts val="340"/>
                        </a:spcBef>
                      </a:pPr>
                      <a:r>
                        <a:rPr sz="1400" spc="-5" dirty="0">
                          <a:latin typeface="TeXGyreAdventor"/>
                          <a:cs typeface="TeXGyreAdventor"/>
                        </a:rPr>
                        <a:t>DNS</a:t>
                      </a:r>
                      <a:r>
                        <a:rPr sz="1400" dirty="0">
                          <a:latin typeface="TeXGyreAdventor"/>
                          <a:cs typeface="TeXGyreAdventor"/>
                        </a:rPr>
                        <a:t> </a:t>
                      </a:r>
                      <a:r>
                        <a:rPr sz="1400" spc="-5" dirty="0">
                          <a:latin typeface="TeXGyreAdventor"/>
                          <a:cs typeface="TeXGyreAdventor"/>
                        </a:rPr>
                        <a:t>Hostnames</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tc>
                  <a:txBody>
                    <a:bodyPr/>
                    <a:lstStyle/>
                    <a:p>
                      <a:pPr marL="91440">
                        <a:lnSpc>
                          <a:spcPct val="100000"/>
                        </a:lnSpc>
                        <a:spcBef>
                          <a:spcPts val="340"/>
                        </a:spcBef>
                      </a:pPr>
                      <a:r>
                        <a:rPr sz="1400" spc="-5" dirty="0">
                          <a:latin typeface="TeXGyreAdventor"/>
                          <a:cs typeface="TeXGyreAdventor"/>
                        </a:rPr>
                        <a:t>Are </a:t>
                      </a:r>
                      <a:r>
                        <a:rPr sz="1400" dirty="0">
                          <a:latin typeface="TeXGyreAdventor"/>
                          <a:cs typeface="TeXGyreAdventor"/>
                        </a:rPr>
                        <a:t>enabled </a:t>
                      </a:r>
                      <a:r>
                        <a:rPr sz="1400" spc="-5" dirty="0">
                          <a:latin typeface="TeXGyreAdventor"/>
                          <a:cs typeface="TeXGyreAdventor"/>
                        </a:rPr>
                        <a:t>by</a:t>
                      </a:r>
                      <a:r>
                        <a:rPr sz="1400" spc="-30" dirty="0">
                          <a:latin typeface="TeXGyreAdventor"/>
                          <a:cs typeface="TeXGyreAdventor"/>
                        </a:rPr>
                        <a:t> </a:t>
                      </a:r>
                      <a:r>
                        <a:rPr sz="1400" dirty="0">
                          <a:latin typeface="TeXGyreAdventor"/>
                          <a:cs typeface="TeXGyreAdventor"/>
                        </a:rPr>
                        <a:t>default</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tc>
                  <a:txBody>
                    <a:bodyPr/>
                    <a:lstStyle/>
                    <a:p>
                      <a:pPr marL="92075">
                        <a:lnSpc>
                          <a:spcPct val="100000"/>
                        </a:lnSpc>
                        <a:spcBef>
                          <a:spcPts val="340"/>
                        </a:spcBef>
                      </a:pPr>
                      <a:r>
                        <a:rPr sz="1400" spc="-5" dirty="0">
                          <a:latin typeface="TeXGyreAdventor"/>
                          <a:cs typeface="TeXGyreAdventor"/>
                        </a:rPr>
                        <a:t>Are </a:t>
                      </a:r>
                      <a:r>
                        <a:rPr sz="1400" dirty="0">
                          <a:latin typeface="TeXGyreAdventor"/>
                          <a:cs typeface="TeXGyreAdventor"/>
                        </a:rPr>
                        <a:t>disabled </a:t>
                      </a:r>
                      <a:r>
                        <a:rPr sz="1400" spc="-5" dirty="0">
                          <a:latin typeface="TeXGyreAdventor"/>
                          <a:cs typeface="TeXGyreAdventor"/>
                        </a:rPr>
                        <a:t>by</a:t>
                      </a:r>
                      <a:r>
                        <a:rPr sz="1400" spc="-40" dirty="0">
                          <a:latin typeface="TeXGyreAdventor"/>
                          <a:cs typeface="TeXGyreAdventor"/>
                        </a:rPr>
                        <a:t> </a:t>
                      </a:r>
                      <a:r>
                        <a:rPr sz="1400" dirty="0">
                          <a:latin typeface="TeXGyreAdventor"/>
                          <a:cs typeface="TeXGyreAdventor"/>
                        </a:rPr>
                        <a:t>default</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extLst>
                  <a:ext uri="{0D108BD9-81ED-4DB2-BD59-A6C34878D82A}">
                    <a16:rowId xmlns:a16="http://schemas.microsoft.com/office/drawing/2014/main" val="10003"/>
                  </a:ext>
                </a:extLst>
              </a:tr>
              <a:tr h="753002">
                <a:tc>
                  <a:txBody>
                    <a:bodyPr/>
                    <a:lstStyle/>
                    <a:p>
                      <a:pPr marL="91440">
                        <a:lnSpc>
                          <a:spcPct val="100000"/>
                        </a:lnSpc>
                        <a:spcBef>
                          <a:spcPts val="340"/>
                        </a:spcBef>
                      </a:pPr>
                      <a:r>
                        <a:rPr sz="1400" spc="-5" dirty="0">
                          <a:latin typeface="TeXGyreAdventor"/>
                          <a:cs typeface="TeXGyreAdventor"/>
                        </a:rPr>
                        <a:t>Accessing </a:t>
                      </a:r>
                      <a:r>
                        <a:rPr sz="1400" spc="-10" dirty="0">
                          <a:latin typeface="TeXGyreAdventor"/>
                          <a:cs typeface="TeXGyreAdventor"/>
                        </a:rPr>
                        <a:t>the</a:t>
                      </a:r>
                      <a:r>
                        <a:rPr sz="1400" spc="10" dirty="0">
                          <a:latin typeface="TeXGyreAdventor"/>
                          <a:cs typeface="TeXGyreAdventor"/>
                        </a:rPr>
                        <a:t> </a:t>
                      </a:r>
                      <a:r>
                        <a:rPr sz="1400" spc="-5" dirty="0">
                          <a:latin typeface="TeXGyreAdventor"/>
                          <a:cs typeface="TeXGyreAdventor"/>
                        </a:rPr>
                        <a:t>internet</a:t>
                      </a:r>
                      <a:endParaRPr sz="1400" dirty="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91440">
                        <a:lnSpc>
                          <a:spcPct val="100000"/>
                        </a:lnSpc>
                        <a:spcBef>
                          <a:spcPts val="340"/>
                        </a:spcBef>
                      </a:pPr>
                      <a:r>
                        <a:rPr sz="1400" spc="-5" dirty="0">
                          <a:latin typeface="TeXGyreAdventor"/>
                          <a:cs typeface="TeXGyreAdventor"/>
                        </a:rPr>
                        <a:t>Instance can access </a:t>
                      </a:r>
                      <a:r>
                        <a:rPr sz="1400" spc="-10" dirty="0">
                          <a:latin typeface="TeXGyreAdventor"/>
                          <a:cs typeface="TeXGyreAdventor"/>
                        </a:rPr>
                        <a:t>the</a:t>
                      </a:r>
                      <a:r>
                        <a:rPr sz="1400" spc="45" dirty="0">
                          <a:latin typeface="TeXGyreAdventor"/>
                          <a:cs typeface="TeXGyreAdventor"/>
                        </a:rPr>
                        <a:t> </a:t>
                      </a:r>
                      <a:r>
                        <a:rPr sz="1400" spc="-5" dirty="0">
                          <a:latin typeface="TeXGyreAdventor"/>
                          <a:cs typeface="TeXGyreAdventor"/>
                        </a:rPr>
                        <a:t>internet</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92075">
                        <a:lnSpc>
                          <a:spcPct val="100000"/>
                        </a:lnSpc>
                        <a:spcBef>
                          <a:spcPts val="340"/>
                        </a:spcBef>
                      </a:pPr>
                      <a:r>
                        <a:rPr sz="1400" spc="-5" dirty="0">
                          <a:latin typeface="TeXGyreAdventor"/>
                          <a:cs typeface="TeXGyreAdventor"/>
                        </a:rPr>
                        <a:t>Instances cannot access </a:t>
                      </a:r>
                      <a:r>
                        <a:rPr sz="1400" spc="-10" dirty="0">
                          <a:latin typeface="TeXGyreAdventor"/>
                          <a:cs typeface="TeXGyreAdventor"/>
                        </a:rPr>
                        <a:t>the</a:t>
                      </a:r>
                      <a:r>
                        <a:rPr sz="1400" spc="65" dirty="0">
                          <a:latin typeface="TeXGyreAdventor"/>
                          <a:cs typeface="TeXGyreAdventor"/>
                        </a:rPr>
                        <a:t> </a:t>
                      </a:r>
                      <a:r>
                        <a:rPr sz="1400" spc="-5" dirty="0">
                          <a:latin typeface="TeXGyreAdventor"/>
                          <a:cs typeface="TeXGyreAdventor"/>
                        </a:rPr>
                        <a:t>internet</a:t>
                      </a:r>
                      <a:endParaRPr sz="1400">
                        <a:latin typeface="TeXGyreAdventor"/>
                        <a:cs typeface="TeXGyreAdventor"/>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extLst>
                  <a:ext uri="{0D108BD9-81ED-4DB2-BD59-A6C34878D82A}">
                    <a16:rowId xmlns:a16="http://schemas.microsoft.com/office/drawing/2014/main" val="10004"/>
                  </a:ext>
                </a:extLst>
              </a:tr>
              <a:tr h="753016">
                <a:tc>
                  <a:txBody>
                    <a:bodyPr/>
                    <a:lstStyle/>
                    <a:p>
                      <a:pPr marL="91440">
                        <a:lnSpc>
                          <a:spcPct val="100000"/>
                        </a:lnSpc>
                        <a:spcBef>
                          <a:spcPts val="345"/>
                        </a:spcBef>
                      </a:pPr>
                      <a:r>
                        <a:rPr sz="1400" spc="-5" dirty="0">
                          <a:latin typeface="TeXGyreAdventor"/>
                          <a:cs typeface="TeXGyreAdventor"/>
                        </a:rPr>
                        <a:t>Internet</a:t>
                      </a:r>
                      <a:r>
                        <a:rPr sz="1400" spc="5" dirty="0">
                          <a:latin typeface="TeXGyreAdventor"/>
                          <a:cs typeface="TeXGyreAdventor"/>
                        </a:rPr>
                        <a:t> </a:t>
                      </a:r>
                      <a:r>
                        <a:rPr sz="1400" spc="-10" dirty="0">
                          <a:latin typeface="TeXGyreAdventor"/>
                          <a:cs typeface="TeXGyreAdventor"/>
                        </a:rPr>
                        <a:t>Gateway</a:t>
                      </a:r>
                      <a:endParaRPr sz="1400">
                        <a:latin typeface="TeXGyreAdventor"/>
                        <a:cs typeface="TeXGyreAdventor"/>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tc>
                  <a:txBody>
                    <a:bodyPr/>
                    <a:lstStyle/>
                    <a:p>
                      <a:pPr marL="91440" marR="135255">
                        <a:lnSpc>
                          <a:spcPct val="100000"/>
                        </a:lnSpc>
                        <a:spcBef>
                          <a:spcPts val="345"/>
                        </a:spcBef>
                      </a:pPr>
                      <a:r>
                        <a:rPr sz="1400" spc="10" dirty="0">
                          <a:latin typeface="TeXGyreAdventor"/>
                          <a:cs typeface="TeXGyreAdventor"/>
                        </a:rPr>
                        <a:t>It </a:t>
                      </a:r>
                      <a:r>
                        <a:rPr sz="1400" dirty="0">
                          <a:latin typeface="TeXGyreAdventor"/>
                          <a:cs typeface="TeXGyreAdventor"/>
                        </a:rPr>
                        <a:t>is </a:t>
                      </a:r>
                      <a:r>
                        <a:rPr sz="1400" spc="-10" dirty="0">
                          <a:latin typeface="TeXGyreAdventor"/>
                          <a:cs typeface="TeXGyreAdventor"/>
                        </a:rPr>
                        <a:t>attached </a:t>
                      </a:r>
                      <a:r>
                        <a:rPr sz="1400" spc="-15" dirty="0">
                          <a:latin typeface="TeXGyreAdventor"/>
                          <a:cs typeface="TeXGyreAdventor"/>
                        </a:rPr>
                        <a:t>to </a:t>
                      </a:r>
                      <a:r>
                        <a:rPr sz="1400" spc="-10" dirty="0">
                          <a:latin typeface="TeXGyreAdventor"/>
                          <a:cs typeface="TeXGyreAdventor"/>
                        </a:rPr>
                        <a:t>the </a:t>
                      </a:r>
                      <a:r>
                        <a:rPr sz="1400" dirty="0">
                          <a:latin typeface="TeXGyreAdventor"/>
                          <a:cs typeface="TeXGyreAdventor"/>
                        </a:rPr>
                        <a:t>default </a:t>
                      </a:r>
                      <a:r>
                        <a:rPr sz="1400" spc="-5" dirty="0">
                          <a:latin typeface="TeXGyreAdventor"/>
                          <a:cs typeface="TeXGyreAdventor"/>
                        </a:rPr>
                        <a:t>VPC and </a:t>
                      </a:r>
                      <a:r>
                        <a:rPr sz="1400" spc="-10" dirty="0">
                          <a:latin typeface="TeXGyreAdventor"/>
                          <a:cs typeface="TeXGyreAdventor"/>
                        </a:rPr>
                        <a:t>the  </a:t>
                      </a:r>
                      <a:r>
                        <a:rPr sz="1400" dirty="0">
                          <a:latin typeface="TeXGyreAdventor"/>
                          <a:cs typeface="TeXGyreAdventor"/>
                        </a:rPr>
                        <a:t>default subnet </a:t>
                      </a:r>
                      <a:r>
                        <a:rPr sz="1400" spc="-5" dirty="0">
                          <a:latin typeface="TeXGyreAdventor"/>
                          <a:cs typeface="TeXGyreAdventor"/>
                        </a:rPr>
                        <a:t>has </a:t>
                      </a:r>
                      <a:r>
                        <a:rPr sz="1400" dirty="0">
                          <a:latin typeface="TeXGyreAdventor"/>
                          <a:cs typeface="TeXGyreAdventor"/>
                        </a:rPr>
                        <a:t>a </a:t>
                      </a:r>
                      <a:r>
                        <a:rPr sz="1400" spc="-10" dirty="0">
                          <a:latin typeface="TeXGyreAdventor"/>
                          <a:cs typeface="TeXGyreAdventor"/>
                        </a:rPr>
                        <a:t>route </a:t>
                      </a:r>
                      <a:r>
                        <a:rPr sz="1400" spc="-15" dirty="0">
                          <a:latin typeface="TeXGyreAdventor"/>
                          <a:cs typeface="TeXGyreAdventor"/>
                        </a:rPr>
                        <a:t>to</a:t>
                      </a:r>
                      <a:r>
                        <a:rPr sz="1400" spc="40" dirty="0">
                          <a:latin typeface="TeXGyreAdventor"/>
                          <a:cs typeface="TeXGyreAdventor"/>
                        </a:rPr>
                        <a:t> </a:t>
                      </a:r>
                      <a:r>
                        <a:rPr sz="1400" spc="5" dirty="0">
                          <a:latin typeface="TeXGyreAdventor"/>
                          <a:cs typeface="TeXGyreAdventor"/>
                        </a:rPr>
                        <a:t>IGW</a:t>
                      </a:r>
                      <a:endParaRPr sz="1400">
                        <a:latin typeface="TeXGyreAdventor"/>
                        <a:cs typeface="TeXGyreAdventor"/>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tc>
                  <a:txBody>
                    <a:bodyPr/>
                    <a:lstStyle/>
                    <a:p>
                      <a:pPr marL="92075">
                        <a:lnSpc>
                          <a:spcPct val="100000"/>
                        </a:lnSpc>
                        <a:spcBef>
                          <a:spcPts val="345"/>
                        </a:spcBef>
                      </a:pPr>
                      <a:r>
                        <a:rPr sz="1400" spc="-5" dirty="0">
                          <a:latin typeface="TeXGyreAdventor"/>
                          <a:cs typeface="TeXGyreAdventor"/>
                        </a:rPr>
                        <a:t>Depends </a:t>
                      </a:r>
                      <a:r>
                        <a:rPr sz="1400" spc="-10" dirty="0">
                          <a:latin typeface="TeXGyreAdventor"/>
                          <a:cs typeface="TeXGyreAdventor"/>
                        </a:rPr>
                        <a:t>on </a:t>
                      </a:r>
                      <a:r>
                        <a:rPr sz="1400" spc="-5" dirty="0">
                          <a:latin typeface="TeXGyreAdventor"/>
                          <a:cs typeface="TeXGyreAdventor"/>
                        </a:rPr>
                        <a:t>how </a:t>
                      </a:r>
                      <a:r>
                        <a:rPr sz="1400" dirty="0">
                          <a:latin typeface="TeXGyreAdventor"/>
                          <a:cs typeface="TeXGyreAdventor"/>
                        </a:rPr>
                        <a:t>it was</a:t>
                      </a:r>
                      <a:r>
                        <a:rPr sz="1400" spc="25" dirty="0">
                          <a:latin typeface="TeXGyreAdventor"/>
                          <a:cs typeface="TeXGyreAdventor"/>
                        </a:rPr>
                        <a:t> </a:t>
                      </a:r>
                      <a:r>
                        <a:rPr sz="1400" spc="-5" dirty="0">
                          <a:latin typeface="TeXGyreAdventor"/>
                          <a:cs typeface="TeXGyreAdventor"/>
                        </a:rPr>
                        <a:t>created</a:t>
                      </a:r>
                      <a:endParaRPr sz="1400" dirty="0">
                        <a:latin typeface="TeXGyreAdventor"/>
                        <a:cs typeface="TeXGyreAdventor"/>
                      </a:endParaRPr>
                    </a:p>
                  </a:txBody>
                  <a:tcPr marL="0" marR="0" marT="438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extLst>
                  <a:ext uri="{0D108BD9-81ED-4DB2-BD59-A6C34878D82A}">
                    <a16:rowId xmlns:a16="http://schemas.microsoft.com/office/drawing/2014/main" val="10005"/>
                  </a:ext>
                </a:extLst>
              </a:tr>
            </a:tbl>
          </a:graphicData>
        </a:graphic>
      </p:graphicFrame>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FFFFFF"/>
                </a:solidFill>
                <a:latin typeface="TeXGyreAdventor"/>
                <a:cs typeface="TeXGyreAdventor"/>
              </a:rPr>
              <a:t>7</a:t>
            </a:r>
            <a:endParaRPr sz="2800" dirty="0">
              <a:latin typeface="TeXGyreAdventor"/>
              <a:cs typeface="TeXGyreAdventor"/>
            </a:endParaRPr>
          </a:p>
        </p:txBody>
      </p:sp>
      <p:sp>
        <p:nvSpPr>
          <p:cNvPr id="9" name="Footer Placeholder 8">
            <a:extLst>
              <a:ext uri="{FF2B5EF4-FFF2-40B4-BE49-F238E27FC236}">
                <a16:creationId xmlns:a16="http://schemas.microsoft.com/office/drawing/2014/main" id="{9D8BEDB7-C1F7-4F59-8D39-2FB6606F455C}"/>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300355"/>
            <a:ext cx="461391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TeXGyreAdventor"/>
                <a:cs typeface="TeXGyreAdventor"/>
              </a:rPr>
              <a:t>AWS </a:t>
            </a:r>
            <a:r>
              <a:rPr sz="3200" spc="-5" dirty="0">
                <a:latin typeface="TeXGyreAdventor"/>
                <a:cs typeface="TeXGyreAdventor"/>
              </a:rPr>
              <a:t>VPC:</a:t>
            </a:r>
            <a:r>
              <a:rPr sz="3200" spc="-75" dirty="0">
                <a:latin typeface="TeXGyreAdventor"/>
                <a:cs typeface="TeXGyreAdventor"/>
              </a:rPr>
              <a:t> </a:t>
            </a:r>
            <a:r>
              <a:rPr sz="3200" dirty="0">
                <a:latin typeface="TeXGyreAdventor"/>
                <a:cs typeface="TeXGyreAdventor"/>
              </a:rPr>
              <a:t>Components</a:t>
            </a:r>
            <a:endParaRPr sz="3200">
              <a:latin typeface="TeXGyreAdventor"/>
              <a:cs typeface="TeXGyreAdventor"/>
            </a:endParaRPr>
          </a:p>
        </p:txBody>
      </p:sp>
      <p:grpSp>
        <p:nvGrpSpPr>
          <p:cNvPr id="3" name="object 3"/>
          <p:cNvGrpSpPr/>
          <p:nvPr/>
        </p:nvGrpSpPr>
        <p:grpSpPr>
          <a:xfrm>
            <a:off x="1130808" y="1667255"/>
            <a:ext cx="1926589" cy="1544320"/>
            <a:chOff x="1130808" y="1667255"/>
            <a:chExt cx="1926589" cy="1544320"/>
          </a:xfrm>
        </p:grpSpPr>
        <p:sp>
          <p:nvSpPr>
            <p:cNvPr id="4" name="object 4"/>
            <p:cNvSpPr/>
            <p:nvPr/>
          </p:nvSpPr>
          <p:spPr>
            <a:xfrm>
              <a:off x="1140714" y="1677161"/>
              <a:ext cx="1906905" cy="1524000"/>
            </a:xfrm>
            <a:custGeom>
              <a:avLst/>
              <a:gdLst/>
              <a:ahLst/>
              <a:cxnLst/>
              <a:rect l="l" t="t" r="r" b="b"/>
              <a:pathLst>
                <a:path w="1906905" h="1524000">
                  <a:moveTo>
                    <a:pt x="1652524" y="0"/>
                  </a:moveTo>
                  <a:lnTo>
                    <a:pt x="254000" y="0"/>
                  </a:lnTo>
                  <a:lnTo>
                    <a:pt x="208342" y="4090"/>
                  </a:lnTo>
                  <a:lnTo>
                    <a:pt x="165369" y="15884"/>
                  </a:lnTo>
                  <a:lnTo>
                    <a:pt x="125799" y="34666"/>
                  </a:lnTo>
                  <a:lnTo>
                    <a:pt x="90349" y="59719"/>
                  </a:lnTo>
                  <a:lnTo>
                    <a:pt x="59736" y="90328"/>
                  </a:lnTo>
                  <a:lnTo>
                    <a:pt x="34677" y="125777"/>
                  </a:lnTo>
                  <a:lnTo>
                    <a:pt x="15890" y="165349"/>
                  </a:lnTo>
                  <a:lnTo>
                    <a:pt x="4092" y="208328"/>
                  </a:lnTo>
                  <a:lnTo>
                    <a:pt x="0" y="254000"/>
                  </a:lnTo>
                  <a:lnTo>
                    <a:pt x="0" y="1270000"/>
                  </a:lnTo>
                  <a:lnTo>
                    <a:pt x="4092" y="1315671"/>
                  </a:lnTo>
                  <a:lnTo>
                    <a:pt x="15890" y="1358650"/>
                  </a:lnTo>
                  <a:lnTo>
                    <a:pt x="34677" y="1398222"/>
                  </a:lnTo>
                  <a:lnTo>
                    <a:pt x="59736" y="1433671"/>
                  </a:lnTo>
                  <a:lnTo>
                    <a:pt x="90349" y="1464280"/>
                  </a:lnTo>
                  <a:lnTo>
                    <a:pt x="125799" y="1489333"/>
                  </a:lnTo>
                  <a:lnTo>
                    <a:pt x="165369" y="1508115"/>
                  </a:lnTo>
                  <a:lnTo>
                    <a:pt x="208342" y="1519909"/>
                  </a:lnTo>
                  <a:lnTo>
                    <a:pt x="254000" y="1524000"/>
                  </a:lnTo>
                  <a:lnTo>
                    <a:pt x="1652524" y="1524000"/>
                  </a:lnTo>
                  <a:lnTo>
                    <a:pt x="1698195" y="1519909"/>
                  </a:lnTo>
                  <a:lnTo>
                    <a:pt x="1741174" y="1508115"/>
                  </a:lnTo>
                  <a:lnTo>
                    <a:pt x="1780746" y="1489333"/>
                  </a:lnTo>
                  <a:lnTo>
                    <a:pt x="1816195" y="1464280"/>
                  </a:lnTo>
                  <a:lnTo>
                    <a:pt x="1846804" y="1433671"/>
                  </a:lnTo>
                  <a:lnTo>
                    <a:pt x="1871857" y="1398222"/>
                  </a:lnTo>
                  <a:lnTo>
                    <a:pt x="1890639" y="1358650"/>
                  </a:lnTo>
                  <a:lnTo>
                    <a:pt x="1902433" y="1315671"/>
                  </a:lnTo>
                  <a:lnTo>
                    <a:pt x="1906524" y="1270000"/>
                  </a:lnTo>
                  <a:lnTo>
                    <a:pt x="1906524" y="254000"/>
                  </a:lnTo>
                  <a:lnTo>
                    <a:pt x="1902433" y="208328"/>
                  </a:lnTo>
                  <a:lnTo>
                    <a:pt x="1890639" y="165349"/>
                  </a:lnTo>
                  <a:lnTo>
                    <a:pt x="1871857" y="125777"/>
                  </a:lnTo>
                  <a:lnTo>
                    <a:pt x="1846804" y="90328"/>
                  </a:lnTo>
                  <a:lnTo>
                    <a:pt x="1816195" y="59719"/>
                  </a:lnTo>
                  <a:lnTo>
                    <a:pt x="1780746" y="34666"/>
                  </a:lnTo>
                  <a:lnTo>
                    <a:pt x="1741174" y="15884"/>
                  </a:lnTo>
                  <a:lnTo>
                    <a:pt x="1698195" y="4090"/>
                  </a:lnTo>
                  <a:lnTo>
                    <a:pt x="1652524" y="0"/>
                  </a:lnTo>
                  <a:close/>
                </a:path>
              </a:pathLst>
            </a:custGeom>
            <a:solidFill>
              <a:srgbClr val="9E5E9B"/>
            </a:solidFill>
          </p:spPr>
          <p:txBody>
            <a:bodyPr wrap="square" lIns="0" tIns="0" rIns="0" bIns="0" rtlCol="0"/>
            <a:lstStyle/>
            <a:p>
              <a:endParaRPr/>
            </a:p>
          </p:txBody>
        </p:sp>
        <p:sp>
          <p:nvSpPr>
            <p:cNvPr id="5" name="object 5"/>
            <p:cNvSpPr/>
            <p:nvPr/>
          </p:nvSpPr>
          <p:spPr>
            <a:xfrm>
              <a:off x="1140714" y="1677161"/>
              <a:ext cx="1906905" cy="1524000"/>
            </a:xfrm>
            <a:custGeom>
              <a:avLst/>
              <a:gdLst/>
              <a:ahLst/>
              <a:cxnLst/>
              <a:rect l="l" t="t" r="r" b="b"/>
              <a:pathLst>
                <a:path w="1906905" h="1524000">
                  <a:moveTo>
                    <a:pt x="0" y="254000"/>
                  </a:moveTo>
                  <a:lnTo>
                    <a:pt x="4092" y="208328"/>
                  </a:lnTo>
                  <a:lnTo>
                    <a:pt x="15890" y="165349"/>
                  </a:lnTo>
                  <a:lnTo>
                    <a:pt x="34677" y="125777"/>
                  </a:lnTo>
                  <a:lnTo>
                    <a:pt x="59736" y="90328"/>
                  </a:lnTo>
                  <a:lnTo>
                    <a:pt x="90349" y="59719"/>
                  </a:lnTo>
                  <a:lnTo>
                    <a:pt x="125799" y="34666"/>
                  </a:lnTo>
                  <a:lnTo>
                    <a:pt x="165369" y="15884"/>
                  </a:lnTo>
                  <a:lnTo>
                    <a:pt x="208342" y="4090"/>
                  </a:lnTo>
                  <a:lnTo>
                    <a:pt x="254000" y="0"/>
                  </a:lnTo>
                  <a:lnTo>
                    <a:pt x="1652524" y="0"/>
                  </a:lnTo>
                  <a:lnTo>
                    <a:pt x="1698195" y="4090"/>
                  </a:lnTo>
                  <a:lnTo>
                    <a:pt x="1741174" y="15884"/>
                  </a:lnTo>
                  <a:lnTo>
                    <a:pt x="1780746" y="34666"/>
                  </a:lnTo>
                  <a:lnTo>
                    <a:pt x="1816195" y="59719"/>
                  </a:lnTo>
                  <a:lnTo>
                    <a:pt x="1846804" y="90328"/>
                  </a:lnTo>
                  <a:lnTo>
                    <a:pt x="1871857" y="125777"/>
                  </a:lnTo>
                  <a:lnTo>
                    <a:pt x="1890639" y="165349"/>
                  </a:lnTo>
                  <a:lnTo>
                    <a:pt x="1902433" y="208328"/>
                  </a:lnTo>
                  <a:lnTo>
                    <a:pt x="1906524" y="254000"/>
                  </a:lnTo>
                  <a:lnTo>
                    <a:pt x="1906524" y="1270000"/>
                  </a:lnTo>
                  <a:lnTo>
                    <a:pt x="1902433" y="1315671"/>
                  </a:lnTo>
                  <a:lnTo>
                    <a:pt x="1890639" y="1358650"/>
                  </a:lnTo>
                  <a:lnTo>
                    <a:pt x="1871857" y="1398222"/>
                  </a:lnTo>
                  <a:lnTo>
                    <a:pt x="1846804" y="1433671"/>
                  </a:lnTo>
                  <a:lnTo>
                    <a:pt x="1816195" y="1464280"/>
                  </a:lnTo>
                  <a:lnTo>
                    <a:pt x="1780746" y="1489333"/>
                  </a:lnTo>
                  <a:lnTo>
                    <a:pt x="1741174" y="1508115"/>
                  </a:lnTo>
                  <a:lnTo>
                    <a:pt x="1698195" y="1519909"/>
                  </a:lnTo>
                  <a:lnTo>
                    <a:pt x="1652524" y="1524000"/>
                  </a:lnTo>
                  <a:lnTo>
                    <a:pt x="254000" y="1524000"/>
                  </a:lnTo>
                  <a:lnTo>
                    <a:pt x="208342" y="1519909"/>
                  </a:lnTo>
                  <a:lnTo>
                    <a:pt x="165369" y="1508115"/>
                  </a:lnTo>
                  <a:lnTo>
                    <a:pt x="125799" y="1489333"/>
                  </a:lnTo>
                  <a:lnTo>
                    <a:pt x="90349" y="1464280"/>
                  </a:lnTo>
                  <a:lnTo>
                    <a:pt x="59736" y="1433671"/>
                  </a:lnTo>
                  <a:lnTo>
                    <a:pt x="34677" y="1398222"/>
                  </a:lnTo>
                  <a:lnTo>
                    <a:pt x="15890" y="1358650"/>
                  </a:lnTo>
                  <a:lnTo>
                    <a:pt x="4092" y="1315671"/>
                  </a:lnTo>
                  <a:lnTo>
                    <a:pt x="0" y="1270000"/>
                  </a:lnTo>
                  <a:lnTo>
                    <a:pt x="0" y="254000"/>
                  </a:lnTo>
                  <a:close/>
                </a:path>
              </a:pathLst>
            </a:custGeom>
            <a:ln w="19812">
              <a:solidFill>
                <a:srgbClr val="734370"/>
              </a:solidFill>
            </a:ln>
          </p:spPr>
          <p:txBody>
            <a:bodyPr wrap="square" lIns="0" tIns="0" rIns="0" bIns="0" rtlCol="0"/>
            <a:lstStyle/>
            <a:p>
              <a:endParaRPr/>
            </a:p>
          </p:txBody>
        </p:sp>
      </p:grpSp>
      <p:sp>
        <p:nvSpPr>
          <p:cNvPr id="6" name="object 6"/>
          <p:cNvSpPr txBox="1"/>
          <p:nvPr/>
        </p:nvSpPr>
        <p:spPr>
          <a:xfrm>
            <a:off x="1650619" y="2284603"/>
            <a:ext cx="88519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TeXGyreAdventor"/>
                <a:cs typeface="TeXGyreAdventor"/>
              </a:rPr>
              <a:t>Subnets</a:t>
            </a:r>
            <a:endParaRPr sz="1800">
              <a:latin typeface="TeXGyreAdventor"/>
              <a:cs typeface="TeXGyreAdventor"/>
            </a:endParaRPr>
          </a:p>
        </p:txBody>
      </p:sp>
      <p:grpSp>
        <p:nvGrpSpPr>
          <p:cNvPr id="7" name="object 7"/>
          <p:cNvGrpSpPr/>
          <p:nvPr/>
        </p:nvGrpSpPr>
        <p:grpSpPr>
          <a:xfrm>
            <a:off x="3189732" y="1659635"/>
            <a:ext cx="1926589" cy="1533525"/>
            <a:chOff x="3189732" y="1659635"/>
            <a:chExt cx="1926589" cy="1533525"/>
          </a:xfrm>
        </p:grpSpPr>
        <p:sp>
          <p:nvSpPr>
            <p:cNvPr id="8" name="object 8"/>
            <p:cNvSpPr/>
            <p:nvPr/>
          </p:nvSpPr>
          <p:spPr>
            <a:xfrm>
              <a:off x="3199638" y="1669541"/>
              <a:ext cx="1906905" cy="1513840"/>
            </a:xfrm>
            <a:custGeom>
              <a:avLst/>
              <a:gdLst/>
              <a:ahLst/>
              <a:cxnLst/>
              <a:rect l="l" t="t" r="r" b="b"/>
              <a:pathLst>
                <a:path w="1906904" h="1513839">
                  <a:moveTo>
                    <a:pt x="1654302" y="0"/>
                  </a:moveTo>
                  <a:lnTo>
                    <a:pt x="252222" y="0"/>
                  </a:lnTo>
                  <a:lnTo>
                    <a:pt x="206879" y="4062"/>
                  </a:lnTo>
                  <a:lnTo>
                    <a:pt x="164205" y="15777"/>
                  </a:lnTo>
                  <a:lnTo>
                    <a:pt x="124911" y="34431"/>
                  </a:lnTo>
                  <a:lnTo>
                    <a:pt x="89710" y="59312"/>
                  </a:lnTo>
                  <a:lnTo>
                    <a:pt x="59312" y="89710"/>
                  </a:lnTo>
                  <a:lnTo>
                    <a:pt x="34431" y="124911"/>
                  </a:lnTo>
                  <a:lnTo>
                    <a:pt x="15777" y="164205"/>
                  </a:lnTo>
                  <a:lnTo>
                    <a:pt x="4062" y="206879"/>
                  </a:lnTo>
                  <a:lnTo>
                    <a:pt x="0" y="252222"/>
                  </a:lnTo>
                  <a:lnTo>
                    <a:pt x="0" y="1261110"/>
                  </a:lnTo>
                  <a:lnTo>
                    <a:pt x="4062" y="1306452"/>
                  </a:lnTo>
                  <a:lnTo>
                    <a:pt x="15777" y="1349126"/>
                  </a:lnTo>
                  <a:lnTo>
                    <a:pt x="34431" y="1388420"/>
                  </a:lnTo>
                  <a:lnTo>
                    <a:pt x="59312" y="1423621"/>
                  </a:lnTo>
                  <a:lnTo>
                    <a:pt x="89710" y="1454019"/>
                  </a:lnTo>
                  <a:lnTo>
                    <a:pt x="124911" y="1478900"/>
                  </a:lnTo>
                  <a:lnTo>
                    <a:pt x="164205" y="1497554"/>
                  </a:lnTo>
                  <a:lnTo>
                    <a:pt x="206879" y="1509269"/>
                  </a:lnTo>
                  <a:lnTo>
                    <a:pt x="252222" y="1513332"/>
                  </a:lnTo>
                  <a:lnTo>
                    <a:pt x="1654302" y="1513332"/>
                  </a:lnTo>
                  <a:lnTo>
                    <a:pt x="1699644" y="1509269"/>
                  </a:lnTo>
                  <a:lnTo>
                    <a:pt x="1742318" y="1497554"/>
                  </a:lnTo>
                  <a:lnTo>
                    <a:pt x="1781612" y="1478900"/>
                  </a:lnTo>
                  <a:lnTo>
                    <a:pt x="1816813" y="1454019"/>
                  </a:lnTo>
                  <a:lnTo>
                    <a:pt x="1847211" y="1423621"/>
                  </a:lnTo>
                  <a:lnTo>
                    <a:pt x="1872092" y="1388420"/>
                  </a:lnTo>
                  <a:lnTo>
                    <a:pt x="1890746" y="1349126"/>
                  </a:lnTo>
                  <a:lnTo>
                    <a:pt x="1902461" y="1306452"/>
                  </a:lnTo>
                  <a:lnTo>
                    <a:pt x="1906524" y="1261110"/>
                  </a:lnTo>
                  <a:lnTo>
                    <a:pt x="1906524" y="252222"/>
                  </a:lnTo>
                  <a:lnTo>
                    <a:pt x="1902461" y="206879"/>
                  </a:lnTo>
                  <a:lnTo>
                    <a:pt x="1890746" y="164205"/>
                  </a:lnTo>
                  <a:lnTo>
                    <a:pt x="1872092" y="124911"/>
                  </a:lnTo>
                  <a:lnTo>
                    <a:pt x="1847211" y="89710"/>
                  </a:lnTo>
                  <a:lnTo>
                    <a:pt x="1816813" y="59312"/>
                  </a:lnTo>
                  <a:lnTo>
                    <a:pt x="1781612" y="34431"/>
                  </a:lnTo>
                  <a:lnTo>
                    <a:pt x="1742318" y="15777"/>
                  </a:lnTo>
                  <a:lnTo>
                    <a:pt x="1699644" y="4062"/>
                  </a:lnTo>
                  <a:lnTo>
                    <a:pt x="1654302" y="0"/>
                  </a:lnTo>
                  <a:close/>
                </a:path>
              </a:pathLst>
            </a:custGeom>
            <a:solidFill>
              <a:srgbClr val="9E5E9B"/>
            </a:solidFill>
          </p:spPr>
          <p:txBody>
            <a:bodyPr wrap="square" lIns="0" tIns="0" rIns="0" bIns="0" rtlCol="0"/>
            <a:lstStyle/>
            <a:p>
              <a:endParaRPr/>
            </a:p>
          </p:txBody>
        </p:sp>
        <p:sp>
          <p:nvSpPr>
            <p:cNvPr id="9" name="object 9"/>
            <p:cNvSpPr/>
            <p:nvPr/>
          </p:nvSpPr>
          <p:spPr>
            <a:xfrm>
              <a:off x="3199638" y="1669541"/>
              <a:ext cx="1906905" cy="1513840"/>
            </a:xfrm>
            <a:custGeom>
              <a:avLst/>
              <a:gdLst/>
              <a:ahLst/>
              <a:cxnLst/>
              <a:rect l="l" t="t" r="r" b="b"/>
              <a:pathLst>
                <a:path w="1906904" h="1513839">
                  <a:moveTo>
                    <a:pt x="0" y="252222"/>
                  </a:moveTo>
                  <a:lnTo>
                    <a:pt x="4062" y="206879"/>
                  </a:lnTo>
                  <a:lnTo>
                    <a:pt x="15777" y="164205"/>
                  </a:lnTo>
                  <a:lnTo>
                    <a:pt x="34431" y="124911"/>
                  </a:lnTo>
                  <a:lnTo>
                    <a:pt x="59312" y="89710"/>
                  </a:lnTo>
                  <a:lnTo>
                    <a:pt x="89710" y="59312"/>
                  </a:lnTo>
                  <a:lnTo>
                    <a:pt x="124911" y="34431"/>
                  </a:lnTo>
                  <a:lnTo>
                    <a:pt x="164205" y="15777"/>
                  </a:lnTo>
                  <a:lnTo>
                    <a:pt x="206879" y="4062"/>
                  </a:lnTo>
                  <a:lnTo>
                    <a:pt x="252222" y="0"/>
                  </a:lnTo>
                  <a:lnTo>
                    <a:pt x="1654302" y="0"/>
                  </a:lnTo>
                  <a:lnTo>
                    <a:pt x="1699644" y="4062"/>
                  </a:lnTo>
                  <a:lnTo>
                    <a:pt x="1742318" y="15777"/>
                  </a:lnTo>
                  <a:lnTo>
                    <a:pt x="1781612" y="34431"/>
                  </a:lnTo>
                  <a:lnTo>
                    <a:pt x="1816813" y="59312"/>
                  </a:lnTo>
                  <a:lnTo>
                    <a:pt x="1847211" y="89710"/>
                  </a:lnTo>
                  <a:lnTo>
                    <a:pt x="1872092" y="124911"/>
                  </a:lnTo>
                  <a:lnTo>
                    <a:pt x="1890746" y="164205"/>
                  </a:lnTo>
                  <a:lnTo>
                    <a:pt x="1902461" y="206879"/>
                  </a:lnTo>
                  <a:lnTo>
                    <a:pt x="1906524" y="252222"/>
                  </a:lnTo>
                  <a:lnTo>
                    <a:pt x="1906524" y="1261110"/>
                  </a:lnTo>
                  <a:lnTo>
                    <a:pt x="1902461" y="1306452"/>
                  </a:lnTo>
                  <a:lnTo>
                    <a:pt x="1890746" y="1349126"/>
                  </a:lnTo>
                  <a:lnTo>
                    <a:pt x="1872092" y="1388420"/>
                  </a:lnTo>
                  <a:lnTo>
                    <a:pt x="1847211" y="1423621"/>
                  </a:lnTo>
                  <a:lnTo>
                    <a:pt x="1816813" y="1454019"/>
                  </a:lnTo>
                  <a:lnTo>
                    <a:pt x="1781612" y="1478900"/>
                  </a:lnTo>
                  <a:lnTo>
                    <a:pt x="1742318" y="1497554"/>
                  </a:lnTo>
                  <a:lnTo>
                    <a:pt x="1699644" y="1509269"/>
                  </a:lnTo>
                  <a:lnTo>
                    <a:pt x="1654302" y="1513332"/>
                  </a:lnTo>
                  <a:lnTo>
                    <a:pt x="252222" y="1513332"/>
                  </a:lnTo>
                  <a:lnTo>
                    <a:pt x="206879" y="1509269"/>
                  </a:lnTo>
                  <a:lnTo>
                    <a:pt x="164205" y="1497554"/>
                  </a:lnTo>
                  <a:lnTo>
                    <a:pt x="124911" y="1478900"/>
                  </a:lnTo>
                  <a:lnTo>
                    <a:pt x="89710" y="1454019"/>
                  </a:lnTo>
                  <a:lnTo>
                    <a:pt x="59312" y="1423621"/>
                  </a:lnTo>
                  <a:lnTo>
                    <a:pt x="34431" y="1388420"/>
                  </a:lnTo>
                  <a:lnTo>
                    <a:pt x="15777" y="1349126"/>
                  </a:lnTo>
                  <a:lnTo>
                    <a:pt x="4062" y="1306452"/>
                  </a:lnTo>
                  <a:lnTo>
                    <a:pt x="0" y="1261110"/>
                  </a:lnTo>
                  <a:lnTo>
                    <a:pt x="0" y="252222"/>
                  </a:lnTo>
                  <a:close/>
                </a:path>
              </a:pathLst>
            </a:custGeom>
            <a:ln w="19812">
              <a:solidFill>
                <a:srgbClr val="734370"/>
              </a:solidFill>
            </a:ln>
          </p:spPr>
          <p:txBody>
            <a:bodyPr wrap="square" lIns="0" tIns="0" rIns="0" bIns="0" rtlCol="0"/>
            <a:lstStyle/>
            <a:p>
              <a:endParaRPr/>
            </a:p>
          </p:txBody>
        </p:sp>
      </p:grpSp>
      <p:sp>
        <p:nvSpPr>
          <p:cNvPr id="10" name="object 10"/>
          <p:cNvSpPr txBox="1"/>
          <p:nvPr/>
        </p:nvSpPr>
        <p:spPr>
          <a:xfrm>
            <a:off x="3788790" y="2134870"/>
            <a:ext cx="725805" cy="574675"/>
          </a:xfrm>
          <a:prstGeom prst="rect">
            <a:avLst/>
          </a:prstGeom>
        </p:spPr>
        <p:txBody>
          <a:bodyPr vert="horz" wrap="square" lIns="0" tIns="12700" rIns="0" bIns="0" rtlCol="0">
            <a:spAutoFit/>
          </a:bodyPr>
          <a:lstStyle/>
          <a:p>
            <a:pPr marL="47625">
              <a:lnSpc>
                <a:spcPct val="100000"/>
              </a:lnSpc>
              <a:spcBef>
                <a:spcPts val="100"/>
              </a:spcBef>
            </a:pPr>
            <a:r>
              <a:rPr sz="1800" b="1" spc="-5" dirty="0">
                <a:solidFill>
                  <a:srgbClr val="FFFFFF"/>
                </a:solidFill>
                <a:latin typeface="TeXGyreAdventor"/>
                <a:cs typeface="TeXGyreAdventor"/>
              </a:rPr>
              <a:t>Route</a:t>
            </a:r>
            <a:endParaRPr sz="1800">
              <a:latin typeface="TeXGyreAdventor"/>
              <a:cs typeface="TeXGyreAdventor"/>
            </a:endParaRPr>
          </a:p>
          <a:p>
            <a:pPr marL="12700">
              <a:lnSpc>
                <a:spcPct val="100000"/>
              </a:lnSpc>
            </a:pPr>
            <a:r>
              <a:rPr sz="1800" b="1" spc="-5" dirty="0">
                <a:solidFill>
                  <a:srgbClr val="FFFFFF"/>
                </a:solidFill>
                <a:latin typeface="TeXGyreAdventor"/>
                <a:cs typeface="TeXGyreAdventor"/>
              </a:rPr>
              <a:t>Tables</a:t>
            </a:r>
            <a:endParaRPr sz="1800">
              <a:latin typeface="TeXGyreAdventor"/>
              <a:cs typeface="TeXGyreAdventor"/>
            </a:endParaRPr>
          </a:p>
        </p:txBody>
      </p:sp>
      <p:grpSp>
        <p:nvGrpSpPr>
          <p:cNvPr id="11" name="object 11"/>
          <p:cNvGrpSpPr/>
          <p:nvPr/>
        </p:nvGrpSpPr>
        <p:grpSpPr>
          <a:xfrm>
            <a:off x="5247132" y="1677923"/>
            <a:ext cx="1926589" cy="1533525"/>
            <a:chOff x="5247132" y="1677923"/>
            <a:chExt cx="1926589" cy="1533525"/>
          </a:xfrm>
        </p:grpSpPr>
        <p:sp>
          <p:nvSpPr>
            <p:cNvPr id="12" name="object 12"/>
            <p:cNvSpPr/>
            <p:nvPr/>
          </p:nvSpPr>
          <p:spPr>
            <a:xfrm>
              <a:off x="5257038" y="1687829"/>
              <a:ext cx="1906905" cy="1513840"/>
            </a:xfrm>
            <a:custGeom>
              <a:avLst/>
              <a:gdLst/>
              <a:ahLst/>
              <a:cxnLst/>
              <a:rect l="l" t="t" r="r" b="b"/>
              <a:pathLst>
                <a:path w="1906904" h="1513839">
                  <a:moveTo>
                    <a:pt x="1654302" y="0"/>
                  </a:moveTo>
                  <a:lnTo>
                    <a:pt x="252222" y="0"/>
                  </a:lnTo>
                  <a:lnTo>
                    <a:pt x="206879" y="4062"/>
                  </a:lnTo>
                  <a:lnTo>
                    <a:pt x="164205" y="15777"/>
                  </a:lnTo>
                  <a:lnTo>
                    <a:pt x="124911" y="34431"/>
                  </a:lnTo>
                  <a:lnTo>
                    <a:pt x="89710" y="59312"/>
                  </a:lnTo>
                  <a:lnTo>
                    <a:pt x="59312" y="89710"/>
                  </a:lnTo>
                  <a:lnTo>
                    <a:pt x="34431" y="124911"/>
                  </a:lnTo>
                  <a:lnTo>
                    <a:pt x="15777" y="164205"/>
                  </a:lnTo>
                  <a:lnTo>
                    <a:pt x="4062" y="206879"/>
                  </a:lnTo>
                  <a:lnTo>
                    <a:pt x="0" y="252222"/>
                  </a:lnTo>
                  <a:lnTo>
                    <a:pt x="0" y="1261110"/>
                  </a:lnTo>
                  <a:lnTo>
                    <a:pt x="4062" y="1306452"/>
                  </a:lnTo>
                  <a:lnTo>
                    <a:pt x="15777" y="1349126"/>
                  </a:lnTo>
                  <a:lnTo>
                    <a:pt x="34431" y="1388420"/>
                  </a:lnTo>
                  <a:lnTo>
                    <a:pt x="59312" y="1423621"/>
                  </a:lnTo>
                  <a:lnTo>
                    <a:pt x="89710" y="1454019"/>
                  </a:lnTo>
                  <a:lnTo>
                    <a:pt x="124911" y="1478900"/>
                  </a:lnTo>
                  <a:lnTo>
                    <a:pt x="164205" y="1497554"/>
                  </a:lnTo>
                  <a:lnTo>
                    <a:pt x="206879" y="1509269"/>
                  </a:lnTo>
                  <a:lnTo>
                    <a:pt x="252222" y="1513332"/>
                  </a:lnTo>
                  <a:lnTo>
                    <a:pt x="1654302" y="1513332"/>
                  </a:lnTo>
                  <a:lnTo>
                    <a:pt x="1699644" y="1509269"/>
                  </a:lnTo>
                  <a:lnTo>
                    <a:pt x="1742318" y="1497554"/>
                  </a:lnTo>
                  <a:lnTo>
                    <a:pt x="1781612" y="1478900"/>
                  </a:lnTo>
                  <a:lnTo>
                    <a:pt x="1816813" y="1454019"/>
                  </a:lnTo>
                  <a:lnTo>
                    <a:pt x="1847211" y="1423621"/>
                  </a:lnTo>
                  <a:lnTo>
                    <a:pt x="1872092" y="1388420"/>
                  </a:lnTo>
                  <a:lnTo>
                    <a:pt x="1890746" y="1349126"/>
                  </a:lnTo>
                  <a:lnTo>
                    <a:pt x="1902461" y="1306452"/>
                  </a:lnTo>
                  <a:lnTo>
                    <a:pt x="1906523" y="1261110"/>
                  </a:lnTo>
                  <a:lnTo>
                    <a:pt x="1906523" y="252222"/>
                  </a:lnTo>
                  <a:lnTo>
                    <a:pt x="1902461" y="206879"/>
                  </a:lnTo>
                  <a:lnTo>
                    <a:pt x="1890746" y="164205"/>
                  </a:lnTo>
                  <a:lnTo>
                    <a:pt x="1872092" y="124911"/>
                  </a:lnTo>
                  <a:lnTo>
                    <a:pt x="1847211" y="89710"/>
                  </a:lnTo>
                  <a:lnTo>
                    <a:pt x="1816813" y="59312"/>
                  </a:lnTo>
                  <a:lnTo>
                    <a:pt x="1781612" y="34431"/>
                  </a:lnTo>
                  <a:lnTo>
                    <a:pt x="1742318" y="15777"/>
                  </a:lnTo>
                  <a:lnTo>
                    <a:pt x="1699644" y="4062"/>
                  </a:lnTo>
                  <a:lnTo>
                    <a:pt x="1654302" y="0"/>
                  </a:lnTo>
                  <a:close/>
                </a:path>
              </a:pathLst>
            </a:custGeom>
            <a:solidFill>
              <a:srgbClr val="9E5E9B"/>
            </a:solidFill>
          </p:spPr>
          <p:txBody>
            <a:bodyPr wrap="square" lIns="0" tIns="0" rIns="0" bIns="0" rtlCol="0"/>
            <a:lstStyle/>
            <a:p>
              <a:endParaRPr/>
            </a:p>
          </p:txBody>
        </p:sp>
        <p:sp>
          <p:nvSpPr>
            <p:cNvPr id="13" name="object 13"/>
            <p:cNvSpPr/>
            <p:nvPr/>
          </p:nvSpPr>
          <p:spPr>
            <a:xfrm>
              <a:off x="5257038" y="1687829"/>
              <a:ext cx="1906905" cy="1513840"/>
            </a:xfrm>
            <a:custGeom>
              <a:avLst/>
              <a:gdLst/>
              <a:ahLst/>
              <a:cxnLst/>
              <a:rect l="l" t="t" r="r" b="b"/>
              <a:pathLst>
                <a:path w="1906904" h="1513839">
                  <a:moveTo>
                    <a:pt x="0" y="252222"/>
                  </a:moveTo>
                  <a:lnTo>
                    <a:pt x="4062" y="206879"/>
                  </a:lnTo>
                  <a:lnTo>
                    <a:pt x="15777" y="164205"/>
                  </a:lnTo>
                  <a:lnTo>
                    <a:pt x="34431" y="124911"/>
                  </a:lnTo>
                  <a:lnTo>
                    <a:pt x="59312" y="89710"/>
                  </a:lnTo>
                  <a:lnTo>
                    <a:pt x="89710" y="59312"/>
                  </a:lnTo>
                  <a:lnTo>
                    <a:pt x="124911" y="34431"/>
                  </a:lnTo>
                  <a:lnTo>
                    <a:pt x="164205" y="15777"/>
                  </a:lnTo>
                  <a:lnTo>
                    <a:pt x="206879" y="4062"/>
                  </a:lnTo>
                  <a:lnTo>
                    <a:pt x="252222" y="0"/>
                  </a:lnTo>
                  <a:lnTo>
                    <a:pt x="1654302" y="0"/>
                  </a:lnTo>
                  <a:lnTo>
                    <a:pt x="1699644" y="4062"/>
                  </a:lnTo>
                  <a:lnTo>
                    <a:pt x="1742318" y="15777"/>
                  </a:lnTo>
                  <a:lnTo>
                    <a:pt x="1781612" y="34431"/>
                  </a:lnTo>
                  <a:lnTo>
                    <a:pt x="1816813" y="59312"/>
                  </a:lnTo>
                  <a:lnTo>
                    <a:pt x="1847211" y="89710"/>
                  </a:lnTo>
                  <a:lnTo>
                    <a:pt x="1872092" y="124911"/>
                  </a:lnTo>
                  <a:lnTo>
                    <a:pt x="1890746" y="164205"/>
                  </a:lnTo>
                  <a:lnTo>
                    <a:pt x="1902461" y="206879"/>
                  </a:lnTo>
                  <a:lnTo>
                    <a:pt x="1906523" y="252222"/>
                  </a:lnTo>
                  <a:lnTo>
                    <a:pt x="1906523" y="1261110"/>
                  </a:lnTo>
                  <a:lnTo>
                    <a:pt x="1902461" y="1306452"/>
                  </a:lnTo>
                  <a:lnTo>
                    <a:pt x="1890746" y="1349126"/>
                  </a:lnTo>
                  <a:lnTo>
                    <a:pt x="1872092" y="1388420"/>
                  </a:lnTo>
                  <a:lnTo>
                    <a:pt x="1847211" y="1423621"/>
                  </a:lnTo>
                  <a:lnTo>
                    <a:pt x="1816813" y="1454019"/>
                  </a:lnTo>
                  <a:lnTo>
                    <a:pt x="1781612" y="1478900"/>
                  </a:lnTo>
                  <a:lnTo>
                    <a:pt x="1742318" y="1497554"/>
                  </a:lnTo>
                  <a:lnTo>
                    <a:pt x="1699644" y="1509269"/>
                  </a:lnTo>
                  <a:lnTo>
                    <a:pt x="1654302" y="1513332"/>
                  </a:lnTo>
                  <a:lnTo>
                    <a:pt x="252222" y="1513332"/>
                  </a:lnTo>
                  <a:lnTo>
                    <a:pt x="206879" y="1509269"/>
                  </a:lnTo>
                  <a:lnTo>
                    <a:pt x="164205" y="1497554"/>
                  </a:lnTo>
                  <a:lnTo>
                    <a:pt x="124911" y="1478900"/>
                  </a:lnTo>
                  <a:lnTo>
                    <a:pt x="89710" y="1454019"/>
                  </a:lnTo>
                  <a:lnTo>
                    <a:pt x="59312" y="1423621"/>
                  </a:lnTo>
                  <a:lnTo>
                    <a:pt x="34431" y="1388420"/>
                  </a:lnTo>
                  <a:lnTo>
                    <a:pt x="15777" y="1349126"/>
                  </a:lnTo>
                  <a:lnTo>
                    <a:pt x="4062" y="1306452"/>
                  </a:lnTo>
                  <a:lnTo>
                    <a:pt x="0" y="1261110"/>
                  </a:lnTo>
                  <a:lnTo>
                    <a:pt x="0" y="252222"/>
                  </a:lnTo>
                  <a:close/>
                </a:path>
              </a:pathLst>
            </a:custGeom>
            <a:ln w="19811">
              <a:solidFill>
                <a:srgbClr val="734370"/>
              </a:solidFill>
            </a:ln>
          </p:spPr>
          <p:txBody>
            <a:bodyPr wrap="square" lIns="0" tIns="0" rIns="0" bIns="0" rtlCol="0"/>
            <a:lstStyle/>
            <a:p>
              <a:endParaRPr/>
            </a:p>
          </p:txBody>
        </p:sp>
      </p:grpSp>
      <p:sp>
        <p:nvSpPr>
          <p:cNvPr id="14" name="object 14"/>
          <p:cNvSpPr txBox="1"/>
          <p:nvPr/>
        </p:nvSpPr>
        <p:spPr>
          <a:xfrm>
            <a:off x="5685535" y="2152903"/>
            <a:ext cx="1050290" cy="574040"/>
          </a:xfrm>
          <a:prstGeom prst="rect">
            <a:avLst/>
          </a:prstGeom>
        </p:spPr>
        <p:txBody>
          <a:bodyPr vert="horz" wrap="square" lIns="0" tIns="12700" rIns="0" bIns="0" rtlCol="0">
            <a:spAutoFit/>
          </a:bodyPr>
          <a:lstStyle/>
          <a:p>
            <a:pPr marL="12700" marR="5080" indent="91440">
              <a:lnSpc>
                <a:spcPct val="100000"/>
              </a:lnSpc>
              <a:spcBef>
                <a:spcPts val="100"/>
              </a:spcBef>
            </a:pPr>
            <a:r>
              <a:rPr sz="1800" b="1" spc="-5" dirty="0">
                <a:solidFill>
                  <a:srgbClr val="FFFFFF"/>
                </a:solidFill>
                <a:latin typeface="TeXGyreAdventor"/>
                <a:cs typeface="TeXGyreAdventor"/>
              </a:rPr>
              <a:t>Internet  Gateway</a:t>
            </a:r>
            <a:endParaRPr sz="1800">
              <a:latin typeface="TeXGyreAdventor"/>
              <a:cs typeface="TeXGyreAdventor"/>
            </a:endParaRPr>
          </a:p>
        </p:txBody>
      </p:sp>
      <p:grpSp>
        <p:nvGrpSpPr>
          <p:cNvPr id="15" name="object 15"/>
          <p:cNvGrpSpPr/>
          <p:nvPr/>
        </p:nvGrpSpPr>
        <p:grpSpPr>
          <a:xfrm>
            <a:off x="7266431" y="1648967"/>
            <a:ext cx="1926589" cy="1544320"/>
            <a:chOff x="7266431" y="1648967"/>
            <a:chExt cx="1926589" cy="1544320"/>
          </a:xfrm>
        </p:grpSpPr>
        <p:sp>
          <p:nvSpPr>
            <p:cNvPr id="16" name="object 16"/>
            <p:cNvSpPr/>
            <p:nvPr/>
          </p:nvSpPr>
          <p:spPr>
            <a:xfrm>
              <a:off x="7276337" y="1658873"/>
              <a:ext cx="1906905" cy="1524000"/>
            </a:xfrm>
            <a:custGeom>
              <a:avLst/>
              <a:gdLst/>
              <a:ahLst/>
              <a:cxnLst/>
              <a:rect l="l" t="t" r="r" b="b"/>
              <a:pathLst>
                <a:path w="1906904" h="1524000">
                  <a:moveTo>
                    <a:pt x="1652523" y="0"/>
                  </a:moveTo>
                  <a:lnTo>
                    <a:pt x="254000" y="0"/>
                  </a:lnTo>
                  <a:lnTo>
                    <a:pt x="208328" y="4090"/>
                  </a:lnTo>
                  <a:lnTo>
                    <a:pt x="165349" y="15884"/>
                  </a:lnTo>
                  <a:lnTo>
                    <a:pt x="125777" y="34666"/>
                  </a:lnTo>
                  <a:lnTo>
                    <a:pt x="90328" y="59719"/>
                  </a:lnTo>
                  <a:lnTo>
                    <a:pt x="59719" y="90328"/>
                  </a:lnTo>
                  <a:lnTo>
                    <a:pt x="34666" y="125777"/>
                  </a:lnTo>
                  <a:lnTo>
                    <a:pt x="15884" y="165349"/>
                  </a:lnTo>
                  <a:lnTo>
                    <a:pt x="4090" y="208328"/>
                  </a:lnTo>
                  <a:lnTo>
                    <a:pt x="0" y="254000"/>
                  </a:lnTo>
                  <a:lnTo>
                    <a:pt x="0" y="1270000"/>
                  </a:lnTo>
                  <a:lnTo>
                    <a:pt x="4090" y="1315671"/>
                  </a:lnTo>
                  <a:lnTo>
                    <a:pt x="15884" y="1358650"/>
                  </a:lnTo>
                  <a:lnTo>
                    <a:pt x="34666" y="1398222"/>
                  </a:lnTo>
                  <a:lnTo>
                    <a:pt x="59719" y="1433671"/>
                  </a:lnTo>
                  <a:lnTo>
                    <a:pt x="90328" y="1464280"/>
                  </a:lnTo>
                  <a:lnTo>
                    <a:pt x="125777" y="1489333"/>
                  </a:lnTo>
                  <a:lnTo>
                    <a:pt x="165349" y="1508115"/>
                  </a:lnTo>
                  <a:lnTo>
                    <a:pt x="208328" y="1519909"/>
                  </a:lnTo>
                  <a:lnTo>
                    <a:pt x="254000" y="1524000"/>
                  </a:lnTo>
                  <a:lnTo>
                    <a:pt x="1652523" y="1524000"/>
                  </a:lnTo>
                  <a:lnTo>
                    <a:pt x="1698195" y="1519909"/>
                  </a:lnTo>
                  <a:lnTo>
                    <a:pt x="1741174" y="1508115"/>
                  </a:lnTo>
                  <a:lnTo>
                    <a:pt x="1780746" y="1489333"/>
                  </a:lnTo>
                  <a:lnTo>
                    <a:pt x="1816195" y="1464280"/>
                  </a:lnTo>
                  <a:lnTo>
                    <a:pt x="1846804" y="1433671"/>
                  </a:lnTo>
                  <a:lnTo>
                    <a:pt x="1871857" y="1398222"/>
                  </a:lnTo>
                  <a:lnTo>
                    <a:pt x="1890639" y="1358650"/>
                  </a:lnTo>
                  <a:lnTo>
                    <a:pt x="1902433" y="1315671"/>
                  </a:lnTo>
                  <a:lnTo>
                    <a:pt x="1906523" y="1270000"/>
                  </a:lnTo>
                  <a:lnTo>
                    <a:pt x="1906523" y="254000"/>
                  </a:lnTo>
                  <a:lnTo>
                    <a:pt x="1902433" y="208328"/>
                  </a:lnTo>
                  <a:lnTo>
                    <a:pt x="1890639" y="165349"/>
                  </a:lnTo>
                  <a:lnTo>
                    <a:pt x="1871857" y="125777"/>
                  </a:lnTo>
                  <a:lnTo>
                    <a:pt x="1846804" y="90328"/>
                  </a:lnTo>
                  <a:lnTo>
                    <a:pt x="1816195" y="59719"/>
                  </a:lnTo>
                  <a:lnTo>
                    <a:pt x="1780746" y="34666"/>
                  </a:lnTo>
                  <a:lnTo>
                    <a:pt x="1741174" y="15884"/>
                  </a:lnTo>
                  <a:lnTo>
                    <a:pt x="1698195" y="4090"/>
                  </a:lnTo>
                  <a:lnTo>
                    <a:pt x="1652523" y="0"/>
                  </a:lnTo>
                  <a:close/>
                </a:path>
              </a:pathLst>
            </a:custGeom>
            <a:solidFill>
              <a:srgbClr val="9E5E9B"/>
            </a:solidFill>
          </p:spPr>
          <p:txBody>
            <a:bodyPr wrap="square" lIns="0" tIns="0" rIns="0" bIns="0" rtlCol="0"/>
            <a:lstStyle/>
            <a:p>
              <a:endParaRPr/>
            </a:p>
          </p:txBody>
        </p:sp>
        <p:sp>
          <p:nvSpPr>
            <p:cNvPr id="17" name="object 17"/>
            <p:cNvSpPr/>
            <p:nvPr/>
          </p:nvSpPr>
          <p:spPr>
            <a:xfrm>
              <a:off x="7276337" y="1658873"/>
              <a:ext cx="1906905" cy="1524000"/>
            </a:xfrm>
            <a:custGeom>
              <a:avLst/>
              <a:gdLst/>
              <a:ahLst/>
              <a:cxnLst/>
              <a:rect l="l" t="t" r="r" b="b"/>
              <a:pathLst>
                <a:path w="1906904" h="15240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652523" y="0"/>
                  </a:lnTo>
                  <a:lnTo>
                    <a:pt x="1698195" y="4090"/>
                  </a:lnTo>
                  <a:lnTo>
                    <a:pt x="1741174" y="15884"/>
                  </a:lnTo>
                  <a:lnTo>
                    <a:pt x="1780746" y="34666"/>
                  </a:lnTo>
                  <a:lnTo>
                    <a:pt x="1816195" y="59719"/>
                  </a:lnTo>
                  <a:lnTo>
                    <a:pt x="1846804" y="90328"/>
                  </a:lnTo>
                  <a:lnTo>
                    <a:pt x="1871857" y="125777"/>
                  </a:lnTo>
                  <a:lnTo>
                    <a:pt x="1890639" y="165349"/>
                  </a:lnTo>
                  <a:lnTo>
                    <a:pt x="1902433" y="208328"/>
                  </a:lnTo>
                  <a:lnTo>
                    <a:pt x="1906523" y="254000"/>
                  </a:lnTo>
                  <a:lnTo>
                    <a:pt x="1906523" y="1270000"/>
                  </a:lnTo>
                  <a:lnTo>
                    <a:pt x="1902433" y="1315671"/>
                  </a:lnTo>
                  <a:lnTo>
                    <a:pt x="1890639" y="1358650"/>
                  </a:lnTo>
                  <a:lnTo>
                    <a:pt x="1871857" y="1398222"/>
                  </a:lnTo>
                  <a:lnTo>
                    <a:pt x="1846804" y="1433671"/>
                  </a:lnTo>
                  <a:lnTo>
                    <a:pt x="1816195" y="1464280"/>
                  </a:lnTo>
                  <a:lnTo>
                    <a:pt x="1780746" y="1489333"/>
                  </a:lnTo>
                  <a:lnTo>
                    <a:pt x="1741174" y="1508115"/>
                  </a:lnTo>
                  <a:lnTo>
                    <a:pt x="1698195" y="1519909"/>
                  </a:lnTo>
                  <a:lnTo>
                    <a:pt x="1652523" y="1524000"/>
                  </a:lnTo>
                  <a:lnTo>
                    <a:pt x="254000" y="1524000"/>
                  </a:lnTo>
                  <a:lnTo>
                    <a:pt x="208328" y="1519909"/>
                  </a:lnTo>
                  <a:lnTo>
                    <a:pt x="165349" y="1508115"/>
                  </a:lnTo>
                  <a:lnTo>
                    <a:pt x="125777" y="1489333"/>
                  </a:lnTo>
                  <a:lnTo>
                    <a:pt x="90328" y="1464280"/>
                  </a:lnTo>
                  <a:lnTo>
                    <a:pt x="59719" y="1433671"/>
                  </a:lnTo>
                  <a:lnTo>
                    <a:pt x="34666" y="1398222"/>
                  </a:lnTo>
                  <a:lnTo>
                    <a:pt x="15884" y="1358650"/>
                  </a:lnTo>
                  <a:lnTo>
                    <a:pt x="4090" y="1315671"/>
                  </a:lnTo>
                  <a:lnTo>
                    <a:pt x="0" y="1270000"/>
                  </a:lnTo>
                  <a:lnTo>
                    <a:pt x="0" y="254000"/>
                  </a:lnTo>
                  <a:close/>
                </a:path>
              </a:pathLst>
            </a:custGeom>
            <a:ln w="19812">
              <a:solidFill>
                <a:srgbClr val="734370"/>
              </a:solidFill>
            </a:ln>
          </p:spPr>
          <p:txBody>
            <a:bodyPr wrap="square" lIns="0" tIns="0" rIns="0" bIns="0" rtlCol="0"/>
            <a:lstStyle/>
            <a:p>
              <a:endParaRPr/>
            </a:p>
          </p:txBody>
        </p:sp>
      </p:grpSp>
      <p:sp>
        <p:nvSpPr>
          <p:cNvPr id="18" name="object 18"/>
          <p:cNvSpPr txBox="1"/>
          <p:nvPr/>
        </p:nvSpPr>
        <p:spPr>
          <a:xfrm>
            <a:off x="7703946" y="2129409"/>
            <a:ext cx="1050290" cy="574675"/>
          </a:xfrm>
          <a:prstGeom prst="rect">
            <a:avLst/>
          </a:prstGeom>
        </p:spPr>
        <p:txBody>
          <a:bodyPr vert="horz" wrap="square" lIns="0" tIns="12700" rIns="0" bIns="0" rtlCol="0">
            <a:spAutoFit/>
          </a:bodyPr>
          <a:lstStyle/>
          <a:p>
            <a:pPr marL="1270" algn="ctr">
              <a:lnSpc>
                <a:spcPct val="100000"/>
              </a:lnSpc>
              <a:spcBef>
                <a:spcPts val="100"/>
              </a:spcBef>
            </a:pPr>
            <a:r>
              <a:rPr sz="1800" b="1" spc="-5" dirty="0">
                <a:solidFill>
                  <a:srgbClr val="FFFFFF"/>
                </a:solidFill>
                <a:latin typeface="TeXGyreAdventor"/>
                <a:cs typeface="TeXGyreAdventor"/>
              </a:rPr>
              <a:t>NAT</a:t>
            </a:r>
            <a:endParaRPr sz="1800">
              <a:latin typeface="TeXGyreAdventor"/>
              <a:cs typeface="TeXGyreAdventor"/>
            </a:endParaRPr>
          </a:p>
          <a:p>
            <a:pPr algn="ctr">
              <a:lnSpc>
                <a:spcPct val="100000"/>
              </a:lnSpc>
            </a:pPr>
            <a:r>
              <a:rPr sz="1800" b="1" dirty="0">
                <a:solidFill>
                  <a:srgbClr val="FFFFFF"/>
                </a:solidFill>
                <a:latin typeface="TeXGyreAdventor"/>
                <a:cs typeface="TeXGyreAdventor"/>
              </a:rPr>
              <a:t>Gateway</a:t>
            </a:r>
            <a:endParaRPr sz="1800">
              <a:latin typeface="TeXGyreAdventor"/>
              <a:cs typeface="TeXGyreAdventor"/>
            </a:endParaRPr>
          </a:p>
        </p:txBody>
      </p:sp>
      <p:sp>
        <p:nvSpPr>
          <p:cNvPr id="19" name="object 19"/>
          <p:cNvSpPr txBox="1"/>
          <p:nvPr/>
        </p:nvSpPr>
        <p:spPr>
          <a:xfrm>
            <a:off x="10661650" y="570992"/>
            <a:ext cx="22225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FFFFFF"/>
                </a:solidFill>
                <a:latin typeface="TeXGyreAdventor"/>
                <a:cs typeface="TeXGyreAdventor"/>
              </a:rPr>
              <a:t>8</a:t>
            </a:r>
            <a:endParaRPr sz="2800">
              <a:latin typeface="TeXGyreAdventor"/>
              <a:cs typeface="TeXGyreAdventor"/>
            </a:endParaRPr>
          </a:p>
        </p:txBody>
      </p:sp>
      <p:grpSp>
        <p:nvGrpSpPr>
          <p:cNvPr id="20" name="object 20"/>
          <p:cNvGrpSpPr/>
          <p:nvPr/>
        </p:nvGrpSpPr>
        <p:grpSpPr>
          <a:xfrm>
            <a:off x="1063752" y="3648455"/>
            <a:ext cx="1926589" cy="1544320"/>
            <a:chOff x="1063752" y="3648455"/>
            <a:chExt cx="1926589" cy="1544320"/>
          </a:xfrm>
        </p:grpSpPr>
        <p:sp>
          <p:nvSpPr>
            <p:cNvPr id="21" name="object 21"/>
            <p:cNvSpPr/>
            <p:nvPr/>
          </p:nvSpPr>
          <p:spPr>
            <a:xfrm>
              <a:off x="1073658" y="3658361"/>
              <a:ext cx="1906905" cy="1524000"/>
            </a:xfrm>
            <a:custGeom>
              <a:avLst/>
              <a:gdLst/>
              <a:ahLst/>
              <a:cxnLst/>
              <a:rect l="l" t="t" r="r" b="b"/>
              <a:pathLst>
                <a:path w="1906905" h="1524000">
                  <a:moveTo>
                    <a:pt x="1652524" y="0"/>
                  </a:moveTo>
                  <a:lnTo>
                    <a:pt x="254000" y="0"/>
                  </a:lnTo>
                  <a:lnTo>
                    <a:pt x="208342" y="4090"/>
                  </a:lnTo>
                  <a:lnTo>
                    <a:pt x="165369" y="15884"/>
                  </a:lnTo>
                  <a:lnTo>
                    <a:pt x="125799" y="34666"/>
                  </a:lnTo>
                  <a:lnTo>
                    <a:pt x="90349" y="59719"/>
                  </a:lnTo>
                  <a:lnTo>
                    <a:pt x="59736" y="90328"/>
                  </a:lnTo>
                  <a:lnTo>
                    <a:pt x="34677" y="125777"/>
                  </a:lnTo>
                  <a:lnTo>
                    <a:pt x="15890" y="165349"/>
                  </a:lnTo>
                  <a:lnTo>
                    <a:pt x="4092" y="208328"/>
                  </a:lnTo>
                  <a:lnTo>
                    <a:pt x="0" y="254000"/>
                  </a:lnTo>
                  <a:lnTo>
                    <a:pt x="0" y="1270000"/>
                  </a:lnTo>
                  <a:lnTo>
                    <a:pt x="4092" y="1315671"/>
                  </a:lnTo>
                  <a:lnTo>
                    <a:pt x="15890" y="1358650"/>
                  </a:lnTo>
                  <a:lnTo>
                    <a:pt x="34677" y="1398222"/>
                  </a:lnTo>
                  <a:lnTo>
                    <a:pt x="59736" y="1433671"/>
                  </a:lnTo>
                  <a:lnTo>
                    <a:pt x="90349" y="1464280"/>
                  </a:lnTo>
                  <a:lnTo>
                    <a:pt x="125799" y="1489333"/>
                  </a:lnTo>
                  <a:lnTo>
                    <a:pt x="165369" y="1508115"/>
                  </a:lnTo>
                  <a:lnTo>
                    <a:pt x="208342" y="1519909"/>
                  </a:lnTo>
                  <a:lnTo>
                    <a:pt x="254000" y="1524000"/>
                  </a:lnTo>
                  <a:lnTo>
                    <a:pt x="1652524" y="1524000"/>
                  </a:lnTo>
                  <a:lnTo>
                    <a:pt x="1698195" y="1519909"/>
                  </a:lnTo>
                  <a:lnTo>
                    <a:pt x="1741174" y="1508115"/>
                  </a:lnTo>
                  <a:lnTo>
                    <a:pt x="1780746" y="1489333"/>
                  </a:lnTo>
                  <a:lnTo>
                    <a:pt x="1816195" y="1464280"/>
                  </a:lnTo>
                  <a:lnTo>
                    <a:pt x="1846804" y="1433671"/>
                  </a:lnTo>
                  <a:lnTo>
                    <a:pt x="1871857" y="1398222"/>
                  </a:lnTo>
                  <a:lnTo>
                    <a:pt x="1890639" y="1358650"/>
                  </a:lnTo>
                  <a:lnTo>
                    <a:pt x="1902433" y="1315671"/>
                  </a:lnTo>
                  <a:lnTo>
                    <a:pt x="1906524" y="1270000"/>
                  </a:lnTo>
                  <a:lnTo>
                    <a:pt x="1906524" y="254000"/>
                  </a:lnTo>
                  <a:lnTo>
                    <a:pt x="1902433" y="208328"/>
                  </a:lnTo>
                  <a:lnTo>
                    <a:pt x="1890639" y="165349"/>
                  </a:lnTo>
                  <a:lnTo>
                    <a:pt x="1871857" y="125777"/>
                  </a:lnTo>
                  <a:lnTo>
                    <a:pt x="1846804" y="90328"/>
                  </a:lnTo>
                  <a:lnTo>
                    <a:pt x="1816195" y="59719"/>
                  </a:lnTo>
                  <a:lnTo>
                    <a:pt x="1780746" y="34666"/>
                  </a:lnTo>
                  <a:lnTo>
                    <a:pt x="1741174" y="15884"/>
                  </a:lnTo>
                  <a:lnTo>
                    <a:pt x="1698195" y="4090"/>
                  </a:lnTo>
                  <a:lnTo>
                    <a:pt x="1652524" y="0"/>
                  </a:lnTo>
                  <a:close/>
                </a:path>
              </a:pathLst>
            </a:custGeom>
            <a:solidFill>
              <a:srgbClr val="9E5E9B"/>
            </a:solidFill>
          </p:spPr>
          <p:txBody>
            <a:bodyPr wrap="square" lIns="0" tIns="0" rIns="0" bIns="0" rtlCol="0"/>
            <a:lstStyle/>
            <a:p>
              <a:endParaRPr/>
            </a:p>
          </p:txBody>
        </p:sp>
        <p:sp>
          <p:nvSpPr>
            <p:cNvPr id="22" name="object 22"/>
            <p:cNvSpPr/>
            <p:nvPr/>
          </p:nvSpPr>
          <p:spPr>
            <a:xfrm>
              <a:off x="1073658" y="3658361"/>
              <a:ext cx="1906905" cy="1524000"/>
            </a:xfrm>
            <a:custGeom>
              <a:avLst/>
              <a:gdLst/>
              <a:ahLst/>
              <a:cxnLst/>
              <a:rect l="l" t="t" r="r" b="b"/>
              <a:pathLst>
                <a:path w="1906905" h="1524000">
                  <a:moveTo>
                    <a:pt x="0" y="254000"/>
                  </a:moveTo>
                  <a:lnTo>
                    <a:pt x="4092" y="208328"/>
                  </a:lnTo>
                  <a:lnTo>
                    <a:pt x="15890" y="165349"/>
                  </a:lnTo>
                  <a:lnTo>
                    <a:pt x="34677" y="125777"/>
                  </a:lnTo>
                  <a:lnTo>
                    <a:pt x="59736" y="90328"/>
                  </a:lnTo>
                  <a:lnTo>
                    <a:pt x="90349" y="59719"/>
                  </a:lnTo>
                  <a:lnTo>
                    <a:pt x="125799" y="34666"/>
                  </a:lnTo>
                  <a:lnTo>
                    <a:pt x="165369" y="15884"/>
                  </a:lnTo>
                  <a:lnTo>
                    <a:pt x="208342" y="4090"/>
                  </a:lnTo>
                  <a:lnTo>
                    <a:pt x="254000" y="0"/>
                  </a:lnTo>
                  <a:lnTo>
                    <a:pt x="1652524" y="0"/>
                  </a:lnTo>
                  <a:lnTo>
                    <a:pt x="1698195" y="4090"/>
                  </a:lnTo>
                  <a:lnTo>
                    <a:pt x="1741174" y="15884"/>
                  </a:lnTo>
                  <a:lnTo>
                    <a:pt x="1780746" y="34666"/>
                  </a:lnTo>
                  <a:lnTo>
                    <a:pt x="1816195" y="59719"/>
                  </a:lnTo>
                  <a:lnTo>
                    <a:pt x="1846804" y="90328"/>
                  </a:lnTo>
                  <a:lnTo>
                    <a:pt x="1871857" y="125777"/>
                  </a:lnTo>
                  <a:lnTo>
                    <a:pt x="1890639" y="165349"/>
                  </a:lnTo>
                  <a:lnTo>
                    <a:pt x="1902433" y="208328"/>
                  </a:lnTo>
                  <a:lnTo>
                    <a:pt x="1906524" y="254000"/>
                  </a:lnTo>
                  <a:lnTo>
                    <a:pt x="1906524" y="1270000"/>
                  </a:lnTo>
                  <a:lnTo>
                    <a:pt x="1902433" y="1315671"/>
                  </a:lnTo>
                  <a:lnTo>
                    <a:pt x="1890639" y="1358650"/>
                  </a:lnTo>
                  <a:lnTo>
                    <a:pt x="1871857" y="1398222"/>
                  </a:lnTo>
                  <a:lnTo>
                    <a:pt x="1846804" y="1433671"/>
                  </a:lnTo>
                  <a:lnTo>
                    <a:pt x="1816195" y="1464280"/>
                  </a:lnTo>
                  <a:lnTo>
                    <a:pt x="1780746" y="1489333"/>
                  </a:lnTo>
                  <a:lnTo>
                    <a:pt x="1741174" y="1508115"/>
                  </a:lnTo>
                  <a:lnTo>
                    <a:pt x="1698195" y="1519909"/>
                  </a:lnTo>
                  <a:lnTo>
                    <a:pt x="1652524" y="1524000"/>
                  </a:lnTo>
                  <a:lnTo>
                    <a:pt x="254000" y="1524000"/>
                  </a:lnTo>
                  <a:lnTo>
                    <a:pt x="208342" y="1519909"/>
                  </a:lnTo>
                  <a:lnTo>
                    <a:pt x="165369" y="1508115"/>
                  </a:lnTo>
                  <a:lnTo>
                    <a:pt x="125799" y="1489333"/>
                  </a:lnTo>
                  <a:lnTo>
                    <a:pt x="90349" y="1464280"/>
                  </a:lnTo>
                  <a:lnTo>
                    <a:pt x="59736" y="1433671"/>
                  </a:lnTo>
                  <a:lnTo>
                    <a:pt x="34677" y="1398222"/>
                  </a:lnTo>
                  <a:lnTo>
                    <a:pt x="15890" y="1358650"/>
                  </a:lnTo>
                  <a:lnTo>
                    <a:pt x="4092" y="1315671"/>
                  </a:lnTo>
                  <a:lnTo>
                    <a:pt x="0" y="1270000"/>
                  </a:lnTo>
                  <a:lnTo>
                    <a:pt x="0" y="254000"/>
                  </a:lnTo>
                  <a:close/>
                </a:path>
              </a:pathLst>
            </a:custGeom>
            <a:ln w="19812">
              <a:solidFill>
                <a:srgbClr val="734370"/>
              </a:solidFill>
            </a:ln>
          </p:spPr>
          <p:txBody>
            <a:bodyPr wrap="square" lIns="0" tIns="0" rIns="0" bIns="0" rtlCol="0"/>
            <a:lstStyle/>
            <a:p>
              <a:endParaRPr/>
            </a:p>
          </p:txBody>
        </p:sp>
      </p:grpSp>
      <p:sp>
        <p:nvSpPr>
          <p:cNvPr id="23" name="object 23"/>
          <p:cNvSpPr txBox="1"/>
          <p:nvPr/>
        </p:nvSpPr>
        <p:spPr>
          <a:xfrm>
            <a:off x="1574419" y="4128896"/>
            <a:ext cx="903605" cy="57467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eXGyreAdventor"/>
                <a:cs typeface="TeXGyreAdventor"/>
              </a:rPr>
              <a:t>Security</a:t>
            </a:r>
            <a:endParaRPr sz="1800">
              <a:latin typeface="TeXGyreAdventor"/>
              <a:cs typeface="TeXGyreAdventor"/>
            </a:endParaRPr>
          </a:p>
          <a:p>
            <a:pPr marL="50800">
              <a:lnSpc>
                <a:spcPct val="100000"/>
              </a:lnSpc>
            </a:pPr>
            <a:r>
              <a:rPr sz="1800" b="1" spc="-5" dirty="0">
                <a:solidFill>
                  <a:srgbClr val="FFFFFF"/>
                </a:solidFill>
                <a:latin typeface="TeXGyreAdventor"/>
                <a:cs typeface="TeXGyreAdventor"/>
              </a:rPr>
              <a:t>Groups</a:t>
            </a:r>
            <a:endParaRPr sz="1800">
              <a:latin typeface="TeXGyreAdventor"/>
              <a:cs typeface="TeXGyreAdventor"/>
            </a:endParaRPr>
          </a:p>
        </p:txBody>
      </p:sp>
      <p:grpSp>
        <p:nvGrpSpPr>
          <p:cNvPr id="24" name="object 24"/>
          <p:cNvGrpSpPr/>
          <p:nvPr/>
        </p:nvGrpSpPr>
        <p:grpSpPr>
          <a:xfrm>
            <a:off x="3214116" y="3648455"/>
            <a:ext cx="1925320" cy="1544320"/>
            <a:chOff x="3214116" y="3648455"/>
            <a:chExt cx="1925320" cy="1544320"/>
          </a:xfrm>
        </p:grpSpPr>
        <p:sp>
          <p:nvSpPr>
            <p:cNvPr id="25" name="object 25"/>
            <p:cNvSpPr/>
            <p:nvPr/>
          </p:nvSpPr>
          <p:spPr>
            <a:xfrm>
              <a:off x="3224022" y="3658361"/>
              <a:ext cx="1905000" cy="1524000"/>
            </a:xfrm>
            <a:custGeom>
              <a:avLst/>
              <a:gdLst/>
              <a:ahLst/>
              <a:cxnLst/>
              <a:rect l="l" t="t" r="r" b="b"/>
              <a:pathLst>
                <a:path w="1905000" h="1524000">
                  <a:moveTo>
                    <a:pt x="1651000" y="0"/>
                  </a:moveTo>
                  <a:lnTo>
                    <a:pt x="254000" y="0"/>
                  </a:lnTo>
                  <a:lnTo>
                    <a:pt x="208328" y="4090"/>
                  </a:lnTo>
                  <a:lnTo>
                    <a:pt x="165349" y="15884"/>
                  </a:lnTo>
                  <a:lnTo>
                    <a:pt x="125777" y="34666"/>
                  </a:lnTo>
                  <a:lnTo>
                    <a:pt x="90328" y="59719"/>
                  </a:lnTo>
                  <a:lnTo>
                    <a:pt x="59719" y="90328"/>
                  </a:lnTo>
                  <a:lnTo>
                    <a:pt x="34666" y="125777"/>
                  </a:lnTo>
                  <a:lnTo>
                    <a:pt x="15884" y="165349"/>
                  </a:lnTo>
                  <a:lnTo>
                    <a:pt x="4090" y="208328"/>
                  </a:lnTo>
                  <a:lnTo>
                    <a:pt x="0" y="254000"/>
                  </a:lnTo>
                  <a:lnTo>
                    <a:pt x="0" y="1270000"/>
                  </a:lnTo>
                  <a:lnTo>
                    <a:pt x="4090" y="1315671"/>
                  </a:lnTo>
                  <a:lnTo>
                    <a:pt x="15884" y="1358650"/>
                  </a:lnTo>
                  <a:lnTo>
                    <a:pt x="34666" y="1398222"/>
                  </a:lnTo>
                  <a:lnTo>
                    <a:pt x="59719" y="1433671"/>
                  </a:lnTo>
                  <a:lnTo>
                    <a:pt x="90328" y="1464280"/>
                  </a:lnTo>
                  <a:lnTo>
                    <a:pt x="125777" y="1489333"/>
                  </a:lnTo>
                  <a:lnTo>
                    <a:pt x="165349" y="1508115"/>
                  </a:lnTo>
                  <a:lnTo>
                    <a:pt x="208328" y="1519909"/>
                  </a:lnTo>
                  <a:lnTo>
                    <a:pt x="254000" y="1524000"/>
                  </a:lnTo>
                  <a:lnTo>
                    <a:pt x="1651000" y="1524000"/>
                  </a:lnTo>
                  <a:lnTo>
                    <a:pt x="1696671" y="1519909"/>
                  </a:lnTo>
                  <a:lnTo>
                    <a:pt x="1739650" y="1508115"/>
                  </a:lnTo>
                  <a:lnTo>
                    <a:pt x="1779222" y="1489333"/>
                  </a:lnTo>
                  <a:lnTo>
                    <a:pt x="1814671" y="1464280"/>
                  </a:lnTo>
                  <a:lnTo>
                    <a:pt x="1845280" y="1433671"/>
                  </a:lnTo>
                  <a:lnTo>
                    <a:pt x="1870333" y="1398222"/>
                  </a:lnTo>
                  <a:lnTo>
                    <a:pt x="1889115" y="1358650"/>
                  </a:lnTo>
                  <a:lnTo>
                    <a:pt x="1900909" y="1315671"/>
                  </a:lnTo>
                  <a:lnTo>
                    <a:pt x="1905000" y="1270000"/>
                  </a:lnTo>
                  <a:lnTo>
                    <a:pt x="1905000" y="254000"/>
                  </a:lnTo>
                  <a:lnTo>
                    <a:pt x="1900909" y="208328"/>
                  </a:lnTo>
                  <a:lnTo>
                    <a:pt x="1889115" y="165349"/>
                  </a:lnTo>
                  <a:lnTo>
                    <a:pt x="1870333" y="125777"/>
                  </a:lnTo>
                  <a:lnTo>
                    <a:pt x="1845280" y="90328"/>
                  </a:lnTo>
                  <a:lnTo>
                    <a:pt x="1814671" y="59719"/>
                  </a:lnTo>
                  <a:lnTo>
                    <a:pt x="1779222" y="34666"/>
                  </a:lnTo>
                  <a:lnTo>
                    <a:pt x="1739650" y="15884"/>
                  </a:lnTo>
                  <a:lnTo>
                    <a:pt x="1696671" y="4090"/>
                  </a:lnTo>
                  <a:lnTo>
                    <a:pt x="1651000" y="0"/>
                  </a:lnTo>
                  <a:close/>
                </a:path>
              </a:pathLst>
            </a:custGeom>
            <a:solidFill>
              <a:srgbClr val="9E5E9B"/>
            </a:solidFill>
          </p:spPr>
          <p:txBody>
            <a:bodyPr wrap="square" lIns="0" tIns="0" rIns="0" bIns="0" rtlCol="0"/>
            <a:lstStyle/>
            <a:p>
              <a:endParaRPr/>
            </a:p>
          </p:txBody>
        </p:sp>
        <p:sp>
          <p:nvSpPr>
            <p:cNvPr id="26" name="object 26"/>
            <p:cNvSpPr/>
            <p:nvPr/>
          </p:nvSpPr>
          <p:spPr>
            <a:xfrm>
              <a:off x="3224022" y="3658361"/>
              <a:ext cx="1905000" cy="1524000"/>
            </a:xfrm>
            <a:custGeom>
              <a:avLst/>
              <a:gdLst/>
              <a:ahLst/>
              <a:cxnLst/>
              <a:rect l="l" t="t" r="r" b="b"/>
              <a:pathLst>
                <a:path w="1905000" h="15240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651000" y="0"/>
                  </a:lnTo>
                  <a:lnTo>
                    <a:pt x="1696671" y="4090"/>
                  </a:lnTo>
                  <a:lnTo>
                    <a:pt x="1739650" y="15884"/>
                  </a:lnTo>
                  <a:lnTo>
                    <a:pt x="1779222" y="34666"/>
                  </a:lnTo>
                  <a:lnTo>
                    <a:pt x="1814671" y="59719"/>
                  </a:lnTo>
                  <a:lnTo>
                    <a:pt x="1845280" y="90328"/>
                  </a:lnTo>
                  <a:lnTo>
                    <a:pt x="1870333" y="125777"/>
                  </a:lnTo>
                  <a:lnTo>
                    <a:pt x="1889115" y="165349"/>
                  </a:lnTo>
                  <a:lnTo>
                    <a:pt x="1900909" y="208328"/>
                  </a:lnTo>
                  <a:lnTo>
                    <a:pt x="1905000" y="254000"/>
                  </a:lnTo>
                  <a:lnTo>
                    <a:pt x="1905000" y="1270000"/>
                  </a:lnTo>
                  <a:lnTo>
                    <a:pt x="1900909" y="1315671"/>
                  </a:lnTo>
                  <a:lnTo>
                    <a:pt x="1889115" y="1358650"/>
                  </a:lnTo>
                  <a:lnTo>
                    <a:pt x="1870333" y="1398222"/>
                  </a:lnTo>
                  <a:lnTo>
                    <a:pt x="1845280" y="1433671"/>
                  </a:lnTo>
                  <a:lnTo>
                    <a:pt x="1814671" y="1464280"/>
                  </a:lnTo>
                  <a:lnTo>
                    <a:pt x="1779222" y="1489333"/>
                  </a:lnTo>
                  <a:lnTo>
                    <a:pt x="1739650" y="1508115"/>
                  </a:lnTo>
                  <a:lnTo>
                    <a:pt x="1696671" y="1519909"/>
                  </a:lnTo>
                  <a:lnTo>
                    <a:pt x="1651000" y="1524000"/>
                  </a:lnTo>
                  <a:lnTo>
                    <a:pt x="254000" y="1524000"/>
                  </a:lnTo>
                  <a:lnTo>
                    <a:pt x="208328" y="1519909"/>
                  </a:lnTo>
                  <a:lnTo>
                    <a:pt x="165349" y="1508115"/>
                  </a:lnTo>
                  <a:lnTo>
                    <a:pt x="125777" y="1489333"/>
                  </a:lnTo>
                  <a:lnTo>
                    <a:pt x="90328" y="1464280"/>
                  </a:lnTo>
                  <a:lnTo>
                    <a:pt x="59719" y="1433671"/>
                  </a:lnTo>
                  <a:lnTo>
                    <a:pt x="34666" y="1398222"/>
                  </a:lnTo>
                  <a:lnTo>
                    <a:pt x="15884" y="1358650"/>
                  </a:lnTo>
                  <a:lnTo>
                    <a:pt x="4090" y="1315671"/>
                  </a:lnTo>
                  <a:lnTo>
                    <a:pt x="0" y="1270000"/>
                  </a:lnTo>
                  <a:lnTo>
                    <a:pt x="0" y="254000"/>
                  </a:lnTo>
                  <a:close/>
                </a:path>
              </a:pathLst>
            </a:custGeom>
            <a:ln w="19812">
              <a:solidFill>
                <a:srgbClr val="734370"/>
              </a:solidFill>
            </a:ln>
          </p:spPr>
          <p:txBody>
            <a:bodyPr wrap="square" lIns="0" tIns="0" rIns="0" bIns="0" rtlCol="0"/>
            <a:lstStyle/>
            <a:p>
              <a:endParaRPr/>
            </a:p>
          </p:txBody>
        </p:sp>
      </p:grpSp>
      <p:sp>
        <p:nvSpPr>
          <p:cNvPr id="27" name="object 27"/>
          <p:cNvSpPr txBox="1"/>
          <p:nvPr/>
        </p:nvSpPr>
        <p:spPr>
          <a:xfrm>
            <a:off x="3857371" y="4265752"/>
            <a:ext cx="639445" cy="300355"/>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TeXGyreAdventor"/>
                <a:cs typeface="TeXGyreAdventor"/>
              </a:rPr>
              <a:t>ACL’s</a:t>
            </a:r>
            <a:endParaRPr sz="1800">
              <a:latin typeface="TeXGyreAdventor"/>
              <a:cs typeface="TeXGyreAdventor"/>
            </a:endParaRPr>
          </a:p>
        </p:txBody>
      </p:sp>
      <p:grpSp>
        <p:nvGrpSpPr>
          <p:cNvPr id="28" name="object 28"/>
          <p:cNvGrpSpPr/>
          <p:nvPr/>
        </p:nvGrpSpPr>
        <p:grpSpPr>
          <a:xfrm>
            <a:off x="5248655" y="3648455"/>
            <a:ext cx="1925320" cy="1544320"/>
            <a:chOff x="5248655" y="3648455"/>
            <a:chExt cx="1925320" cy="1544320"/>
          </a:xfrm>
        </p:grpSpPr>
        <p:sp>
          <p:nvSpPr>
            <p:cNvPr id="29" name="object 29"/>
            <p:cNvSpPr/>
            <p:nvPr/>
          </p:nvSpPr>
          <p:spPr>
            <a:xfrm>
              <a:off x="5258561" y="3658361"/>
              <a:ext cx="1905000" cy="1524000"/>
            </a:xfrm>
            <a:custGeom>
              <a:avLst/>
              <a:gdLst/>
              <a:ahLst/>
              <a:cxnLst/>
              <a:rect l="l" t="t" r="r" b="b"/>
              <a:pathLst>
                <a:path w="1905000" h="1524000">
                  <a:moveTo>
                    <a:pt x="1650999" y="0"/>
                  </a:moveTo>
                  <a:lnTo>
                    <a:pt x="254000" y="0"/>
                  </a:lnTo>
                  <a:lnTo>
                    <a:pt x="208328" y="4090"/>
                  </a:lnTo>
                  <a:lnTo>
                    <a:pt x="165349" y="15884"/>
                  </a:lnTo>
                  <a:lnTo>
                    <a:pt x="125777" y="34666"/>
                  </a:lnTo>
                  <a:lnTo>
                    <a:pt x="90328" y="59719"/>
                  </a:lnTo>
                  <a:lnTo>
                    <a:pt x="59719" y="90328"/>
                  </a:lnTo>
                  <a:lnTo>
                    <a:pt x="34666" y="125777"/>
                  </a:lnTo>
                  <a:lnTo>
                    <a:pt x="15884" y="165349"/>
                  </a:lnTo>
                  <a:lnTo>
                    <a:pt x="4090" y="208328"/>
                  </a:lnTo>
                  <a:lnTo>
                    <a:pt x="0" y="254000"/>
                  </a:lnTo>
                  <a:lnTo>
                    <a:pt x="0" y="1270000"/>
                  </a:lnTo>
                  <a:lnTo>
                    <a:pt x="4090" y="1315671"/>
                  </a:lnTo>
                  <a:lnTo>
                    <a:pt x="15884" y="1358650"/>
                  </a:lnTo>
                  <a:lnTo>
                    <a:pt x="34666" y="1398222"/>
                  </a:lnTo>
                  <a:lnTo>
                    <a:pt x="59719" y="1433671"/>
                  </a:lnTo>
                  <a:lnTo>
                    <a:pt x="90328" y="1464280"/>
                  </a:lnTo>
                  <a:lnTo>
                    <a:pt x="125777" y="1489333"/>
                  </a:lnTo>
                  <a:lnTo>
                    <a:pt x="165349" y="1508115"/>
                  </a:lnTo>
                  <a:lnTo>
                    <a:pt x="208328" y="1519909"/>
                  </a:lnTo>
                  <a:lnTo>
                    <a:pt x="254000" y="1524000"/>
                  </a:lnTo>
                  <a:lnTo>
                    <a:pt x="1650999" y="1524000"/>
                  </a:lnTo>
                  <a:lnTo>
                    <a:pt x="1696671" y="1519909"/>
                  </a:lnTo>
                  <a:lnTo>
                    <a:pt x="1739650" y="1508115"/>
                  </a:lnTo>
                  <a:lnTo>
                    <a:pt x="1779222" y="1489333"/>
                  </a:lnTo>
                  <a:lnTo>
                    <a:pt x="1814671" y="1464280"/>
                  </a:lnTo>
                  <a:lnTo>
                    <a:pt x="1845280" y="1433671"/>
                  </a:lnTo>
                  <a:lnTo>
                    <a:pt x="1870333" y="1398222"/>
                  </a:lnTo>
                  <a:lnTo>
                    <a:pt x="1889115" y="1358650"/>
                  </a:lnTo>
                  <a:lnTo>
                    <a:pt x="1900909" y="1315671"/>
                  </a:lnTo>
                  <a:lnTo>
                    <a:pt x="1904999" y="1270000"/>
                  </a:lnTo>
                  <a:lnTo>
                    <a:pt x="1904999" y="254000"/>
                  </a:lnTo>
                  <a:lnTo>
                    <a:pt x="1900909" y="208328"/>
                  </a:lnTo>
                  <a:lnTo>
                    <a:pt x="1889115" y="165349"/>
                  </a:lnTo>
                  <a:lnTo>
                    <a:pt x="1870333" y="125777"/>
                  </a:lnTo>
                  <a:lnTo>
                    <a:pt x="1845280" y="90328"/>
                  </a:lnTo>
                  <a:lnTo>
                    <a:pt x="1814671" y="59719"/>
                  </a:lnTo>
                  <a:lnTo>
                    <a:pt x="1779222" y="34666"/>
                  </a:lnTo>
                  <a:lnTo>
                    <a:pt x="1739650" y="15884"/>
                  </a:lnTo>
                  <a:lnTo>
                    <a:pt x="1696671" y="4090"/>
                  </a:lnTo>
                  <a:lnTo>
                    <a:pt x="1650999" y="0"/>
                  </a:lnTo>
                  <a:close/>
                </a:path>
              </a:pathLst>
            </a:custGeom>
            <a:solidFill>
              <a:srgbClr val="9E5E9B"/>
            </a:solidFill>
          </p:spPr>
          <p:txBody>
            <a:bodyPr wrap="square" lIns="0" tIns="0" rIns="0" bIns="0" rtlCol="0"/>
            <a:lstStyle/>
            <a:p>
              <a:endParaRPr/>
            </a:p>
          </p:txBody>
        </p:sp>
        <p:sp>
          <p:nvSpPr>
            <p:cNvPr id="30" name="object 30"/>
            <p:cNvSpPr/>
            <p:nvPr/>
          </p:nvSpPr>
          <p:spPr>
            <a:xfrm>
              <a:off x="5258561" y="3658361"/>
              <a:ext cx="1905000" cy="1524000"/>
            </a:xfrm>
            <a:custGeom>
              <a:avLst/>
              <a:gdLst/>
              <a:ahLst/>
              <a:cxnLst/>
              <a:rect l="l" t="t" r="r" b="b"/>
              <a:pathLst>
                <a:path w="1905000" h="15240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650999" y="0"/>
                  </a:lnTo>
                  <a:lnTo>
                    <a:pt x="1696671" y="4090"/>
                  </a:lnTo>
                  <a:lnTo>
                    <a:pt x="1739650" y="15884"/>
                  </a:lnTo>
                  <a:lnTo>
                    <a:pt x="1779222" y="34666"/>
                  </a:lnTo>
                  <a:lnTo>
                    <a:pt x="1814671" y="59719"/>
                  </a:lnTo>
                  <a:lnTo>
                    <a:pt x="1845280" y="90328"/>
                  </a:lnTo>
                  <a:lnTo>
                    <a:pt x="1870333" y="125777"/>
                  </a:lnTo>
                  <a:lnTo>
                    <a:pt x="1889115" y="165349"/>
                  </a:lnTo>
                  <a:lnTo>
                    <a:pt x="1900909" y="208328"/>
                  </a:lnTo>
                  <a:lnTo>
                    <a:pt x="1904999" y="254000"/>
                  </a:lnTo>
                  <a:lnTo>
                    <a:pt x="1904999" y="1270000"/>
                  </a:lnTo>
                  <a:lnTo>
                    <a:pt x="1900909" y="1315671"/>
                  </a:lnTo>
                  <a:lnTo>
                    <a:pt x="1889115" y="1358650"/>
                  </a:lnTo>
                  <a:lnTo>
                    <a:pt x="1870333" y="1398222"/>
                  </a:lnTo>
                  <a:lnTo>
                    <a:pt x="1845280" y="1433671"/>
                  </a:lnTo>
                  <a:lnTo>
                    <a:pt x="1814671" y="1464280"/>
                  </a:lnTo>
                  <a:lnTo>
                    <a:pt x="1779222" y="1489333"/>
                  </a:lnTo>
                  <a:lnTo>
                    <a:pt x="1739650" y="1508115"/>
                  </a:lnTo>
                  <a:lnTo>
                    <a:pt x="1696671" y="1519909"/>
                  </a:lnTo>
                  <a:lnTo>
                    <a:pt x="1650999" y="1524000"/>
                  </a:lnTo>
                  <a:lnTo>
                    <a:pt x="254000" y="1524000"/>
                  </a:lnTo>
                  <a:lnTo>
                    <a:pt x="208328" y="1519909"/>
                  </a:lnTo>
                  <a:lnTo>
                    <a:pt x="165349" y="1508115"/>
                  </a:lnTo>
                  <a:lnTo>
                    <a:pt x="125777" y="1489333"/>
                  </a:lnTo>
                  <a:lnTo>
                    <a:pt x="90328" y="1464280"/>
                  </a:lnTo>
                  <a:lnTo>
                    <a:pt x="59719" y="1433671"/>
                  </a:lnTo>
                  <a:lnTo>
                    <a:pt x="34666" y="1398222"/>
                  </a:lnTo>
                  <a:lnTo>
                    <a:pt x="15884" y="1358650"/>
                  </a:lnTo>
                  <a:lnTo>
                    <a:pt x="4090" y="1315671"/>
                  </a:lnTo>
                  <a:lnTo>
                    <a:pt x="0" y="1270000"/>
                  </a:lnTo>
                  <a:lnTo>
                    <a:pt x="0" y="254000"/>
                  </a:lnTo>
                  <a:close/>
                </a:path>
              </a:pathLst>
            </a:custGeom>
            <a:ln w="19812">
              <a:solidFill>
                <a:srgbClr val="734370"/>
              </a:solidFill>
            </a:ln>
          </p:spPr>
          <p:txBody>
            <a:bodyPr wrap="square" lIns="0" tIns="0" rIns="0" bIns="0" rtlCol="0"/>
            <a:lstStyle/>
            <a:p>
              <a:endParaRPr/>
            </a:p>
          </p:txBody>
        </p:sp>
      </p:grpSp>
      <p:sp>
        <p:nvSpPr>
          <p:cNvPr id="31" name="object 31"/>
          <p:cNvSpPr txBox="1"/>
          <p:nvPr/>
        </p:nvSpPr>
        <p:spPr>
          <a:xfrm>
            <a:off x="5513959" y="4265752"/>
            <a:ext cx="1392555" cy="300355"/>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eXGyreAdventor"/>
                <a:cs typeface="TeXGyreAdventor"/>
              </a:rPr>
              <a:t>VPC</a:t>
            </a:r>
            <a:r>
              <a:rPr sz="1800" b="1" spc="-80" dirty="0">
                <a:solidFill>
                  <a:srgbClr val="FFFFFF"/>
                </a:solidFill>
                <a:latin typeface="TeXGyreAdventor"/>
                <a:cs typeface="TeXGyreAdventor"/>
              </a:rPr>
              <a:t> </a:t>
            </a:r>
            <a:r>
              <a:rPr sz="1800" b="1" spc="-5" dirty="0">
                <a:solidFill>
                  <a:srgbClr val="FFFFFF"/>
                </a:solidFill>
                <a:latin typeface="TeXGyreAdventor"/>
                <a:cs typeface="TeXGyreAdventor"/>
              </a:rPr>
              <a:t>Peering</a:t>
            </a:r>
            <a:endParaRPr sz="1800">
              <a:latin typeface="TeXGyreAdventor"/>
              <a:cs typeface="TeXGyreAdventor"/>
            </a:endParaRPr>
          </a:p>
        </p:txBody>
      </p:sp>
      <p:grpSp>
        <p:nvGrpSpPr>
          <p:cNvPr id="32" name="object 32"/>
          <p:cNvGrpSpPr/>
          <p:nvPr/>
        </p:nvGrpSpPr>
        <p:grpSpPr>
          <a:xfrm>
            <a:off x="7408164" y="3666744"/>
            <a:ext cx="1926589" cy="1544320"/>
            <a:chOff x="7408164" y="3666744"/>
            <a:chExt cx="1926589" cy="1544320"/>
          </a:xfrm>
        </p:grpSpPr>
        <p:sp>
          <p:nvSpPr>
            <p:cNvPr id="33" name="object 33"/>
            <p:cNvSpPr/>
            <p:nvPr/>
          </p:nvSpPr>
          <p:spPr>
            <a:xfrm>
              <a:off x="7418070" y="3676650"/>
              <a:ext cx="1906905" cy="1524000"/>
            </a:xfrm>
            <a:custGeom>
              <a:avLst/>
              <a:gdLst/>
              <a:ahLst/>
              <a:cxnLst/>
              <a:rect l="l" t="t" r="r" b="b"/>
              <a:pathLst>
                <a:path w="1906904" h="1524000">
                  <a:moveTo>
                    <a:pt x="1652524" y="0"/>
                  </a:moveTo>
                  <a:lnTo>
                    <a:pt x="254000" y="0"/>
                  </a:lnTo>
                  <a:lnTo>
                    <a:pt x="208328" y="4090"/>
                  </a:lnTo>
                  <a:lnTo>
                    <a:pt x="165349" y="15884"/>
                  </a:lnTo>
                  <a:lnTo>
                    <a:pt x="125777" y="34666"/>
                  </a:lnTo>
                  <a:lnTo>
                    <a:pt x="90328" y="59719"/>
                  </a:lnTo>
                  <a:lnTo>
                    <a:pt x="59719" y="90328"/>
                  </a:lnTo>
                  <a:lnTo>
                    <a:pt x="34666" y="125777"/>
                  </a:lnTo>
                  <a:lnTo>
                    <a:pt x="15884" y="165349"/>
                  </a:lnTo>
                  <a:lnTo>
                    <a:pt x="4090" y="208328"/>
                  </a:lnTo>
                  <a:lnTo>
                    <a:pt x="0" y="254000"/>
                  </a:lnTo>
                  <a:lnTo>
                    <a:pt x="0" y="1270000"/>
                  </a:lnTo>
                  <a:lnTo>
                    <a:pt x="4090" y="1315671"/>
                  </a:lnTo>
                  <a:lnTo>
                    <a:pt x="15884" y="1358650"/>
                  </a:lnTo>
                  <a:lnTo>
                    <a:pt x="34666" y="1398222"/>
                  </a:lnTo>
                  <a:lnTo>
                    <a:pt x="59719" y="1433671"/>
                  </a:lnTo>
                  <a:lnTo>
                    <a:pt x="90328" y="1464280"/>
                  </a:lnTo>
                  <a:lnTo>
                    <a:pt x="125777" y="1489333"/>
                  </a:lnTo>
                  <a:lnTo>
                    <a:pt x="165349" y="1508115"/>
                  </a:lnTo>
                  <a:lnTo>
                    <a:pt x="208328" y="1519909"/>
                  </a:lnTo>
                  <a:lnTo>
                    <a:pt x="254000" y="1524000"/>
                  </a:lnTo>
                  <a:lnTo>
                    <a:pt x="1652524" y="1524000"/>
                  </a:lnTo>
                  <a:lnTo>
                    <a:pt x="1698195" y="1519909"/>
                  </a:lnTo>
                  <a:lnTo>
                    <a:pt x="1741174" y="1508115"/>
                  </a:lnTo>
                  <a:lnTo>
                    <a:pt x="1780746" y="1489333"/>
                  </a:lnTo>
                  <a:lnTo>
                    <a:pt x="1816195" y="1464280"/>
                  </a:lnTo>
                  <a:lnTo>
                    <a:pt x="1846804" y="1433671"/>
                  </a:lnTo>
                  <a:lnTo>
                    <a:pt x="1871857" y="1398222"/>
                  </a:lnTo>
                  <a:lnTo>
                    <a:pt x="1890639" y="1358650"/>
                  </a:lnTo>
                  <a:lnTo>
                    <a:pt x="1902433" y="1315671"/>
                  </a:lnTo>
                  <a:lnTo>
                    <a:pt x="1906524" y="1270000"/>
                  </a:lnTo>
                  <a:lnTo>
                    <a:pt x="1906524" y="254000"/>
                  </a:lnTo>
                  <a:lnTo>
                    <a:pt x="1902433" y="208328"/>
                  </a:lnTo>
                  <a:lnTo>
                    <a:pt x="1890639" y="165349"/>
                  </a:lnTo>
                  <a:lnTo>
                    <a:pt x="1871857" y="125777"/>
                  </a:lnTo>
                  <a:lnTo>
                    <a:pt x="1846804" y="90328"/>
                  </a:lnTo>
                  <a:lnTo>
                    <a:pt x="1816195" y="59719"/>
                  </a:lnTo>
                  <a:lnTo>
                    <a:pt x="1780746" y="34666"/>
                  </a:lnTo>
                  <a:lnTo>
                    <a:pt x="1741174" y="15884"/>
                  </a:lnTo>
                  <a:lnTo>
                    <a:pt x="1698195" y="4090"/>
                  </a:lnTo>
                  <a:lnTo>
                    <a:pt x="1652524" y="0"/>
                  </a:lnTo>
                  <a:close/>
                </a:path>
              </a:pathLst>
            </a:custGeom>
            <a:solidFill>
              <a:srgbClr val="9E5E9B"/>
            </a:solidFill>
          </p:spPr>
          <p:txBody>
            <a:bodyPr wrap="square" lIns="0" tIns="0" rIns="0" bIns="0" rtlCol="0"/>
            <a:lstStyle/>
            <a:p>
              <a:endParaRPr/>
            </a:p>
          </p:txBody>
        </p:sp>
        <p:sp>
          <p:nvSpPr>
            <p:cNvPr id="34" name="object 34"/>
            <p:cNvSpPr/>
            <p:nvPr/>
          </p:nvSpPr>
          <p:spPr>
            <a:xfrm>
              <a:off x="7418070" y="3676650"/>
              <a:ext cx="1906905" cy="1524000"/>
            </a:xfrm>
            <a:custGeom>
              <a:avLst/>
              <a:gdLst/>
              <a:ahLst/>
              <a:cxnLst/>
              <a:rect l="l" t="t" r="r" b="b"/>
              <a:pathLst>
                <a:path w="1906904" h="1524000">
                  <a:moveTo>
                    <a:pt x="0" y="254000"/>
                  </a:moveTo>
                  <a:lnTo>
                    <a:pt x="4090" y="208328"/>
                  </a:lnTo>
                  <a:lnTo>
                    <a:pt x="15884" y="165349"/>
                  </a:lnTo>
                  <a:lnTo>
                    <a:pt x="34666" y="125777"/>
                  </a:lnTo>
                  <a:lnTo>
                    <a:pt x="59719" y="90328"/>
                  </a:lnTo>
                  <a:lnTo>
                    <a:pt x="90328" y="59719"/>
                  </a:lnTo>
                  <a:lnTo>
                    <a:pt x="125777" y="34666"/>
                  </a:lnTo>
                  <a:lnTo>
                    <a:pt x="165349" y="15884"/>
                  </a:lnTo>
                  <a:lnTo>
                    <a:pt x="208328" y="4090"/>
                  </a:lnTo>
                  <a:lnTo>
                    <a:pt x="254000" y="0"/>
                  </a:lnTo>
                  <a:lnTo>
                    <a:pt x="1652524" y="0"/>
                  </a:lnTo>
                  <a:lnTo>
                    <a:pt x="1698195" y="4090"/>
                  </a:lnTo>
                  <a:lnTo>
                    <a:pt x="1741174" y="15884"/>
                  </a:lnTo>
                  <a:lnTo>
                    <a:pt x="1780746" y="34666"/>
                  </a:lnTo>
                  <a:lnTo>
                    <a:pt x="1816195" y="59719"/>
                  </a:lnTo>
                  <a:lnTo>
                    <a:pt x="1846804" y="90328"/>
                  </a:lnTo>
                  <a:lnTo>
                    <a:pt x="1871857" y="125777"/>
                  </a:lnTo>
                  <a:lnTo>
                    <a:pt x="1890639" y="165349"/>
                  </a:lnTo>
                  <a:lnTo>
                    <a:pt x="1902433" y="208328"/>
                  </a:lnTo>
                  <a:lnTo>
                    <a:pt x="1906524" y="254000"/>
                  </a:lnTo>
                  <a:lnTo>
                    <a:pt x="1906524" y="1270000"/>
                  </a:lnTo>
                  <a:lnTo>
                    <a:pt x="1902433" y="1315671"/>
                  </a:lnTo>
                  <a:lnTo>
                    <a:pt x="1890639" y="1358650"/>
                  </a:lnTo>
                  <a:lnTo>
                    <a:pt x="1871857" y="1398222"/>
                  </a:lnTo>
                  <a:lnTo>
                    <a:pt x="1846804" y="1433671"/>
                  </a:lnTo>
                  <a:lnTo>
                    <a:pt x="1816195" y="1464280"/>
                  </a:lnTo>
                  <a:lnTo>
                    <a:pt x="1780746" y="1489333"/>
                  </a:lnTo>
                  <a:lnTo>
                    <a:pt x="1741174" y="1508115"/>
                  </a:lnTo>
                  <a:lnTo>
                    <a:pt x="1698195" y="1519909"/>
                  </a:lnTo>
                  <a:lnTo>
                    <a:pt x="1652524" y="1524000"/>
                  </a:lnTo>
                  <a:lnTo>
                    <a:pt x="254000" y="1524000"/>
                  </a:lnTo>
                  <a:lnTo>
                    <a:pt x="208328" y="1519909"/>
                  </a:lnTo>
                  <a:lnTo>
                    <a:pt x="165349" y="1508115"/>
                  </a:lnTo>
                  <a:lnTo>
                    <a:pt x="125777" y="1489333"/>
                  </a:lnTo>
                  <a:lnTo>
                    <a:pt x="90328" y="1464280"/>
                  </a:lnTo>
                  <a:lnTo>
                    <a:pt x="59719" y="1433671"/>
                  </a:lnTo>
                  <a:lnTo>
                    <a:pt x="34666" y="1398222"/>
                  </a:lnTo>
                  <a:lnTo>
                    <a:pt x="15884" y="1358650"/>
                  </a:lnTo>
                  <a:lnTo>
                    <a:pt x="4090" y="1315671"/>
                  </a:lnTo>
                  <a:lnTo>
                    <a:pt x="0" y="1270000"/>
                  </a:lnTo>
                  <a:lnTo>
                    <a:pt x="0" y="254000"/>
                  </a:lnTo>
                  <a:close/>
                </a:path>
              </a:pathLst>
            </a:custGeom>
            <a:ln w="19812">
              <a:solidFill>
                <a:srgbClr val="734370"/>
              </a:solidFill>
            </a:ln>
          </p:spPr>
          <p:txBody>
            <a:bodyPr wrap="square" lIns="0" tIns="0" rIns="0" bIns="0" rtlCol="0"/>
            <a:lstStyle/>
            <a:p>
              <a:endParaRPr/>
            </a:p>
          </p:txBody>
        </p:sp>
      </p:grpSp>
      <p:sp>
        <p:nvSpPr>
          <p:cNvPr id="35" name="object 35"/>
          <p:cNvSpPr txBox="1"/>
          <p:nvPr/>
        </p:nvSpPr>
        <p:spPr>
          <a:xfrm>
            <a:off x="8130031" y="4284091"/>
            <a:ext cx="4826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FFFFFF"/>
                </a:solidFill>
                <a:latin typeface="TeXGyreAdventor"/>
                <a:cs typeface="TeXGyreAdventor"/>
              </a:rPr>
              <a:t>VPN</a:t>
            </a:r>
            <a:endParaRPr sz="1800">
              <a:latin typeface="TeXGyreAdventor"/>
              <a:cs typeface="TeXGyreAdventor"/>
            </a:endParaRPr>
          </a:p>
        </p:txBody>
      </p:sp>
      <p:sp>
        <p:nvSpPr>
          <p:cNvPr id="36" name="object 36"/>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endParaRPr/>
          </a:p>
        </p:txBody>
      </p:sp>
      <p:sp>
        <p:nvSpPr>
          <p:cNvPr id="37" name="object 37"/>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38" name="object 38"/>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endParaRPr/>
          </a:p>
        </p:txBody>
      </p:sp>
      <p:sp>
        <p:nvSpPr>
          <p:cNvPr id="40" name="Footer Placeholder 39">
            <a:extLst>
              <a:ext uri="{FF2B5EF4-FFF2-40B4-BE49-F238E27FC236}">
                <a16:creationId xmlns:a16="http://schemas.microsoft.com/office/drawing/2014/main" id="{726A9327-1F54-4AED-B545-D4E752F5EAB2}"/>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1609-4F30-449A-8EF6-C4882F4DE470}"/>
              </a:ext>
            </a:extLst>
          </p:cNvPr>
          <p:cNvSpPr>
            <a:spLocks noGrp="1"/>
          </p:cNvSpPr>
          <p:nvPr>
            <p:ph type="title"/>
          </p:nvPr>
        </p:nvSpPr>
        <p:spPr>
          <a:xfrm>
            <a:off x="838200" y="365126"/>
            <a:ext cx="10515600" cy="629004"/>
          </a:xfrm>
        </p:spPr>
        <p:txBody>
          <a:bodyPr>
            <a:normAutofit fontScale="90000"/>
          </a:bodyPr>
          <a:lstStyle/>
          <a:p>
            <a:r>
              <a:rPr lang="en-IN" dirty="0"/>
              <a:t> Non-Default VPC</a:t>
            </a:r>
          </a:p>
        </p:txBody>
      </p:sp>
      <p:sp>
        <p:nvSpPr>
          <p:cNvPr id="4" name="Footer Placeholder 3">
            <a:extLst>
              <a:ext uri="{FF2B5EF4-FFF2-40B4-BE49-F238E27FC236}">
                <a16:creationId xmlns:a16="http://schemas.microsoft.com/office/drawing/2014/main" id="{27EFD93B-C4CB-47EA-9A4B-A8769C28562C}"/>
              </a:ext>
            </a:extLst>
          </p:cNvPr>
          <p:cNvSpPr>
            <a:spLocks noGrp="1"/>
          </p:cNvSpPr>
          <p:nvPr>
            <p:ph type="ftr" sz="quarter" idx="11"/>
          </p:nvPr>
        </p:nvSpPr>
        <p:spPr/>
        <p:txBody>
          <a:bodyPr/>
          <a:lstStyle/>
          <a:p>
            <a:r>
              <a:rPr lang="en-US"/>
              <a:t>CHAITANYA R GAAJULA- ALL COPYRIGHTS RESERVED</a:t>
            </a:r>
            <a:endParaRPr lang="en-IN"/>
          </a:p>
        </p:txBody>
      </p:sp>
      <p:pic>
        <p:nvPicPr>
          <p:cNvPr id="6" name="Picture 5">
            <a:extLst>
              <a:ext uri="{FF2B5EF4-FFF2-40B4-BE49-F238E27FC236}">
                <a16:creationId xmlns:a16="http://schemas.microsoft.com/office/drawing/2014/main" id="{5E17E534-BA9D-40ED-A266-A5ED010ED60A}"/>
              </a:ext>
            </a:extLst>
          </p:cNvPr>
          <p:cNvPicPr>
            <a:picLocks noChangeAspect="1"/>
          </p:cNvPicPr>
          <p:nvPr/>
        </p:nvPicPr>
        <p:blipFill>
          <a:blip r:embed="rId2"/>
          <a:stretch>
            <a:fillRect/>
          </a:stretch>
        </p:blipFill>
        <p:spPr>
          <a:xfrm>
            <a:off x="1646847" y="1359254"/>
            <a:ext cx="6506553" cy="4997096"/>
          </a:xfrm>
          <a:prstGeom prst="rect">
            <a:avLst/>
          </a:prstGeom>
        </p:spPr>
      </p:pic>
    </p:spTree>
    <p:extLst>
      <p:ext uri="{BB962C8B-B14F-4D97-AF65-F5344CB8AC3E}">
        <p14:creationId xmlns:p14="http://schemas.microsoft.com/office/powerpoint/2010/main" val="3465073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2"/>
            <a:ext cx="6401038" cy="5181599"/>
          </a:xfrm>
        </p:spPr>
        <p:txBody>
          <a:bodyPr>
            <a:normAutofit/>
          </a:bodyPr>
          <a:lstStyle/>
          <a:p>
            <a:pPr lvl="0"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Specify a range of IP addresses for the VPC in the form of a Classless Inter-Domain Routing (CIDR) block.</a:t>
            </a:r>
          </a:p>
          <a:p>
            <a:pPr lvl="0" algn="just">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lvl="0"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Example, 10.0.0.0/16. This is the primary CIDR block for your VPC. </a:t>
            </a:r>
          </a:p>
          <a:p>
            <a:pPr lvl="0" algn="just">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lvl="0"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Allowed block size is between a /16 netmask and /28 netmask.</a:t>
            </a:r>
          </a:p>
          <a:p>
            <a:pPr lvl="0" algn="just">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lvl="0"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For subnet, specify the CIDR block for the subnet, which is a subset of the VPC CIDR block. </a:t>
            </a:r>
          </a:p>
          <a:p>
            <a:pPr lvl="0" algn="just">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lvl="0"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Each subnet must reside entirely within one Availability Zone and cannot span zones. </a:t>
            </a:r>
          </a:p>
          <a:p>
            <a:pPr lvl="0" algn="just">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a:p>
            <a:pPr lvl="0"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Use </a:t>
            </a:r>
            <a:r>
              <a:rPr lang="en-US" sz="1800" dirty="0">
                <a:latin typeface="+mj-lt"/>
                <a:ea typeface="Verdana" panose="020B0604030504040204" pitchFamily="34" charset="0"/>
                <a:cs typeface="Verdana" panose="020B0604030504040204" pitchFamily="34" charset="0"/>
                <a:hlinkClick r:id="rId2"/>
              </a:rPr>
              <a:t>http://www.subnet-calculator.com/cidr.php</a:t>
            </a:r>
            <a:endParaRPr lang="en-US" sz="1800" dirty="0">
              <a:latin typeface="+mj-lt"/>
              <a:ea typeface="Verdana" panose="020B0604030504040204" pitchFamily="34" charset="0"/>
              <a:cs typeface="Verdana" panose="020B0604030504040204" pitchFamily="34" charset="0"/>
            </a:endParaRPr>
          </a:p>
          <a:p>
            <a:pPr lvl="0" algn="just">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VPC: VPC and Subnet</a:t>
            </a:r>
          </a:p>
        </p:txBody>
      </p:sp>
      <p:pic>
        <p:nvPicPr>
          <p:cNvPr id="5" name="image22.jpeg"/>
          <p:cNvPicPr/>
          <p:nvPr/>
        </p:nvPicPr>
        <p:blipFill>
          <a:blip r:embed="rId3" cstate="print"/>
          <a:stretch>
            <a:fillRect/>
          </a:stretch>
        </p:blipFill>
        <p:spPr>
          <a:xfrm>
            <a:off x="7391737" y="990600"/>
            <a:ext cx="4344531" cy="5334000"/>
          </a:xfrm>
          <a:prstGeom prst="rect">
            <a:avLst/>
          </a:prstGeom>
        </p:spPr>
      </p:pic>
      <p:sp>
        <p:nvSpPr>
          <p:cNvPr id="6" name="Footer Placeholder 5">
            <a:extLst>
              <a:ext uri="{FF2B5EF4-FFF2-40B4-BE49-F238E27FC236}">
                <a16:creationId xmlns:a16="http://schemas.microsoft.com/office/drawing/2014/main" id="{27F1AC7B-2D7D-40ED-AD64-43820D855547}"/>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566091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300355"/>
            <a:ext cx="473202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TeXGyreAdventor"/>
                <a:cs typeface="TeXGyreAdventor"/>
              </a:rPr>
              <a:t>AWS </a:t>
            </a:r>
            <a:r>
              <a:rPr sz="3200" spc="-5" dirty="0">
                <a:latin typeface="TeXGyreAdventor"/>
                <a:cs typeface="TeXGyreAdventor"/>
              </a:rPr>
              <a:t>VPC: Public</a:t>
            </a:r>
            <a:r>
              <a:rPr sz="3200" spc="-90" dirty="0">
                <a:latin typeface="TeXGyreAdventor"/>
                <a:cs typeface="TeXGyreAdventor"/>
              </a:rPr>
              <a:t> </a:t>
            </a:r>
            <a:r>
              <a:rPr sz="3200" spc="-5" dirty="0">
                <a:latin typeface="TeXGyreAdventor"/>
                <a:cs typeface="TeXGyreAdventor"/>
              </a:rPr>
              <a:t>Subnet</a:t>
            </a:r>
            <a:endParaRPr sz="3200">
              <a:latin typeface="TeXGyreAdventor"/>
              <a:cs typeface="TeXGyreAdventor"/>
            </a:endParaRPr>
          </a:p>
        </p:txBody>
      </p:sp>
      <p:sp>
        <p:nvSpPr>
          <p:cNvPr id="3" name="object 3"/>
          <p:cNvSpPr txBox="1"/>
          <p:nvPr/>
        </p:nvSpPr>
        <p:spPr>
          <a:xfrm>
            <a:off x="255653" y="1095755"/>
            <a:ext cx="5256782" cy="3059812"/>
          </a:xfrm>
          <a:prstGeom prst="rect">
            <a:avLst/>
          </a:prstGeom>
        </p:spPr>
        <p:txBody>
          <a:bodyPr vert="horz" wrap="square" lIns="0" tIns="12700" rIns="0" bIns="0" rtlCol="0">
            <a:spAutoFit/>
          </a:bodyPr>
          <a:lstStyle/>
          <a:p>
            <a:pPr marL="354965" marR="5080" indent="-342900" algn="just">
              <a:lnSpc>
                <a:spcPct val="100000"/>
              </a:lnSpc>
              <a:spcBef>
                <a:spcPts val="100"/>
              </a:spcBef>
              <a:buClr>
                <a:srgbClr val="89D0D5"/>
              </a:buClr>
              <a:buSzPct val="80555"/>
              <a:buFont typeface="Wingdings" panose="05000000000000000000" pitchFamily="2" charset="2"/>
              <a:buChar char="Ø"/>
              <a:tabLst>
                <a:tab pos="299720" algn="l"/>
              </a:tabLst>
            </a:pPr>
            <a:r>
              <a:rPr sz="2200" spc="-5" dirty="0">
                <a:latin typeface="+mj-lt"/>
                <a:cs typeface="TeXGyreAdventor"/>
              </a:rPr>
              <a:t>A public subnet </a:t>
            </a:r>
            <a:r>
              <a:rPr sz="2200" spc="10" dirty="0">
                <a:latin typeface="+mj-lt"/>
                <a:cs typeface="TeXGyreAdventor"/>
              </a:rPr>
              <a:t>is </a:t>
            </a:r>
            <a:r>
              <a:rPr sz="2200" dirty="0">
                <a:latin typeface="+mj-lt"/>
                <a:cs typeface="TeXGyreAdventor"/>
              </a:rPr>
              <a:t>a </a:t>
            </a:r>
            <a:r>
              <a:rPr sz="2200" spc="-5" dirty="0">
                <a:latin typeface="+mj-lt"/>
                <a:cs typeface="TeXGyreAdventor"/>
              </a:rPr>
              <a:t>subnet that has access  </a:t>
            </a:r>
            <a:r>
              <a:rPr sz="2200" spc="-10" dirty="0">
                <a:latin typeface="+mj-lt"/>
                <a:cs typeface="TeXGyreAdventor"/>
              </a:rPr>
              <a:t>to the </a:t>
            </a:r>
            <a:r>
              <a:rPr sz="2200" dirty="0">
                <a:latin typeface="+mj-lt"/>
                <a:cs typeface="TeXGyreAdventor"/>
              </a:rPr>
              <a:t>Internet </a:t>
            </a:r>
            <a:r>
              <a:rPr sz="2200" spc="-5" dirty="0">
                <a:latin typeface="+mj-lt"/>
                <a:cs typeface="TeXGyreAdventor"/>
              </a:rPr>
              <a:t>through an Internet  </a:t>
            </a:r>
            <a:r>
              <a:rPr sz="2200" spc="-10" dirty="0">
                <a:latin typeface="+mj-lt"/>
                <a:cs typeface="TeXGyreAdventor"/>
              </a:rPr>
              <a:t>gateway.</a:t>
            </a:r>
            <a:endParaRPr sz="2200" dirty="0">
              <a:latin typeface="+mj-lt"/>
              <a:cs typeface="TeXGyreAdventor"/>
            </a:endParaRPr>
          </a:p>
          <a:p>
            <a:pPr marL="342900" indent="-342900">
              <a:lnSpc>
                <a:spcPct val="100000"/>
              </a:lnSpc>
              <a:spcBef>
                <a:spcPts val="5"/>
              </a:spcBef>
              <a:buClr>
                <a:srgbClr val="89D0D5"/>
              </a:buClr>
              <a:buFont typeface="Wingdings" panose="05000000000000000000" pitchFamily="2" charset="2"/>
              <a:buChar char="Ø"/>
            </a:pPr>
            <a:endParaRPr sz="2200" dirty="0">
              <a:latin typeface="+mj-lt"/>
              <a:cs typeface="TeXGyreAdventor"/>
            </a:endParaRPr>
          </a:p>
          <a:p>
            <a:pPr marL="354965" marR="6350" indent="-342900" algn="just">
              <a:lnSpc>
                <a:spcPct val="100000"/>
              </a:lnSpc>
              <a:buClr>
                <a:srgbClr val="89D0D5"/>
              </a:buClr>
              <a:buSzPct val="80555"/>
              <a:buFont typeface="Wingdings" panose="05000000000000000000" pitchFamily="2" charset="2"/>
              <a:buChar char="Ø"/>
              <a:tabLst>
                <a:tab pos="299720" algn="l"/>
              </a:tabLst>
            </a:pPr>
            <a:r>
              <a:rPr sz="2200" spc="-5" dirty="0">
                <a:latin typeface="+mj-lt"/>
                <a:cs typeface="TeXGyreAdventor"/>
              </a:rPr>
              <a:t>Each instance </a:t>
            </a:r>
            <a:r>
              <a:rPr sz="2200" spc="-10" dirty="0">
                <a:latin typeface="+mj-lt"/>
                <a:cs typeface="TeXGyreAdventor"/>
              </a:rPr>
              <a:t>has </a:t>
            </a:r>
            <a:r>
              <a:rPr sz="2200" dirty="0">
                <a:latin typeface="+mj-lt"/>
                <a:cs typeface="TeXGyreAdventor"/>
              </a:rPr>
              <a:t>a </a:t>
            </a:r>
            <a:r>
              <a:rPr sz="2200" spc="-5" dirty="0">
                <a:latin typeface="+mj-lt"/>
                <a:cs typeface="TeXGyreAdventor"/>
              </a:rPr>
              <a:t>private address </a:t>
            </a:r>
            <a:r>
              <a:rPr sz="2200" spc="-10" dirty="0">
                <a:latin typeface="+mj-lt"/>
                <a:cs typeface="TeXGyreAdventor"/>
              </a:rPr>
              <a:t>and  </a:t>
            </a:r>
            <a:r>
              <a:rPr sz="2200" dirty="0">
                <a:latin typeface="+mj-lt"/>
                <a:cs typeface="TeXGyreAdventor"/>
              </a:rPr>
              <a:t>public</a:t>
            </a:r>
            <a:r>
              <a:rPr sz="2200" spc="-20" dirty="0">
                <a:latin typeface="+mj-lt"/>
                <a:cs typeface="TeXGyreAdventor"/>
              </a:rPr>
              <a:t> </a:t>
            </a:r>
            <a:r>
              <a:rPr sz="2200" spc="-5" dirty="0">
                <a:latin typeface="+mj-lt"/>
                <a:cs typeface="TeXGyreAdventor"/>
              </a:rPr>
              <a:t>address.</a:t>
            </a:r>
            <a:endParaRPr sz="2200" dirty="0">
              <a:latin typeface="+mj-lt"/>
              <a:cs typeface="TeXGyreAdventor"/>
            </a:endParaRPr>
          </a:p>
          <a:p>
            <a:pPr marL="342900" indent="-342900">
              <a:lnSpc>
                <a:spcPct val="100000"/>
              </a:lnSpc>
              <a:spcBef>
                <a:spcPts val="20"/>
              </a:spcBef>
              <a:buClr>
                <a:srgbClr val="89D0D5"/>
              </a:buClr>
              <a:buFont typeface="Wingdings" panose="05000000000000000000" pitchFamily="2" charset="2"/>
              <a:buChar char="Ø"/>
            </a:pPr>
            <a:endParaRPr sz="2200" dirty="0">
              <a:latin typeface="+mj-lt"/>
              <a:cs typeface="TeXGyreAdventor"/>
            </a:endParaRPr>
          </a:p>
          <a:p>
            <a:pPr marL="354965" marR="5080" indent="-342900" algn="just">
              <a:lnSpc>
                <a:spcPct val="100000"/>
              </a:lnSpc>
              <a:buClr>
                <a:srgbClr val="89D0D5"/>
              </a:buClr>
              <a:buSzPct val="80555"/>
              <a:buFont typeface="Wingdings" panose="05000000000000000000" pitchFamily="2" charset="2"/>
              <a:buChar char="Ø"/>
              <a:tabLst>
                <a:tab pos="299720" algn="l"/>
              </a:tabLst>
            </a:pPr>
            <a:r>
              <a:rPr sz="2200" spc="-5" dirty="0">
                <a:latin typeface="+mj-lt"/>
                <a:cs typeface="TeXGyreAdventor"/>
              </a:rPr>
              <a:t>These instances can communicate with  </a:t>
            </a:r>
            <a:r>
              <a:rPr sz="2200" spc="-10" dirty="0">
                <a:latin typeface="+mj-lt"/>
                <a:cs typeface="TeXGyreAdventor"/>
              </a:rPr>
              <a:t>each other, and </a:t>
            </a:r>
            <a:r>
              <a:rPr sz="2200" spc="-5" dirty="0">
                <a:latin typeface="+mj-lt"/>
                <a:cs typeface="TeXGyreAdventor"/>
              </a:rPr>
              <a:t>access </a:t>
            </a:r>
            <a:r>
              <a:rPr sz="2200" spc="-10" dirty="0">
                <a:latin typeface="+mj-lt"/>
                <a:cs typeface="TeXGyreAdventor"/>
              </a:rPr>
              <a:t>the</a:t>
            </a:r>
            <a:r>
              <a:rPr sz="2200" spc="125" dirty="0">
                <a:latin typeface="+mj-lt"/>
                <a:cs typeface="TeXGyreAdventor"/>
              </a:rPr>
              <a:t> </a:t>
            </a:r>
            <a:r>
              <a:rPr sz="2200" spc="-10" dirty="0">
                <a:latin typeface="+mj-lt"/>
                <a:cs typeface="TeXGyreAdventor"/>
              </a:rPr>
              <a:t>Internet.</a:t>
            </a:r>
            <a:endParaRPr sz="2200" dirty="0">
              <a:latin typeface="+mj-lt"/>
              <a:cs typeface="TeXGyreAdventor"/>
            </a:endParaRPr>
          </a:p>
        </p:txBody>
      </p:sp>
      <p:grpSp>
        <p:nvGrpSpPr>
          <p:cNvPr id="4" name="object 4"/>
          <p:cNvGrpSpPr/>
          <p:nvPr/>
        </p:nvGrpSpPr>
        <p:grpSpPr>
          <a:xfrm>
            <a:off x="5934455" y="1095755"/>
            <a:ext cx="5725795" cy="4467225"/>
            <a:chOff x="5934455" y="1095755"/>
            <a:chExt cx="5725795" cy="4467225"/>
          </a:xfrm>
        </p:grpSpPr>
        <p:sp>
          <p:nvSpPr>
            <p:cNvPr id="5" name="object 5"/>
            <p:cNvSpPr/>
            <p:nvPr/>
          </p:nvSpPr>
          <p:spPr>
            <a:xfrm>
              <a:off x="5934455" y="1095755"/>
              <a:ext cx="5725667" cy="4466844"/>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0802746" y="1537843"/>
              <a:ext cx="107950" cy="1974723"/>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838941"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8" name="object 8"/>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endParaRPr/>
            </a:p>
          </p:txBody>
        </p:sp>
      </p:grpSp>
      <p:sp>
        <p:nvSpPr>
          <p:cNvPr id="9" name="object 9"/>
          <p:cNvSpPr txBox="1"/>
          <p:nvPr/>
        </p:nvSpPr>
        <p:spPr>
          <a:xfrm>
            <a:off x="10562590" y="570992"/>
            <a:ext cx="419100"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FFFFFF"/>
                </a:solidFill>
                <a:latin typeface="TeXGyreAdventor"/>
                <a:cs typeface="TeXGyreAdventor"/>
              </a:rPr>
              <a:t>16</a:t>
            </a:r>
            <a:endParaRPr sz="2800">
              <a:latin typeface="TeXGyreAdventor"/>
              <a:cs typeface="TeXGyreAdventor"/>
            </a:endParaRPr>
          </a:p>
        </p:txBody>
      </p:sp>
      <p:sp>
        <p:nvSpPr>
          <p:cNvPr id="11" name="Footer Placeholder 10">
            <a:extLst>
              <a:ext uri="{FF2B5EF4-FFF2-40B4-BE49-F238E27FC236}">
                <a16:creationId xmlns:a16="http://schemas.microsoft.com/office/drawing/2014/main" id="{9E7028C1-548F-4E83-886B-DD26BAE317FB}"/>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VPC: Private Subnet</a:t>
            </a:r>
          </a:p>
        </p:txBody>
      </p:sp>
      <p:sp>
        <p:nvSpPr>
          <p:cNvPr id="8" name="Content Placeholder 2"/>
          <p:cNvSpPr>
            <a:spLocks noGrp="1"/>
          </p:cNvSpPr>
          <p:nvPr>
            <p:ph idx="1"/>
          </p:nvPr>
        </p:nvSpPr>
        <p:spPr>
          <a:xfrm>
            <a:off x="361950" y="1066801"/>
            <a:ext cx="5734050" cy="5105399"/>
          </a:xfrm>
        </p:spPr>
        <p:txBody>
          <a:bodyPr>
            <a:normAutofit/>
          </a:bodyPr>
          <a:lstStyle/>
          <a:p>
            <a:pPr>
              <a:buFont typeface="Wingdings" panose="05000000000000000000" pitchFamily="2" charset="2"/>
              <a:buChar char="Ø"/>
            </a:pPr>
            <a:r>
              <a:rPr lang="en-US" sz="2200" dirty="0">
                <a:latin typeface="+mj-lt"/>
                <a:ea typeface="Verdana" panose="020B0604030504040204" pitchFamily="34" charset="0"/>
                <a:cs typeface="Verdana" panose="020B0604030504040204" pitchFamily="34" charset="0"/>
              </a:rPr>
              <a:t>If a subnet doesn't have a route to the internet gateway, the subnet is known as a private subnet</a:t>
            </a:r>
            <a:r>
              <a:rPr lang="en-US" sz="2200" dirty="0">
                <a:latin typeface="+mj-lt"/>
              </a:rPr>
              <a:t>. </a:t>
            </a:r>
          </a:p>
          <a:p>
            <a:pPr>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200" dirty="0">
                <a:latin typeface="+mj-lt"/>
                <a:ea typeface="Verdana" panose="020B0604030504040204" pitchFamily="34" charset="0"/>
                <a:cs typeface="Verdana" panose="020B0604030504040204" pitchFamily="34" charset="0"/>
              </a:rPr>
              <a:t>By default, each instance has a private address, but no public address.</a:t>
            </a:r>
          </a:p>
          <a:p>
            <a:pPr algn="just">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Font typeface="Wingdings" panose="05000000000000000000" pitchFamily="2" charset="2"/>
              <a:buChar char="Ø"/>
            </a:pPr>
            <a:r>
              <a:rPr lang="en-US" sz="2200" dirty="0">
                <a:latin typeface="+mj-lt"/>
                <a:ea typeface="Verdana" panose="020B0604030504040204" pitchFamily="34" charset="0"/>
                <a:cs typeface="Verdana" panose="020B0604030504040204" pitchFamily="34" charset="0"/>
              </a:rPr>
              <a:t>These instances can communicate with each other, but can't access the Internet.</a:t>
            </a:r>
          </a:p>
          <a:p>
            <a:pPr algn="just">
              <a:buClr>
                <a:schemeClr val="tx1"/>
              </a:buClr>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2200" dirty="0">
              <a:latin typeface="+mj-lt"/>
              <a:ea typeface="Verdana" panose="020B0604030504040204" pitchFamily="34" charset="0"/>
              <a:cs typeface="Verdana" panose="020B0604030504040204" pitchFamily="34" charset="0"/>
            </a:endParaRPr>
          </a:p>
        </p:txBody>
      </p:sp>
      <p:pic>
        <p:nvPicPr>
          <p:cNvPr id="12" name="image3.jpeg"/>
          <p:cNvPicPr/>
          <p:nvPr/>
        </p:nvPicPr>
        <p:blipFill>
          <a:blip r:embed="rId2" cstate="print"/>
          <a:stretch>
            <a:fillRect/>
          </a:stretch>
        </p:blipFill>
        <p:spPr>
          <a:xfrm>
            <a:off x="6181747" y="1204913"/>
            <a:ext cx="5173422" cy="4448175"/>
          </a:xfrm>
          <a:prstGeom prst="rect">
            <a:avLst/>
          </a:prstGeom>
        </p:spPr>
      </p:pic>
      <p:sp>
        <p:nvSpPr>
          <p:cNvPr id="3" name="Footer Placeholder 2">
            <a:extLst>
              <a:ext uri="{FF2B5EF4-FFF2-40B4-BE49-F238E27FC236}">
                <a16:creationId xmlns:a16="http://schemas.microsoft.com/office/drawing/2014/main" id="{74868568-DC0D-4248-AE58-CB54EB4F66FF}"/>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2708137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6594" y="378978"/>
            <a:ext cx="2846705" cy="628377"/>
          </a:xfrm>
          <a:prstGeom prst="rect">
            <a:avLst/>
          </a:prstGeom>
        </p:spPr>
        <p:txBody>
          <a:bodyPr vert="horz" wrap="square" lIns="0" tIns="12700" rIns="0" bIns="0" rtlCol="0">
            <a:spAutoFit/>
          </a:bodyPr>
          <a:lstStyle/>
          <a:p>
            <a:pPr marL="12700">
              <a:lnSpc>
                <a:spcPct val="100000"/>
              </a:lnSpc>
              <a:spcBef>
                <a:spcPts val="100"/>
              </a:spcBef>
            </a:pPr>
            <a:r>
              <a:rPr sz="4000" b="0" spc="-5" dirty="0">
                <a:cs typeface="TeXGyreAdventor"/>
              </a:rPr>
              <a:t>Route</a:t>
            </a:r>
            <a:r>
              <a:rPr sz="4000" b="0" spc="-65" dirty="0">
                <a:cs typeface="TeXGyreAdventor"/>
              </a:rPr>
              <a:t> </a:t>
            </a:r>
            <a:r>
              <a:rPr sz="4000" b="0" dirty="0">
                <a:cs typeface="TeXGyreAdventor"/>
              </a:rPr>
              <a:t>Tables</a:t>
            </a:r>
            <a:endParaRPr sz="4000" dirty="0">
              <a:cs typeface="TeXGyreAdventor"/>
            </a:endParaRPr>
          </a:p>
        </p:txBody>
      </p:sp>
      <p:sp>
        <p:nvSpPr>
          <p:cNvPr id="3" name="object 3"/>
          <p:cNvSpPr txBox="1"/>
          <p:nvPr/>
        </p:nvSpPr>
        <p:spPr>
          <a:xfrm>
            <a:off x="10661650" y="570992"/>
            <a:ext cx="22225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FFFFFF"/>
                </a:solidFill>
                <a:latin typeface="TeXGyreAdventor"/>
                <a:cs typeface="TeXGyreAdventor"/>
              </a:rPr>
              <a:t>9</a:t>
            </a:r>
            <a:endParaRPr sz="2800">
              <a:latin typeface="TeXGyreAdventor"/>
              <a:cs typeface="TeXGyreAdventor"/>
            </a:endParaRPr>
          </a:p>
        </p:txBody>
      </p:sp>
      <p:sp>
        <p:nvSpPr>
          <p:cNvPr id="4" name="object 4"/>
          <p:cNvSpPr txBox="1"/>
          <p:nvPr/>
        </p:nvSpPr>
        <p:spPr>
          <a:xfrm>
            <a:off x="438150" y="1429448"/>
            <a:ext cx="11506200" cy="2244845"/>
          </a:xfrm>
          <a:prstGeom prst="rect">
            <a:avLst/>
          </a:prstGeom>
        </p:spPr>
        <p:txBody>
          <a:bodyPr vert="horz" wrap="square" lIns="0" tIns="13335" rIns="0" bIns="0" rtlCol="0">
            <a:spAutoFit/>
          </a:bodyPr>
          <a:lstStyle/>
          <a:p>
            <a:pPr marL="354965" marR="186690" indent="-342900">
              <a:lnSpc>
                <a:spcPct val="100000"/>
              </a:lnSpc>
              <a:spcBef>
                <a:spcPts val="105"/>
              </a:spcBef>
              <a:buFont typeface="Wingdings" panose="05000000000000000000" pitchFamily="2" charset="2"/>
              <a:buChar char="Ø"/>
              <a:tabLst>
                <a:tab pos="354965" algn="l"/>
              </a:tabLst>
            </a:pPr>
            <a:r>
              <a:rPr sz="2000" dirty="0">
                <a:latin typeface="+mj-lt"/>
                <a:cs typeface="TeXGyreAdventor"/>
              </a:rPr>
              <a:t>A route table contains a set of rules, called routes, that </a:t>
            </a:r>
            <a:r>
              <a:rPr sz="2000" spc="-5" dirty="0">
                <a:latin typeface="+mj-lt"/>
                <a:cs typeface="TeXGyreAdventor"/>
              </a:rPr>
              <a:t>are </a:t>
            </a:r>
            <a:r>
              <a:rPr sz="2000" dirty="0">
                <a:latin typeface="+mj-lt"/>
                <a:cs typeface="TeXGyreAdventor"/>
              </a:rPr>
              <a:t>used</a:t>
            </a:r>
            <a:r>
              <a:rPr sz="2000" spc="-300" dirty="0">
                <a:latin typeface="+mj-lt"/>
                <a:cs typeface="TeXGyreAdventor"/>
              </a:rPr>
              <a:t> </a:t>
            </a:r>
            <a:r>
              <a:rPr sz="2000" spc="5" dirty="0">
                <a:latin typeface="+mj-lt"/>
                <a:cs typeface="TeXGyreAdventor"/>
              </a:rPr>
              <a:t>to  </a:t>
            </a:r>
            <a:r>
              <a:rPr sz="2000" dirty="0">
                <a:latin typeface="+mj-lt"/>
                <a:cs typeface="TeXGyreAdventor"/>
              </a:rPr>
              <a:t>determine where network traffic </a:t>
            </a:r>
            <a:r>
              <a:rPr sz="2000" spc="-5" dirty="0">
                <a:latin typeface="+mj-lt"/>
                <a:cs typeface="TeXGyreAdventor"/>
              </a:rPr>
              <a:t>is</a:t>
            </a:r>
            <a:r>
              <a:rPr sz="2000" spc="-165" dirty="0">
                <a:latin typeface="+mj-lt"/>
                <a:cs typeface="TeXGyreAdventor"/>
              </a:rPr>
              <a:t> </a:t>
            </a:r>
            <a:r>
              <a:rPr sz="2000" dirty="0">
                <a:latin typeface="+mj-lt"/>
                <a:cs typeface="TeXGyreAdventor"/>
              </a:rPr>
              <a:t>directed.</a:t>
            </a:r>
          </a:p>
          <a:p>
            <a:pPr marL="355600" indent="-342900">
              <a:lnSpc>
                <a:spcPct val="100000"/>
              </a:lnSpc>
              <a:spcBef>
                <a:spcPts val="994"/>
              </a:spcBef>
              <a:buFont typeface="Wingdings" panose="05000000000000000000" pitchFamily="2" charset="2"/>
              <a:buChar char="Ø"/>
              <a:tabLst>
                <a:tab pos="354965" algn="l"/>
              </a:tabLst>
            </a:pPr>
            <a:r>
              <a:rPr sz="2000" spc="-5" dirty="0">
                <a:latin typeface="+mj-lt"/>
                <a:cs typeface="TeXGyreAdventor"/>
              </a:rPr>
              <a:t>Each </a:t>
            </a:r>
            <a:r>
              <a:rPr sz="2000" dirty="0">
                <a:latin typeface="+mj-lt"/>
                <a:cs typeface="TeXGyreAdventor"/>
              </a:rPr>
              <a:t>subnet </a:t>
            </a:r>
            <a:r>
              <a:rPr sz="2000" spc="-5" dirty="0">
                <a:latin typeface="+mj-lt"/>
                <a:cs typeface="TeXGyreAdventor"/>
              </a:rPr>
              <a:t>in your </a:t>
            </a:r>
            <a:r>
              <a:rPr sz="2000" spc="-15" dirty="0">
                <a:latin typeface="+mj-lt"/>
                <a:cs typeface="TeXGyreAdventor"/>
              </a:rPr>
              <a:t>VPC </a:t>
            </a:r>
            <a:r>
              <a:rPr sz="2000" dirty="0">
                <a:latin typeface="+mj-lt"/>
                <a:cs typeface="TeXGyreAdventor"/>
              </a:rPr>
              <a:t>must be </a:t>
            </a:r>
            <a:r>
              <a:rPr sz="2000" spc="-5" dirty="0">
                <a:latin typeface="+mj-lt"/>
                <a:cs typeface="TeXGyreAdventor"/>
              </a:rPr>
              <a:t>associated </a:t>
            </a:r>
            <a:r>
              <a:rPr sz="2000" dirty="0">
                <a:latin typeface="+mj-lt"/>
                <a:cs typeface="TeXGyreAdventor"/>
              </a:rPr>
              <a:t>with a route</a:t>
            </a:r>
            <a:r>
              <a:rPr sz="2000" spc="-145" dirty="0">
                <a:latin typeface="+mj-lt"/>
                <a:cs typeface="TeXGyreAdventor"/>
              </a:rPr>
              <a:t> </a:t>
            </a:r>
            <a:r>
              <a:rPr sz="2000" dirty="0">
                <a:latin typeface="+mj-lt"/>
                <a:cs typeface="TeXGyreAdventor"/>
              </a:rPr>
              <a:t>table</a:t>
            </a:r>
          </a:p>
          <a:p>
            <a:pPr marL="355600" indent="-342900">
              <a:lnSpc>
                <a:spcPct val="100000"/>
              </a:lnSpc>
              <a:spcBef>
                <a:spcPts val="1010"/>
              </a:spcBef>
              <a:buFont typeface="Wingdings" panose="05000000000000000000" pitchFamily="2" charset="2"/>
              <a:buChar char="Ø"/>
              <a:tabLst>
                <a:tab pos="354965" algn="l"/>
              </a:tabLst>
            </a:pPr>
            <a:r>
              <a:rPr sz="2000" dirty="0">
                <a:latin typeface="+mj-lt"/>
                <a:cs typeface="TeXGyreAdventor"/>
              </a:rPr>
              <a:t>The table controls </a:t>
            </a:r>
            <a:r>
              <a:rPr sz="2000" spc="5" dirty="0">
                <a:latin typeface="+mj-lt"/>
                <a:cs typeface="TeXGyreAdventor"/>
              </a:rPr>
              <a:t>the </a:t>
            </a:r>
            <a:r>
              <a:rPr sz="2000" dirty="0">
                <a:latin typeface="+mj-lt"/>
                <a:cs typeface="TeXGyreAdventor"/>
              </a:rPr>
              <a:t>routing </a:t>
            </a:r>
            <a:r>
              <a:rPr sz="2000" spc="-5" dirty="0">
                <a:latin typeface="+mj-lt"/>
                <a:cs typeface="TeXGyreAdventor"/>
              </a:rPr>
              <a:t>for </a:t>
            </a:r>
            <a:r>
              <a:rPr sz="2000" spc="5" dirty="0">
                <a:latin typeface="+mj-lt"/>
                <a:cs typeface="TeXGyreAdventor"/>
              </a:rPr>
              <a:t>the</a:t>
            </a:r>
            <a:r>
              <a:rPr sz="2000" spc="-180" dirty="0">
                <a:latin typeface="+mj-lt"/>
                <a:cs typeface="TeXGyreAdventor"/>
              </a:rPr>
              <a:t> </a:t>
            </a:r>
            <a:r>
              <a:rPr sz="2000" dirty="0">
                <a:latin typeface="+mj-lt"/>
                <a:cs typeface="TeXGyreAdventor"/>
              </a:rPr>
              <a:t>subnet.</a:t>
            </a:r>
          </a:p>
          <a:p>
            <a:pPr marL="355600" indent="-342900">
              <a:lnSpc>
                <a:spcPct val="100000"/>
              </a:lnSpc>
              <a:spcBef>
                <a:spcPts val="994"/>
              </a:spcBef>
              <a:buFont typeface="Wingdings" panose="05000000000000000000" pitchFamily="2" charset="2"/>
              <a:buChar char="Ø"/>
              <a:tabLst>
                <a:tab pos="354965" algn="l"/>
              </a:tabLst>
            </a:pPr>
            <a:r>
              <a:rPr sz="2000" dirty="0">
                <a:latin typeface="+mj-lt"/>
                <a:cs typeface="TeXGyreAdventor"/>
              </a:rPr>
              <a:t>A subnet can only be </a:t>
            </a:r>
            <a:r>
              <a:rPr sz="2000" spc="-5" dirty="0">
                <a:latin typeface="+mj-lt"/>
                <a:cs typeface="TeXGyreAdventor"/>
              </a:rPr>
              <a:t>associated </a:t>
            </a:r>
            <a:r>
              <a:rPr sz="2000" dirty="0">
                <a:latin typeface="+mj-lt"/>
                <a:cs typeface="TeXGyreAdventor"/>
              </a:rPr>
              <a:t>with one route table </a:t>
            </a:r>
            <a:r>
              <a:rPr sz="2000" spc="-5" dirty="0">
                <a:latin typeface="+mj-lt"/>
                <a:cs typeface="TeXGyreAdventor"/>
              </a:rPr>
              <a:t>at </a:t>
            </a:r>
            <a:r>
              <a:rPr sz="2000" dirty="0">
                <a:latin typeface="+mj-lt"/>
                <a:cs typeface="TeXGyreAdventor"/>
              </a:rPr>
              <a:t>a time,</a:t>
            </a:r>
            <a:r>
              <a:rPr sz="2000" spc="-260" dirty="0">
                <a:latin typeface="+mj-lt"/>
                <a:cs typeface="TeXGyreAdventor"/>
              </a:rPr>
              <a:t> </a:t>
            </a:r>
            <a:r>
              <a:rPr sz="2000" dirty="0">
                <a:latin typeface="+mj-lt"/>
                <a:cs typeface="TeXGyreAdventor"/>
              </a:rPr>
              <a:t>but</a:t>
            </a:r>
            <a:r>
              <a:rPr lang="en-IN" sz="2000" dirty="0">
                <a:latin typeface="+mj-lt"/>
                <a:cs typeface="TeXGyreAdventor"/>
              </a:rPr>
              <a:t> </a:t>
            </a:r>
            <a:r>
              <a:rPr sz="2000" spc="-5" dirty="0">
                <a:latin typeface="+mj-lt"/>
                <a:cs typeface="TeXGyreAdventor"/>
              </a:rPr>
              <a:t>you </a:t>
            </a:r>
            <a:r>
              <a:rPr sz="2000" dirty="0">
                <a:latin typeface="+mj-lt"/>
                <a:cs typeface="TeXGyreAdventor"/>
              </a:rPr>
              <a:t>can </a:t>
            </a:r>
            <a:r>
              <a:rPr sz="2000" spc="-5" dirty="0">
                <a:latin typeface="+mj-lt"/>
                <a:cs typeface="TeXGyreAdventor"/>
              </a:rPr>
              <a:t>associate </a:t>
            </a:r>
            <a:r>
              <a:rPr sz="2000" dirty="0">
                <a:latin typeface="+mj-lt"/>
                <a:cs typeface="TeXGyreAdventor"/>
              </a:rPr>
              <a:t>multiple </a:t>
            </a:r>
            <a:r>
              <a:rPr sz="2000" spc="-5" dirty="0">
                <a:latin typeface="+mj-lt"/>
                <a:cs typeface="TeXGyreAdventor"/>
              </a:rPr>
              <a:t>subnets </a:t>
            </a:r>
            <a:r>
              <a:rPr sz="2000" dirty="0">
                <a:latin typeface="+mj-lt"/>
                <a:cs typeface="TeXGyreAdventor"/>
              </a:rPr>
              <a:t>with </a:t>
            </a:r>
            <a:r>
              <a:rPr sz="2000" spc="5" dirty="0">
                <a:latin typeface="+mj-lt"/>
                <a:cs typeface="TeXGyreAdventor"/>
              </a:rPr>
              <a:t>the </a:t>
            </a:r>
            <a:r>
              <a:rPr sz="2000" dirty="0">
                <a:latin typeface="+mj-lt"/>
                <a:cs typeface="TeXGyreAdventor"/>
              </a:rPr>
              <a:t>same route</a:t>
            </a:r>
            <a:r>
              <a:rPr sz="2000" spc="-235" dirty="0">
                <a:latin typeface="+mj-lt"/>
                <a:cs typeface="TeXGyreAdventor"/>
              </a:rPr>
              <a:t> </a:t>
            </a:r>
            <a:r>
              <a:rPr sz="2000" dirty="0">
                <a:latin typeface="+mj-lt"/>
                <a:cs typeface="TeXGyreAdventor"/>
              </a:rPr>
              <a:t>table.</a:t>
            </a:r>
          </a:p>
        </p:txBody>
      </p:sp>
      <p:sp>
        <p:nvSpPr>
          <p:cNvPr id="5" name="object 5"/>
          <p:cNvSpPr/>
          <p:nvPr/>
        </p:nvSpPr>
        <p:spPr>
          <a:xfrm>
            <a:off x="1537716" y="3777996"/>
            <a:ext cx="7010400" cy="2702052"/>
          </a:xfrm>
          <a:prstGeom prst="rect">
            <a:avLst/>
          </a:prstGeom>
          <a:blipFill>
            <a:blip r:embed="rId2" cstate="print"/>
            <a:stretch>
              <a:fillRect/>
            </a:stretch>
          </a:blipFill>
          <a:ln w="3175">
            <a:solidFill>
              <a:schemeClr val="tx1"/>
            </a:solidFill>
          </a:ln>
        </p:spPr>
        <p:txBody>
          <a:bodyPr wrap="square" lIns="0" tIns="0" rIns="0" bIns="0" rtlCol="0"/>
          <a:lstStyle/>
          <a:p>
            <a:endParaRPr/>
          </a:p>
        </p:txBody>
      </p:sp>
      <p:sp>
        <p:nvSpPr>
          <p:cNvPr id="6" name="object 6"/>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8" name="object 8"/>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endParaRPr/>
          </a:p>
        </p:txBody>
      </p:sp>
      <p:sp>
        <p:nvSpPr>
          <p:cNvPr id="10" name="Footer Placeholder 9">
            <a:extLst>
              <a:ext uri="{FF2B5EF4-FFF2-40B4-BE49-F238E27FC236}">
                <a16:creationId xmlns:a16="http://schemas.microsoft.com/office/drawing/2014/main" id="{9B3C23A8-FCAC-482A-BBDF-042FFACBD34E}"/>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2744" y="492260"/>
            <a:ext cx="4608830" cy="628377"/>
          </a:xfrm>
          <a:prstGeom prst="rect">
            <a:avLst/>
          </a:prstGeom>
        </p:spPr>
        <p:txBody>
          <a:bodyPr vert="horz" wrap="square" lIns="0" tIns="12700" rIns="0" bIns="0" rtlCol="0">
            <a:spAutoFit/>
          </a:bodyPr>
          <a:lstStyle/>
          <a:p>
            <a:pPr marL="12700">
              <a:lnSpc>
                <a:spcPct val="100000"/>
              </a:lnSpc>
              <a:spcBef>
                <a:spcPts val="100"/>
              </a:spcBef>
            </a:pPr>
            <a:r>
              <a:rPr sz="4000" b="0" spc="-5" dirty="0">
                <a:cs typeface="TeXGyreAdventor"/>
              </a:rPr>
              <a:t>Internet</a:t>
            </a:r>
            <a:r>
              <a:rPr sz="4000" b="0" spc="-90" dirty="0">
                <a:cs typeface="TeXGyreAdventor"/>
              </a:rPr>
              <a:t> </a:t>
            </a:r>
            <a:r>
              <a:rPr sz="4000" b="0" spc="-5" dirty="0">
                <a:cs typeface="TeXGyreAdventor"/>
              </a:rPr>
              <a:t>Gateway</a:t>
            </a:r>
            <a:endParaRPr sz="4000" dirty="0">
              <a:cs typeface="TeXGyreAdventor"/>
            </a:endParaRPr>
          </a:p>
        </p:txBody>
      </p:sp>
      <p:sp>
        <p:nvSpPr>
          <p:cNvPr id="3" name="object 3"/>
          <p:cNvSpPr txBox="1"/>
          <p:nvPr/>
        </p:nvSpPr>
        <p:spPr>
          <a:xfrm>
            <a:off x="10562590" y="570992"/>
            <a:ext cx="419100"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FFFFFF"/>
                </a:solidFill>
                <a:latin typeface="TeXGyreAdventor"/>
                <a:cs typeface="TeXGyreAdventor"/>
              </a:rPr>
              <a:t>10</a:t>
            </a:r>
            <a:endParaRPr sz="2800">
              <a:latin typeface="TeXGyreAdventor"/>
              <a:cs typeface="TeXGyreAdventor"/>
            </a:endParaRPr>
          </a:p>
        </p:txBody>
      </p:sp>
      <p:sp>
        <p:nvSpPr>
          <p:cNvPr id="4" name="object 4"/>
          <p:cNvSpPr txBox="1"/>
          <p:nvPr/>
        </p:nvSpPr>
        <p:spPr>
          <a:xfrm>
            <a:off x="724001" y="1474673"/>
            <a:ext cx="10123831" cy="4070986"/>
          </a:xfrm>
          <a:prstGeom prst="rect">
            <a:avLst/>
          </a:prstGeom>
        </p:spPr>
        <p:txBody>
          <a:bodyPr vert="horz" wrap="square" lIns="0" tIns="13335" rIns="0" bIns="0" rtlCol="0">
            <a:spAutoFit/>
          </a:bodyPr>
          <a:lstStyle/>
          <a:p>
            <a:pPr marL="12700" marR="47625">
              <a:lnSpc>
                <a:spcPct val="100000"/>
              </a:lnSpc>
              <a:spcBef>
                <a:spcPts val="105"/>
              </a:spcBef>
            </a:pPr>
            <a:r>
              <a:rPr sz="2000" spc="-5" dirty="0">
                <a:latin typeface="+mj-lt"/>
                <a:cs typeface="TeXGyreAdventor"/>
              </a:rPr>
              <a:t>An </a:t>
            </a:r>
            <a:r>
              <a:rPr sz="2000" dirty="0">
                <a:latin typeface="+mj-lt"/>
                <a:cs typeface="TeXGyreAdventor"/>
              </a:rPr>
              <a:t>Internet gateway </a:t>
            </a:r>
            <a:r>
              <a:rPr sz="2000" spc="-5" dirty="0">
                <a:latin typeface="+mj-lt"/>
                <a:cs typeface="TeXGyreAdventor"/>
              </a:rPr>
              <a:t>is </a:t>
            </a:r>
            <a:r>
              <a:rPr sz="2000" dirty="0">
                <a:latin typeface="+mj-lt"/>
                <a:cs typeface="TeXGyreAdventor"/>
              </a:rPr>
              <a:t>a horizontally </a:t>
            </a:r>
            <a:r>
              <a:rPr sz="2000" spc="-5" dirty="0">
                <a:latin typeface="+mj-lt"/>
                <a:cs typeface="TeXGyreAdventor"/>
              </a:rPr>
              <a:t>scaled, </a:t>
            </a:r>
            <a:r>
              <a:rPr sz="2000" dirty="0">
                <a:latin typeface="+mj-lt"/>
                <a:cs typeface="TeXGyreAdventor"/>
              </a:rPr>
              <a:t>redundant, and </a:t>
            </a:r>
            <a:r>
              <a:rPr sz="2000" spc="-5" dirty="0">
                <a:latin typeface="+mj-lt"/>
                <a:cs typeface="TeXGyreAdventor"/>
              </a:rPr>
              <a:t>highly  </a:t>
            </a:r>
            <a:r>
              <a:rPr sz="2000" dirty="0">
                <a:latin typeface="+mj-lt"/>
                <a:cs typeface="TeXGyreAdventor"/>
              </a:rPr>
              <a:t>available </a:t>
            </a:r>
            <a:r>
              <a:rPr sz="2000" spc="-15" dirty="0">
                <a:latin typeface="+mj-lt"/>
                <a:cs typeface="TeXGyreAdventor"/>
              </a:rPr>
              <a:t>VPC </a:t>
            </a:r>
            <a:r>
              <a:rPr sz="2000" dirty="0">
                <a:latin typeface="+mj-lt"/>
                <a:cs typeface="TeXGyreAdventor"/>
              </a:rPr>
              <a:t>component that allows communication between </a:t>
            </a:r>
            <a:r>
              <a:rPr sz="2000" spc="-5" dirty="0">
                <a:latin typeface="+mj-lt"/>
                <a:cs typeface="TeXGyreAdventor"/>
              </a:rPr>
              <a:t>instances  in your </a:t>
            </a:r>
            <a:r>
              <a:rPr sz="2000" spc="-15" dirty="0">
                <a:latin typeface="+mj-lt"/>
                <a:cs typeface="TeXGyreAdventor"/>
              </a:rPr>
              <a:t>VPC </a:t>
            </a:r>
            <a:r>
              <a:rPr sz="2000" spc="-5" dirty="0">
                <a:latin typeface="+mj-lt"/>
                <a:cs typeface="TeXGyreAdventor"/>
              </a:rPr>
              <a:t>and </a:t>
            </a:r>
            <a:r>
              <a:rPr sz="2000" spc="5" dirty="0">
                <a:latin typeface="+mj-lt"/>
                <a:cs typeface="TeXGyreAdventor"/>
              </a:rPr>
              <a:t>the </a:t>
            </a:r>
            <a:r>
              <a:rPr sz="2000" dirty="0">
                <a:latin typeface="+mj-lt"/>
                <a:cs typeface="TeXGyreAdventor"/>
              </a:rPr>
              <a:t>Internet.</a:t>
            </a:r>
          </a:p>
          <a:p>
            <a:pPr>
              <a:lnSpc>
                <a:spcPct val="100000"/>
              </a:lnSpc>
              <a:spcBef>
                <a:spcPts val="40"/>
              </a:spcBef>
            </a:pPr>
            <a:endParaRPr sz="3000" dirty="0">
              <a:latin typeface="+mj-lt"/>
              <a:cs typeface="TeXGyreAdventor"/>
            </a:endParaRPr>
          </a:p>
          <a:p>
            <a:pPr marL="12700">
              <a:lnSpc>
                <a:spcPct val="100000"/>
              </a:lnSpc>
            </a:pPr>
            <a:r>
              <a:rPr sz="2000" b="1" spc="-5" dirty="0">
                <a:latin typeface="+mj-lt"/>
                <a:cs typeface="TeXGyreAdventor"/>
              </a:rPr>
              <a:t>Uses:</a:t>
            </a:r>
            <a:endParaRPr lang="en-IN" sz="2000" b="1" spc="-5" dirty="0">
              <a:latin typeface="+mj-lt"/>
              <a:cs typeface="TeXGyreAdventor"/>
            </a:endParaRPr>
          </a:p>
          <a:p>
            <a:pPr marL="12700">
              <a:lnSpc>
                <a:spcPct val="100000"/>
              </a:lnSpc>
            </a:pPr>
            <a:endParaRPr sz="2000" dirty="0">
              <a:latin typeface="+mj-lt"/>
              <a:cs typeface="TeXGyreAdventor"/>
            </a:endParaRPr>
          </a:p>
          <a:p>
            <a:pPr marL="298450" indent="-285750">
              <a:lnSpc>
                <a:spcPct val="100000"/>
              </a:lnSpc>
              <a:spcBef>
                <a:spcPts val="1000"/>
              </a:spcBef>
              <a:buFont typeface="Wingdings" panose="05000000000000000000" pitchFamily="2" charset="2"/>
              <a:buChar char="Ø"/>
              <a:tabLst>
                <a:tab pos="354965" algn="l"/>
              </a:tabLst>
            </a:pPr>
            <a:r>
              <a:rPr sz="1600" spc="270" dirty="0">
                <a:latin typeface="+mj-lt"/>
                <a:cs typeface="Arial"/>
              </a:rPr>
              <a:t>	</a:t>
            </a:r>
            <a:r>
              <a:rPr sz="2000" dirty="0">
                <a:latin typeface="+mj-lt"/>
                <a:cs typeface="TeXGyreAdventor"/>
              </a:rPr>
              <a:t>Provides a target </a:t>
            </a:r>
            <a:r>
              <a:rPr sz="2000" spc="-5" dirty="0">
                <a:latin typeface="+mj-lt"/>
                <a:cs typeface="TeXGyreAdventor"/>
              </a:rPr>
              <a:t>in your </a:t>
            </a:r>
            <a:r>
              <a:rPr sz="2000" spc="-15" dirty="0">
                <a:latin typeface="+mj-lt"/>
                <a:cs typeface="TeXGyreAdventor"/>
              </a:rPr>
              <a:t>VPC </a:t>
            </a:r>
            <a:r>
              <a:rPr sz="2000" dirty="0">
                <a:latin typeface="+mj-lt"/>
                <a:cs typeface="TeXGyreAdventor"/>
              </a:rPr>
              <a:t>route tables </a:t>
            </a:r>
            <a:r>
              <a:rPr sz="2000" spc="-5" dirty="0">
                <a:latin typeface="+mj-lt"/>
                <a:cs typeface="TeXGyreAdventor"/>
              </a:rPr>
              <a:t>for </a:t>
            </a:r>
            <a:r>
              <a:rPr sz="2000" dirty="0">
                <a:latin typeface="+mj-lt"/>
                <a:cs typeface="TeXGyreAdventor"/>
              </a:rPr>
              <a:t>Internet-routable</a:t>
            </a:r>
            <a:r>
              <a:rPr sz="2000" spc="-160" dirty="0">
                <a:latin typeface="+mj-lt"/>
                <a:cs typeface="TeXGyreAdventor"/>
              </a:rPr>
              <a:t> </a:t>
            </a:r>
            <a:r>
              <a:rPr sz="2000" dirty="0">
                <a:latin typeface="+mj-lt"/>
                <a:cs typeface="TeXGyreAdventor"/>
              </a:rPr>
              <a:t>traffic</a:t>
            </a:r>
          </a:p>
          <a:p>
            <a:pPr marL="354965" marR="5080" indent="-342900">
              <a:lnSpc>
                <a:spcPct val="100000"/>
              </a:lnSpc>
              <a:spcBef>
                <a:spcPts val="994"/>
              </a:spcBef>
              <a:buFont typeface="Wingdings" panose="05000000000000000000" pitchFamily="2" charset="2"/>
              <a:buChar char="Ø"/>
              <a:tabLst>
                <a:tab pos="354965" algn="l"/>
              </a:tabLst>
            </a:pPr>
            <a:endParaRPr lang="en-IN" sz="1600" spc="270" dirty="0">
              <a:latin typeface="+mj-lt"/>
              <a:cs typeface="Arial"/>
            </a:endParaRPr>
          </a:p>
          <a:p>
            <a:pPr marL="354965" marR="5080" indent="-342900">
              <a:lnSpc>
                <a:spcPct val="100000"/>
              </a:lnSpc>
              <a:spcBef>
                <a:spcPts val="994"/>
              </a:spcBef>
              <a:buFont typeface="Wingdings" panose="05000000000000000000" pitchFamily="2" charset="2"/>
              <a:buChar char="Ø"/>
              <a:tabLst>
                <a:tab pos="354965" algn="l"/>
              </a:tabLst>
            </a:pPr>
            <a:r>
              <a:rPr sz="2000" dirty="0">
                <a:latin typeface="+mj-lt"/>
                <a:cs typeface="TeXGyreAdventor"/>
              </a:rPr>
              <a:t>Performs network </a:t>
            </a:r>
            <a:r>
              <a:rPr sz="2000" spc="-5" dirty="0">
                <a:latin typeface="+mj-lt"/>
                <a:cs typeface="TeXGyreAdventor"/>
              </a:rPr>
              <a:t>address </a:t>
            </a:r>
            <a:r>
              <a:rPr sz="2000" dirty="0">
                <a:latin typeface="+mj-lt"/>
                <a:cs typeface="TeXGyreAdventor"/>
              </a:rPr>
              <a:t>translation </a:t>
            </a:r>
            <a:r>
              <a:rPr sz="2000" spc="-10" dirty="0">
                <a:latin typeface="+mj-lt"/>
                <a:cs typeface="TeXGyreAdventor"/>
              </a:rPr>
              <a:t>(NAT) </a:t>
            </a:r>
            <a:r>
              <a:rPr sz="2000" spc="-5" dirty="0">
                <a:latin typeface="+mj-lt"/>
                <a:cs typeface="TeXGyreAdventor"/>
              </a:rPr>
              <a:t>for instances </a:t>
            </a:r>
            <a:r>
              <a:rPr sz="2000" dirty="0">
                <a:latin typeface="+mj-lt"/>
                <a:cs typeface="TeXGyreAdventor"/>
              </a:rPr>
              <a:t>that </a:t>
            </a:r>
            <a:r>
              <a:rPr sz="2000" spc="5" dirty="0">
                <a:latin typeface="+mj-lt"/>
                <a:cs typeface="TeXGyreAdventor"/>
              </a:rPr>
              <a:t>have </a:t>
            </a:r>
            <a:r>
              <a:rPr sz="2000" dirty="0">
                <a:latin typeface="+mj-lt"/>
                <a:cs typeface="TeXGyreAdventor"/>
              </a:rPr>
              <a:t>been  </a:t>
            </a:r>
            <a:r>
              <a:rPr sz="2000" spc="-5" dirty="0">
                <a:latin typeface="+mj-lt"/>
                <a:cs typeface="TeXGyreAdventor"/>
              </a:rPr>
              <a:t>assigned </a:t>
            </a:r>
            <a:r>
              <a:rPr sz="2000" dirty="0">
                <a:latin typeface="+mj-lt"/>
                <a:cs typeface="TeXGyreAdventor"/>
              </a:rPr>
              <a:t>public </a:t>
            </a:r>
            <a:r>
              <a:rPr sz="2000" spc="5" dirty="0">
                <a:latin typeface="+mj-lt"/>
                <a:cs typeface="TeXGyreAdventor"/>
              </a:rPr>
              <a:t>IPv4</a:t>
            </a:r>
            <a:r>
              <a:rPr sz="2000" spc="-90" dirty="0">
                <a:latin typeface="+mj-lt"/>
                <a:cs typeface="TeXGyreAdventor"/>
              </a:rPr>
              <a:t> </a:t>
            </a:r>
            <a:r>
              <a:rPr sz="2000" dirty="0">
                <a:latin typeface="+mj-lt"/>
                <a:cs typeface="TeXGyreAdventor"/>
              </a:rPr>
              <a:t>addresses.</a:t>
            </a:r>
          </a:p>
          <a:p>
            <a:pPr marL="298450" indent="-285750">
              <a:lnSpc>
                <a:spcPct val="100000"/>
              </a:lnSpc>
              <a:spcBef>
                <a:spcPts val="1010"/>
              </a:spcBef>
              <a:buFont typeface="Wingdings" panose="05000000000000000000" pitchFamily="2" charset="2"/>
              <a:buChar char="Ø"/>
              <a:tabLst>
                <a:tab pos="354965" algn="l"/>
              </a:tabLst>
            </a:pPr>
            <a:endParaRPr lang="en-IN" sz="1600" spc="270" dirty="0">
              <a:latin typeface="+mj-lt"/>
              <a:cs typeface="Arial"/>
            </a:endParaRPr>
          </a:p>
          <a:p>
            <a:pPr marL="298450" indent="-285750">
              <a:lnSpc>
                <a:spcPct val="100000"/>
              </a:lnSpc>
              <a:spcBef>
                <a:spcPts val="1010"/>
              </a:spcBef>
              <a:buFont typeface="Wingdings" panose="05000000000000000000" pitchFamily="2" charset="2"/>
              <a:buChar char="Ø"/>
              <a:tabLst>
                <a:tab pos="354965" algn="l"/>
              </a:tabLst>
            </a:pPr>
            <a:r>
              <a:rPr sz="1600" spc="270" dirty="0">
                <a:latin typeface="+mj-lt"/>
                <a:cs typeface="Arial"/>
              </a:rPr>
              <a:t>	</a:t>
            </a:r>
            <a:r>
              <a:rPr sz="2000" spc="-5" dirty="0">
                <a:latin typeface="+mj-lt"/>
                <a:cs typeface="TeXGyreAdventor"/>
              </a:rPr>
              <a:t>An </a:t>
            </a:r>
            <a:r>
              <a:rPr sz="2000" dirty="0">
                <a:latin typeface="+mj-lt"/>
                <a:cs typeface="TeXGyreAdventor"/>
              </a:rPr>
              <a:t>Internet gateway </a:t>
            </a:r>
            <a:r>
              <a:rPr sz="2000" spc="-5" dirty="0">
                <a:latin typeface="+mj-lt"/>
                <a:cs typeface="TeXGyreAdventor"/>
              </a:rPr>
              <a:t>supports </a:t>
            </a:r>
            <a:r>
              <a:rPr sz="2000" spc="5" dirty="0">
                <a:latin typeface="+mj-lt"/>
                <a:cs typeface="TeXGyreAdventor"/>
              </a:rPr>
              <a:t>IPv4 </a:t>
            </a:r>
            <a:r>
              <a:rPr sz="2000" spc="-5" dirty="0">
                <a:latin typeface="+mj-lt"/>
                <a:cs typeface="TeXGyreAdventor"/>
              </a:rPr>
              <a:t>and </a:t>
            </a:r>
            <a:r>
              <a:rPr sz="2000" spc="5" dirty="0">
                <a:latin typeface="+mj-lt"/>
                <a:cs typeface="TeXGyreAdventor"/>
              </a:rPr>
              <a:t>IPv6</a:t>
            </a:r>
            <a:r>
              <a:rPr sz="2000" spc="-200" dirty="0">
                <a:latin typeface="+mj-lt"/>
                <a:cs typeface="TeXGyreAdventor"/>
              </a:rPr>
              <a:t> </a:t>
            </a:r>
            <a:r>
              <a:rPr sz="2000" dirty="0">
                <a:latin typeface="+mj-lt"/>
                <a:cs typeface="TeXGyreAdventor"/>
              </a:rPr>
              <a:t>traffic.</a:t>
            </a:r>
          </a:p>
        </p:txBody>
      </p:sp>
      <p:sp>
        <p:nvSpPr>
          <p:cNvPr id="5" name="object 5"/>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7" name="object 7"/>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endParaRPr/>
          </a:p>
        </p:txBody>
      </p:sp>
      <p:sp>
        <p:nvSpPr>
          <p:cNvPr id="9" name="Footer Placeholder 8">
            <a:extLst>
              <a:ext uri="{FF2B5EF4-FFF2-40B4-BE49-F238E27FC236}">
                <a16:creationId xmlns:a16="http://schemas.microsoft.com/office/drawing/2014/main" id="{C55C6E08-6281-469D-9FAD-7601CC7BC8F9}"/>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6945" y="211878"/>
            <a:ext cx="2599055" cy="628377"/>
          </a:xfrm>
          <a:prstGeom prst="rect">
            <a:avLst/>
          </a:prstGeom>
        </p:spPr>
        <p:txBody>
          <a:bodyPr vert="horz" wrap="square" lIns="0" tIns="12700" rIns="0" bIns="0" rtlCol="0">
            <a:spAutoFit/>
          </a:bodyPr>
          <a:lstStyle/>
          <a:p>
            <a:pPr marL="12700">
              <a:lnSpc>
                <a:spcPct val="100000"/>
              </a:lnSpc>
              <a:spcBef>
                <a:spcPts val="100"/>
              </a:spcBef>
            </a:pPr>
            <a:r>
              <a:rPr sz="4000" b="0" spc="-5" dirty="0">
                <a:cs typeface="TeXGyreAdventor"/>
              </a:rPr>
              <a:t>NAT</a:t>
            </a:r>
            <a:r>
              <a:rPr sz="4000" b="0" spc="-80" dirty="0">
                <a:cs typeface="TeXGyreAdventor"/>
              </a:rPr>
              <a:t> </a:t>
            </a:r>
            <a:r>
              <a:rPr sz="4000" b="0" spc="-5" dirty="0">
                <a:cs typeface="TeXGyreAdventor"/>
              </a:rPr>
              <a:t>Device</a:t>
            </a:r>
            <a:endParaRPr sz="4000" dirty="0">
              <a:cs typeface="TeXGyreAdventor"/>
            </a:endParaRPr>
          </a:p>
        </p:txBody>
      </p:sp>
      <p:sp>
        <p:nvSpPr>
          <p:cNvPr id="3" name="object 3"/>
          <p:cNvSpPr txBox="1"/>
          <p:nvPr/>
        </p:nvSpPr>
        <p:spPr>
          <a:xfrm>
            <a:off x="674622" y="1300988"/>
            <a:ext cx="10812527" cy="1249060"/>
          </a:xfrm>
          <a:prstGeom prst="rect">
            <a:avLst/>
          </a:prstGeom>
        </p:spPr>
        <p:txBody>
          <a:bodyPr vert="horz" wrap="square" lIns="0" tIns="12700" rIns="0" bIns="0" rtlCol="0">
            <a:spAutoFit/>
          </a:bodyPr>
          <a:lstStyle/>
          <a:p>
            <a:pPr marL="355600" marR="5080" indent="-342900">
              <a:lnSpc>
                <a:spcPct val="100000"/>
              </a:lnSpc>
              <a:spcBef>
                <a:spcPts val="100"/>
              </a:spcBef>
              <a:buFont typeface="Wingdings" panose="05000000000000000000" pitchFamily="2" charset="2"/>
              <a:buChar char="Ø"/>
              <a:tabLst>
                <a:tab pos="354965" algn="l"/>
              </a:tabLst>
            </a:pPr>
            <a:r>
              <a:rPr spc="5" dirty="0">
                <a:latin typeface="+mj-lt"/>
                <a:cs typeface="TeXGyreAdventor"/>
              </a:rPr>
              <a:t>NAT </a:t>
            </a:r>
            <a:r>
              <a:rPr dirty="0">
                <a:latin typeface="+mj-lt"/>
                <a:cs typeface="TeXGyreAdventor"/>
              </a:rPr>
              <a:t>device </a:t>
            </a:r>
            <a:r>
              <a:rPr spc="-5" dirty="0">
                <a:latin typeface="+mj-lt"/>
                <a:cs typeface="TeXGyreAdventor"/>
              </a:rPr>
              <a:t>helps </a:t>
            </a:r>
            <a:r>
              <a:rPr spc="-10" dirty="0">
                <a:latin typeface="+mj-lt"/>
                <a:cs typeface="TeXGyreAdventor"/>
              </a:rPr>
              <a:t>to </a:t>
            </a:r>
            <a:r>
              <a:rPr spc="-5" dirty="0">
                <a:latin typeface="+mj-lt"/>
                <a:cs typeface="TeXGyreAdventor"/>
              </a:rPr>
              <a:t>enable instances </a:t>
            </a:r>
            <a:r>
              <a:rPr spc="10" dirty="0">
                <a:latin typeface="+mj-lt"/>
                <a:cs typeface="TeXGyreAdventor"/>
              </a:rPr>
              <a:t>in </a:t>
            </a:r>
            <a:r>
              <a:rPr dirty="0">
                <a:latin typeface="+mj-lt"/>
                <a:cs typeface="TeXGyreAdventor"/>
              </a:rPr>
              <a:t>a private </a:t>
            </a:r>
            <a:r>
              <a:rPr spc="-10" dirty="0">
                <a:latin typeface="+mj-lt"/>
                <a:cs typeface="TeXGyreAdventor"/>
              </a:rPr>
              <a:t>subnet to </a:t>
            </a:r>
            <a:r>
              <a:rPr spc="-5" dirty="0">
                <a:latin typeface="+mj-lt"/>
                <a:cs typeface="TeXGyreAdventor"/>
              </a:rPr>
              <a:t>connect </a:t>
            </a:r>
            <a:r>
              <a:rPr spc="-10" dirty="0">
                <a:latin typeface="+mj-lt"/>
                <a:cs typeface="TeXGyreAdventor"/>
              </a:rPr>
              <a:t>to the  </a:t>
            </a:r>
            <a:r>
              <a:rPr spc="-5" dirty="0">
                <a:latin typeface="+mj-lt"/>
                <a:cs typeface="TeXGyreAdventor"/>
              </a:rPr>
              <a:t>Internet </a:t>
            </a:r>
            <a:r>
              <a:rPr spc="-15" dirty="0">
                <a:latin typeface="+mj-lt"/>
                <a:cs typeface="TeXGyreAdventor"/>
              </a:rPr>
              <a:t>(for </a:t>
            </a:r>
            <a:r>
              <a:rPr spc="-5" dirty="0">
                <a:latin typeface="+mj-lt"/>
                <a:cs typeface="TeXGyreAdventor"/>
              </a:rPr>
              <a:t>example, for </a:t>
            </a:r>
            <a:r>
              <a:rPr spc="-10" dirty="0">
                <a:latin typeface="+mj-lt"/>
                <a:cs typeface="TeXGyreAdventor"/>
              </a:rPr>
              <a:t>software </a:t>
            </a:r>
            <a:r>
              <a:rPr spc="-5" dirty="0">
                <a:latin typeface="+mj-lt"/>
                <a:cs typeface="TeXGyreAdventor"/>
              </a:rPr>
              <a:t>updates) or </a:t>
            </a:r>
            <a:r>
              <a:rPr spc="-10" dirty="0">
                <a:latin typeface="+mj-lt"/>
                <a:cs typeface="TeXGyreAdventor"/>
              </a:rPr>
              <a:t>other </a:t>
            </a:r>
            <a:r>
              <a:rPr spc="-15" dirty="0">
                <a:latin typeface="+mj-lt"/>
                <a:cs typeface="TeXGyreAdventor"/>
              </a:rPr>
              <a:t>AWS </a:t>
            </a:r>
            <a:r>
              <a:rPr dirty="0">
                <a:latin typeface="+mj-lt"/>
                <a:cs typeface="TeXGyreAdventor"/>
              </a:rPr>
              <a:t>services, </a:t>
            </a:r>
            <a:r>
              <a:rPr spc="-5" dirty="0">
                <a:latin typeface="+mj-lt"/>
                <a:cs typeface="TeXGyreAdventor"/>
              </a:rPr>
              <a:t>but prevent  </a:t>
            </a:r>
            <a:r>
              <a:rPr spc="-10" dirty="0">
                <a:latin typeface="+mj-lt"/>
                <a:cs typeface="TeXGyreAdventor"/>
              </a:rPr>
              <a:t>the </a:t>
            </a:r>
            <a:r>
              <a:rPr spc="-5" dirty="0">
                <a:latin typeface="+mj-lt"/>
                <a:cs typeface="TeXGyreAdventor"/>
              </a:rPr>
              <a:t>Internet from </a:t>
            </a:r>
            <a:r>
              <a:rPr dirty="0">
                <a:latin typeface="+mj-lt"/>
                <a:cs typeface="TeXGyreAdventor"/>
              </a:rPr>
              <a:t>initiating </a:t>
            </a:r>
            <a:r>
              <a:rPr spc="-5" dirty="0">
                <a:latin typeface="+mj-lt"/>
                <a:cs typeface="TeXGyreAdventor"/>
              </a:rPr>
              <a:t>connections </a:t>
            </a:r>
            <a:r>
              <a:rPr spc="-10" dirty="0">
                <a:latin typeface="+mj-lt"/>
                <a:cs typeface="TeXGyreAdventor"/>
              </a:rPr>
              <a:t>with the</a:t>
            </a:r>
            <a:r>
              <a:rPr spc="105" dirty="0">
                <a:latin typeface="+mj-lt"/>
                <a:cs typeface="TeXGyreAdventor"/>
              </a:rPr>
              <a:t> </a:t>
            </a:r>
            <a:r>
              <a:rPr spc="-5" dirty="0">
                <a:latin typeface="+mj-lt"/>
                <a:cs typeface="TeXGyreAdventor"/>
              </a:rPr>
              <a:t>instances.</a:t>
            </a:r>
            <a:endParaRPr dirty="0">
              <a:latin typeface="+mj-lt"/>
              <a:cs typeface="TeXGyreAdventor"/>
            </a:endParaRPr>
          </a:p>
          <a:p>
            <a:pPr marL="355600" marR="321310" indent="-342900">
              <a:lnSpc>
                <a:spcPct val="100000"/>
              </a:lnSpc>
              <a:spcBef>
                <a:spcPts val="994"/>
              </a:spcBef>
              <a:buFont typeface="Wingdings" panose="05000000000000000000" pitchFamily="2" charset="2"/>
              <a:buChar char="Ø"/>
              <a:tabLst>
                <a:tab pos="354965" algn="l"/>
              </a:tabLst>
            </a:pPr>
            <a:r>
              <a:rPr spc="-5" dirty="0">
                <a:latin typeface="+mj-lt"/>
                <a:cs typeface="TeXGyreAdventor"/>
              </a:rPr>
              <a:t>A </a:t>
            </a:r>
            <a:r>
              <a:rPr spc="5" dirty="0">
                <a:latin typeface="+mj-lt"/>
                <a:cs typeface="TeXGyreAdventor"/>
              </a:rPr>
              <a:t>NAT </a:t>
            </a:r>
            <a:r>
              <a:rPr dirty="0">
                <a:latin typeface="+mj-lt"/>
                <a:cs typeface="TeXGyreAdventor"/>
              </a:rPr>
              <a:t>device </a:t>
            </a:r>
            <a:r>
              <a:rPr spc="-10" dirty="0">
                <a:latin typeface="+mj-lt"/>
                <a:cs typeface="TeXGyreAdventor"/>
              </a:rPr>
              <a:t>forwards </a:t>
            </a:r>
            <a:r>
              <a:rPr spc="-5" dirty="0">
                <a:latin typeface="+mj-lt"/>
                <a:cs typeface="TeXGyreAdventor"/>
              </a:rPr>
              <a:t>traffic from </a:t>
            </a:r>
            <a:r>
              <a:rPr spc="-10" dirty="0">
                <a:latin typeface="+mj-lt"/>
                <a:cs typeface="TeXGyreAdventor"/>
              </a:rPr>
              <a:t>the </a:t>
            </a:r>
            <a:r>
              <a:rPr spc="-5" dirty="0">
                <a:latin typeface="+mj-lt"/>
                <a:cs typeface="TeXGyreAdventor"/>
              </a:rPr>
              <a:t>instances </a:t>
            </a:r>
            <a:r>
              <a:rPr spc="10" dirty="0">
                <a:latin typeface="+mj-lt"/>
                <a:cs typeface="TeXGyreAdventor"/>
              </a:rPr>
              <a:t>in </a:t>
            </a:r>
            <a:r>
              <a:rPr spc="-10" dirty="0">
                <a:latin typeface="+mj-lt"/>
                <a:cs typeface="TeXGyreAdventor"/>
              </a:rPr>
              <a:t>the </a:t>
            </a:r>
            <a:r>
              <a:rPr dirty="0">
                <a:latin typeface="+mj-lt"/>
                <a:cs typeface="TeXGyreAdventor"/>
              </a:rPr>
              <a:t>private </a:t>
            </a:r>
            <a:r>
              <a:rPr spc="-10" dirty="0">
                <a:latin typeface="+mj-lt"/>
                <a:cs typeface="TeXGyreAdventor"/>
              </a:rPr>
              <a:t>subnet to the  </a:t>
            </a:r>
            <a:r>
              <a:rPr spc="-5" dirty="0">
                <a:latin typeface="+mj-lt"/>
                <a:cs typeface="TeXGyreAdventor"/>
              </a:rPr>
              <a:t>Internet or </a:t>
            </a:r>
            <a:r>
              <a:rPr spc="-10" dirty="0">
                <a:latin typeface="+mj-lt"/>
                <a:cs typeface="TeXGyreAdventor"/>
              </a:rPr>
              <a:t>other </a:t>
            </a:r>
            <a:r>
              <a:rPr spc="-15" dirty="0">
                <a:latin typeface="+mj-lt"/>
                <a:cs typeface="TeXGyreAdventor"/>
              </a:rPr>
              <a:t>AWS </a:t>
            </a:r>
            <a:r>
              <a:rPr dirty="0">
                <a:latin typeface="+mj-lt"/>
                <a:cs typeface="TeXGyreAdventor"/>
              </a:rPr>
              <a:t>services, </a:t>
            </a:r>
            <a:r>
              <a:rPr spc="-5" dirty="0">
                <a:latin typeface="+mj-lt"/>
                <a:cs typeface="TeXGyreAdventor"/>
              </a:rPr>
              <a:t>and </a:t>
            </a:r>
            <a:r>
              <a:rPr spc="-10" dirty="0">
                <a:latin typeface="+mj-lt"/>
                <a:cs typeface="TeXGyreAdventor"/>
              </a:rPr>
              <a:t>then sends the response </a:t>
            </a:r>
            <a:r>
              <a:rPr spc="-5" dirty="0">
                <a:latin typeface="+mj-lt"/>
                <a:cs typeface="TeXGyreAdventor"/>
              </a:rPr>
              <a:t>back </a:t>
            </a:r>
            <a:r>
              <a:rPr spc="-10" dirty="0">
                <a:latin typeface="+mj-lt"/>
                <a:cs typeface="TeXGyreAdventor"/>
              </a:rPr>
              <a:t>to the  </a:t>
            </a:r>
            <a:r>
              <a:rPr spc="-5" dirty="0">
                <a:latin typeface="+mj-lt"/>
                <a:cs typeface="TeXGyreAdventor"/>
              </a:rPr>
              <a:t>instances.</a:t>
            </a:r>
            <a:endParaRPr dirty="0">
              <a:latin typeface="+mj-lt"/>
              <a:cs typeface="TeXGyreAdventor"/>
            </a:endParaRPr>
          </a:p>
        </p:txBody>
      </p:sp>
      <p:sp>
        <p:nvSpPr>
          <p:cNvPr id="4" name="object 4"/>
          <p:cNvSpPr txBox="1"/>
          <p:nvPr/>
        </p:nvSpPr>
        <p:spPr>
          <a:xfrm>
            <a:off x="10562590" y="570992"/>
            <a:ext cx="419100"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FFFFFF"/>
                </a:solidFill>
                <a:latin typeface="TeXGyreAdventor"/>
                <a:cs typeface="TeXGyreAdventor"/>
              </a:rPr>
              <a:t>12</a:t>
            </a:r>
            <a:endParaRPr sz="2800">
              <a:latin typeface="TeXGyreAdventor"/>
              <a:cs typeface="TeXGyreAdventor"/>
            </a:endParaRPr>
          </a:p>
        </p:txBody>
      </p:sp>
      <p:sp>
        <p:nvSpPr>
          <p:cNvPr id="5" name="object 5"/>
          <p:cNvSpPr/>
          <p:nvPr/>
        </p:nvSpPr>
        <p:spPr>
          <a:xfrm>
            <a:off x="3076575" y="2672333"/>
            <a:ext cx="4994655" cy="382930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8" name="object 8"/>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endParaRPr/>
          </a:p>
        </p:txBody>
      </p:sp>
      <p:sp>
        <p:nvSpPr>
          <p:cNvPr id="10" name="Footer Placeholder 9">
            <a:extLst>
              <a:ext uri="{FF2B5EF4-FFF2-40B4-BE49-F238E27FC236}">
                <a16:creationId xmlns:a16="http://schemas.microsoft.com/office/drawing/2014/main" id="{77FBD513-5567-4E94-A331-B5CA07EC34A9}"/>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3">
            <a:extLst>
              <a:ext uri="{FF2B5EF4-FFF2-40B4-BE49-F238E27FC236}">
                <a16:creationId xmlns:a16="http://schemas.microsoft.com/office/drawing/2014/main" id="{1D6528CD-52F1-41FB-BDAA-0F280D07822D}"/>
              </a:ext>
            </a:extLst>
          </p:cNvPr>
          <p:cNvGraphicFramePr>
            <a:graphicFrameLocks noGrp="1"/>
          </p:cNvGraphicFramePr>
          <p:nvPr>
            <p:extLst>
              <p:ext uri="{D42A27DB-BD31-4B8C-83A1-F6EECF244321}">
                <p14:modId xmlns:p14="http://schemas.microsoft.com/office/powerpoint/2010/main" val="580534521"/>
              </p:ext>
            </p:extLst>
          </p:nvPr>
        </p:nvGraphicFramePr>
        <p:xfrm>
          <a:off x="962025" y="803440"/>
          <a:ext cx="9153526" cy="6054560"/>
        </p:xfrm>
        <a:graphic>
          <a:graphicData uri="http://schemas.openxmlformats.org/drawingml/2006/table">
            <a:tbl>
              <a:tblPr firstRow="1" bandRow="1">
                <a:tableStyleId>{2D5ABB26-0587-4C30-8999-92F81FD0307C}</a:tableStyleId>
              </a:tblPr>
              <a:tblGrid>
                <a:gridCol w="1630219">
                  <a:extLst>
                    <a:ext uri="{9D8B030D-6E8A-4147-A177-3AD203B41FA5}">
                      <a16:colId xmlns:a16="http://schemas.microsoft.com/office/drawing/2014/main" val="20000"/>
                    </a:ext>
                  </a:extLst>
                </a:gridCol>
                <a:gridCol w="4472133">
                  <a:extLst>
                    <a:ext uri="{9D8B030D-6E8A-4147-A177-3AD203B41FA5}">
                      <a16:colId xmlns:a16="http://schemas.microsoft.com/office/drawing/2014/main" val="20001"/>
                    </a:ext>
                  </a:extLst>
                </a:gridCol>
                <a:gridCol w="3051174">
                  <a:extLst>
                    <a:ext uri="{9D8B030D-6E8A-4147-A177-3AD203B41FA5}">
                      <a16:colId xmlns:a16="http://schemas.microsoft.com/office/drawing/2014/main" val="20002"/>
                    </a:ext>
                  </a:extLst>
                </a:gridCol>
              </a:tblGrid>
              <a:tr h="310956">
                <a:tc>
                  <a:txBody>
                    <a:bodyPr/>
                    <a:lstStyle/>
                    <a:p>
                      <a:pPr marL="47625">
                        <a:lnSpc>
                          <a:spcPct val="100000"/>
                        </a:lnSpc>
                        <a:spcBef>
                          <a:spcPts val="325"/>
                        </a:spcBef>
                      </a:pPr>
                      <a:r>
                        <a:rPr sz="1600" b="1" spc="-5" dirty="0">
                          <a:solidFill>
                            <a:srgbClr val="FFFFFF"/>
                          </a:solidFill>
                          <a:latin typeface="+mj-lt"/>
                          <a:cs typeface="TeXGyreAdventor"/>
                        </a:rPr>
                        <a:t>Attribute</a:t>
                      </a:r>
                      <a:endParaRPr sz="1600" dirty="0">
                        <a:latin typeface="+mj-lt"/>
                        <a:cs typeface="TeXGyreAdventor"/>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3849A"/>
                    </a:solidFill>
                  </a:tcPr>
                </a:tc>
                <a:tc>
                  <a:txBody>
                    <a:bodyPr/>
                    <a:lstStyle/>
                    <a:p>
                      <a:pPr marL="47625">
                        <a:lnSpc>
                          <a:spcPct val="100000"/>
                        </a:lnSpc>
                        <a:spcBef>
                          <a:spcPts val="325"/>
                        </a:spcBef>
                      </a:pPr>
                      <a:r>
                        <a:rPr lang="en-IN" sz="1600" b="1" spc="-5" dirty="0">
                          <a:solidFill>
                            <a:srgbClr val="FFFFFF"/>
                          </a:solidFill>
                          <a:latin typeface="+mj-lt"/>
                          <a:cs typeface="TeXGyreAdventor"/>
                        </a:rPr>
                        <a:t>                       </a:t>
                      </a:r>
                      <a:r>
                        <a:rPr sz="1600" b="1" spc="-5" dirty="0">
                          <a:solidFill>
                            <a:srgbClr val="FFFFFF"/>
                          </a:solidFill>
                          <a:latin typeface="+mj-lt"/>
                          <a:cs typeface="TeXGyreAdventor"/>
                        </a:rPr>
                        <a:t>NAT </a:t>
                      </a:r>
                      <a:r>
                        <a:rPr lang="en-IN" sz="1600" b="1" spc="-5" dirty="0">
                          <a:solidFill>
                            <a:srgbClr val="FFFFFF"/>
                          </a:solidFill>
                          <a:latin typeface="+mj-lt"/>
                          <a:cs typeface="TeXGyreAdventor"/>
                        </a:rPr>
                        <a:t>G</a:t>
                      </a:r>
                      <a:r>
                        <a:rPr sz="1600" b="1" spc="-10" dirty="0" err="1">
                          <a:solidFill>
                            <a:srgbClr val="FFFFFF"/>
                          </a:solidFill>
                          <a:latin typeface="+mj-lt"/>
                          <a:cs typeface="TeXGyreAdventor"/>
                        </a:rPr>
                        <a:t>ateway</a:t>
                      </a:r>
                      <a:endParaRPr sz="1600" dirty="0">
                        <a:latin typeface="+mj-lt"/>
                        <a:cs typeface="TeXGyreAdventor"/>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3849A"/>
                    </a:solidFill>
                  </a:tcPr>
                </a:tc>
                <a:tc>
                  <a:txBody>
                    <a:bodyPr/>
                    <a:lstStyle/>
                    <a:p>
                      <a:pPr marL="48260">
                        <a:lnSpc>
                          <a:spcPct val="100000"/>
                        </a:lnSpc>
                        <a:spcBef>
                          <a:spcPts val="325"/>
                        </a:spcBef>
                      </a:pPr>
                      <a:r>
                        <a:rPr sz="1600" b="1" spc="-5" dirty="0">
                          <a:solidFill>
                            <a:srgbClr val="FFFFFF"/>
                          </a:solidFill>
                          <a:latin typeface="+mj-lt"/>
                          <a:cs typeface="TeXGyreAdventor"/>
                        </a:rPr>
                        <a:t>NAT </a:t>
                      </a:r>
                      <a:r>
                        <a:rPr lang="en-IN" sz="1600" b="1" spc="-5" dirty="0">
                          <a:solidFill>
                            <a:srgbClr val="FFFFFF"/>
                          </a:solidFill>
                          <a:latin typeface="+mj-lt"/>
                          <a:cs typeface="TeXGyreAdventor"/>
                        </a:rPr>
                        <a:t>I</a:t>
                      </a:r>
                      <a:r>
                        <a:rPr sz="1600" b="1" spc="-5" dirty="0" err="1">
                          <a:solidFill>
                            <a:srgbClr val="FFFFFF"/>
                          </a:solidFill>
                          <a:latin typeface="+mj-lt"/>
                          <a:cs typeface="TeXGyreAdventor"/>
                        </a:rPr>
                        <a:t>nstance</a:t>
                      </a:r>
                      <a:endParaRPr sz="1600" dirty="0">
                        <a:latin typeface="+mj-lt"/>
                        <a:cs typeface="TeXGyreAdventor"/>
                      </a:endParaRPr>
                    </a:p>
                  </a:txBody>
                  <a:tcPr marL="0" marR="0" marT="412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3849A"/>
                    </a:solidFill>
                  </a:tcPr>
                </a:tc>
                <a:extLst>
                  <a:ext uri="{0D108BD9-81ED-4DB2-BD59-A6C34878D82A}">
                    <a16:rowId xmlns:a16="http://schemas.microsoft.com/office/drawing/2014/main" val="10000"/>
                  </a:ext>
                </a:extLst>
              </a:tr>
              <a:tr h="1487897">
                <a:tc>
                  <a:txBody>
                    <a:bodyPr/>
                    <a:lstStyle/>
                    <a:p>
                      <a:pPr marL="47625">
                        <a:lnSpc>
                          <a:spcPct val="100000"/>
                        </a:lnSpc>
                        <a:spcBef>
                          <a:spcPts val="325"/>
                        </a:spcBef>
                      </a:pPr>
                      <a:r>
                        <a:rPr sz="1600" b="1" spc="-10" dirty="0">
                          <a:solidFill>
                            <a:srgbClr val="FFFFFF"/>
                          </a:solidFill>
                          <a:latin typeface="+mj-lt"/>
                          <a:cs typeface="TeXGyreAdventor"/>
                        </a:rPr>
                        <a:t>Availability</a:t>
                      </a:r>
                      <a:endParaRPr sz="1600" dirty="0">
                        <a:latin typeface="+mj-lt"/>
                        <a:cs typeface="TeXGyreAdventor"/>
                      </a:endParaRPr>
                    </a:p>
                  </a:txBody>
                  <a:tcPr marL="0" marR="0" marT="412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53849A"/>
                    </a:solidFill>
                  </a:tcPr>
                </a:tc>
                <a:tc>
                  <a:txBody>
                    <a:bodyPr/>
                    <a:lstStyle/>
                    <a:p>
                      <a:pPr marL="47625" marR="429259">
                        <a:lnSpc>
                          <a:spcPct val="107300"/>
                        </a:lnSpc>
                        <a:spcBef>
                          <a:spcPts val="210"/>
                        </a:spcBef>
                      </a:pPr>
                      <a:r>
                        <a:rPr sz="1600" spc="-5" dirty="0">
                          <a:latin typeface="+mj-lt"/>
                          <a:cs typeface="TeXGyreAdventor"/>
                        </a:rPr>
                        <a:t>Highly available. </a:t>
                      </a:r>
                      <a:r>
                        <a:rPr sz="1600" spc="5" dirty="0">
                          <a:latin typeface="+mj-lt"/>
                          <a:cs typeface="TeXGyreAdventor"/>
                        </a:rPr>
                        <a:t>NAT </a:t>
                      </a:r>
                      <a:r>
                        <a:rPr sz="1600" spc="-10" dirty="0">
                          <a:latin typeface="+mj-lt"/>
                          <a:cs typeface="TeXGyreAdventor"/>
                        </a:rPr>
                        <a:t>gateways </a:t>
                      </a:r>
                      <a:r>
                        <a:rPr sz="1600" spc="5" dirty="0">
                          <a:latin typeface="+mj-lt"/>
                          <a:cs typeface="TeXGyreAdventor"/>
                        </a:rPr>
                        <a:t>in  </a:t>
                      </a:r>
                      <a:r>
                        <a:rPr sz="1600" spc="-5" dirty="0">
                          <a:latin typeface="+mj-lt"/>
                          <a:cs typeface="TeXGyreAdventor"/>
                        </a:rPr>
                        <a:t>each </a:t>
                      </a:r>
                      <a:r>
                        <a:rPr sz="1600" dirty="0">
                          <a:latin typeface="+mj-lt"/>
                          <a:cs typeface="TeXGyreAdventor"/>
                        </a:rPr>
                        <a:t>Availability </a:t>
                      </a:r>
                      <a:r>
                        <a:rPr sz="1600" spc="-5" dirty="0">
                          <a:latin typeface="+mj-lt"/>
                          <a:cs typeface="TeXGyreAdventor"/>
                        </a:rPr>
                        <a:t>Zone </a:t>
                      </a:r>
                      <a:r>
                        <a:rPr sz="1600" spc="-10" dirty="0">
                          <a:latin typeface="+mj-lt"/>
                          <a:cs typeface="TeXGyreAdventor"/>
                        </a:rPr>
                        <a:t>are  </a:t>
                      </a:r>
                      <a:r>
                        <a:rPr sz="1600" spc="-5" dirty="0">
                          <a:latin typeface="+mj-lt"/>
                          <a:cs typeface="TeXGyreAdventor"/>
                        </a:rPr>
                        <a:t>implemented </a:t>
                      </a:r>
                      <a:r>
                        <a:rPr sz="1600" spc="-10" dirty="0">
                          <a:latin typeface="+mj-lt"/>
                          <a:cs typeface="TeXGyreAdventor"/>
                        </a:rPr>
                        <a:t>with</a:t>
                      </a:r>
                      <a:r>
                        <a:rPr sz="1600" spc="15" dirty="0">
                          <a:latin typeface="+mj-lt"/>
                          <a:cs typeface="TeXGyreAdventor"/>
                        </a:rPr>
                        <a:t> </a:t>
                      </a:r>
                      <a:r>
                        <a:rPr sz="1600" spc="-5" dirty="0">
                          <a:latin typeface="+mj-lt"/>
                          <a:cs typeface="TeXGyreAdventor"/>
                        </a:rPr>
                        <a:t>redundancy.</a:t>
                      </a:r>
                      <a:endParaRPr sz="1600" dirty="0">
                        <a:latin typeface="+mj-lt"/>
                        <a:cs typeface="TeXGyreAdventor"/>
                      </a:endParaRPr>
                    </a:p>
                    <a:p>
                      <a:pPr marL="47625" marR="550545">
                        <a:lnSpc>
                          <a:spcPct val="106900"/>
                        </a:lnSpc>
                        <a:spcBef>
                          <a:spcPts val="5"/>
                        </a:spcBef>
                      </a:pPr>
                      <a:r>
                        <a:rPr sz="1600" spc="-10" dirty="0">
                          <a:latin typeface="+mj-lt"/>
                          <a:cs typeface="TeXGyreAdventor"/>
                        </a:rPr>
                        <a:t>Create </a:t>
                      </a:r>
                      <a:r>
                        <a:rPr sz="1600" spc="-5" dirty="0">
                          <a:latin typeface="+mj-lt"/>
                          <a:cs typeface="TeXGyreAdventor"/>
                        </a:rPr>
                        <a:t>a </a:t>
                      </a:r>
                      <a:r>
                        <a:rPr sz="1600" dirty="0">
                          <a:latin typeface="+mj-lt"/>
                          <a:cs typeface="TeXGyreAdventor"/>
                        </a:rPr>
                        <a:t>NAT </a:t>
                      </a:r>
                      <a:r>
                        <a:rPr sz="1600" spc="-10" dirty="0">
                          <a:latin typeface="+mj-lt"/>
                          <a:cs typeface="TeXGyreAdventor"/>
                        </a:rPr>
                        <a:t>gateway </a:t>
                      </a:r>
                      <a:r>
                        <a:rPr sz="1600" spc="5" dirty="0">
                          <a:latin typeface="+mj-lt"/>
                          <a:cs typeface="TeXGyreAdventor"/>
                        </a:rPr>
                        <a:t>in </a:t>
                      </a:r>
                      <a:r>
                        <a:rPr sz="1600" spc="-5" dirty="0">
                          <a:latin typeface="+mj-lt"/>
                          <a:cs typeface="TeXGyreAdventor"/>
                        </a:rPr>
                        <a:t>each  </a:t>
                      </a:r>
                      <a:r>
                        <a:rPr sz="1600" dirty="0">
                          <a:latin typeface="+mj-lt"/>
                          <a:cs typeface="TeXGyreAdventor"/>
                        </a:rPr>
                        <a:t>Availability </a:t>
                      </a:r>
                      <a:r>
                        <a:rPr sz="1600" spc="-5" dirty="0">
                          <a:latin typeface="+mj-lt"/>
                          <a:cs typeface="TeXGyreAdventor"/>
                        </a:rPr>
                        <a:t>Zone </a:t>
                      </a:r>
                      <a:r>
                        <a:rPr sz="1600" spc="-10" dirty="0">
                          <a:latin typeface="+mj-lt"/>
                          <a:cs typeface="TeXGyreAdventor"/>
                        </a:rPr>
                        <a:t>to </a:t>
                      </a:r>
                      <a:r>
                        <a:rPr sz="1600" spc="-5" dirty="0">
                          <a:latin typeface="+mj-lt"/>
                          <a:cs typeface="TeXGyreAdventor"/>
                        </a:rPr>
                        <a:t>ensure </a:t>
                      </a:r>
                      <a:r>
                        <a:rPr sz="1600" dirty="0">
                          <a:latin typeface="+mj-lt"/>
                          <a:cs typeface="TeXGyreAdventor"/>
                        </a:rPr>
                        <a:t>zone-  </a:t>
                      </a:r>
                      <a:r>
                        <a:rPr sz="1600" spc="-5" dirty="0">
                          <a:latin typeface="+mj-lt"/>
                          <a:cs typeface="TeXGyreAdventor"/>
                        </a:rPr>
                        <a:t>independent</a:t>
                      </a:r>
                      <a:r>
                        <a:rPr sz="1600" dirty="0">
                          <a:latin typeface="+mj-lt"/>
                          <a:cs typeface="TeXGyreAdventor"/>
                        </a:rPr>
                        <a:t> </a:t>
                      </a:r>
                      <a:r>
                        <a:rPr sz="1600" spc="-5" dirty="0">
                          <a:latin typeface="+mj-lt"/>
                          <a:cs typeface="TeXGyreAdventor"/>
                        </a:rPr>
                        <a:t>architecture.</a:t>
                      </a:r>
                      <a:endParaRPr sz="1600" dirty="0">
                        <a:latin typeface="+mj-lt"/>
                        <a:cs typeface="TeXGyreAdventor"/>
                      </a:endParaRPr>
                    </a:p>
                  </a:txBody>
                  <a:tcPr marL="0" marR="0" marT="2667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9DE"/>
                    </a:solidFill>
                  </a:tcPr>
                </a:tc>
                <a:tc>
                  <a:txBody>
                    <a:bodyPr/>
                    <a:lstStyle/>
                    <a:p>
                      <a:pPr marL="48260" marR="633095">
                        <a:lnSpc>
                          <a:spcPct val="106900"/>
                        </a:lnSpc>
                        <a:spcBef>
                          <a:spcPts val="219"/>
                        </a:spcBef>
                      </a:pPr>
                      <a:r>
                        <a:rPr sz="1600" spc="-10" dirty="0">
                          <a:latin typeface="+mj-lt"/>
                          <a:cs typeface="TeXGyreAdventor"/>
                        </a:rPr>
                        <a:t>Use </a:t>
                      </a:r>
                      <a:r>
                        <a:rPr sz="1600" spc="-5" dirty="0">
                          <a:latin typeface="+mj-lt"/>
                          <a:cs typeface="TeXGyreAdventor"/>
                        </a:rPr>
                        <a:t>a script </a:t>
                      </a:r>
                      <a:r>
                        <a:rPr sz="1600" spc="-10" dirty="0">
                          <a:latin typeface="+mj-lt"/>
                          <a:cs typeface="TeXGyreAdventor"/>
                        </a:rPr>
                        <a:t>to </a:t>
                      </a:r>
                      <a:r>
                        <a:rPr sz="1600" spc="-5" dirty="0">
                          <a:latin typeface="+mj-lt"/>
                          <a:cs typeface="TeXGyreAdventor"/>
                        </a:rPr>
                        <a:t>manage failover  </a:t>
                      </a:r>
                      <a:r>
                        <a:rPr sz="1600" spc="-10" dirty="0">
                          <a:latin typeface="+mj-lt"/>
                          <a:cs typeface="TeXGyreAdventor"/>
                        </a:rPr>
                        <a:t>between</a:t>
                      </a:r>
                      <a:r>
                        <a:rPr sz="1600" spc="40" dirty="0">
                          <a:latin typeface="+mj-lt"/>
                          <a:cs typeface="TeXGyreAdventor"/>
                        </a:rPr>
                        <a:t> </a:t>
                      </a:r>
                      <a:r>
                        <a:rPr sz="1600" spc="-5" dirty="0">
                          <a:latin typeface="+mj-lt"/>
                          <a:cs typeface="TeXGyreAdventor"/>
                        </a:rPr>
                        <a:t>instances.</a:t>
                      </a:r>
                      <a:endParaRPr sz="1600">
                        <a:latin typeface="+mj-lt"/>
                        <a:cs typeface="TeXGyreAdventor"/>
                      </a:endParaRPr>
                    </a:p>
                  </a:txBody>
                  <a:tcPr marL="0" marR="0" marT="27939"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9DE"/>
                    </a:solidFill>
                  </a:tcPr>
                </a:tc>
                <a:extLst>
                  <a:ext uri="{0D108BD9-81ED-4DB2-BD59-A6C34878D82A}">
                    <a16:rowId xmlns:a16="http://schemas.microsoft.com/office/drawing/2014/main" val="10001"/>
                  </a:ext>
                </a:extLst>
              </a:tr>
              <a:tr h="502450">
                <a:tc>
                  <a:txBody>
                    <a:bodyPr/>
                    <a:lstStyle/>
                    <a:p>
                      <a:pPr marL="47625">
                        <a:lnSpc>
                          <a:spcPct val="100000"/>
                        </a:lnSpc>
                        <a:spcBef>
                          <a:spcPts val="330"/>
                        </a:spcBef>
                      </a:pPr>
                      <a:r>
                        <a:rPr sz="1600" b="1" spc="-10" dirty="0">
                          <a:solidFill>
                            <a:srgbClr val="FFFFFF"/>
                          </a:solidFill>
                          <a:latin typeface="+mj-lt"/>
                          <a:cs typeface="TeXGyreAdventor"/>
                        </a:rPr>
                        <a:t>Bandwidth</a:t>
                      </a:r>
                      <a:endParaRPr sz="1600" dirty="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3849A"/>
                    </a:solidFill>
                  </a:tcPr>
                </a:tc>
                <a:tc>
                  <a:txBody>
                    <a:bodyPr/>
                    <a:lstStyle/>
                    <a:p>
                      <a:pPr marL="47625">
                        <a:lnSpc>
                          <a:spcPct val="100000"/>
                        </a:lnSpc>
                        <a:spcBef>
                          <a:spcPts val="330"/>
                        </a:spcBef>
                      </a:pPr>
                      <a:r>
                        <a:rPr sz="1600" spc="-5" dirty="0">
                          <a:latin typeface="+mj-lt"/>
                          <a:cs typeface="TeXGyreAdventor"/>
                        </a:rPr>
                        <a:t>Supports </a:t>
                      </a:r>
                      <a:r>
                        <a:rPr sz="1600" spc="-10" dirty="0">
                          <a:latin typeface="+mj-lt"/>
                          <a:cs typeface="TeXGyreAdventor"/>
                        </a:rPr>
                        <a:t>bursts </a:t>
                      </a:r>
                      <a:r>
                        <a:rPr sz="1600" spc="-5" dirty="0">
                          <a:latin typeface="+mj-lt"/>
                          <a:cs typeface="TeXGyreAdventor"/>
                        </a:rPr>
                        <a:t>of up </a:t>
                      </a:r>
                      <a:r>
                        <a:rPr sz="1600" spc="-10" dirty="0">
                          <a:latin typeface="+mj-lt"/>
                          <a:cs typeface="TeXGyreAdventor"/>
                        </a:rPr>
                        <a:t>to</a:t>
                      </a:r>
                      <a:r>
                        <a:rPr sz="1600" spc="5" dirty="0">
                          <a:latin typeface="+mj-lt"/>
                          <a:cs typeface="TeXGyreAdventor"/>
                        </a:rPr>
                        <a:t> </a:t>
                      </a:r>
                      <a:r>
                        <a:rPr sz="1600" spc="-5" dirty="0">
                          <a:latin typeface="+mj-lt"/>
                          <a:cs typeface="TeXGyreAdventor"/>
                        </a:rPr>
                        <a:t>10Gbps.</a:t>
                      </a:r>
                      <a:endParaRPr sz="160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48260" marR="398780">
                        <a:lnSpc>
                          <a:spcPct val="106900"/>
                        </a:lnSpc>
                        <a:spcBef>
                          <a:spcPts val="220"/>
                        </a:spcBef>
                      </a:pPr>
                      <a:r>
                        <a:rPr sz="1600" spc="-5" dirty="0">
                          <a:latin typeface="+mj-lt"/>
                          <a:cs typeface="TeXGyreAdventor"/>
                        </a:rPr>
                        <a:t>Depends on </a:t>
                      </a:r>
                      <a:r>
                        <a:rPr sz="1600" spc="-10" dirty="0">
                          <a:latin typeface="+mj-lt"/>
                          <a:cs typeface="TeXGyreAdventor"/>
                        </a:rPr>
                        <a:t>the bandwidth </a:t>
                      </a:r>
                      <a:r>
                        <a:rPr sz="1600" spc="-5" dirty="0">
                          <a:latin typeface="+mj-lt"/>
                          <a:cs typeface="TeXGyreAdventor"/>
                        </a:rPr>
                        <a:t>of </a:t>
                      </a:r>
                      <a:r>
                        <a:rPr sz="1600" spc="-10" dirty="0">
                          <a:latin typeface="+mj-lt"/>
                          <a:cs typeface="TeXGyreAdventor"/>
                        </a:rPr>
                        <a:t>the  </a:t>
                      </a:r>
                      <a:r>
                        <a:rPr sz="1600" spc="-5" dirty="0">
                          <a:latin typeface="+mj-lt"/>
                          <a:cs typeface="TeXGyreAdventor"/>
                        </a:rPr>
                        <a:t>instance</a:t>
                      </a:r>
                      <a:r>
                        <a:rPr sz="1600" spc="-20" dirty="0">
                          <a:latin typeface="+mj-lt"/>
                          <a:cs typeface="TeXGyreAdventor"/>
                        </a:rPr>
                        <a:t> </a:t>
                      </a:r>
                      <a:r>
                        <a:rPr sz="1600" spc="-10" dirty="0">
                          <a:latin typeface="+mj-lt"/>
                          <a:cs typeface="TeXGyreAdventor"/>
                        </a:rPr>
                        <a:t>type.</a:t>
                      </a:r>
                      <a:endParaRPr sz="1600">
                        <a:latin typeface="+mj-lt"/>
                        <a:cs typeface="TeXGyreAdventor"/>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extLst>
                  <a:ext uri="{0D108BD9-81ED-4DB2-BD59-A6C34878D82A}">
                    <a16:rowId xmlns:a16="http://schemas.microsoft.com/office/drawing/2014/main" val="10002"/>
                  </a:ext>
                </a:extLst>
              </a:tr>
              <a:tr h="989071">
                <a:tc>
                  <a:txBody>
                    <a:bodyPr/>
                    <a:lstStyle/>
                    <a:p>
                      <a:pPr marL="47625">
                        <a:lnSpc>
                          <a:spcPct val="100000"/>
                        </a:lnSpc>
                        <a:spcBef>
                          <a:spcPts val="330"/>
                        </a:spcBef>
                      </a:pPr>
                      <a:r>
                        <a:rPr sz="1600" b="1" spc="-5" dirty="0">
                          <a:solidFill>
                            <a:srgbClr val="FFFFFF"/>
                          </a:solidFill>
                          <a:latin typeface="+mj-lt"/>
                          <a:cs typeface="TeXGyreAdventor"/>
                        </a:rPr>
                        <a:t>Maintenance</a:t>
                      </a:r>
                      <a:endParaRPr sz="160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3849A"/>
                    </a:solidFill>
                  </a:tcPr>
                </a:tc>
                <a:tc>
                  <a:txBody>
                    <a:bodyPr/>
                    <a:lstStyle/>
                    <a:p>
                      <a:pPr marL="47625" marR="48260">
                        <a:lnSpc>
                          <a:spcPct val="106900"/>
                        </a:lnSpc>
                        <a:spcBef>
                          <a:spcPts val="220"/>
                        </a:spcBef>
                      </a:pPr>
                      <a:r>
                        <a:rPr sz="1600" spc="-5" dirty="0">
                          <a:latin typeface="+mj-lt"/>
                          <a:cs typeface="TeXGyreAdventor"/>
                        </a:rPr>
                        <a:t>Managed by </a:t>
                      </a:r>
                      <a:r>
                        <a:rPr sz="1600" spc="-10" dirty="0">
                          <a:latin typeface="+mj-lt"/>
                          <a:cs typeface="TeXGyreAdventor"/>
                        </a:rPr>
                        <a:t>AWS.You do </a:t>
                      </a:r>
                      <a:r>
                        <a:rPr sz="1600" spc="-5" dirty="0">
                          <a:latin typeface="+mj-lt"/>
                          <a:cs typeface="TeXGyreAdventor"/>
                        </a:rPr>
                        <a:t>not need </a:t>
                      </a:r>
                      <a:r>
                        <a:rPr sz="1600" spc="-10" dirty="0">
                          <a:latin typeface="+mj-lt"/>
                          <a:cs typeface="TeXGyreAdventor"/>
                        </a:rPr>
                        <a:t>to  perform </a:t>
                      </a:r>
                      <a:r>
                        <a:rPr sz="1600" spc="-5" dirty="0">
                          <a:latin typeface="+mj-lt"/>
                          <a:cs typeface="TeXGyreAdventor"/>
                        </a:rPr>
                        <a:t>any</a:t>
                      </a:r>
                      <a:r>
                        <a:rPr sz="1600" spc="35" dirty="0">
                          <a:latin typeface="+mj-lt"/>
                          <a:cs typeface="TeXGyreAdventor"/>
                        </a:rPr>
                        <a:t> </a:t>
                      </a:r>
                      <a:r>
                        <a:rPr sz="1600" spc="-5" dirty="0">
                          <a:latin typeface="+mj-lt"/>
                          <a:cs typeface="TeXGyreAdventor"/>
                        </a:rPr>
                        <a:t>maintenance.</a:t>
                      </a:r>
                      <a:endParaRPr sz="1600">
                        <a:latin typeface="+mj-lt"/>
                        <a:cs typeface="TeXGyreAdventor"/>
                      </a:endParaRPr>
                    </a:p>
                  </a:txBody>
                  <a:tcPr marL="0" marR="0" marT="279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tc>
                  <a:txBody>
                    <a:bodyPr/>
                    <a:lstStyle/>
                    <a:p>
                      <a:pPr marL="48260" marR="376555">
                        <a:lnSpc>
                          <a:spcPct val="107200"/>
                        </a:lnSpc>
                        <a:spcBef>
                          <a:spcPts val="215"/>
                        </a:spcBef>
                      </a:pPr>
                      <a:r>
                        <a:rPr sz="1600" spc="-5" dirty="0">
                          <a:latin typeface="+mj-lt"/>
                          <a:cs typeface="TeXGyreAdventor"/>
                        </a:rPr>
                        <a:t>Managed by you, for example, by  </a:t>
                      </a:r>
                      <a:r>
                        <a:rPr sz="1600" dirty="0">
                          <a:latin typeface="+mj-lt"/>
                          <a:cs typeface="TeXGyreAdventor"/>
                        </a:rPr>
                        <a:t>installing </a:t>
                      </a:r>
                      <a:r>
                        <a:rPr sz="1600" spc="-10" dirty="0">
                          <a:latin typeface="+mj-lt"/>
                          <a:cs typeface="TeXGyreAdventor"/>
                        </a:rPr>
                        <a:t>software </a:t>
                      </a:r>
                      <a:r>
                        <a:rPr sz="1600" spc="-5" dirty="0">
                          <a:latin typeface="+mj-lt"/>
                          <a:cs typeface="TeXGyreAdventor"/>
                        </a:rPr>
                        <a:t>updates or  operating </a:t>
                      </a:r>
                      <a:r>
                        <a:rPr sz="1600" spc="-10" dirty="0">
                          <a:latin typeface="+mj-lt"/>
                          <a:cs typeface="TeXGyreAdventor"/>
                        </a:rPr>
                        <a:t>system </a:t>
                      </a:r>
                      <a:r>
                        <a:rPr sz="1600" spc="-5" dirty="0">
                          <a:latin typeface="+mj-lt"/>
                          <a:cs typeface="TeXGyreAdventor"/>
                        </a:rPr>
                        <a:t>patches on </a:t>
                      </a:r>
                      <a:r>
                        <a:rPr sz="1600" spc="-10" dirty="0">
                          <a:latin typeface="+mj-lt"/>
                          <a:cs typeface="TeXGyreAdventor"/>
                        </a:rPr>
                        <a:t>the  </a:t>
                      </a:r>
                      <a:r>
                        <a:rPr sz="1600" spc="-5" dirty="0">
                          <a:latin typeface="+mj-lt"/>
                          <a:cs typeface="TeXGyreAdventor"/>
                        </a:rPr>
                        <a:t>instance.</a:t>
                      </a:r>
                      <a:endParaRPr sz="1600">
                        <a:latin typeface="+mj-lt"/>
                        <a:cs typeface="TeXGyreAdventor"/>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extLst>
                  <a:ext uri="{0D108BD9-81ED-4DB2-BD59-A6C34878D82A}">
                    <a16:rowId xmlns:a16="http://schemas.microsoft.com/office/drawing/2014/main" val="10003"/>
                  </a:ext>
                </a:extLst>
              </a:tr>
              <a:tr h="746649">
                <a:tc>
                  <a:txBody>
                    <a:bodyPr/>
                    <a:lstStyle/>
                    <a:p>
                      <a:pPr marL="47625">
                        <a:lnSpc>
                          <a:spcPct val="100000"/>
                        </a:lnSpc>
                        <a:spcBef>
                          <a:spcPts val="330"/>
                        </a:spcBef>
                      </a:pPr>
                      <a:r>
                        <a:rPr sz="1600" b="1" spc="-10" dirty="0">
                          <a:solidFill>
                            <a:srgbClr val="FFFFFF"/>
                          </a:solidFill>
                          <a:latin typeface="+mj-lt"/>
                          <a:cs typeface="TeXGyreAdventor"/>
                        </a:rPr>
                        <a:t>Performance</a:t>
                      </a:r>
                      <a:endParaRPr sz="160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3849A"/>
                    </a:solidFill>
                  </a:tcPr>
                </a:tc>
                <a:tc>
                  <a:txBody>
                    <a:bodyPr/>
                    <a:lstStyle/>
                    <a:p>
                      <a:pPr marL="47625" marR="77470">
                        <a:lnSpc>
                          <a:spcPct val="106900"/>
                        </a:lnSpc>
                        <a:spcBef>
                          <a:spcPts val="225"/>
                        </a:spcBef>
                      </a:pPr>
                      <a:r>
                        <a:rPr sz="1600" spc="-10" dirty="0">
                          <a:latin typeface="+mj-lt"/>
                          <a:cs typeface="TeXGyreAdventor"/>
                        </a:rPr>
                        <a:t>Software </a:t>
                      </a:r>
                      <a:r>
                        <a:rPr sz="1600" spc="5" dirty="0">
                          <a:latin typeface="+mj-lt"/>
                          <a:cs typeface="TeXGyreAdventor"/>
                        </a:rPr>
                        <a:t>is </a:t>
                      </a:r>
                      <a:r>
                        <a:rPr sz="1600" dirty="0">
                          <a:latin typeface="+mj-lt"/>
                          <a:cs typeface="TeXGyreAdventor"/>
                        </a:rPr>
                        <a:t>optimized </a:t>
                      </a:r>
                      <a:r>
                        <a:rPr sz="1600" spc="-5" dirty="0">
                          <a:latin typeface="+mj-lt"/>
                          <a:cs typeface="TeXGyreAdventor"/>
                        </a:rPr>
                        <a:t>for </a:t>
                      </a:r>
                      <a:r>
                        <a:rPr sz="1600" dirty="0">
                          <a:latin typeface="+mj-lt"/>
                          <a:cs typeface="TeXGyreAdventor"/>
                        </a:rPr>
                        <a:t>handling</a:t>
                      </a:r>
                      <a:r>
                        <a:rPr sz="1600" spc="-75" dirty="0">
                          <a:latin typeface="+mj-lt"/>
                          <a:cs typeface="TeXGyreAdventor"/>
                        </a:rPr>
                        <a:t> </a:t>
                      </a:r>
                      <a:r>
                        <a:rPr sz="1600" spc="5" dirty="0">
                          <a:latin typeface="+mj-lt"/>
                          <a:cs typeface="TeXGyreAdventor"/>
                        </a:rPr>
                        <a:t>NAT  </a:t>
                      </a:r>
                      <a:r>
                        <a:rPr sz="1600" spc="-5" dirty="0">
                          <a:latin typeface="+mj-lt"/>
                          <a:cs typeface="TeXGyreAdventor"/>
                        </a:rPr>
                        <a:t>traffic.</a:t>
                      </a:r>
                      <a:endParaRPr sz="1600">
                        <a:latin typeface="+mj-lt"/>
                        <a:cs typeface="TeXGyreAdventor"/>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48260" marR="370840">
                        <a:lnSpc>
                          <a:spcPct val="106900"/>
                        </a:lnSpc>
                        <a:spcBef>
                          <a:spcPts val="225"/>
                        </a:spcBef>
                      </a:pPr>
                      <a:r>
                        <a:rPr sz="1600" spc="-5" dirty="0">
                          <a:latin typeface="+mj-lt"/>
                          <a:cs typeface="TeXGyreAdventor"/>
                        </a:rPr>
                        <a:t>A generic </a:t>
                      </a:r>
                      <a:r>
                        <a:rPr sz="1600" dirty="0">
                          <a:latin typeface="+mj-lt"/>
                          <a:cs typeface="TeXGyreAdventor"/>
                        </a:rPr>
                        <a:t>Amazon Linux AMI</a:t>
                      </a:r>
                      <a:r>
                        <a:rPr sz="1600" spc="-55" dirty="0">
                          <a:latin typeface="+mj-lt"/>
                          <a:cs typeface="TeXGyreAdventor"/>
                        </a:rPr>
                        <a:t> </a:t>
                      </a:r>
                      <a:r>
                        <a:rPr sz="1600" spc="-10" dirty="0">
                          <a:latin typeface="+mj-lt"/>
                          <a:cs typeface="TeXGyreAdventor"/>
                        </a:rPr>
                        <a:t>that's  </a:t>
                      </a:r>
                      <a:r>
                        <a:rPr sz="1600" spc="-5" dirty="0">
                          <a:latin typeface="+mj-lt"/>
                          <a:cs typeface="TeXGyreAdventor"/>
                        </a:rPr>
                        <a:t>configured </a:t>
                      </a:r>
                      <a:r>
                        <a:rPr sz="1600" spc="-10" dirty="0">
                          <a:latin typeface="+mj-lt"/>
                          <a:cs typeface="TeXGyreAdventor"/>
                        </a:rPr>
                        <a:t>to perform</a:t>
                      </a:r>
                      <a:r>
                        <a:rPr sz="1600" spc="35" dirty="0">
                          <a:latin typeface="+mj-lt"/>
                          <a:cs typeface="TeXGyreAdventor"/>
                        </a:rPr>
                        <a:t> </a:t>
                      </a:r>
                      <a:r>
                        <a:rPr sz="1600" spc="-5" dirty="0">
                          <a:latin typeface="+mj-lt"/>
                          <a:cs typeface="TeXGyreAdventor"/>
                        </a:rPr>
                        <a:t>NAT.</a:t>
                      </a:r>
                      <a:endParaRPr sz="1600">
                        <a:latin typeface="+mj-lt"/>
                        <a:cs typeface="TeXGyreAdventor"/>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extLst>
                  <a:ext uri="{0D108BD9-81ED-4DB2-BD59-A6C34878D82A}">
                    <a16:rowId xmlns:a16="http://schemas.microsoft.com/office/drawing/2014/main" val="10004"/>
                  </a:ext>
                </a:extLst>
              </a:tr>
              <a:tr h="989663">
                <a:tc>
                  <a:txBody>
                    <a:bodyPr/>
                    <a:lstStyle/>
                    <a:p>
                      <a:pPr marL="47625">
                        <a:lnSpc>
                          <a:spcPct val="100000"/>
                        </a:lnSpc>
                        <a:spcBef>
                          <a:spcPts val="330"/>
                        </a:spcBef>
                      </a:pPr>
                      <a:r>
                        <a:rPr sz="1600" b="1" spc="-5" dirty="0">
                          <a:solidFill>
                            <a:srgbClr val="FFFFFF"/>
                          </a:solidFill>
                          <a:latin typeface="+mj-lt"/>
                          <a:cs typeface="TeXGyreAdventor"/>
                        </a:rPr>
                        <a:t>Cost</a:t>
                      </a:r>
                      <a:endParaRPr sz="160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3849A"/>
                    </a:solidFill>
                  </a:tcPr>
                </a:tc>
                <a:tc>
                  <a:txBody>
                    <a:bodyPr/>
                    <a:lstStyle/>
                    <a:p>
                      <a:pPr marL="47625" marR="142875">
                        <a:lnSpc>
                          <a:spcPct val="107200"/>
                        </a:lnSpc>
                        <a:spcBef>
                          <a:spcPts val="219"/>
                        </a:spcBef>
                      </a:pPr>
                      <a:r>
                        <a:rPr sz="1600" spc="-5" dirty="0">
                          <a:latin typeface="+mj-lt"/>
                          <a:cs typeface="TeXGyreAdventor"/>
                        </a:rPr>
                        <a:t>Charged depending on the number  of </a:t>
                      </a:r>
                      <a:r>
                        <a:rPr sz="1600" spc="5" dirty="0">
                          <a:latin typeface="+mj-lt"/>
                          <a:cs typeface="TeXGyreAdventor"/>
                        </a:rPr>
                        <a:t>NAT </a:t>
                      </a:r>
                      <a:r>
                        <a:rPr sz="1600" spc="-10" dirty="0">
                          <a:latin typeface="+mj-lt"/>
                          <a:cs typeface="TeXGyreAdventor"/>
                        </a:rPr>
                        <a:t>gateways you </a:t>
                      </a:r>
                      <a:r>
                        <a:rPr sz="1600" spc="-5" dirty="0">
                          <a:latin typeface="+mj-lt"/>
                          <a:cs typeface="TeXGyreAdventor"/>
                        </a:rPr>
                        <a:t>use, duration of  usage, and amount of </a:t>
                      </a:r>
                      <a:r>
                        <a:rPr sz="1600" spc="-10" dirty="0">
                          <a:latin typeface="+mj-lt"/>
                          <a:cs typeface="TeXGyreAdventor"/>
                        </a:rPr>
                        <a:t>data </a:t>
                      </a:r>
                      <a:r>
                        <a:rPr sz="1600" spc="-5" dirty="0">
                          <a:latin typeface="+mj-lt"/>
                          <a:cs typeface="TeXGyreAdventor"/>
                        </a:rPr>
                        <a:t>that </a:t>
                      </a:r>
                      <a:r>
                        <a:rPr sz="1600" spc="-10" dirty="0">
                          <a:latin typeface="+mj-lt"/>
                          <a:cs typeface="TeXGyreAdventor"/>
                        </a:rPr>
                        <a:t>you  send </a:t>
                      </a:r>
                      <a:r>
                        <a:rPr sz="1600" spc="-5" dirty="0">
                          <a:latin typeface="+mj-lt"/>
                          <a:cs typeface="TeXGyreAdventor"/>
                        </a:rPr>
                        <a:t>through </a:t>
                      </a:r>
                      <a:r>
                        <a:rPr sz="1600" spc="-10" dirty="0">
                          <a:latin typeface="+mj-lt"/>
                          <a:cs typeface="TeXGyreAdventor"/>
                        </a:rPr>
                        <a:t>the </a:t>
                      </a:r>
                      <a:r>
                        <a:rPr sz="1600" spc="5" dirty="0">
                          <a:latin typeface="+mj-lt"/>
                          <a:cs typeface="TeXGyreAdventor"/>
                        </a:rPr>
                        <a:t>NAT</a:t>
                      </a:r>
                      <a:r>
                        <a:rPr sz="1600" spc="-25" dirty="0">
                          <a:latin typeface="+mj-lt"/>
                          <a:cs typeface="TeXGyreAdventor"/>
                        </a:rPr>
                        <a:t> </a:t>
                      </a:r>
                      <a:r>
                        <a:rPr sz="1600" spc="-10" dirty="0">
                          <a:latin typeface="+mj-lt"/>
                          <a:cs typeface="TeXGyreAdventor"/>
                        </a:rPr>
                        <a:t>gateways.</a:t>
                      </a:r>
                      <a:endParaRPr sz="1600">
                        <a:latin typeface="+mj-lt"/>
                        <a:cs typeface="TeXGyreAdventor"/>
                      </a:endParaRPr>
                    </a:p>
                  </a:txBody>
                  <a:tcPr marL="0" marR="0" marT="2793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tc>
                  <a:txBody>
                    <a:bodyPr/>
                    <a:lstStyle/>
                    <a:p>
                      <a:pPr marL="48260" marR="158750">
                        <a:lnSpc>
                          <a:spcPct val="107200"/>
                        </a:lnSpc>
                        <a:spcBef>
                          <a:spcPts val="219"/>
                        </a:spcBef>
                      </a:pPr>
                      <a:r>
                        <a:rPr sz="1600" spc="-5" dirty="0">
                          <a:latin typeface="+mj-lt"/>
                          <a:cs typeface="TeXGyreAdventor"/>
                        </a:rPr>
                        <a:t>Charged depending on the number  of </a:t>
                      </a:r>
                      <a:r>
                        <a:rPr sz="1600" spc="5" dirty="0">
                          <a:latin typeface="+mj-lt"/>
                          <a:cs typeface="TeXGyreAdventor"/>
                        </a:rPr>
                        <a:t>NAT </a:t>
                      </a:r>
                      <a:r>
                        <a:rPr sz="1600" spc="-5" dirty="0">
                          <a:latin typeface="+mj-lt"/>
                          <a:cs typeface="TeXGyreAdventor"/>
                        </a:rPr>
                        <a:t>instances that </a:t>
                      </a:r>
                      <a:r>
                        <a:rPr sz="1600" spc="-10" dirty="0">
                          <a:latin typeface="+mj-lt"/>
                          <a:cs typeface="TeXGyreAdventor"/>
                        </a:rPr>
                        <a:t>you use,  </a:t>
                      </a:r>
                      <a:r>
                        <a:rPr sz="1600" spc="-5" dirty="0">
                          <a:latin typeface="+mj-lt"/>
                          <a:cs typeface="TeXGyreAdventor"/>
                        </a:rPr>
                        <a:t>duration of usage, and instance </a:t>
                      </a:r>
                      <a:r>
                        <a:rPr sz="1600" spc="-10" dirty="0">
                          <a:latin typeface="+mj-lt"/>
                          <a:cs typeface="TeXGyreAdventor"/>
                        </a:rPr>
                        <a:t>type  </a:t>
                      </a:r>
                      <a:r>
                        <a:rPr sz="1600" spc="-5" dirty="0">
                          <a:latin typeface="+mj-lt"/>
                          <a:cs typeface="TeXGyreAdventor"/>
                        </a:rPr>
                        <a:t>and</a:t>
                      </a:r>
                      <a:r>
                        <a:rPr sz="1600" spc="-10" dirty="0">
                          <a:latin typeface="+mj-lt"/>
                          <a:cs typeface="TeXGyreAdventor"/>
                        </a:rPr>
                        <a:t> </a:t>
                      </a:r>
                      <a:r>
                        <a:rPr sz="1600" dirty="0">
                          <a:latin typeface="+mj-lt"/>
                          <a:cs typeface="TeXGyreAdventor"/>
                        </a:rPr>
                        <a:t>size.</a:t>
                      </a:r>
                      <a:endParaRPr sz="1600">
                        <a:latin typeface="+mj-lt"/>
                        <a:cs typeface="TeXGyreAdventor"/>
                      </a:endParaRPr>
                    </a:p>
                  </a:txBody>
                  <a:tcPr marL="0" marR="0" marT="2793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9DE"/>
                    </a:solidFill>
                  </a:tcPr>
                </a:tc>
                <a:extLst>
                  <a:ext uri="{0D108BD9-81ED-4DB2-BD59-A6C34878D82A}">
                    <a16:rowId xmlns:a16="http://schemas.microsoft.com/office/drawing/2014/main" val="10005"/>
                  </a:ext>
                </a:extLst>
              </a:tr>
              <a:tr h="745464">
                <a:tc>
                  <a:txBody>
                    <a:bodyPr/>
                    <a:lstStyle/>
                    <a:p>
                      <a:pPr marL="47625">
                        <a:lnSpc>
                          <a:spcPct val="100000"/>
                        </a:lnSpc>
                        <a:spcBef>
                          <a:spcPts val="330"/>
                        </a:spcBef>
                      </a:pPr>
                      <a:r>
                        <a:rPr sz="1600" b="1" spc="-5" dirty="0">
                          <a:solidFill>
                            <a:srgbClr val="FFFFFF"/>
                          </a:solidFill>
                          <a:latin typeface="+mj-lt"/>
                          <a:cs typeface="TeXGyreAdventor"/>
                        </a:rPr>
                        <a:t>Type </a:t>
                      </a:r>
                      <a:r>
                        <a:rPr sz="1600" b="1" spc="-10" dirty="0">
                          <a:solidFill>
                            <a:srgbClr val="FFFFFF"/>
                          </a:solidFill>
                          <a:latin typeface="+mj-lt"/>
                          <a:cs typeface="TeXGyreAdventor"/>
                        </a:rPr>
                        <a:t>and</a:t>
                      </a:r>
                      <a:r>
                        <a:rPr sz="1600" b="1" spc="20" dirty="0">
                          <a:solidFill>
                            <a:srgbClr val="FFFFFF"/>
                          </a:solidFill>
                          <a:latin typeface="+mj-lt"/>
                          <a:cs typeface="TeXGyreAdventor"/>
                        </a:rPr>
                        <a:t> </a:t>
                      </a:r>
                      <a:r>
                        <a:rPr sz="1600" b="1" spc="-5" dirty="0">
                          <a:solidFill>
                            <a:srgbClr val="FFFFFF"/>
                          </a:solidFill>
                          <a:latin typeface="+mj-lt"/>
                          <a:cs typeface="TeXGyreAdventor"/>
                        </a:rPr>
                        <a:t>size</a:t>
                      </a:r>
                      <a:endParaRPr sz="160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53849A"/>
                    </a:solidFill>
                  </a:tcPr>
                </a:tc>
                <a:tc>
                  <a:txBody>
                    <a:bodyPr/>
                    <a:lstStyle/>
                    <a:p>
                      <a:pPr marL="47625">
                        <a:lnSpc>
                          <a:spcPct val="100000"/>
                        </a:lnSpc>
                        <a:spcBef>
                          <a:spcPts val="330"/>
                        </a:spcBef>
                      </a:pPr>
                      <a:r>
                        <a:rPr sz="1600" spc="-5" dirty="0">
                          <a:latin typeface="+mj-lt"/>
                          <a:cs typeface="TeXGyreAdventor"/>
                        </a:rPr>
                        <a:t>Uniform offering; </a:t>
                      </a:r>
                      <a:r>
                        <a:rPr sz="1600" spc="-10" dirty="0">
                          <a:latin typeface="+mj-lt"/>
                          <a:cs typeface="TeXGyreAdventor"/>
                        </a:rPr>
                        <a:t>you don’t </a:t>
                      </a:r>
                      <a:r>
                        <a:rPr sz="1600" spc="-5" dirty="0">
                          <a:latin typeface="+mj-lt"/>
                          <a:cs typeface="TeXGyreAdventor"/>
                        </a:rPr>
                        <a:t>need</a:t>
                      </a:r>
                      <a:r>
                        <a:rPr sz="1600" spc="65" dirty="0">
                          <a:latin typeface="+mj-lt"/>
                          <a:cs typeface="TeXGyreAdventor"/>
                        </a:rPr>
                        <a:t> </a:t>
                      </a:r>
                      <a:r>
                        <a:rPr sz="1600" spc="-10" dirty="0">
                          <a:latin typeface="+mj-lt"/>
                          <a:cs typeface="TeXGyreAdventor"/>
                        </a:rPr>
                        <a:t>to</a:t>
                      </a:r>
                      <a:endParaRPr sz="1600">
                        <a:latin typeface="+mj-lt"/>
                        <a:cs typeface="TeXGyreAdventor"/>
                      </a:endParaRPr>
                    </a:p>
                    <a:p>
                      <a:pPr marL="47625">
                        <a:lnSpc>
                          <a:spcPct val="100000"/>
                        </a:lnSpc>
                        <a:spcBef>
                          <a:spcPts val="110"/>
                        </a:spcBef>
                      </a:pPr>
                      <a:r>
                        <a:rPr sz="1600" spc="-5" dirty="0">
                          <a:latin typeface="+mj-lt"/>
                          <a:cs typeface="TeXGyreAdventor"/>
                        </a:rPr>
                        <a:t>decide on the </a:t>
                      </a:r>
                      <a:r>
                        <a:rPr sz="1600" spc="-10" dirty="0">
                          <a:latin typeface="+mj-lt"/>
                          <a:cs typeface="TeXGyreAdventor"/>
                        </a:rPr>
                        <a:t>type </a:t>
                      </a:r>
                      <a:r>
                        <a:rPr sz="1600" spc="-5" dirty="0">
                          <a:latin typeface="+mj-lt"/>
                          <a:cs typeface="TeXGyreAdventor"/>
                        </a:rPr>
                        <a:t>or</a:t>
                      </a:r>
                      <a:r>
                        <a:rPr sz="1600" spc="30" dirty="0">
                          <a:latin typeface="+mj-lt"/>
                          <a:cs typeface="TeXGyreAdventor"/>
                        </a:rPr>
                        <a:t> </a:t>
                      </a:r>
                      <a:r>
                        <a:rPr sz="1600" dirty="0">
                          <a:latin typeface="+mj-lt"/>
                          <a:cs typeface="TeXGyreAdventor"/>
                        </a:rPr>
                        <a:t>size.</a:t>
                      </a:r>
                      <a:endParaRPr sz="1600">
                        <a:latin typeface="+mj-lt"/>
                        <a:cs typeface="TeXGyreAdventor"/>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tc>
                  <a:txBody>
                    <a:bodyPr/>
                    <a:lstStyle/>
                    <a:p>
                      <a:pPr marL="48260" marR="173355">
                        <a:lnSpc>
                          <a:spcPct val="107400"/>
                        </a:lnSpc>
                        <a:spcBef>
                          <a:spcPts val="215"/>
                        </a:spcBef>
                      </a:pPr>
                      <a:r>
                        <a:rPr sz="1600" spc="-5" dirty="0">
                          <a:latin typeface="+mj-lt"/>
                          <a:cs typeface="TeXGyreAdventor"/>
                        </a:rPr>
                        <a:t>Choose a suitable instance </a:t>
                      </a:r>
                      <a:r>
                        <a:rPr sz="1600" spc="-10" dirty="0">
                          <a:latin typeface="+mj-lt"/>
                          <a:cs typeface="TeXGyreAdventor"/>
                        </a:rPr>
                        <a:t>type </a:t>
                      </a:r>
                      <a:r>
                        <a:rPr sz="1600" spc="-5" dirty="0">
                          <a:latin typeface="+mj-lt"/>
                          <a:cs typeface="TeXGyreAdventor"/>
                        </a:rPr>
                        <a:t>and  </a:t>
                      </a:r>
                      <a:r>
                        <a:rPr sz="1600" dirty="0">
                          <a:latin typeface="+mj-lt"/>
                          <a:cs typeface="TeXGyreAdventor"/>
                        </a:rPr>
                        <a:t>size, </a:t>
                      </a:r>
                      <a:r>
                        <a:rPr sz="1600" spc="-5" dirty="0">
                          <a:latin typeface="+mj-lt"/>
                          <a:cs typeface="TeXGyreAdventor"/>
                        </a:rPr>
                        <a:t>according </a:t>
                      </a:r>
                      <a:r>
                        <a:rPr sz="1600" spc="-10" dirty="0">
                          <a:latin typeface="+mj-lt"/>
                          <a:cs typeface="TeXGyreAdventor"/>
                        </a:rPr>
                        <a:t>to </a:t>
                      </a:r>
                      <a:r>
                        <a:rPr sz="1600" spc="-5" dirty="0">
                          <a:latin typeface="+mj-lt"/>
                          <a:cs typeface="TeXGyreAdventor"/>
                        </a:rPr>
                        <a:t>your predicted  </a:t>
                      </a:r>
                      <a:r>
                        <a:rPr sz="1600" spc="-10" dirty="0">
                          <a:latin typeface="+mj-lt"/>
                          <a:cs typeface="TeXGyreAdventor"/>
                        </a:rPr>
                        <a:t>workload.</a:t>
                      </a:r>
                      <a:endParaRPr sz="1600" dirty="0">
                        <a:latin typeface="+mj-lt"/>
                        <a:cs typeface="TeXGyreAdventor"/>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EE"/>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1EACB024-8EA4-486F-A447-2B748D69497C}"/>
              </a:ext>
            </a:extLst>
          </p:cNvPr>
          <p:cNvSpPr txBox="1"/>
          <p:nvPr/>
        </p:nvSpPr>
        <p:spPr>
          <a:xfrm>
            <a:off x="3047999" y="57454"/>
            <a:ext cx="5400675" cy="707886"/>
          </a:xfrm>
          <a:prstGeom prst="rect">
            <a:avLst/>
          </a:prstGeom>
          <a:noFill/>
        </p:spPr>
        <p:txBody>
          <a:bodyPr wrap="square" rtlCol="0">
            <a:spAutoFit/>
          </a:bodyPr>
          <a:lstStyle/>
          <a:p>
            <a:r>
              <a:rPr lang="en-IN" sz="4000" dirty="0">
                <a:latin typeface="+mj-lt"/>
              </a:rPr>
              <a:t>NAT G/W &amp; NAT Instance</a:t>
            </a:r>
          </a:p>
        </p:txBody>
      </p:sp>
      <p:sp>
        <p:nvSpPr>
          <p:cNvPr id="3" name="Footer Placeholder 2">
            <a:extLst>
              <a:ext uri="{FF2B5EF4-FFF2-40B4-BE49-F238E27FC236}">
                <a16:creationId xmlns:a16="http://schemas.microsoft.com/office/drawing/2014/main" id="{885E8320-A036-4443-8A84-43DBCBDFB44D}"/>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196668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8843"/>
            <a:ext cx="9523984" cy="566822"/>
          </a:xfrm>
          <a:prstGeom prst="rect">
            <a:avLst/>
          </a:prstGeom>
        </p:spPr>
        <p:txBody>
          <a:bodyPr vert="horz" wrap="square" lIns="0" tIns="12700" rIns="0" bIns="0" rtlCol="0">
            <a:spAutoFit/>
          </a:bodyPr>
          <a:lstStyle/>
          <a:p>
            <a:pPr marL="12700">
              <a:lnSpc>
                <a:spcPct val="100000"/>
              </a:lnSpc>
              <a:spcBef>
                <a:spcPts val="100"/>
              </a:spcBef>
            </a:pPr>
            <a:r>
              <a:rPr sz="3600" b="0" spc="-5" dirty="0">
                <a:latin typeface="TeXGyreAdventor"/>
                <a:cs typeface="TeXGyreAdventor"/>
              </a:rPr>
              <a:t>Private, </a:t>
            </a:r>
            <a:r>
              <a:rPr lang="en-IN" sz="3600" b="0" spc="-5" dirty="0">
                <a:latin typeface="TeXGyreAdventor"/>
                <a:cs typeface="TeXGyreAdventor"/>
              </a:rPr>
              <a:t>Dynamic </a:t>
            </a:r>
            <a:r>
              <a:rPr sz="3600" b="0" dirty="0">
                <a:latin typeface="TeXGyreAdventor"/>
                <a:cs typeface="TeXGyreAdventor"/>
              </a:rPr>
              <a:t>Public </a:t>
            </a:r>
            <a:r>
              <a:rPr sz="3600" b="0" spc="-5" dirty="0">
                <a:latin typeface="TeXGyreAdventor"/>
                <a:cs typeface="TeXGyreAdventor"/>
              </a:rPr>
              <a:t>and Elastic </a:t>
            </a:r>
            <a:r>
              <a:rPr sz="3600" b="0" dirty="0">
                <a:latin typeface="TeXGyreAdventor"/>
                <a:cs typeface="TeXGyreAdventor"/>
              </a:rPr>
              <a:t>IP</a:t>
            </a:r>
            <a:r>
              <a:rPr sz="3600" b="0" spc="-5" dirty="0">
                <a:latin typeface="TeXGyreAdventor"/>
                <a:cs typeface="TeXGyreAdventor"/>
              </a:rPr>
              <a:t> address</a:t>
            </a:r>
            <a:endParaRPr sz="3600" dirty="0">
              <a:latin typeface="TeXGyreAdventor"/>
              <a:cs typeface="TeXGyreAdventor"/>
            </a:endParaRPr>
          </a:p>
        </p:txBody>
      </p:sp>
      <p:sp>
        <p:nvSpPr>
          <p:cNvPr id="3" name="object 3"/>
          <p:cNvSpPr txBox="1"/>
          <p:nvPr/>
        </p:nvSpPr>
        <p:spPr>
          <a:xfrm>
            <a:off x="10562590" y="570992"/>
            <a:ext cx="419100" cy="452120"/>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FFFFFF"/>
                </a:solidFill>
                <a:latin typeface="TeXGyreAdventor"/>
                <a:cs typeface="TeXGyreAdventor"/>
              </a:rPr>
              <a:t>11</a:t>
            </a:r>
            <a:endParaRPr sz="2800">
              <a:latin typeface="TeXGyreAdventor"/>
              <a:cs typeface="TeXGyreAdventor"/>
            </a:endParaRPr>
          </a:p>
        </p:txBody>
      </p:sp>
      <p:sp>
        <p:nvSpPr>
          <p:cNvPr id="4" name="object 4"/>
          <p:cNvSpPr txBox="1"/>
          <p:nvPr/>
        </p:nvSpPr>
        <p:spPr>
          <a:xfrm>
            <a:off x="724916" y="2074030"/>
            <a:ext cx="10857484" cy="3439788"/>
          </a:xfrm>
          <a:prstGeom prst="rect">
            <a:avLst/>
          </a:prstGeom>
        </p:spPr>
        <p:txBody>
          <a:bodyPr vert="horz" wrap="square" lIns="0" tIns="47625" rIns="0" bIns="0" rtlCol="0">
            <a:spAutoFit/>
          </a:bodyPr>
          <a:lstStyle/>
          <a:p>
            <a:pPr marL="355600" marR="66040" indent="-342900">
              <a:lnSpc>
                <a:spcPts val="2160"/>
              </a:lnSpc>
              <a:spcBef>
                <a:spcPts val="375"/>
              </a:spcBef>
              <a:buFont typeface="Wingdings" panose="05000000000000000000" pitchFamily="2" charset="2"/>
              <a:buChar char="Ø"/>
              <a:tabLst>
                <a:tab pos="354965" algn="l"/>
                <a:tab pos="5424805" algn="l"/>
              </a:tabLst>
            </a:pPr>
            <a:r>
              <a:rPr sz="2200" dirty="0">
                <a:latin typeface="+mj-lt"/>
                <a:cs typeface="TeXGyreAdventor"/>
              </a:rPr>
              <a:t>A private </a:t>
            </a:r>
            <a:r>
              <a:rPr sz="2200" spc="5" dirty="0">
                <a:latin typeface="+mj-lt"/>
                <a:cs typeface="TeXGyreAdventor"/>
              </a:rPr>
              <a:t>IPv4 </a:t>
            </a:r>
            <a:r>
              <a:rPr sz="2200" spc="-5" dirty="0">
                <a:latin typeface="+mj-lt"/>
                <a:cs typeface="TeXGyreAdventor"/>
              </a:rPr>
              <a:t>address is </a:t>
            </a:r>
            <a:r>
              <a:rPr sz="2200" dirty="0">
                <a:latin typeface="+mj-lt"/>
                <a:cs typeface="TeXGyreAdventor"/>
              </a:rPr>
              <a:t>an </a:t>
            </a:r>
            <a:r>
              <a:rPr sz="2200" spc="5" dirty="0">
                <a:latin typeface="+mj-lt"/>
                <a:cs typeface="TeXGyreAdventor"/>
              </a:rPr>
              <a:t>IP </a:t>
            </a:r>
            <a:r>
              <a:rPr sz="2200" spc="-5" dirty="0">
                <a:latin typeface="+mj-lt"/>
                <a:cs typeface="TeXGyreAdventor"/>
              </a:rPr>
              <a:t>address </a:t>
            </a:r>
            <a:r>
              <a:rPr sz="2200" dirty="0">
                <a:latin typeface="+mj-lt"/>
                <a:cs typeface="TeXGyreAdventor"/>
              </a:rPr>
              <a:t>that's not reachable </a:t>
            </a:r>
            <a:r>
              <a:rPr sz="2200" spc="5" dirty="0">
                <a:latin typeface="+mj-lt"/>
                <a:cs typeface="TeXGyreAdventor"/>
              </a:rPr>
              <a:t>over</a:t>
            </a:r>
            <a:r>
              <a:rPr sz="2200" spc="-215" dirty="0">
                <a:latin typeface="+mj-lt"/>
                <a:cs typeface="TeXGyreAdventor"/>
              </a:rPr>
              <a:t> </a:t>
            </a:r>
            <a:r>
              <a:rPr sz="2200" spc="5" dirty="0">
                <a:latin typeface="+mj-lt"/>
                <a:cs typeface="TeXGyreAdventor"/>
              </a:rPr>
              <a:t>the  </a:t>
            </a:r>
            <a:r>
              <a:rPr sz="2200" dirty="0">
                <a:latin typeface="+mj-lt"/>
                <a:cs typeface="TeXGyreAdventor"/>
              </a:rPr>
              <a:t>Internet. Private </a:t>
            </a:r>
            <a:r>
              <a:rPr sz="2200" spc="5" dirty="0">
                <a:latin typeface="+mj-lt"/>
                <a:cs typeface="TeXGyreAdventor"/>
              </a:rPr>
              <a:t>IPv4 </a:t>
            </a:r>
            <a:r>
              <a:rPr sz="2200" spc="-5" dirty="0">
                <a:latin typeface="+mj-lt"/>
                <a:cs typeface="TeXGyreAdventor"/>
              </a:rPr>
              <a:t>addresses</a:t>
            </a:r>
            <a:r>
              <a:rPr sz="2200" spc="-90" dirty="0">
                <a:latin typeface="+mj-lt"/>
                <a:cs typeface="TeXGyreAdventor"/>
              </a:rPr>
              <a:t> </a:t>
            </a:r>
            <a:r>
              <a:rPr sz="2200" spc="-5" dirty="0">
                <a:latin typeface="+mj-lt"/>
                <a:cs typeface="TeXGyreAdventor"/>
              </a:rPr>
              <a:t>are</a:t>
            </a:r>
            <a:r>
              <a:rPr sz="2200" spc="5" dirty="0">
                <a:latin typeface="+mj-lt"/>
                <a:cs typeface="TeXGyreAdventor"/>
              </a:rPr>
              <a:t> </a:t>
            </a:r>
            <a:r>
              <a:rPr sz="2200" dirty="0">
                <a:latin typeface="+mj-lt"/>
                <a:cs typeface="TeXGyreAdventor"/>
              </a:rPr>
              <a:t>used</a:t>
            </a:r>
            <a:r>
              <a:rPr lang="en-IN" sz="2200" dirty="0">
                <a:latin typeface="+mj-lt"/>
                <a:cs typeface="TeXGyreAdventor"/>
              </a:rPr>
              <a:t> </a:t>
            </a:r>
            <a:r>
              <a:rPr sz="2200" spc="-5" dirty="0">
                <a:latin typeface="+mj-lt"/>
                <a:cs typeface="TeXGyreAdventor"/>
              </a:rPr>
              <a:t>for </a:t>
            </a:r>
            <a:r>
              <a:rPr sz="2200" dirty="0">
                <a:latin typeface="+mj-lt"/>
                <a:cs typeface="TeXGyreAdventor"/>
              </a:rPr>
              <a:t>communication  between instances in </a:t>
            </a:r>
            <a:r>
              <a:rPr sz="2200" spc="5" dirty="0">
                <a:latin typeface="+mj-lt"/>
                <a:cs typeface="TeXGyreAdventor"/>
              </a:rPr>
              <a:t>the </a:t>
            </a:r>
            <a:r>
              <a:rPr sz="2200" dirty="0">
                <a:latin typeface="+mj-lt"/>
                <a:cs typeface="TeXGyreAdventor"/>
              </a:rPr>
              <a:t>same</a:t>
            </a:r>
            <a:r>
              <a:rPr sz="2200" spc="-150" dirty="0">
                <a:latin typeface="+mj-lt"/>
                <a:cs typeface="TeXGyreAdventor"/>
              </a:rPr>
              <a:t> </a:t>
            </a:r>
            <a:r>
              <a:rPr sz="2200" dirty="0">
                <a:latin typeface="+mj-lt"/>
                <a:cs typeface="TeXGyreAdventor"/>
              </a:rPr>
              <a:t>network</a:t>
            </a:r>
            <a:endParaRPr lang="en-IN" sz="2200" dirty="0">
              <a:latin typeface="+mj-lt"/>
              <a:cs typeface="TeXGyreAdventor"/>
            </a:endParaRPr>
          </a:p>
          <a:p>
            <a:pPr marL="355600" marR="66040" indent="-342900">
              <a:lnSpc>
                <a:spcPts val="2160"/>
              </a:lnSpc>
              <a:spcBef>
                <a:spcPts val="375"/>
              </a:spcBef>
              <a:buFont typeface="Wingdings" panose="05000000000000000000" pitchFamily="2" charset="2"/>
              <a:buChar char="Ø"/>
              <a:tabLst>
                <a:tab pos="354965" algn="l"/>
                <a:tab pos="5424805" algn="l"/>
              </a:tabLst>
            </a:pPr>
            <a:endParaRPr sz="2200" dirty="0">
              <a:latin typeface="+mj-lt"/>
              <a:cs typeface="TeXGyreAdventor"/>
            </a:endParaRPr>
          </a:p>
          <a:p>
            <a:pPr marL="457200" indent="-457200">
              <a:lnSpc>
                <a:spcPct val="100000"/>
              </a:lnSpc>
              <a:spcBef>
                <a:spcPts val="20"/>
              </a:spcBef>
              <a:buFont typeface="Wingdings" panose="05000000000000000000" pitchFamily="2" charset="2"/>
              <a:buChar char="Ø"/>
            </a:pPr>
            <a:endParaRPr sz="2200" dirty="0">
              <a:latin typeface="+mj-lt"/>
              <a:cs typeface="TeXGyreAdventor"/>
            </a:endParaRPr>
          </a:p>
          <a:p>
            <a:pPr marL="355600" marR="5080" indent="-342900">
              <a:lnSpc>
                <a:spcPts val="2160"/>
              </a:lnSpc>
              <a:buFont typeface="Wingdings" panose="05000000000000000000" pitchFamily="2" charset="2"/>
              <a:buChar char="Ø"/>
              <a:tabLst>
                <a:tab pos="354965" algn="l"/>
              </a:tabLst>
            </a:pPr>
            <a:r>
              <a:rPr sz="2200" dirty="0">
                <a:latin typeface="+mj-lt"/>
                <a:cs typeface="TeXGyreAdventor"/>
              </a:rPr>
              <a:t>A public </a:t>
            </a:r>
            <a:r>
              <a:rPr sz="2200" spc="5" dirty="0">
                <a:latin typeface="+mj-lt"/>
                <a:cs typeface="TeXGyreAdventor"/>
              </a:rPr>
              <a:t>IP </a:t>
            </a:r>
            <a:r>
              <a:rPr sz="2200" spc="-5" dirty="0">
                <a:latin typeface="+mj-lt"/>
                <a:cs typeface="TeXGyreAdventor"/>
              </a:rPr>
              <a:t>address is </a:t>
            </a:r>
            <a:r>
              <a:rPr sz="2200" dirty="0">
                <a:latin typeface="+mj-lt"/>
                <a:cs typeface="TeXGyreAdventor"/>
              </a:rPr>
              <a:t>an </a:t>
            </a:r>
            <a:r>
              <a:rPr sz="2200" spc="5" dirty="0">
                <a:latin typeface="+mj-lt"/>
                <a:cs typeface="TeXGyreAdventor"/>
              </a:rPr>
              <a:t>IPv4 </a:t>
            </a:r>
            <a:r>
              <a:rPr sz="2200" spc="-5" dirty="0">
                <a:latin typeface="+mj-lt"/>
                <a:cs typeface="TeXGyreAdventor"/>
              </a:rPr>
              <a:t>address </a:t>
            </a:r>
            <a:r>
              <a:rPr sz="2200" dirty="0">
                <a:latin typeface="+mj-lt"/>
                <a:cs typeface="TeXGyreAdventor"/>
              </a:rPr>
              <a:t>that's reachable </a:t>
            </a:r>
            <a:r>
              <a:rPr sz="2200" spc="-5" dirty="0">
                <a:latin typeface="+mj-lt"/>
                <a:cs typeface="TeXGyreAdventor"/>
              </a:rPr>
              <a:t>from </a:t>
            </a:r>
            <a:r>
              <a:rPr sz="2200" spc="5" dirty="0">
                <a:latin typeface="+mj-lt"/>
                <a:cs typeface="TeXGyreAdventor"/>
              </a:rPr>
              <a:t>the  </a:t>
            </a:r>
            <a:r>
              <a:rPr sz="2200" dirty="0">
                <a:latin typeface="+mj-lt"/>
                <a:cs typeface="TeXGyreAdventor"/>
              </a:rPr>
              <a:t>Internet. </a:t>
            </a:r>
            <a:r>
              <a:rPr lang="en-IN" sz="2200" dirty="0">
                <a:latin typeface="+mj-lt"/>
                <a:cs typeface="TeXGyreAdventor"/>
              </a:rPr>
              <a:t>P</a:t>
            </a:r>
            <a:r>
              <a:rPr sz="2200" dirty="0" err="1">
                <a:latin typeface="+mj-lt"/>
                <a:cs typeface="TeXGyreAdventor"/>
              </a:rPr>
              <a:t>ublic</a:t>
            </a:r>
            <a:r>
              <a:rPr sz="2200" dirty="0">
                <a:latin typeface="+mj-lt"/>
                <a:cs typeface="TeXGyreAdventor"/>
              </a:rPr>
              <a:t> </a:t>
            </a:r>
            <a:r>
              <a:rPr sz="2200" spc="-5" dirty="0">
                <a:latin typeface="+mj-lt"/>
                <a:cs typeface="TeXGyreAdventor"/>
              </a:rPr>
              <a:t>addresses for </a:t>
            </a:r>
            <a:r>
              <a:rPr sz="2200" dirty="0">
                <a:latin typeface="+mj-lt"/>
                <a:cs typeface="TeXGyreAdventor"/>
              </a:rPr>
              <a:t>communication</a:t>
            </a:r>
            <a:r>
              <a:rPr sz="2200" spc="-160" dirty="0">
                <a:latin typeface="+mj-lt"/>
                <a:cs typeface="TeXGyreAdventor"/>
              </a:rPr>
              <a:t> </a:t>
            </a:r>
            <a:r>
              <a:rPr sz="2200" dirty="0">
                <a:latin typeface="+mj-lt"/>
                <a:cs typeface="TeXGyreAdventor"/>
              </a:rPr>
              <a:t>between  your instances and </a:t>
            </a:r>
            <a:r>
              <a:rPr sz="2200" spc="5" dirty="0">
                <a:latin typeface="+mj-lt"/>
                <a:cs typeface="TeXGyreAdventor"/>
              </a:rPr>
              <a:t>the</a:t>
            </a:r>
            <a:r>
              <a:rPr sz="2200" spc="-100" dirty="0">
                <a:latin typeface="+mj-lt"/>
                <a:cs typeface="TeXGyreAdventor"/>
              </a:rPr>
              <a:t> </a:t>
            </a:r>
            <a:r>
              <a:rPr sz="2200" dirty="0">
                <a:latin typeface="+mj-lt"/>
                <a:cs typeface="TeXGyreAdventor"/>
              </a:rPr>
              <a:t>Internet.</a:t>
            </a:r>
            <a:r>
              <a:rPr lang="en-IN" sz="2200" dirty="0">
                <a:latin typeface="+mj-lt"/>
                <a:cs typeface="TeXGyreAdventor"/>
              </a:rPr>
              <a:t> Types are Dynamic and Static.</a:t>
            </a:r>
            <a:endParaRPr sz="2200" dirty="0">
              <a:latin typeface="+mj-lt"/>
              <a:cs typeface="TeXGyreAdventor"/>
            </a:endParaRPr>
          </a:p>
          <a:p>
            <a:pPr marL="457200" indent="-457200">
              <a:lnSpc>
                <a:spcPct val="100000"/>
              </a:lnSpc>
              <a:spcBef>
                <a:spcPts val="45"/>
              </a:spcBef>
              <a:buFont typeface="Wingdings" panose="05000000000000000000" pitchFamily="2" charset="2"/>
              <a:buChar char="Ø"/>
            </a:pPr>
            <a:endParaRPr lang="en-IN" sz="2200" dirty="0">
              <a:latin typeface="+mj-lt"/>
              <a:cs typeface="TeXGyreAdventor"/>
            </a:endParaRPr>
          </a:p>
          <a:p>
            <a:pPr marL="457200" indent="-457200">
              <a:lnSpc>
                <a:spcPct val="100000"/>
              </a:lnSpc>
              <a:spcBef>
                <a:spcPts val="45"/>
              </a:spcBef>
              <a:buFont typeface="Wingdings" panose="05000000000000000000" pitchFamily="2" charset="2"/>
              <a:buChar char="Ø"/>
            </a:pPr>
            <a:endParaRPr sz="2200" dirty="0">
              <a:latin typeface="+mj-lt"/>
              <a:cs typeface="TeXGyreAdventor"/>
            </a:endParaRPr>
          </a:p>
          <a:p>
            <a:pPr marL="355600" marR="472440" indent="-342900">
              <a:lnSpc>
                <a:spcPct val="90000"/>
              </a:lnSpc>
              <a:spcBef>
                <a:spcPts val="5"/>
              </a:spcBef>
              <a:buFont typeface="Wingdings" panose="05000000000000000000" pitchFamily="2" charset="2"/>
              <a:buChar char="Ø"/>
              <a:tabLst>
                <a:tab pos="354965" algn="l"/>
              </a:tabLst>
            </a:pPr>
            <a:r>
              <a:rPr sz="2200" dirty="0">
                <a:latin typeface="+mj-lt"/>
                <a:cs typeface="TeXGyreAdventor"/>
              </a:rPr>
              <a:t>An Elastic </a:t>
            </a:r>
            <a:r>
              <a:rPr sz="2200" spc="5" dirty="0">
                <a:latin typeface="+mj-lt"/>
                <a:cs typeface="TeXGyreAdventor"/>
              </a:rPr>
              <a:t>IP </a:t>
            </a:r>
            <a:r>
              <a:rPr sz="2200" spc="-5" dirty="0">
                <a:latin typeface="+mj-lt"/>
                <a:cs typeface="TeXGyreAdventor"/>
              </a:rPr>
              <a:t>address is </a:t>
            </a:r>
            <a:r>
              <a:rPr sz="2200" dirty="0">
                <a:latin typeface="+mj-lt"/>
                <a:cs typeface="TeXGyreAdventor"/>
              </a:rPr>
              <a:t>a static public </a:t>
            </a:r>
            <a:r>
              <a:rPr sz="2200" spc="5" dirty="0">
                <a:latin typeface="+mj-lt"/>
                <a:cs typeface="TeXGyreAdventor"/>
              </a:rPr>
              <a:t>IPv4 </a:t>
            </a:r>
            <a:r>
              <a:rPr sz="2200" spc="-5" dirty="0">
                <a:latin typeface="+mj-lt"/>
                <a:cs typeface="TeXGyreAdventor"/>
              </a:rPr>
              <a:t>address </a:t>
            </a:r>
            <a:r>
              <a:rPr sz="2200" dirty="0">
                <a:latin typeface="+mj-lt"/>
                <a:cs typeface="TeXGyreAdventor"/>
              </a:rPr>
              <a:t>that could </a:t>
            </a:r>
            <a:r>
              <a:rPr sz="2200" spc="-5" dirty="0">
                <a:latin typeface="+mj-lt"/>
                <a:cs typeface="TeXGyreAdventor"/>
              </a:rPr>
              <a:t>be  </a:t>
            </a:r>
            <a:r>
              <a:rPr sz="2200" dirty="0">
                <a:latin typeface="+mj-lt"/>
                <a:cs typeface="TeXGyreAdventor"/>
              </a:rPr>
              <a:t>allocate </a:t>
            </a:r>
            <a:r>
              <a:rPr sz="2200" spc="5" dirty="0">
                <a:latin typeface="+mj-lt"/>
                <a:cs typeface="TeXGyreAdventor"/>
              </a:rPr>
              <a:t>to </a:t>
            </a:r>
            <a:r>
              <a:rPr sz="2200" spc="-20" dirty="0">
                <a:latin typeface="+mj-lt"/>
                <a:cs typeface="TeXGyreAdventor"/>
              </a:rPr>
              <a:t>AWS </a:t>
            </a:r>
            <a:r>
              <a:rPr sz="2200" dirty="0">
                <a:latin typeface="+mj-lt"/>
                <a:cs typeface="TeXGyreAdventor"/>
              </a:rPr>
              <a:t>account. </a:t>
            </a:r>
            <a:r>
              <a:rPr sz="2200" spc="5" dirty="0">
                <a:latin typeface="+mj-lt"/>
                <a:cs typeface="TeXGyreAdventor"/>
              </a:rPr>
              <a:t>It </a:t>
            </a:r>
            <a:r>
              <a:rPr sz="2200" dirty="0">
                <a:latin typeface="+mj-lt"/>
                <a:cs typeface="TeXGyreAdventor"/>
              </a:rPr>
              <a:t>could be </a:t>
            </a:r>
            <a:r>
              <a:rPr sz="2200" spc="-5" dirty="0">
                <a:latin typeface="+mj-lt"/>
                <a:cs typeface="TeXGyreAdventor"/>
              </a:rPr>
              <a:t>associated </a:t>
            </a:r>
            <a:r>
              <a:rPr sz="2200" spc="5" dirty="0">
                <a:latin typeface="+mj-lt"/>
                <a:cs typeface="TeXGyreAdventor"/>
              </a:rPr>
              <a:t>to </a:t>
            </a:r>
            <a:r>
              <a:rPr sz="2200" spc="-5" dirty="0">
                <a:latin typeface="+mj-lt"/>
                <a:cs typeface="TeXGyreAdventor"/>
              </a:rPr>
              <a:t>and from  </a:t>
            </a:r>
            <a:r>
              <a:rPr sz="2200" dirty="0">
                <a:latin typeface="+mj-lt"/>
                <a:cs typeface="TeXGyreAdventor"/>
              </a:rPr>
              <a:t>instances as required, and it's allocated </a:t>
            </a:r>
            <a:r>
              <a:rPr sz="2200" spc="5" dirty="0">
                <a:latin typeface="+mj-lt"/>
                <a:cs typeface="TeXGyreAdventor"/>
              </a:rPr>
              <a:t>to the </a:t>
            </a:r>
            <a:r>
              <a:rPr sz="2200" spc="-5" dirty="0">
                <a:latin typeface="+mj-lt"/>
                <a:cs typeface="TeXGyreAdventor"/>
              </a:rPr>
              <a:t>account </a:t>
            </a:r>
            <a:r>
              <a:rPr sz="2200" dirty="0">
                <a:latin typeface="+mj-lt"/>
                <a:cs typeface="TeXGyreAdventor"/>
              </a:rPr>
              <a:t>until</a:t>
            </a:r>
            <a:r>
              <a:rPr sz="2200" spc="-280" dirty="0">
                <a:latin typeface="+mj-lt"/>
                <a:cs typeface="TeXGyreAdventor"/>
              </a:rPr>
              <a:t> </a:t>
            </a:r>
            <a:r>
              <a:rPr sz="2200" dirty="0">
                <a:latin typeface="+mj-lt"/>
                <a:cs typeface="TeXGyreAdventor"/>
              </a:rPr>
              <a:t>you  choose </a:t>
            </a:r>
            <a:r>
              <a:rPr sz="2200" spc="5" dirty="0">
                <a:latin typeface="+mj-lt"/>
                <a:cs typeface="TeXGyreAdventor"/>
              </a:rPr>
              <a:t>to </a:t>
            </a:r>
            <a:r>
              <a:rPr sz="2200" dirty="0">
                <a:latin typeface="+mj-lt"/>
                <a:cs typeface="TeXGyreAdventor"/>
              </a:rPr>
              <a:t>release</a:t>
            </a:r>
            <a:r>
              <a:rPr sz="2200" spc="-65" dirty="0">
                <a:latin typeface="+mj-lt"/>
                <a:cs typeface="TeXGyreAdventor"/>
              </a:rPr>
              <a:t> </a:t>
            </a:r>
            <a:r>
              <a:rPr sz="2200" spc="-5" dirty="0">
                <a:latin typeface="+mj-lt"/>
                <a:cs typeface="TeXGyreAdventor"/>
              </a:rPr>
              <a:t>it</a:t>
            </a:r>
            <a:endParaRPr sz="2200" dirty="0">
              <a:latin typeface="+mj-lt"/>
              <a:cs typeface="TeXGyreAdventor"/>
            </a:endParaRPr>
          </a:p>
        </p:txBody>
      </p:sp>
      <p:sp>
        <p:nvSpPr>
          <p:cNvPr id="5" name="object 5"/>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10838942" y="3563051"/>
            <a:ext cx="8890" cy="38100"/>
          </a:xfrm>
          <a:custGeom>
            <a:avLst/>
            <a:gdLst/>
            <a:ahLst/>
            <a:cxnLst/>
            <a:rect l="l" t="t" r="r" b="b"/>
            <a:pathLst>
              <a:path w="8890" h="38100">
                <a:moveTo>
                  <a:pt x="8352" y="0"/>
                </a:moveTo>
                <a:lnTo>
                  <a:pt x="0" y="0"/>
                </a:lnTo>
                <a:lnTo>
                  <a:pt x="0" y="37652"/>
                </a:lnTo>
                <a:lnTo>
                  <a:pt x="8352" y="37652"/>
                </a:lnTo>
                <a:lnTo>
                  <a:pt x="8352" y="0"/>
                </a:lnTo>
                <a:close/>
              </a:path>
            </a:pathLst>
          </a:custGeom>
          <a:solidFill>
            <a:srgbClr val="FFFFFF">
              <a:alpha val="59999"/>
            </a:srgbClr>
          </a:solidFill>
        </p:spPr>
        <p:txBody>
          <a:bodyPr wrap="square" lIns="0" tIns="0" rIns="0" bIns="0" rtlCol="0"/>
          <a:lstStyle/>
          <a:p>
            <a:endParaRPr/>
          </a:p>
        </p:txBody>
      </p:sp>
      <p:sp>
        <p:nvSpPr>
          <p:cNvPr id="7" name="object 7"/>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endParaRPr/>
          </a:p>
        </p:txBody>
      </p:sp>
      <p:sp>
        <p:nvSpPr>
          <p:cNvPr id="9" name="Footer Placeholder 8">
            <a:extLst>
              <a:ext uri="{FF2B5EF4-FFF2-40B4-BE49-F238E27FC236}">
                <a16:creationId xmlns:a16="http://schemas.microsoft.com/office/drawing/2014/main" id="{3EED2D5B-13A0-4EB5-AB2C-911C4985DDE9}"/>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  AWS VPC: Security</a:t>
            </a:r>
          </a:p>
        </p:txBody>
      </p:sp>
      <p:sp>
        <p:nvSpPr>
          <p:cNvPr id="8" name="Content Placeholder 2"/>
          <p:cNvSpPr>
            <a:spLocks noGrp="1"/>
          </p:cNvSpPr>
          <p:nvPr>
            <p:ph idx="1"/>
          </p:nvPr>
        </p:nvSpPr>
        <p:spPr>
          <a:xfrm>
            <a:off x="531952" y="1036320"/>
            <a:ext cx="5945147" cy="1859281"/>
          </a:xfrm>
        </p:spPr>
        <p:txBody>
          <a:bodyPr>
            <a:normAutofit/>
          </a:bodyPr>
          <a:lstStyle/>
          <a:p>
            <a:pPr algn="just">
              <a:buFont typeface="Wingdings" panose="05000000000000000000" pitchFamily="2" charset="2"/>
              <a:buChar char="Ø"/>
            </a:pPr>
            <a:r>
              <a:rPr lang="en-US" sz="1800" dirty="0">
                <a:latin typeface="+mj-lt"/>
                <a:ea typeface="Verdana" panose="020B0604030504040204" pitchFamily="34" charset="0"/>
                <a:cs typeface="Verdana" panose="020B0604030504040204" pitchFamily="34" charset="0"/>
              </a:rPr>
              <a:t>VPC provides features to increase and monitor the security for your VPC:</a:t>
            </a:r>
          </a:p>
          <a:p>
            <a:pPr lvl="1" algn="just"/>
            <a:r>
              <a:rPr lang="en-US" sz="1800" dirty="0">
                <a:latin typeface="+mj-lt"/>
                <a:ea typeface="Verdana" panose="020B0604030504040204" pitchFamily="34" charset="0"/>
                <a:cs typeface="Verdana" panose="020B0604030504040204" pitchFamily="34" charset="0"/>
              </a:rPr>
              <a:t>Security Groups</a:t>
            </a:r>
          </a:p>
          <a:p>
            <a:pPr lvl="1" algn="just"/>
            <a:r>
              <a:rPr lang="en-US" sz="1800" dirty="0">
                <a:latin typeface="+mj-lt"/>
                <a:ea typeface="Verdana" panose="020B0604030504040204" pitchFamily="34" charset="0"/>
                <a:cs typeface="Verdana" panose="020B0604030504040204" pitchFamily="34" charset="0"/>
              </a:rPr>
              <a:t>Network Access Control Lists (ACLs)</a:t>
            </a:r>
          </a:p>
          <a:p>
            <a:pPr lvl="1" algn="just"/>
            <a:r>
              <a:rPr lang="en-US" sz="1800" dirty="0">
                <a:latin typeface="+mj-lt"/>
                <a:ea typeface="Verdana" panose="020B0604030504040204" pitchFamily="34" charset="0"/>
                <a:cs typeface="Verdana" panose="020B0604030504040204" pitchFamily="34" charset="0"/>
              </a:rPr>
              <a:t>Flow Logs</a:t>
            </a:r>
          </a:p>
          <a:p>
            <a:pPr marL="457200" lvl="1" indent="0" algn="just">
              <a:buNone/>
            </a:pPr>
            <a:endParaRPr lang="en-US" sz="18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endParaRPr lang="en-US" sz="1800" dirty="0">
              <a:latin typeface="+mj-lt"/>
              <a:ea typeface="Verdana" panose="020B0604030504040204" pitchFamily="34" charset="0"/>
              <a:cs typeface="Verdana" panose="020B0604030504040204" pitchFamily="34" charset="0"/>
            </a:endParaRPr>
          </a:p>
        </p:txBody>
      </p:sp>
      <p:graphicFrame>
        <p:nvGraphicFramePr>
          <p:cNvPr id="2" name="Table 1"/>
          <p:cNvGraphicFramePr>
            <a:graphicFrameLocks noGrp="1"/>
          </p:cNvGraphicFramePr>
          <p:nvPr/>
        </p:nvGraphicFramePr>
        <p:xfrm>
          <a:off x="760610" y="2885440"/>
          <a:ext cx="5716488" cy="2936240"/>
        </p:xfrm>
        <a:graphic>
          <a:graphicData uri="http://schemas.openxmlformats.org/drawingml/2006/table">
            <a:tbl>
              <a:tblPr firstRow="1" bandRow="1">
                <a:tableStyleId>{E8B1032C-EA38-4F05-BA0D-38AFFFC7BED3}</a:tableStyleId>
              </a:tblPr>
              <a:tblGrid>
                <a:gridCol w="2858244">
                  <a:extLst>
                    <a:ext uri="{9D8B030D-6E8A-4147-A177-3AD203B41FA5}">
                      <a16:colId xmlns:a16="http://schemas.microsoft.com/office/drawing/2014/main" val="20000"/>
                    </a:ext>
                  </a:extLst>
                </a:gridCol>
                <a:gridCol w="2858244">
                  <a:extLst>
                    <a:ext uri="{9D8B030D-6E8A-4147-A177-3AD203B41FA5}">
                      <a16:colId xmlns:a16="http://schemas.microsoft.com/office/drawing/2014/main" val="20001"/>
                    </a:ext>
                  </a:extLst>
                </a:gridCol>
              </a:tblGrid>
              <a:tr h="370840">
                <a:tc>
                  <a:txBody>
                    <a:bodyPr/>
                    <a:lstStyle/>
                    <a:p>
                      <a:pPr marL="50800" marR="314960">
                        <a:spcBef>
                          <a:spcPts val="330"/>
                        </a:spcBef>
                        <a:spcAft>
                          <a:spcPts val="0"/>
                        </a:spcAft>
                      </a:pPr>
                      <a:r>
                        <a:rPr lang="en-US" sz="1800" b="1" dirty="0">
                          <a:effectLst/>
                          <a:latin typeface="+mn-lt"/>
                          <a:ea typeface="Verdana" panose="020B0604030504040204" pitchFamily="34" charset="0"/>
                          <a:cs typeface="Verdana" panose="020B0604030504040204" pitchFamily="34" charset="0"/>
                        </a:rPr>
                        <a:t>Security Group</a:t>
                      </a:r>
                    </a:p>
                  </a:txBody>
                  <a:tcPr marL="0" marR="0" marT="0" marB="0"/>
                </a:tc>
                <a:tc>
                  <a:txBody>
                    <a:bodyPr/>
                    <a:lstStyle/>
                    <a:p>
                      <a:pPr marL="50800" marR="314960">
                        <a:spcBef>
                          <a:spcPts val="330"/>
                        </a:spcBef>
                        <a:spcAft>
                          <a:spcPts val="0"/>
                        </a:spcAft>
                      </a:pPr>
                      <a:r>
                        <a:rPr lang="en-US" sz="1800" b="1" dirty="0">
                          <a:effectLst/>
                          <a:latin typeface="+mn-lt"/>
                          <a:ea typeface="Verdana" panose="020B0604030504040204" pitchFamily="34" charset="0"/>
                          <a:cs typeface="Verdana" panose="020B0604030504040204" pitchFamily="34" charset="0"/>
                        </a:rPr>
                        <a:t>Network ACL</a:t>
                      </a:r>
                    </a:p>
                  </a:txBody>
                  <a:tcPr marL="0" marR="0" marT="0" marB="0"/>
                </a:tc>
                <a:extLst>
                  <a:ext uri="{0D108BD9-81ED-4DB2-BD59-A6C34878D82A}">
                    <a16:rowId xmlns:a16="http://schemas.microsoft.com/office/drawing/2014/main" val="10000"/>
                  </a:ext>
                </a:extLst>
              </a:tr>
              <a:tr h="370840">
                <a:tc>
                  <a:txBody>
                    <a:bodyPr/>
                    <a:lstStyle/>
                    <a:p>
                      <a:pPr marL="50800" marR="314960">
                        <a:spcBef>
                          <a:spcPts val="330"/>
                        </a:spcBef>
                        <a:spcAft>
                          <a:spcPts val="0"/>
                        </a:spcAft>
                      </a:pPr>
                      <a:r>
                        <a:rPr lang="en-US" sz="1800" dirty="0">
                          <a:effectLst/>
                          <a:latin typeface="+mn-lt"/>
                          <a:ea typeface="Verdana" panose="020B0604030504040204" pitchFamily="34" charset="0"/>
                          <a:cs typeface="Verdana" panose="020B0604030504040204" pitchFamily="34" charset="0"/>
                        </a:rPr>
                        <a:t>Operates at the instance level (ﬁrst layer of defense)</a:t>
                      </a:r>
                    </a:p>
                  </a:txBody>
                  <a:tcPr marL="0" marR="0" marT="0" marB="0"/>
                </a:tc>
                <a:tc>
                  <a:txBody>
                    <a:bodyPr/>
                    <a:lstStyle/>
                    <a:p>
                      <a:pPr marL="50800" marR="314960">
                        <a:spcBef>
                          <a:spcPts val="330"/>
                        </a:spcBef>
                        <a:spcAft>
                          <a:spcPts val="0"/>
                        </a:spcAft>
                      </a:pPr>
                      <a:r>
                        <a:rPr lang="en-US" sz="1800" dirty="0">
                          <a:effectLst/>
                          <a:latin typeface="+mn-lt"/>
                          <a:ea typeface="Verdana" panose="020B0604030504040204" pitchFamily="34" charset="0"/>
                          <a:cs typeface="Verdana" panose="020B0604030504040204" pitchFamily="34" charset="0"/>
                        </a:rPr>
                        <a:t>Operates at the subnet level (second layer of defense)</a:t>
                      </a:r>
                    </a:p>
                  </a:txBody>
                  <a:tcPr marL="0" marR="0" marT="0" marB="0"/>
                </a:tc>
                <a:extLst>
                  <a:ext uri="{0D108BD9-81ED-4DB2-BD59-A6C34878D82A}">
                    <a16:rowId xmlns:a16="http://schemas.microsoft.com/office/drawing/2014/main" val="10001"/>
                  </a:ext>
                </a:extLst>
              </a:tr>
              <a:tr h="370840">
                <a:tc>
                  <a:txBody>
                    <a:bodyPr/>
                    <a:lstStyle/>
                    <a:p>
                      <a:pPr marL="50800" marR="314960">
                        <a:spcBef>
                          <a:spcPts val="330"/>
                        </a:spcBef>
                        <a:spcAft>
                          <a:spcPts val="0"/>
                        </a:spcAft>
                      </a:pPr>
                      <a:r>
                        <a:rPr lang="en-US" sz="1800" dirty="0">
                          <a:effectLst/>
                          <a:latin typeface="+mn-lt"/>
                          <a:ea typeface="Verdana" panose="020B0604030504040204" pitchFamily="34" charset="0"/>
                          <a:cs typeface="Verdana" panose="020B0604030504040204" pitchFamily="34" charset="0"/>
                        </a:rPr>
                        <a:t>Supports allow rules only</a:t>
                      </a:r>
                    </a:p>
                  </a:txBody>
                  <a:tcPr marL="0" marR="0" marT="0" marB="0"/>
                </a:tc>
                <a:tc>
                  <a:txBody>
                    <a:bodyPr/>
                    <a:lstStyle/>
                    <a:p>
                      <a:pPr marL="50800" marR="314960">
                        <a:spcBef>
                          <a:spcPts val="330"/>
                        </a:spcBef>
                        <a:spcAft>
                          <a:spcPts val="0"/>
                        </a:spcAft>
                      </a:pPr>
                      <a:r>
                        <a:rPr lang="en-US" sz="1800" dirty="0">
                          <a:effectLst/>
                          <a:latin typeface="+mn-lt"/>
                          <a:ea typeface="Verdana" panose="020B0604030504040204" pitchFamily="34" charset="0"/>
                          <a:cs typeface="Verdana" panose="020B0604030504040204" pitchFamily="34" charset="0"/>
                        </a:rPr>
                        <a:t>Supports allow rules and deny rules</a:t>
                      </a:r>
                    </a:p>
                  </a:txBody>
                  <a:tcPr marL="0" marR="0" marT="0" marB="0"/>
                </a:tc>
                <a:extLst>
                  <a:ext uri="{0D108BD9-81ED-4DB2-BD59-A6C34878D82A}">
                    <a16:rowId xmlns:a16="http://schemas.microsoft.com/office/drawing/2014/main" val="10002"/>
                  </a:ext>
                </a:extLst>
              </a:tr>
              <a:tr h="370840">
                <a:tc>
                  <a:txBody>
                    <a:bodyPr/>
                    <a:lstStyle/>
                    <a:p>
                      <a:pPr marL="50800" marR="0">
                        <a:spcBef>
                          <a:spcPts val="330"/>
                        </a:spcBef>
                        <a:spcAft>
                          <a:spcPts val="0"/>
                        </a:spcAft>
                      </a:pPr>
                      <a:r>
                        <a:rPr lang="en-US" sz="1800" dirty="0">
                          <a:effectLst/>
                          <a:latin typeface="+mn-lt"/>
                          <a:ea typeface="Verdana" panose="020B0604030504040204" pitchFamily="34" charset="0"/>
                          <a:cs typeface="Verdana" panose="020B0604030504040204" pitchFamily="34" charset="0"/>
                        </a:rPr>
                        <a:t>Is stateful</a:t>
                      </a:r>
                    </a:p>
                  </a:txBody>
                  <a:tcPr marL="0" marR="0" marT="0" marB="0"/>
                </a:tc>
                <a:tc>
                  <a:txBody>
                    <a:bodyPr/>
                    <a:lstStyle/>
                    <a:p>
                      <a:pPr marL="50800" marR="314960">
                        <a:spcBef>
                          <a:spcPts val="330"/>
                        </a:spcBef>
                        <a:spcAft>
                          <a:spcPts val="0"/>
                        </a:spcAft>
                      </a:pPr>
                      <a:r>
                        <a:rPr lang="en-US" sz="1800" dirty="0">
                          <a:effectLst/>
                          <a:latin typeface="+mn-lt"/>
                          <a:ea typeface="Verdana" panose="020B0604030504040204" pitchFamily="34" charset="0"/>
                          <a:cs typeface="Verdana" panose="020B0604030504040204" pitchFamily="34" charset="0"/>
                        </a:rPr>
                        <a:t>Is stateless</a:t>
                      </a:r>
                    </a:p>
                  </a:txBody>
                  <a:tcPr marL="0" marR="0" marT="0" marB="0"/>
                </a:tc>
                <a:extLst>
                  <a:ext uri="{0D108BD9-81ED-4DB2-BD59-A6C34878D82A}">
                    <a16:rowId xmlns:a16="http://schemas.microsoft.com/office/drawing/2014/main" val="10003"/>
                  </a:ext>
                </a:extLst>
              </a:tr>
              <a:tr h="370840">
                <a:tc>
                  <a:txBody>
                    <a:bodyPr/>
                    <a:lstStyle/>
                    <a:p>
                      <a:pPr marL="50800" marR="104775">
                        <a:spcBef>
                          <a:spcPts val="330"/>
                        </a:spcBef>
                        <a:spcAft>
                          <a:spcPts val="0"/>
                        </a:spcAft>
                      </a:pPr>
                      <a:r>
                        <a:rPr lang="en-US" sz="1800" dirty="0">
                          <a:effectLst/>
                          <a:latin typeface="+mn-lt"/>
                          <a:ea typeface="Verdana" panose="020B0604030504040204" pitchFamily="34" charset="0"/>
                          <a:cs typeface="Verdana" panose="020B0604030504040204" pitchFamily="34" charset="0"/>
                        </a:rPr>
                        <a:t>Evaluate all rules before deciding whether to allow traﬃc</a:t>
                      </a:r>
                    </a:p>
                  </a:txBody>
                  <a:tcPr marL="0" marR="0" marT="0" marB="0"/>
                </a:tc>
                <a:tc>
                  <a:txBody>
                    <a:bodyPr/>
                    <a:lstStyle/>
                    <a:p>
                      <a:pPr marL="50800" marR="90805">
                        <a:spcBef>
                          <a:spcPts val="330"/>
                        </a:spcBef>
                        <a:spcAft>
                          <a:spcPts val="0"/>
                        </a:spcAft>
                      </a:pPr>
                      <a:r>
                        <a:rPr lang="en-US" sz="1800" spc="-15" dirty="0">
                          <a:effectLst/>
                          <a:latin typeface="+mn-lt"/>
                          <a:ea typeface="Verdana" panose="020B0604030504040204" pitchFamily="34" charset="0"/>
                          <a:cs typeface="Verdana" panose="020B0604030504040204" pitchFamily="34" charset="0"/>
                        </a:rPr>
                        <a:t>P</a:t>
                      </a:r>
                      <a:r>
                        <a:rPr lang="en-US" sz="1800" dirty="0">
                          <a:effectLst/>
                          <a:latin typeface="+mn-lt"/>
                          <a:ea typeface="Verdana" panose="020B0604030504040204" pitchFamily="34" charset="0"/>
                          <a:cs typeface="Verdana" panose="020B0604030504040204" pitchFamily="34" charset="0"/>
                        </a:rPr>
                        <a:t>rocess rules in number order when deciding whether to allow traﬃc</a:t>
                      </a:r>
                    </a:p>
                  </a:txBody>
                  <a:tcPr marL="0" marR="0" marT="0" marB="0"/>
                </a:tc>
                <a:extLst>
                  <a:ext uri="{0D108BD9-81ED-4DB2-BD59-A6C34878D82A}">
                    <a16:rowId xmlns:a16="http://schemas.microsoft.com/office/drawing/2014/main" val="10004"/>
                  </a:ext>
                </a:extLst>
              </a:tr>
            </a:tbl>
          </a:graphicData>
        </a:graphic>
      </p:graphicFrame>
      <p:pic>
        <p:nvPicPr>
          <p:cNvPr id="1027" name="Picture 3" descr="C:\Users\Kids\Desktop\A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198" y="1039957"/>
            <a:ext cx="4801850" cy="514640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a:extLst>
              <a:ext uri="{FF2B5EF4-FFF2-40B4-BE49-F238E27FC236}">
                <a16:creationId xmlns:a16="http://schemas.microsoft.com/office/drawing/2014/main" id="{788BD6EE-B8D9-480C-BA2B-85B4E317BE28}"/>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2593984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      AWS VPC: ACL Rules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709" y="914401"/>
            <a:ext cx="9527481" cy="5440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Footer Placeholder 2">
            <a:extLst>
              <a:ext uri="{FF2B5EF4-FFF2-40B4-BE49-F238E27FC236}">
                <a16:creationId xmlns:a16="http://schemas.microsoft.com/office/drawing/2014/main" id="{7351C1B6-E79D-4E37-B24B-97018349E74C}"/>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3397047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9" y="876300"/>
            <a:ext cx="10972801" cy="5105399"/>
          </a:xfrm>
        </p:spPr>
        <p:txBody>
          <a:bodyPr>
            <a:noAutofit/>
          </a:bodyPr>
          <a:lstStyle/>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VPC Flow Logs enables you to capture information about the IP traffic going to and from network interfaces in your VPC. </a:t>
            </a: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Flow log data is stored using Amazon CloudWatch Logs. </a:t>
            </a: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After you've created a ﬂow log, you can view and retrieve its data in Amazon CloudWatch Logs.</a:t>
            </a:r>
          </a:p>
          <a:p>
            <a:pPr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lgn="just">
              <a:buClr>
                <a:schemeClr val="tx1"/>
              </a:buCl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You can create a ﬂow log for:</a:t>
            </a:r>
          </a:p>
          <a:p>
            <a:pPr lvl="1" algn="just">
              <a:buClr>
                <a:schemeClr val="tx1"/>
              </a:buClr>
            </a:pPr>
            <a:r>
              <a:rPr lang="en-US" sz="2000" dirty="0">
                <a:latin typeface="+mj-lt"/>
                <a:ea typeface="Verdana" panose="020B0604030504040204" pitchFamily="34" charset="0"/>
                <a:cs typeface="Verdana" panose="020B0604030504040204" pitchFamily="34" charset="0"/>
              </a:rPr>
              <a:t>VPC</a:t>
            </a:r>
          </a:p>
          <a:p>
            <a:pPr lvl="1" algn="just">
              <a:buClr>
                <a:schemeClr val="tx1"/>
              </a:buClr>
            </a:pPr>
            <a:r>
              <a:rPr lang="en-US" sz="2000" dirty="0">
                <a:latin typeface="+mj-lt"/>
                <a:ea typeface="Verdana" panose="020B0604030504040204" pitchFamily="34" charset="0"/>
                <a:cs typeface="Verdana" panose="020B0604030504040204" pitchFamily="34" charset="0"/>
              </a:rPr>
              <a:t>Subnet</a:t>
            </a:r>
          </a:p>
          <a:p>
            <a:pPr lvl="1" algn="just">
              <a:buClr>
                <a:schemeClr val="tx1"/>
              </a:buClr>
            </a:pPr>
            <a:r>
              <a:rPr lang="en-US" sz="2000" dirty="0">
                <a:latin typeface="+mj-lt"/>
                <a:ea typeface="Verdana" panose="020B0604030504040204" pitchFamily="34" charset="0"/>
                <a:cs typeface="Verdana" panose="020B0604030504040204" pitchFamily="34" charset="0"/>
              </a:rPr>
              <a:t>Network Interface</a:t>
            </a:r>
          </a:p>
          <a:p>
            <a:pPr lvl="1"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a:p>
            <a:pPr>
              <a:buFont typeface="Wingdings" panose="05000000000000000000" pitchFamily="2" charset="2"/>
              <a:buChar char="Ø"/>
            </a:pPr>
            <a:r>
              <a:rPr lang="en-US" sz="2000" dirty="0">
                <a:latin typeface="+mj-lt"/>
                <a:ea typeface="Verdana" panose="020B0604030504040204" pitchFamily="34" charset="0"/>
                <a:cs typeface="Verdana" panose="020B0604030504040204" pitchFamily="34" charset="0"/>
              </a:rPr>
              <a:t>Flow log format:</a:t>
            </a:r>
          </a:p>
          <a:p>
            <a:pPr lvl="1" indent="-285750"/>
            <a:r>
              <a:rPr lang="en-US" sz="2000" dirty="0">
                <a:latin typeface="+mj-lt"/>
                <a:ea typeface="Verdana" panose="020B0604030504040204" pitchFamily="34" charset="0"/>
                <a:cs typeface="Verdana" panose="020B0604030504040204" pitchFamily="34" charset="0"/>
              </a:rPr>
              <a:t>version account-id </a:t>
            </a:r>
            <a:r>
              <a:rPr lang="en-US" sz="2000" dirty="0">
                <a:solidFill>
                  <a:srgbClr val="FF0000"/>
                </a:solidFill>
                <a:latin typeface="+mj-lt"/>
                <a:ea typeface="Verdana" panose="020B0604030504040204" pitchFamily="34" charset="0"/>
                <a:cs typeface="Verdana" panose="020B0604030504040204" pitchFamily="34" charset="0"/>
              </a:rPr>
              <a:t>interface-id </a:t>
            </a:r>
            <a:r>
              <a:rPr lang="en-US" sz="2000" dirty="0" err="1">
                <a:solidFill>
                  <a:schemeClr val="accent6">
                    <a:lumMod val="75000"/>
                  </a:schemeClr>
                </a:solidFill>
                <a:latin typeface="+mj-lt"/>
                <a:ea typeface="Verdana" panose="020B0604030504040204" pitchFamily="34" charset="0"/>
                <a:cs typeface="Verdana" panose="020B0604030504040204" pitchFamily="34" charset="0"/>
              </a:rPr>
              <a:t>srcaddr</a:t>
            </a:r>
            <a:r>
              <a:rPr lang="en-US" sz="2000" dirty="0">
                <a:latin typeface="+mj-lt"/>
                <a:ea typeface="Verdana" panose="020B0604030504040204" pitchFamily="34" charset="0"/>
                <a:cs typeface="Verdana" panose="020B0604030504040204" pitchFamily="34" charset="0"/>
              </a:rPr>
              <a:t> </a:t>
            </a:r>
            <a:r>
              <a:rPr lang="en-US" sz="2000" dirty="0" err="1">
                <a:solidFill>
                  <a:schemeClr val="accent6">
                    <a:lumMod val="75000"/>
                  </a:schemeClr>
                </a:solidFill>
                <a:latin typeface="+mj-lt"/>
                <a:ea typeface="Verdana" panose="020B0604030504040204" pitchFamily="34" charset="0"/>
                <a:cs typeface="Verdana" panose="020B0604030504040204" pitchFamily="34" charset="0"/>
              </a:rPr>
              <a:t>dstaddr</a:t>
            </a:r>
            <a:r>
              <a:rPr lang="en-US" sz="2000" dirty="0">
                <a:solidFill>
                  <a:schemeClr val="accent6">
                    <a:lumMod val="75000"/>
                  </a:schemeClr>
                </a:solidFill>
                <a:latin typeface="+mj-lt"/>
                <a:ea typeface="Verdana" panose="020B0604030504040204" pitchFamily="34" charset="0"/>
                <a:cs typeface="Verdana" panose="020B0604030504040204" pitchFamily="34" charset="0"/>
              </a:rPr>
              <a:t> </a:t>
            </a:r>
            <a:r>
              <a:rPr lang="en-US" sz="2000" dirty="0" err="1">
                <a:solidFill>
                  <a:srgbClr val="00B050"/>
                </a:solidFill>
                <a:latin typeface="+mj-lt"/>
                <a:ea typeface="Verdana" panose="020B0604030504040204" pitchFamily="34" charset="0"/>
                <a:cs typeface="Verdana" panose="020B0604030504040204" pitchFamily="34" charset="0"/>
              </a:rPr>
              <a:t>srcport</a:t>
            </a:r>
            <a:r>
              <a:rPr lang="en-US" sz="2000" dirty="0">
                <a:solidFill>
                  <a:srgbClr val="00B050"/>
                </a:solidFill>
                <a:latin typeface="+mj-lt"/>
                <a:ea typeface="Verdana" panose="020B0604030504040204" pitchFamily="34" charset="0"/>
                <a:cs typeface="Verdana" panose="020B0604030504040204" pitchFamily="34" charset="0"/>
              </a:rPr>
              <a:t> </a:t>
            </a:r>
            <a:r>
              <a:rPr lang="en-US" sz="2000" dirty="0" err="1">
                <a:solidFill>
                  <a:srgbClr val="00B050"/>
                </a:solidFill>
                <a:latin typeface="+mj-lt"/>
                <a:ea typeface="Verdana" panose="020B0604030504040204" pitchFamily="34" charset="0"/>
                <a:cs typeface="Verdana" panose="020B0604030504040204" pitchFamily="34" charset="0"/>
              </a:rPr>
              <a:t>dstport</a:t>
            </a:r>
            <a:r>
              <a:rPr lang="en-US" sz="2000" dirty="0">
                <a:latin typeface="+mj-lt"/>
                <a:ea typeface="Verdana" panose="020B0604030504040204" pitchFamily="34" charset="0"/>
                <a:cs typeface="Verdana" panose="020B0604030504040204" pitchFamily="34" charset="0"/>
              </a:rPr>
              <a:t> protocol packets bytes start end </a:t>
            </a:r>
            <a:r>
              <a:rPr lang="en-US" sz="2000" dirty="0">
                <a:solidFill>
                  <a:srgbClr val="0070C0"/>
                </a:solidFill>
                <a:latin typeface="+mj-lt"/>
                <a:ea typeface="Verdana" panose="020B0604030504040204" pitchFamily="34" charset="0"/>
                <a:cs typeface="Verdana" panose="020B0604030504040204" pitchFamily="34" charset="0"/>
              </a:rPr>
              <a:t>action</a:t>
            </a:r>
            <a:r>
              <a:rPr lang="en-US" sz="2000" dirty="0">
                <a:latin typeface="+mj-lt"/>
                <a:ea typeface="Verdana" panose="020B0604030504040204" pitchFamily="34" charset="0"/>
                <a:cs typeface="Verdana" panose="020B0604030504040204" pitchFamily="34" charset="0"/>
              </a:rPr>
              <a:t> log- status</a:t>
            </a:r>
          </a:p>
          <a:p>
            <a:pPr lvl="1" algn="just">
              <a:buClr>
                <a:schemeClr val="tx1"/>
              </a:buClr>
              <a:buFont typeface="Wingdings" panose="05000000000000000000" pitchFamily="2" charset="2"/>
              <a:buChar char="Ø"/>
            </a:pPr>
            <a:endParaRPr lang="en-US" sz="2000" dirty="0">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dirty="0">
                <a:ea typeface="Verdana" panose="020B0604030504040204" pitchFamily="34" charset="0"/>
                <a:cs typeface="Verdana" panose="020B0604030504040204" pitchFamily="34" charset="0"/>
              </a:rPr>
              <a:t> AWS VPC: Flow Logs</a:t>
            </a:r>
          </a:p>
        </p:txBody>
      </p:sp>
      <p:sp>
        <p:nvSpPr>
          <p:cNvPr id="5" name="Footer Placeholder 4">
            <a:extLst>
              <a:ext uri="{FF2B5EF4-FFF2-40B4-BE49-F238E27FC236}">
                <a16:creationId xmlns:a16="http://schemas.microsoft.com/office/drawing/2014/main" id="{25105662-6649-4638-9DDF-3BCA91E986D5}"/>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1047298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27088"/>
            <a:ext cx="11201400" cy="2133598"/>
          </a:xfrm>
        </p:spPr>
        <p:txBody>
          <a:bodyPr>
            <a:noAutofit/>
          </a:bodyPr>
          <a:lstStyle/>
          <a:p>
            <a:pPr>
              <a:buFont typeface="Wingdings" panose="05000000000000000000" pitchFamily="2" charset="2"/>
              <a:buChar char="Ø"/>
            </a:pPr>
            <a:r>
              <a:rPr lang="en-US" sz="1800" dirty="0"/>
              <a:t>VPC peering is a networking connection between two VPCs that enables you to route traffic between them.</a:t>
            </a:r>
          </a:p>
          <a:p>
            <a:pPr>
              <a:buFont typeface="Wingdings" panose="05000000000000000000" pitchFamily="2" charset="2"/>
              <a:buChar char="Ø"/>
            </a:pPr>
            <a:endParaRPr lang="en-US" sz="1800" dirty="0"/>
          </a:p>
          <a:p>
            <a:pPr>
              <a:buFont typeface="Wingdings" panose="05000000000000000000" pitchFamily="2" charset="2"/>
              <a:buChar char="Ø"/>
            </a:pPr>
            <a:r>
              <a:rPr lang="en-US" sz="1800" dirty="0"/>
              <a:t>Instances in either VPC can communicate with each other as if they are within the same network. </a:t>
            </a:r>
          </a:p>
          <a:p>
            <a:pPr>
              <a:buFont typeface="Wingdings" panose="05000000000000000000" pitchFamily="2" charset="2"/>
              <a:buChar char="Ø"/>
            </a:pPr>
            <a:endParaRPr lang="en-US" sz="1800" dirty="0"/>
          </a:p>
          <a:p>
            <a:pPr>
              <a:buFont typeface="Wingdings" panose="05000000000000000000" pitchFamily="2" charset="2"/>
              <a:buChar char="Ø"/>
            </a:pPr>
            <a:r>
              <a:rPr lang="en-US" sz="1800" dirty="0"/>
              <a:t>Create a VPC peering connection between own VPCs, or with a VPC in another AWS account. </a:t>
            </a:r>
          </a:p>
          <a:p>
            <a:pPr>
              <a:buFont typeface="Wingdings" panose="05000000000000000000" pitchFamily="2" charset="2"/>
              <a:buChar char="Ø"/>
            </a:pPr>
            <a:endParaRPr lang="en-US" sz="1800" dirty="0"/>
          </a:p>
          <a:p>
            <a:pPr>
              <a:buFont typeface="Wingdings" panose="05000000000000000000" pitchFamily="2" charset="2"/>
              <a:buChar char="Ø"/>
            </a:pPr>
            <a:r>
              <a:rPr lang="en-US" sz="1800" dirty="0"/>
              <a:t>VPCs can also be in other region.</a:t>
            </a:r>
          </a:p>
          <a:p>
            <a:pPr marL="285750" lvl="0" indent="-285750" algn="just">
              <a:buFont typeface="Wingdings" panose="05000000000000000000" pitchFamily="2" charset="2"/>
              <a:buChar char="q"/>
            </a:pPr>
            <a:endParaRPr lang="en-US" sz="1800" dirty="0">
              <a:latin typeface="+mj-lt"/>
              <a:ea typeface="Verdana" panose="020B0604030504040204" pitchFamily="34" charset="0"/>
              <a:cs typeface="Verdana" panose="020B0604030504040204" pitchFamily="34" charset="0"/>
            </a:endParaRPr>
          </a:p>
        </p:txBody>
      </p:sp>
      <p:sp>
        <p:nvSpPr>
          <p:cNvPr id="4" name="Title 1"/>
          <p:cNvSpPr>
            <a:spLocks noGrp="1"/>
          </p:cNvSpPr>
          <p:nvPr>
            <p:ph type="title"/>
          </p:nvPr>
        </p:nvSpPr>
        <p:spPr>
          <a:xfrm>
            <a:off x="609600" y="274638"/>
            <a:ext cx="10972801" cy="563562"/>
          </a:xfrm>
        </p:spPr>
        <p:txBody>
          <a:bodyPr>
            <a:noAutofit/>
          </a:bodyPr>
          <a:lstStyle/>
          <a:p>
            <a:pPr algn="l"/>
            <a:r>
              <a:rPr lang="en-US" sz="3200" b="1" dirty="0">
                <a:latin typeface="+mj-lt"/>
                <a:ea typeface="Verdana" panose="020B0604030504040204" pitchFamily="34" charset="0"/>
                <a:cs typeface="Verdana" panose="020B0604030504040204" pitchFamily="34" charset="0"/>
              </a:rPr>
              <a:t>AWS VPC: Peering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650" y="3513136"/>
            <a:ext cx="6172200" cy="30023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Footer Placeholder 4">
            <a:extLst>
              <a:ext uri="{FF2B5EF4-FFF2-40B4-BE49-F238E27FC236}">
                <a16:creationId xmlns:a16="http://schemas.microsoft.com/office/drawing/2014/main" id="{57E3D4E6-2652-4856-8348-9094886AF8DE}"/>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2562203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FA552-2E8B-4BFA-840A-475019D1C453}"/>
              </a:ext>
            </a:extLst>
          </p:cNvPr>
          <p:cNvSpPr>
            <a:spLocks noGrp="1"/>
          </p:cNvSpPr>
          <p:nvPr>
            <p:ph type="title"/>
          </p:nvPr>
        </p:nvSpPr>
        <p:spPr>
          <a:xfrm>
            <a:off x="1152525" y="326231"/>
            <a:ext cx="10515600" cy="1325563"/>
          </a:xfrm>
        </p:spPr>
        <p:txBody>
          <a:bodyPr/>
          <a:lstStyle/>
          <a:p>
            <a:r>
              <a:rPr lang="en-IN" dirty="0"/>
              <a:t>VPC Peering Connection Lifecycle</a:t>
            </a:r>
          </a:p>
        </p:txBody>
      </p:sp>
      <p:sp>
        <p:nvSpPr>
          <p:cNvPr id="4" name="Footer Placeholder 3">
            <a:extLst>
              <a:ext uri="{FF2B5EF4-FFF2-40B4-BE49-F238E27FC236}">
                <a16:creationId xmlns:a16="http://schemas.microsoft.com/office/drawing/2014/main" id="{9F619332-9F2A-461D-8E13-35A4FA35A0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26" name="Picture 2" descr="&#10;                            VPC peering connection lifecycle&#10;                        ">
            <a:extLst>
              <a:ext uri="{FF2B5EF4-FFF2-40B4-BE49-F238E27FC236}">
                <a16:creationId xmlns:a16="http://schemas.microsoft.com/office/drawing/2014/main" id="{087D4398-D249-40CC-B512-A44F39DCBC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71851" y="1848644"/>
            <a:ext cx="7900762" cy="4114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435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C430B-3664-47D4-8EDC-FB3B7FD68B11}"/>
              </a:ext>
            </a:extLst>
          </p:cNvPr>
          <p:cNvSpPr>
            <a:spLocks noGrp="1"/>
          </p:cNvSpPr>
          <p:nvPr>
            <p:ph type="title"/>
          </p:nvPr>
        </p:nvSpPr>
        <p:spPr>
          <a:xfrm>
            <a:off x="485775" y="264457"/>
            <a:ext cx="10515600" cy="1325563"/>
          </a:xfrm>
        </p:spPr>
        <p:txBody>
          <a:bodyPr/>
          <a:lstStyle/>
          <a:p>
            <a:r>
              <a:rPr lang="en-IN" dirty="0"/>
              <a:t>VPC Peering Limitations</a:t>
            </a:r>
          </a:p>
        </p:txBody>
      </p:sp>
      <p:sp>
        <p:nvSpPr>
          <p:cNvPr id="4" name="Footer Placeholder 3">
            <a:extLst>
              <a:ext uri="{FF2B5EF4-FFF2-40B4-BE49-F238E27FC236}">
                <a16:creationId xmlns:a16="http://schemas.microsoft.com/office/drawing/2014/main" id="{EB450637-FE4F-4CA4-B891-F2A21C24D2A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R GAAJULA- ALL COPYRIGHTS RESERVED</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0" name="Picture 2" descr="&#10;                One VPC peered with two VPCs&#10;            ">
            <a:extLst>
              <a:ext uri="{FF2B5EF4-FFF2-40B4-BE49-F238E27FC236}">
                <a16:creationId xmlns:a16="http://schemas.microsoft.com/office/drawing/2014/main" id="{A44C784F-12B4-4DAA-89D7-709FC31BA7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34424" y="2729705"/>
            <a:ext cx="3189678" cy="18708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EE0D75E-020C-45A0-8F4D-4D3CC5D1B8DF}"/>
              </a:ext>
            </a:extLst>
          </p:cNvPr>
          <p:cNvSpPr txBox="1"/>
          <p:nvPr/>
        </p:nvSpPr>
        <p:spPr>
          <a:xfrm>
            <a:off x="409575" y="1955145"/>
            <a:ext cx="8248650" cy="440120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A VPC peering connection is a one to one relationship between two VPCs.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One cannot create a VPC peering connection between VPCs that have matching or overlapping IPv4 or IPv6 CIDR blocks.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There is a quota on the number of active and pending VPC peering connections that you can have per VPC.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VPC peering does not support transitive peering relationships. In a VPC peering connection, your VPC does not have access to any other VPCs with which the peer VPC may be peered.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You cannot have more than one VPC peering connection between the same two VPCs at the same time.</a:t>
            </a:r>
            <a:endParaRPr kumimoji="0" lang="en-IN"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392801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D09E-6C31-4D32-B26D-1B9BF0D77183}"/>
              </a:ext>
            </a:extLst>
          </p:cNvPr>
          <p:cNvSpPr>
            <a:spLocks noGrp="1"/>
          </p:cNvSpPr>
          <p:nvPr>
            <p:ph type="title"/>
          </p:nvPr>
        </p:nvSpPr>
        <p:spPr>
          <a:xfrm>
            <a:off x="666750" y="59531"/>
            <a:ext cx="10515600" cy="539750"/>
          </a:xfrm>
        </p:spPr>
        <p:txBody>
          <a:bodyPr>
            <a:normAutofit fontScale="90000"/>
          </a:bodyPr>
          <a:lstStyle/>
          <a:p>
            <a:r>
              <a:rPr lang="en-IN" dirty="0"/>
              <a:t>                                   Quiz</a:t>
            </a:r>
          </a:p>
        </p:txBody>
      </p:sp>
      <p:sp>
        <p:nvSpPr>
          <p:cNvPr id="3" name="Content Placeholder 2">
            <a:extLst>
              <a:ext uri="{FF2B5EF4-FFF2-40B4-BE49-F238E27FC236}">
                <a16:creationId xmlns:a16="http://schemas.microsoft.com/office/drawing/2014/main" id="{503A6464-8EBA-4FAF-A1EC-A5A0D27FAD36}"/>
              </a:ext>
            </a:extLst>
          </p:cNvPr>
          <p:cNvSpPr>
            <a:spLocks noGrp="1"/>
          </p:cNvSpPr>
          <p:nvPr>
            <p:ph idx="1"/>
          </p:nvPr>
        </p:nvSpPr>
        <p:spPr>
          <a:xfrm>
            <a:off x="276225" y="742950"/>
            <a:ext cx="11915775" cy="5327253"/>
          </a:xfrm>
        </p:spPr>
        <p:txBody>
          <a:bodyPr>
            <a:noAutofit/>
          </a:bodyPr>
          <a:lstStyle/>
          <a:p>
            <a:pPr marL="0" indent="0">
              <a:buNone/>
            </a:pPr>
            <a:r>
              <a:rPr lang="en-US" sz="1800" dirty="0">
                <a:latin typeface="+mj-lt"/>
              </a:rPr>
              <a:t>1. You have created a VPC with the CIDR block 10.0.0.0/16 and have created a public subnet and a private subnet, 10.0.0.0/24 and 10.0.1.0/24, respectively, within it. Which entries should be present in the main route table to allow the instances in VPC to communicate with each other?</a:t>
            </a:r>
          </a:p>
          <a:p>
            <a:pPr marL="342900" indent="-342900">
              <a:buFont typeface="+mj-lt"/>
              <a:buAutoNum type="alphaLcPeriod"/>
            </a:pPr>
            <a:r>
              <a:rPr lang="en-US" sz="1800" dirty="0">
                <a:latin typeface="+mj-lt"/>
              </a:rPr>
              <a:t>Destination: 10.0.0.0/24 and Target VPC</a:t>
            </a:r>
          </a:p>
          <a:p>
            <a:pPr marL="342900" indent="-342900">
              <a:buFont typeface="+mj-lt"/>
              <a:buAutoNum type="alphaLcPeriod"/>
            </a:pPr>
            <a:r>
              <a:rPr lang="en-US" sz="1800" dirty="0">
                <a:latin typeface="+mj-lt"/>
              </a:rPr>
              <a:t>Destination: 10.0.0.0/16 and Target ALL</a:t>
            </a:r>
          </a:p>
          <a:p>
            <a:pPr marL="342900" indent="-342900">
              <a:buFont typeface="+mj-lt"/>
              <a:buAutoNum type="alphaLcPeriod"/>
            </a:pPr>
            <a:r>
              <a:rPr lang="en-US" sz="1800" dirty="0">
                <a:latin typeface="+mj-lt"/>
              </a:rPr>
              <a:t>Destination: 10.0.0.0/0 and Target ALL</a:t>
            </a:r>
          </a:p>
          <a:p>
            <a:pPr marL="342900" indent="-342900">
              <a:buFont typeface="+mj-lt"/>
              <a:buAutoNum type="alphaLcPeriod"/>
            </a:pPr>
            <a:r>
              <a:rPr lang="en-US" sz="1800" dirty="0">
                <a:latin typeface="+mj-lt"/>
              </a:rPr>
              <a:t>Destination: 10.0.0.0/16 and Target Local</a:t>
            </a:r>
          </a:p>
          <a:p>
            <a:pPr marL="0" indent="0">
              <a:buNone/>
            </a:pPr>
            <a:endParaRPr lang="en-US" sz="1800" dirty="0">
              <a:latin typeface="+mj-lt"/>
            </a:endParaRPr>
          </a:p>
          <a:p>
            <a:pPr marL="0" indent="0">
              <a:buNone/>
            </a:pPr>
            <a:r>
              <a:rPr lang="en-US" sz="1800" dirty="0">
                <a:latin typeface="+mj-lt"/>
              </a:rPr>
              <a:t>2. You have been tasked with auditing the security of your VPC. As part of this process, you need to start by analyzing what trafﬁc is allowed to and from various EC2 instances. What two parts of the VPC do you need to check to accomplish this task?</a:t>
            </a:r>
          </a:p>
          <a:p>
            <a:pPr marL="342900" indent="-342900">
              <a:buFont typeface="+mj-lt"/>
              <a:buAutoNum type="alphaLcPeriod"/>
            </a:pPr>
            <a:r>
              <a:rPr lang="en-US" sz="1800" dirty="0">
                <a:latin typeface="+mj-lt"/>
              </a:rPr>
              <a:t>NACLs and Subnets</a:t>
            </a:r>
          </a:p>
          <a:p>
            <a:pPr marL="342900" indent="-342900">
              <a:buFont typeface="+mj-lt"/>
              <a:buAutoNum type="alphaLcPeriod"/>
            </a:pPr>
            <a:r>
              <a:rPr lang="en-US" sz="1800" dirty="0">
                <a:latin typeface="+mj-lt"/>
              </a:rPr>
              <a:t>Security Groups and Internet Gateways</a:t>
            </a:r>
          </a:p>
          <a:p>
            <a:pPr marL="342900" indent="-342900">
              <a:buFont typeface="+mj-lt"/>
              <a:buAutoNum type="alphaLcPeriod"/>
            </a:pPr>
            <a:r>
              <a:rPr lang="en-US" sz="1800" dirty="0">
                <a:latin typeface="+mj-lt"/>
              </a:rPr>
              <a:t>NACLs and Route Tables</a:t>
            </a:r>
          </a:p>
          <a:p>
            <a:pPr marL="342900" indent="-342900">
              <a:buFont typeface="+mj-lt"/>
              <a:buAutoNum type="alphaLcPeriod"/>
            </a:pPr>
            <a:r>
              <a:rPr lang="en-US" sz="1800" dirty="0">
                <a:latin typeface="+mj-lt"/>
              </a:rPr>
              <a:t>Security Groups and NACLs</a:t>
            </a:r>
          </a:p>
          <a:p>
            <a:pPr marL="0" indent="0">
              <a:buNone/>
            </a:pPr>
            <a:endParaRPr lang="en-US" sz="1800" dirty="0">
              <a:latin typeface="+mj-lt"/>
            </a:endParaRPr>
          </a:p>
          <a:p>
            <a:pPr marL="0" indent="0">
              <a:buNone/>
            </a:pPr>
            <a:endParaRPr lang="en-US" sz="1800" dirty="0">
              <a:latin typeface="+mj-lt"/>
            </a:endParaRPr>
          </a:p>
          <a:p>
            <a:pPr marL="0" indent="0">
              <a:buNone/>
            </a:pPr>
            <a:endParaRPr lang="en-US" sz="1800" dirty="0">
              <a:latin typeface="+mj-lt"/>
            </a:endParaRPr>
          </a:p>
          <a:p>
            <a:pPr marL="0" indent="0">
              <a:buNone/>
            </a:pPr>
            <a:endParaRPr lang="en-US" sz="1800" dirty="0">
              <a:latin typeface="+mj-lt"/>
            </a:endParaRPr>
          </a:p>
          <a:p>
            <a:pPr marL="0" indent="0">
              <a:buNone/>
            </a:pPr>
            <a:endParaRPr lang="en-US" sz="1800" dirty="0">
              <a:latin typeface="+mj-lt"/>
            </a:endParaRPr>
          </a:p>
        </p:txBody>
      </p:sp>
      <p:sp>
        <p:nvSpPr>
          <p:cNvPr id="4" name="Footer Placeholder 3">
            <a:extLst>
              <a:ext uri="{FF2B5EF4-FFF2-40B4-BE49-F238E27FC236}">
                <a16:creationId xmlns:a16="http://schemas.microsoft.com/office/drawing/2014/main" id="{B8CEE3D6-B294-4B92-B708-B0402150BE32}"/>
              </a:ext>
            </a:extLst>
          </p:cNvPr>
          <p:cNvSpPr>
            <a:spLocks noGrp="1"/>
          </p:cNvSpPr>
          <p:nvPr>
            <p:ph type="ftr" sz="quarter" idx="11"/>
          </p:nvPr>
        </p:nvSpPr>
        <p:spPr/>
        <p:txBody>
          <a:bodyPr/>
          <a:lstStyle/>
          <a:p>
            <a:r>
              <a:rPr lang="en-US" dirty="0"/>
              <a:t>CHAITANYA R GAAJULA- ALL COPYRIGHTS RESERVED</a:t>
            </a:r>
            <a:endParaRPr lang="en-IN" dirty="0"/>
          </a:p>
        </p:txBody>
      </p:sp>
    </p:spTree>
    <p:extLst>
      <p:ext uri="{BB962C8B-B14F-4D97-AF65-F5344CB8AC3E}">
        <p14:creationId xmlns:p14="http://schemas.microsoft.com/office/powerpoint/2010/main" val="3640948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C966-F5EA-471C-B47B-C578372F6882}"/>
              </a:ext>
            </a:extLst>
          </p:cNvPr>
          <p:cNvSpPr>
            <a:spLocks noGrp="1"/>
          </p:cNvSpPr>
          <p:nvPr>
            <p:ph type="title"/>
          </p:nvPr>
        </p:nvSpPr>
        <p:spPr>
          <a:xfrm>
            <a:off x="2028825" y="18255"/>
            <a:ext cx="10515600" cy="1325563"/>
          </a:xfrm>
        </p:spPr>
        <p:txBody>
          <a:bodyPr>
            <a:normAutofit/>
          </a:bodyPr>
          <a:lstStyle/>
          <a:p>
            <a:r>
              <a:rPr lang="en-IN" sz="3200" dirty="0"/>
              <a:t>Quiz</a:t>
            </a:r>
          </a:p>
        </p:txBody>
      </p:sp>
      <p:sp>
        <p:nvSpPr>
          <p:cNvPr id="3" name="Content Placeholder 2">
            <a:extLst>
              <a:ext uri="{FF2B5EF4-FFF2-40B4-BE49-F238E27FC236}">
                <a16:creationId xmlns:a16="http://schemas.microsoft.com/office/drawing/2014/main" id="{6700BAD6-7672-4CC8-A67D-814594C7C5B5}"/>
              </a:ext>
            </a:extLst>
          </p:cNvPr>
          <p:cNvSpPr>
            <a:spLocks noGrp="1"/>
          </p:cNvSpPr>
          <p:nvPr>
            <p:ph idx="1"/>
          </p:nvPr>
        </p:nvSpPr>
        <p:spPr>
          <a:xfrm>
            <a:off x="295275" y="1095376"/>
            <a:ext cx="11668125" cy="5081588"/>
          </a:xfrm>
        </p:spPr>
        <p:txBody>
          <a:bodyPr>
            <a:normAutofit fontScale="77500" lnSpcReduction="20000"/>
          </a:bodyPr>
          <a:lstStyle/>
          <a:p>
            <a:pPr marL="0" indent="0">
              <a:buNone/>
            </a:pPr>
            <a:r>
              <a:rPr lang="en-US" sz="2400" dirty="0">
                <a:latin typeface="+mj-lt"/>
              </a:rPr>
              <a:t>3.You have provisioned several EC2 instances into private subnets; however, you now have the problem of not being able to download any new software packages or updates. Which of the following provides the best solution? </a:t>
            </a:r>
          </a:p>
          <a:p>
            <a:pPr marL="457200" indent="-457200">
              <a:buFont typeface="+mj-lt"/>
              <a:buAutoNum type="alphaLcPeriod"/>
            </a:pPr>
            <a:r>
              <a:rPr lang="en-US" sz="2400" dirty="0">
                <a:latin typeface="+mj-lt"/>
              </a:rPr>
              <a:t>Create a bastion host in a public subnet to allow the instance in the private subnets with route to the internet.</a:t>
            </a:r>
          </a:p>
          <a:p>
            <a:pPr marL="457200" indent="-457200">
              <a:buFont typeface="+mj-lt"/>
              <a:buAutoNum type="alphaLcPeriod"/>
            </a:pPr>
            <a:r>
              <a:rPr lang="en-US" sz="2400" dirty="0">
                <a:latin typeface="+mj-lt"/>
              </a:rPr>
              <a:t>Create a NAT Gateway in a private subnet, then create a route to it in the route table associated with the private subnets.</a:t>
            </a:r>
          </a:p>
          <a:p>
            <a:pPr marL="457200" indent="-457200">
              <a:buFont typeface="+mj-lt"/>
              <a:buAutoNum type="alphaLcPeriod"/>
            </a:pPr>
            <a:r>
              <a:rPr lang="en-US" sz="2400" dirty="0">
                <a:latin typeface="+mj-lt"/>
              </a:rPr>
              <a:t>Change the associated route table of the private subnets to a route table with a route to an IGW, thus making the subnets public.</a:t>
            </a:r>
          </a:p>
          <a:p>
            <a:pPr marL="457200" indent="-457200">
              <a:buFont typeface="+mj-lt"/>
              <a:buAutoNum type="alphaLcPeriod"/>
            </a:pPr>
            <a:r>
              <a:rPr lang="en-US" sz="2400" dirty="0">
                <a:latin typeface="+mj-lt"/>
              </a:rPr>
              <a:t>Create a NAT Gateway in a public subnet and create a route to it in the route table associated with the private subnets.</a:t>
            </a:r>
          </a:p>
          <a:p>
            <a:pPr marL="457200" indent="-457200">
              <a:buFont typeface="+mj-lt"/>
              <a:buAutoNum type="alphaLcPeriod"/>
            </a:pPr>
            <a:endParaRPr lang="en-US" sz="2400" dirty="0">
              <a:latin typeface="+mj-lt"/>
            </a:endParaRPr>
          </a:p>
          <a:p>
            <a:pPr marL="0" indent="0">
              <a:buNone/>
            </a:pPr>
            <a:r>
              <a:rPr lang="en-US" sz="2400" dirty="0">
                <a:latin typeface="+mj-lt"/>
              </a:rPr>
              <a:t>4.You want to connect your on-premise data center to AWS using VPN. What things do you need to initiate a VPN connection?</a:t>
            </a:r>
          </a:p>
          <a:p>
            <a:pPr marL="342900" indent="-342900">
              <a:buFont typeface="+mj-lt"/>
              <a:buAutoNum type="alphaLcPeriod"/>
            </a:pPr>
            <a:r>
              <a:rPr lang="en-US" sz="2400" dirty="0">
                <a:latin typeface="+mj-lt"/>
              </a:rPr>
              <a:t>Internet gateway</a:t>
            </a:r>
          </a:p>
          <a:p>
            <a:pPr marL="342900" indent="-342900">
              <a:buFont typeface="+mj-lt"/>
              <a:buAutoNum type="alphaLcPeriod"/>
            </a:pPr>
            <a:r>
              <a:rPr lang="en-US" sz="2400" dirty="0">
                <a:latin typeface="+mj-lt"/>
              </a:rPr>
              <a:t>AWS Direct Connect</a:t>
            </a:r>
          </a:p>
          <a:p>
            <a:pPr marL="342900" indent="-342900">
              <a:buFont typeface="+mj-lt"/>
              <a:buAutoNum type="alphaLcPeriod"/>
            </a:pPr>
            <a:r>
              <a:rPr lang="en-US" sz="2400" dirty="0">
                <a:latin typeface="+mj-lt"/>
              </a:rPr>
              <a:t>Customer gateway &amp; AWS Direct Connect</a:t>
            </a:r>
          </a:p>
          <a:p>
            <a:pPr marL="342900" indent="-342900">
              <a:buFont typeface="+mj-lt"/>
              <a:buAutoNum type="alphaLcPeriod"/>
            </a:pPr>
            <a:r>
              <a:rPr lang="en-US" sz="2400" dirty="0">
                <a:latin typeface="+mj-lt"/>
              </a:rPr>
              <a:t>Customer gateway &amp; Virtual private gateway</a:t>
            </a:r>
            <a:endParaRPr lang="en-IN" sz="2400" dirty="0">
              <a:latin typeface="+mj-lt"/>
            </a:endParaRPr>
          </a:p>
          <a:p>
            <a:pPr marL="0" indent="0">
              <a:buNone/>
            </a:pPr>
            <a:endParaRPr lang="en-US" sz="2400" dirty="0">
              <a:latin typeface="+mj-lt"/>
            </a:endParaRPr>
          </a:p>
          <a:p>
            <a:pPr marL="0" indent="0">
              <a:buNone/>
            </a:pPr>
            <a:endParaRPr lang="en-IN" sz="2100" dirty="0">
              <a:latin typeface="+mj-lt"/>
            </a:endParaRPr>
          </a:p>
        </p:txBody>
      </p:sp>
      <p:sp>
        <p:nvSpPr>
          <p:cNvPr id="4" name="Footer Placeholder 3">
            <a:extLst>
              <a:ext uri="{FF2B5EF4-FFF2-40B4-BE49-F238E27FC236}">
                <a16:creationId xmlns:a16="http://schemas.microsoft.com/office/drawing/2014/main" id="{82AAA509-84AC-4FF7-9BC4-946209AE6465}"/>
              </a:ext>
            </a:extLst>
          </p:cNvPr>
          <p:cNvSpPr>
            <a:spLocks noGrp="1"/>
          </p:cNvSpPr>
          <p:nvPr>
            <p:ph type="ftr" sz="quarter" idx="11"/>
          </p:nvPr>
        </p:nvSpPr>
        <p:spPr/>
        <p:txBody>
          <a:bodyPr/>
          <a:lstStyle/>
          <a:p>
            <a:r>
              <a:rPr lang="en-US"/>
              <a:t>CHAITANYA R GAAJULA- ALL COPYRIGHTS RESERVED</a:t>
            </a:r>
            <a:endParaRPr lang="en-IN"/>
          </a:p>
        </p:txBody>
      </p:sp>
    </p:spTree>
    <p:extLst>
      <p:ext uri="{BB962C8B-B14F-4D97-AF65-F5344CB8AC3E}">
        <p14:creationId xmlns:p14="http://schemas.microsoft.com/office/powerpoint/2010/main" val="3055032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45616" y="3261995"/>
            <a:ext cx="2635885" cy="774700"/>
          </a:xfrm>
          <a:prstGeom prst="rect">
            <a:avLst/>
          </a:prstGeom>
        </p:spPr>
        <p:txBody>
          <a:bodyPr vert="horz" wrap="square" lIns="0" tIns="0" rIns="0" bIns="0" rtlCol="0">
            <a:spAutoFit/>
          </a:bodyPr>
          <a:lstStyle/>
          <a:p>
            <a:pPr marL="12700">
              <a:lnSpc>
                <a:spcPct val="100000"/>
              </a:lnSpc>
            </a:pPr>
            <a:r>
              <a:rPr sz="4800" b="1" spc="-5" dirty="0">
                <a:latin typeface="Calibri"/>
                <a:cs typeface="Calibri"/>
              </a:rPr>
              <a:t>Thank</a:t>
            </a:r>
            <a:r>
              <a:rPr sz="4800" b="1" spc="-80" dirty="0">
                <a:latin typeface="Calibri"/>
                <a:cs typeface="Calibri"/>
              </a:rPr>
              <a:t> </a:t>
            </a:r>
            <a:r>
              <a:rPr sz="4800" b="1" spc="-135" dirty="0">
                <a:latin typeface="Calibri"/>
                <a:cs typeface="Calibri"/>
              </a:rPr>
              <a:t>You</a:t>
            </a:r>
            <a:endParaRPr sz="4800">
              <a:latin typeface="Calibri"/>
              <a:cs typeface="Calibri"/>
            </a:endParaRPr>
          </a:p>
        </p:txBody>
      </p:sp>
      <p:sp>
        <p:nvSpPr>
          <p:cNvPr id="4" name="Footer Placeholder 3">
            <a:extLst>
              <a:ext uri="{FF2B5EF4-FFF2-40B4-BE49-F238E27FC236}">
                <a16:creationId xmlns:a16="http://schemas.microsoft.com/office/drawing/2014/main" id="{FE8F6D41-86DA-46C4-A36E-830789929C4C}"/>
              </a:ext>
            </a:extLst>
          </p:cNvPr>
          <p:cNvSpPr>
            <a:spLocks noGrp="1"/>
          </p:cNvSpPr>
          <p:nvPr>
            <p:ph type="ftr" sz="quarter" idx="11"/>
          </p:nvPr>
        </p:nvSpPr>
        <p:spPr/>
        <p:txBody>
          <a:bodyPr/>
          <a:lstStyle/>
          <a:p>
            <a:r>
              <a:rPr lang="en-US"/>
              <a:t>CHAITANYA R GAAJULA- ALL COPYRIGHTS RESERVED</a:t>
            </a: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1880</Words>
  <Application>Microsoft Office PowerPoint</Application>
  <PresentationFormat>Widescreen</PresentationFormat>
  <Paragraphs>244</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Carlito</vt:lpstr>
      <vt:lpstr>TeXGyreAdventor</vt:lpstr>
      <vt:lpstr>Wingdings</vt:lpstr>
      <vt:lpstr>Office Theme</vt:lpstr>
      <vt:lpstr>PowerPoint Presentation</vt:lpstr>
      <vt:lpstr>What is VPC</vt:lpstr>
      <vt:lpstr>VPC Features</vt:lpstr>
      <vt:lpstr>AWS VPC: Types</vt:lpstr>
      <vt:lpstr>Default Vs Non-Default VPC’s</vt:lpstr>
      <vt:lpstr>AWS VPC: Components</vt:lpstr>
      <vt:lpstr> Non-Default VPC</vt:lpstr>
      <vt:lpstr>AWS VPC: VPC and Subnet</vt:lpstr>
      <vt:lpstr>AWS VPC: Public Subnet</vt:lpstr>
      <vt:lpstr>AWS VPC: Private Subnet</vt:lpstr>
      <vt:lpstr>Route Tables</vt:lpstr>
      <vt:lpstr>Internet Gateway</vt:lpstr>
      <vt:lpstr>NAT Device</vt:lpstr>
      <vt:lpstr>PowerPoint Presentation</vt:lpstr>
      <vt:lpstr>Private, Dynamic Public and Elastic IP address</vt:lpstr>
      <vt:lpstr>  AWS VPC: Security</vt:lpstr>
      <vt:lpstr>      AWS VPC: ACL Rules</vt:lpstr>
      <vt:lpstr> AWS VPC: Flow Logs</vt:lpstr>
      <vt:lpstr>AWS VPC: Peering</vt:lpstr>
      <vt:lpstr>VPC Peering Connection Lifecycle</vt:lpstr>
      <vt:lpstr>VPC Peering Limitations</vt:lpstr>
      <vt:lpstr>                                   Quiz</vt:lpstr>
      <vt:lpstr>Quiz</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Chaitanya Gaajula</dc:creator>
  <cp:lastModifiedBy>Chaitanya Gaajula</cp:lastModifiedBy>
  <cp:revision>17</cp:revision>
  <dcterms:created xsi:type="dcterms:W3CDTF">2020-05-16T11:19:47Z</dcterms:created>
  <dcterms:modified xsi:type="dcterms:W3CDTF">2021-08-23T03:41:12Z</dcterms:modified>
</cp:coreProperties>
</file>