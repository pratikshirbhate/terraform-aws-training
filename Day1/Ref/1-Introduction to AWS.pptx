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9" r:id="rId2"/>
    <p:sldId id="310" r:id="rId3"/>
    <p:sldId id="296" r:id="rId4"/>
    <p:sldId id="297" r:id="rId5"/>
    <p:sldId id="298" r:id="rId6"/>
    <p:sldId id="299" r:id="rId7"/>
    <p:sldId id="300" r:id="rId8"/>
    <p:sldId id="338" r:id="rId9"/>
    <p:sldId id="313" r:id="rId10"/>
    <p:sldId id="314" r:id="rId11"/>
    <p:sldId id="316" r:id="rId12"/>
    <p:sldId id="318" r:id="rId13"/>
    <p:sldId id="319" r:id="rId14"/>
    <p:sldId id="320" r:id="rId15"/>
    <p:sldId id="321" r:id="rId16"/>
    <p:sldId id="322" r:id="rId17"/>
    <p:sldId id="325" r:id="rId18"/>
    <p:sldId id="324" r:id="rId19"/>
    <p:sldId id="332" r:id="rId20"/>
    <p:sldId id="333" r:id="rId21"/>
    <p:sldId id="334" r:id="rId22"/>
    <p:sldId id="335" r:id="rId23"/>
    <p:sldId id="337" r:id="rId24"/>
    <p:sldId id="339" r:id="rId25"/>
    <p:sldId id="256" r:id="rId26"/>
    <p:sldId id="257" r:id="rId27"/>
    <p:sldId id="259" r:id="rId28"/>
    <p:sldId id="260" r:id="rId29"/>
    <p:sldId id="265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kfduClKo+aG9VQVbJ/aoFQ==" hashData="yfir9b3rgbij9tPyBkJR4WnaGgaFrvSLH6yoHGdYOVijb16mBNOhQfAAqZUb2wtVjwbZ2qHhf8MxUnDU3DViK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CB26C-1AAF-469C-B592-8422DFA14F82}" type="datetimeFigureOut">
              <a:rPr lang="en-IN" smtClean="0"/>
              <a:t>22-06-2023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2B348-A86F-4000-BF92-CD33E8622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8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61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18F134-29C8-4065-8DE2-523326C76F3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01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2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A0AA-EDDA-409F-9A09-C8222ED36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BB12C-947B-4BD4-8850-EA6508611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F957-72A2-46CA-8441-650C0B014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A200E-D362-4E5B-8F17-482FDB3930CB}" type="datetime1">
              <a:rPr lang="en-IN" smtClean="0"/>
              <a:t>22-06-2023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DC58-1F4B-49D0-AA5B-F7BB5082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ED00-CE40-4FE2-B0BB-95758DC2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7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FA2B-9790-4F36-AA3F-E28B1A09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25494-3B88-4E88-BD3E-1D059FA46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CE114-B741-4C4D-A0D3-D2565DCC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B33C3-6EC4-4BE0-A13E-12EF7E20698F}" type="datetime1">
              <a:rPr lang="en-IN" smtClean="0"/>
              <a:t>22-06-2023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8082-2024-4C64-A24C-B1B2DE21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3C972-8560-4A4B-B192-96D5D4E3B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6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72AA-32DA-4C84-897C-6E62F46C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00739-00D3-47E4-8EEA-D6D66602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1117F-E108-4527-8DEC-40EDC97F7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719A-F894-429D-B13D-C3676E0035DF}" type="datetime1">
              <a:rPr lang="en-IN" smtClean="0"/>
              <a:t>22-06-2023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E6A6B-F9A8-460A-9EEC-ACECBCDA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C4274-9F63-4672-B209-4251A7B6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60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1B42-3327-49D5-9572-ED9DFEEE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FB1F-D693-4A55-BB84-39F1209FF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8B6F0-B060-41BF-AEC4-EC743718A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1C55C-EFFE-41F7-86E0-21939675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6CD1-C637-4E85-BD50-DF2E1295357E}" type="datetime1">
              <a:rPr lang="en-IN" smtClean="0"/>
              <a:t>22-06-2023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16ED2-0406-4809-9CE3-E14EBC2C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8F9AB-2F88-4C5E-8784-59EEB2CD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43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214E-71DB-4249-9EA9-286BE688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9E880-22A0-41E0-BE64-76D9054D5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95D4A-D1FB-4908-BE84-AEC991E8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FC8FA-084A-409C-8CFE-D5960D381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EEC5B-E769-4E9E-BA08-CEACA62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1B83ED-8B7A-4D14-BD3B-A7B7E3499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A61A-DF49-49D1-B4E8-846CE5E44332}" type="datetime1">
              <a:rPr lang="en-IN" smtClean="0"/>
              <a:t>22-06-2023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0B3A9-300C-4D32-B185-E88BFD29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BB001-A92B-4155-A983-B1795220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40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F915-5E09-45CF-BC55-9E403AA2F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945C65-2AE3-4E1C-A95B-6430A2A3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4794-2E40-4A1A-ABC4-64340B6B673F}" type="datetime1">
              <a:rPr lang="en-IN" smtClean="0"/>
              <a:t>22-06-2023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B1911-E88E-4E30-B677-8428BF4A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43EBA-5829-4F1E-BCC4-3175BF45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8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EACC4-78C0-49C9-AF65-C934D6F0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875A7-8E92-47E6-9896-C812AFEDAD6F}" type="datetime1">
              <a:rPr lang="en-IN" smtClean="0"/>
              <a:t>22-06-2023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10AB6-5F3B-43E5-839A-CEEF47A2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85147-008A-4E6F-9566-3E58D8B5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CC3E-C349-4C41-87AC-B99F081B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5F542-60D4-42D5-BB0C-A6A6CD63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4629F-D4BD-435D-9AAA-AB767800D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6DD53-02A9-40E5-B694-D4244CC9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1444-7821-4F36-B377-1C21F8D891F4}" type="datetime1">
              <a:rPr lang="en-IN" smtClean="0"/>
              <a:t>22-06-2023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2DA2C-7507-4316-BA7D-A28C33A2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68021-018A-4771-8D40-FE877144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65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5A0E-1B13-4832-8A44-0C9CF194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4E8E6-429F-4D5A-A85B-ACBABB797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B1D81-6CAE-41B0-9B17-7B80FF253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CE360-C7A0-4DD1-A4CA-422D38FA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CC8B-D13E-4406-A059-DFD1B0B15553}" type="datetime1">
              <a:rPr lang="en-IN" smtClean="0"/>
              <a:t>22-06-2023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2F6CB-6B5B-4A73-B80B-244B1A87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15A1C-130C-4EBB-8723-E82028C1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95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DBFD-A27A-4C72-9498-DE15FAD0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E4FB3-6E17-45D1-943D-1D67D289A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A1857-5A46-4F1A-9E70-3F4E07D9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B0C1-499D-4B20-8F1A-CF77E842EC66}" type="datetime1">
              <a:rPr lang="en-IN" smtClean="0"/>
              <a:t>22-06-2023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7EF67-1D66-49EB-82B9-A48E02AC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75BD4-9F73-4227-B9EC-0312F68D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45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7B535-2C80-4C3F-9965-D7A1FC50E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7F91D-3B97-45F5-B790-B7CD0A37E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64848-A8FA-4D9B-BA17-43C9B2179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84746-1261-4590-8382-0EA297C3C191}" type="datetime1">
              <a:rPr lang="en-IN" smtClean="0"/>
              <a:t>22-06-2023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6CBA-5B19-4E12-9A4F-66945F34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48B92-733D-4724-A712-ABBAC3F4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70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97AD3-9190-46EF-ABAB-FADF5189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C99D4-A825-48FC-8D5A-F52835E24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01B3D-C1F1-4771-A169-AC69AD518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D0136-2B1C-4B38-A7BC-9779CC2FCBE7}" type="datetime1">
              <a:rPr lang="en-IN" smtClean="0"/>
              <a:t>22-06-2023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EE1B-8177-422E-8909-6752DAD29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BD2EB-4AA0-48B9-8434-99DCE7F31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EA67-F362-4454-BE2C-AB2CAAB8C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4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.xml"/><Relationship Id="rId26" Type="http://schemas.openxmlformats.org/officeDocument/2006/relationships/image" Target="../media/image19.png"/><Relationship Id="rId39" Type="http://schemas.openxmlformats.org/officeDocument/2006/relationships/image" Target="../media/image32.png"/><Relationship Id="rId3" Type="http://schemas.openxmlformats.org/officeDocument/2006/relationships/tags" Target="../tags/tag3.xml"/><Relationship Id="rId21" Type="http://schemas.openxmlformats.org/officeDocument/2006/relationships/image" Target="../media/image14.emf"/><Relationship Id="rId34" Type="http://schemas.openxmlformats.org/officeDocument/2006/relationships/image" Target="../media/image27.emf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18.png"/><Relationship Id="rId33" Type="http://schemas.openxmlformats.org/officeDocument/2006/relationships/image" Target="../media/image26.emf"/><Relationship Id="rId38" Type="http://schemas.openxmlformats.org/officeDocument/2006/relationships/image" Target="../media/image31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3.png"/><Relationship Id="rId29" Type="http://schemas.openxmlformats.org/officeDocument/2006/relationships/image" Target="../media/image2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7.emf"/><Relationship Id="rId32" Type="http://schemas.openxmlformats.org/officeDocument/2006/relationships/image" Target="../media/image25.emf"/><Relationship Id="rId37" Type="http://schemas.openxmlformats.org/officeDocument/2006/relationships/image" Target="../media/image30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6.emf"/><Relationship Id="rId28" Type="http://schemas.openxmlformats.org/officeDocument/2006/relationships/image" Target="../media/image21.png"/><Relationship Id="rId36" Type="http://schemas.openxmlformats.org/officeDocument/2006/relationships/image" Target="../media/image29.emf"/><Relationship Id="rId10" Type="http://schemas.openxmlformats.org/officeDocument/2006/relationships/tags" Target="../tags/tag10.xml"/><Relationship Id="rId19" Type="http://schemas.openxmlformats.org/officeDocument/2006/relationships/image" Target="../media/image12.png"/><Relationship Id="rId31" Type="http://schemas.openxmlformats.org/officeDocument/2006/relationships/image" Target="../media/image24.e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5.png"/><Relationship Id="rId27" Type="http://schemas.openxmlformats.org/officeDocument/2006/relationships/image" Target="../media/image20.png"/><Relationship Id="rId30" Type="http://schemas.openxmlformats.org/officeDocument/2006/relationships/image" Target="../media/image23.png"/><Relationship Id="rId35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fre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li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getting-started/tools-sdks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926969"/>
            <a:ext cx="96774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  Introduction to AWS</a:t>
            </a:r>
            <a:endParaRPr lang="en-US" sz="4800" b="1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2A897-7A41-4D91-9AD8-2556CEE8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89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276600"/>
            <a:ext cx="967740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8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Overview of Cloud Computing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447C47-5154-4F66-A9DC-FCD8FE73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16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1"/>
            <a:ext cx="6096000" cy="5105399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Cloud computing </a:t>
            </a: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is the delivery of computing services - servers, storage, databases, networking, tools and software over the Internet. 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Cloud computing enables companies to consume a compute resource, such as a servers, storage or an application, as a utility like water or electricity, rather than having to build and maintain computing infrastructures in house.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Companies offering these computing services are called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cloud providers </a:t>
            </a: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and they  charge for cloud computing services based on usage.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What is Cloud Computing</a:t>
            </a:r>
          </a:p>
        </p:txBody>
      </p:sp>
      <p:pic>
        <p:nvPicPr>
          <p:cNvPr id="1026" name="Picture 2" descr="C:\Users\Kids\Desktop\cloud-comput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387" y="1295400"/>
            <a:ext cx="4692813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056080-A215-49B7-AA85-146DF06A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12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1"/>
            <a:ext cx="10898009" cy="5105399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Cloud computing is a model for enabling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Verdana" panose="020B0604030504040204" pitchFamily="34" charset="0"/>
                <a:cs typeface="Adobe Arabic" pitchFamily="18" charset="-78"/>
              </a:rPr>
              <a:t>ubiquitous</a:t>
            </a: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,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Verdana" panose="020B0604030504040204" pitchFamily="34" charset="0"/>
                <a:cs typeface="Adobe Arabic" pitchFamily="18" charset="-78"/>
              </a:rPr>
              <a:t>convenient</a:t>
            </a: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,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Verdana" panose="020B0604030504040204" pitchFamily="34" charset="0"/>
                <a:cs typeface="Adobe Arabic" pitchFamily="18" charset="-78"/>
              </a:rPr>
              <a:t>on-demand</a:t>
            </a: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 network access to a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Verdana" panose="020B0604030504040204" pitchFamily="34" charset="0"/>
                <a:cs typeface="Adobe Arabic" pitchFamily="18" charset="-78"/>
              </a:rPr>
              <a:t>shared  pool </a:t>
            </a: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of configurable computing resources (e.g., networks, servers, storage, applications, and services) that can be rapidly provisioned and released with minimal management effort or service provider interaction.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Adobe Arabic" pitchFamily="18" charset="-78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This cloud model is composed of </a:t>
            </a:r>
          </a:p>
          <a:p>
            <a:pPr lvl="1" algn="just">
              <a:buClr>
                <a:schemeClr val="tx1"/>
              </a:buClr>
            </a:pP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Five essential characteristics</a:t>
            </a:r>
          </a:p>
          <a:p>
            <a:pPr lvl="1" algn="just">
              <a:buClr>
                <a:schemeClr val="tx1"/>
              </a:buClr>
            </a:pP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Three service models</a:t>
            </a:r>
          </a:p>
          <a:p>
            <a:pPr lvl="1" algn="just">
              <a:buClr>
                <a:schemeClr val="tx1"/>
              </a:buClr>
            </a:pPr>
            <a:r>
              <a:rPr lang="en-US" sz="2200" dirty="0">
                <a:latin typeface="+mj-lt"/>
                <a:ea typeface="Verdana" panose="020B0604030504040204" pitchFamily="34" charset="0"/>
                <a:cs typeface="Adobe Arabic" pitchFamily="18" charset="-78"/>
              </a:rPr>
              <a:t>Four deployment models.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Cloud Computing: Definition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FC7834-2168-458D-82FF-8C44697E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18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Kids\Desktop\AWS Content Development\NI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052" y="1066800"/>
            <a:ext cx="8796948" cy="546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Cloud Computing: Definition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E997EC-5323-4178-841F-92F663DA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12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10" y="1219201"/>
            <a:ext cx="2286595" cy="5031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305" y="1219201"/>
            <a:ext cx="2311450" cy="5031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231901"/>
            <a:ext cx="2299937" cy="501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694" y="1219200"/>
            <a:ext cx="2300801" cy="504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Cloud Computing: On-premises vs Service Models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A9C06F-E6A1-4FA6-8571-5723D63B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13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Cloud Computing: Advantages &amp; Disadvantages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610" y="1295400"/>
            <a:ext cx="2743915" cy="1981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3267" y="3810000"/>
            <a:ext cx="2743915" cy="1981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Disadvantages</a:t>
            </a:r>
          </a:p>
        </p:txBody>
      </p:sp>
      <p:sp>
        <p:nvSpPr>
          <p:cNvPr id="9" name="Pentagon 8"/>
          <p:cNvSpPr/>
          <p:nvPr/>
        </p:nvSpPr>
        <p:spPr>
          <a:xfrm>
            <a:off x="3504525" y="1295400"/>
            <a:ext cx="6631127" cy="1981200"/>
          </a:xfrm>
          <a:prstGeom prst="homePlate">
            <a:avLst/>
          </a:prstGeom>
          <a:solidFill>
            <a:schemeClr val="accent6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33184" y="1570672"/>
            <a:ext cx="2210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Flexibility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Availability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Accessibility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Scalability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Multi-tenancy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20" y="1819870"/>
            <a:ext cx="2362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Disaster Recovery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Cost of ownership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Metered Services</a:t>
            </a:r>
          </a:p>
        </p:txBody>
      </p:sp>
      <p:sp>
        <p:nvSpPr>
          <p:cNvPr id="12" name="Pentagon 11"/>
          <p:cNvSpPr/>
          <p:nvPr/>
        </p:nvSpPr>
        <p:spPr>
          <a:xfrm>
            <a:off x="3504524" y="3810000"/>
            <a:ext cx="5716489" cy="1981200"/>
          </a:xfrm>
          <a:prstGeom prst="homePlate">
            <a:avLst/>
          </a:prstGeom>
          <a:solidFill>
            <a:schemeClr val="accent6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19163" y="4410670"/>
            <a:ext cx="3125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Downtime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Vulnerability to attack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23ABF5-2CCF-48A9-A098-553EC1F6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6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Cloud Computing: Cloud Computing Providers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F2C411-2130-4C21-8770-0F8E4883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pic>
        <p:nvPicPr>
          <p:cNvPr id="1026" name="Picture 2" descr="Cloud IaaS market share 2022">
            <a:extLst>
              <a:ext uri="{FF2B5EF4-FFF2-40B4-BE49-F238E27FC236}">
                <a16:creationId xmlns:a16="http://schemas.microsoft.com/office/drawing/2014/main" id="{9E6AF2E9-DDC1-C6DE-DBAC-7F432729B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08093"/>
            <a:ext cx="11294709" cy="478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401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8116" y="2490311"/>
            <a:ext cx="7176134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Overview of AWS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14624-9112-4E6B-A4BF-9019CCA6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2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143000"/>
            <a:ext cx="6310470" cy="5029199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Gartner June</a:t>
            </a:r>
            <a:r>
              <a:rPr lang="en-US" sz="2000">
                <a:latin typeface="+mj-lt"/>
              </a:rPr>
              <a:t>’ 2</a:t>
            </a:r>
            <a:r>
              <a:rPr lang="en-US" sz="2000" dirty="0">
                <a:latin typeface="+mj-lt"/>
              </a:rPr>
              <a:t>2</a:t>
            </a:r>
            <a:r>
              <a:rPr lang="en-US" sz="2000">
                <a:latin typeface="+mj-lt"/>
              </a:rPr>
              <a:t> </a:t>
            </a:r>
            <a:r>
              <a:rPr lang="en-US" sz="2000" dirty="0">
                <a:latin typeface="+mj-lt"/>
              </a:rPr>
              <a:t>magic quadrant for Cloud Infra, AWS is the leader in the Cloud Computing market. 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Gartner says, AWS is the most mature, enterprise-ready provider, with the deepest capabilities for governing a large number of users and resources.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AWS dominates the public cloud market with a 34% market share (Q2 2022).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AWS is the most popular public cloud infra platform, comprising 34 % of workloads (Q2 2017 report).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AWS certification is fast becoming the must have certificates for any IT professional working with Cloud.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Why AWS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5D6817-D260-4CBC-BBAC-84C0ADB2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300E50E-F9EC-B56C-F9EE-3B6D3D573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186" y="915729"/>
            <a:ext cx="4527033" cy="474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7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2"/>
            <a:ext cx="6539578" cy="2590799"/>
          </a:xfrm>
        </p:spPr>
        <p:txBody>
          <a:bodyPr>
            <a:noAutofit/>
          </a:bodyPr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Amazon Web Services (AWS) is a subsidiary of Amazon.com that provides on-demand cloud computing platforms to individuals, companies and governments, on a paid subscription basis.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+mj-lt"/>
              </a:rPr>
              <a:t>Enable businesses and developers to use web services to build scalable, sophisticated applications.</a:t>
            </a:r>
            <a:endParaRPr lang="en-US" sz="2200" dirty="0">
              <a:latin typeface="+mj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What is AWS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640243" y="1420476"/>
            <a:ext cx="3946460" cy="3589674"/>
            <a:chOff x="2326199" y="739538"/>
            <a:chExt cx="4050504" cy="3685272"/>
          </a:xfrm>
        </p:grpSpPr>
        <p:sp>
          <p:nvSpPr>
            <p:cNvPr id="6" name="Oval 5"/>
            <p:cNvSpPr/>
            <p:nvPr/>
          </p:nvSpPr>
          <p:spPr>
            <a:xfrm>
              <a:off x="2508278" y="739538"/>
              <a:ext cx="3868425" cy="3685272"/>
            </a:xfrm>
            <a:prstGeom prst="ellipse">
              <a:avLst/>
            </a:prstGeom>
            <a:solidFill>
              <a:schemeClr val="bg1"/>
            </a:solidFill>
            <a:ln w="57150" cmpd="sng"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7618" tIns="33832" rIns="67618" bIns="33832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" name="Picture 6" descr="AWS Cloud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6199" y="1047102"/>
              <a:ext cx="970101" cy="970101"/>
            </a:xfrm>
            <a:prstGeom prst="rect">
              <a:avLst/>
            </a:prstGeom>
          </p:spPr>
        </p:pic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4468073" y="2216019"/>
              <a:ext cx="1739354" cy="512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800" b="1" dirty="0">
                  <a:solidFill>
                    <a:srgbClr val="F29826"/>
                  </a:solidFill>
                  <a:latin typeface="Arial" charset="0"/>
                  <a:cs typeface="Arial" charset="0"/>
                </a:rPr>
                <a:t>Compute</a:t>
              </a: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2640730" y="2336767"/>
              <a:ext cx="1772259" cy="449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004B91"/>
                  </a:solidFill>
                  <a:latin typeface="Arial" charset="0"/>
                  <a:cs typeface="Arial" charset="0"/>
                </a:rPr>
                <a:t>Messaging</a:t>
              </a: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2936531" y="3227712"/>
              <a:ext cx="837749" cy="354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1" dirty="0">
                  <a:solidFill>
                    <a:srgbClr val="7F7F7F"/>
                  </a:solidFill>
                  <a:latin typeface="Arial" charset="0"/>
                  <a:cs typeface="Arial" charset="0"/>
                </a:rPr>
                <a:t>Mobile</a:t>
              </a: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534215" y="2708798"/>
              <a:ext cx="1305004" cy="29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 b="1" dirty="0">
                  <a:solidFill>
                    <a:srgbClr val="004B91"/>
                  </a:solidFill>
                  <a:latin typeface="Arial" charset="0"/>
                  <a:cs typeface="Arial" charset="0"/>
                </a:rPr>
                <a:t>App Services</a:t>
              </a:r>
              <a:endParaRPr lang="en-US" sz="1800" b="1" dirty="0">
                <a:solidFill>
                  <a:srgbClr val="004B9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2840119" y="2758792"/>
              <a:ext cx="1783776" cy="512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800" b="1" dirty="0">
                  <a:solidFill>
                    <a:srgbClr val="F29826"/>
                  </a:solidFill>
                  <a:latin typeface="Arial" charset="0"/>
                  <a:cs typeface="Arial" charset="0"/>
                </a:rPr>
                <a:t>Database</a:t>
              </a: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3792849" y="3248284"/>
              <a:ext cx="2149025" cy="512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800" b="1" i="1" dirty="0">
                  <a:solidFill>
                    <a:srgbClr val="004B91"/>
                  </a:solidFill>
                  <a:latin typeface="Arial" charset="0"/>
                  <a:cs typeface="Arial" charset="0"/>
                </a:rPr>
                <a:t>Networking</a:t>
              </a:r>
            </a:p>
          </p:txBody>
        </p:sp>
        <p:sp>
          <p:nvSpPr>
            <p:cNvPr id="14" name="TextBox 13"/>
            <p:cNvSpPr txBox="1">
              <a:spLocks noChangeArrowheads="1"/>
            </p:cNvSpPr>
            <p:nvPr/>
          </p:nvSpPr>
          <p:spPr bwMode="auto">
            <a:xfrm>
              <a:off x="3168057" y="1321046"/>
              <a:ext cx="2567217" cy="638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800" dirty="0">
                  <a:solidFill>
                    <a:srgbClr val="7F7F7F"/>
                  </a:solidFill>
                  <a:latin typeface="Arial" charset="0"/>
                  <a:cs typeface="Arial" charset="0"/>
                </a:rPr>
                <a:t>Development and Management Tools</a:t>
              </a:r>
            </a:p>
          </p:txBody>
        </p:sp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4796379" y="2983743"/>
              <a:ext cx="1076313" cy="32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7F7F7F"/>
                  </a:solidFill>
                  <a:latin typeface="Arial" charset="0"/>
                  <a:cs typeface="Arial" charset="0"/>
                </a:rPr>
                <a:t>Payments</a:t>
              </a:r>
            </a:p>
          </p:txBody>
        </p:sp>
        <p:sp>
          <p:nvSpPr>
            <p:cNvPr id="16" name="TextBox 15"/>
            <p:cNvSpPr txBox="1">
              <a:spLocks noChangeArrowheads="1"/>
            </p:cNvSpPr>
            <p:nvPr/>
          </p:nvSpPr>
          <p:spPr bwMode="auto">
            <a:xfrm>
              <a:off x="4232528" y="3979339"/>
              <a:ext cx="707773" cy="40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100" b="1" dirty="0">
                  <a:solidFill>
                    <a:srgbClr val="F29826"/>
                  </a:solidFill>
                  <a:latin typeface="Arial" charset="0"/>
                  <a:cs typeface="Arial" charset="0"/>
                </a:rPr>
                <a:t>VPC</a:t>
              </a:r>
            </a:p>
          </p:txBody>
        </p: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3407542" y="3733673"/>
              <a:ext cx="2303153" cy="32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4B91"/>
                  </a:solidFill>
                  <a:latin typeface="Arial" charset="0"/>
                  <a:cs typeface="Arial" charset="0"/>
                </a:rPr>
                <a:t>On-Demand Workforce</a:t>
              </a:r>
            </a:p>
          </p:txBody>
        </p: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2773853" y="2048374"/>
              <a:ext cx="1087829" cy="354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1" dirty="0">
                  <a:solidFill>
                    <a:srgbClr val="7F7F7F"/>
                  </a:solidFill>
                  <a:latin typeface="Arial" charset="0"/>
                  <a:cs typeface="Arial" charset="0"/>
                </a:rPr>
                <a:t>Analytics</a:t>
              </a:r>
            </a:p>
          </p:txBody>
        </p: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4009012" y="1915657"/>
              <a:ext cx="2178640" cy="40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100" dirty="0">
                  <a:solidFill>
                    <a:srgbClr val="004B91"/>
                  </a:solidFill>
                  <a:latin typeface="Arial" charset="0"/>
                  <a:cs typeface="Arial" charset="0"/>
                </a:rPr>
                <a:t>Content Delivery</a:t>
              </a:r>
            </a:p>
          </p:txBody>
        </p: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3798186" y="849012"/>
              <a:ext cx="1513953" cy="512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618" tIns="33832" rIns="67618" bIns="33832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800" b="1" dirty="0">
                  <a:solidFill>
                    <a:srgbClr val="F29826"/>
                  </a:solidFill>
                  <a:latin typeface="Arial" charset="0"/>
                  <a:cs typeface="Arial" charset="0"/>
                </a:rPr>
                <a:t>Storage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216" y="3991909"/>
            <a:ext cx="3738664" cy="242405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7E8B49-9ECF-4FEA-ADE9-0694982A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509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Benefits</a:t>
            </a:r>
          </a:p>
        </p:txBody>
      </p:sp>
      <p:sp>
        <p:nvSpPr>
          <p:cNvPr id="2" name="Rectangle 1"/>
          <p:cNvSpPr/>
          <p:nvPr/>
        </p:nvSpPr>
        <p:spPr>
          <a:xfrm>
            <a:off x="836830" y="5105400"/>
            <a:ext cx="10518339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Go global in minutes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830" y="4343400"/>
            <a:ext cx="10518339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Stop spending money running and maintaining data centers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830" y="2819400"/>
            <a:ext cx="10518339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Increase speed and agility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830" y="3581400"/>
            <a:ext cx="10518339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Stop guessing about capacity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764" y="2057400"/>
            <a:ext cx="10518339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Benefit from massive economies of scale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983" y="1295400"/>
            <a:ext cx="10518339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Trade capital expense for variable expense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2D56F-0F81-4976-B1F2-016BEE8E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980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http://www.northeastern.edu/levelblog/wp-content/uploads/2017/05/AWS-icon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31" y="952468"/>
            <a:ext cx="11128098" cy="544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Services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AE896B-8ADA-4E95-BA0B-3E908278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27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 txBox="1">
            <a:spLocks/>
          </p:cNvSpPr>
          <p:nvPr/>
        </p:nvSpPr>
        <p:spPr>
          <a:xfrm>
            <a:off x="426858" y="5182322"/>
            <a:ext cx="7659485" cy="252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AWS Technical Essentials 3.8 ILT</a:t>
            </a:r>
            <a:endParaRPr lang="en-US" sz="1000" dirty="0"/>
          </a:p>
        </p:txBody>
      </p:sp>
      <p:sp>
        <p:nvSpPr>
          <p:cNvPr id="5" name="Rectangle 4"/>
          <p:cNvSpPr/>
          <p:nvPr/>
        </p:nvSpPr>
        <p:spPr>
          <a:xfrm>
            <a:off x="884770" y="2717734"/>
            <a:ext cx="4029862" cy="1041292"/>
          </a:xfrm>
          <a:prstGeom prst="rect">
            <a:avLst/>
          </a:prstGeom>
          <a:solidFill>
            <a:schemeClr val="bg1"/>
          </a:solidFill>
          <a:ln>
            <a:solidFill>
              <a:srgbClr val="4140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7946" y="1479484"/>
            <a:ext cx="4029862" cy="1039833"/>
          </a:xfrm>
          <a:prstGeom prst="rect">
            <a:avLst/>
          </a:prstGeom>
          <a:solidFill>
            <a:schemeClr val="bg1"/>
          </a:solidFill>
          <a:ln>
            <a:solidFill>
              <a:srgbClr val="4140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cs typeface="Arial" pitchFamily="34" charset="0"/>
            </a:endParaRPr>
          </a:p>
        </p:txBody>
      </p:sp>
      <p:pic>
        <p:nvPicPr>
          <p:cNvPr id="7" name="Picture 3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1670" y="3187634"/>
            <a:ext cx="722001" cy="451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0336" y="1882708"/>
            <a:ext cx="631751" cy="535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10330" y="1868421"/>
            <a:ext cx="423783" cy="54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0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55563" y="3159059"/>
            <a:ext cx="684722" cy="498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67688" y="3092383"/>
            <a:ext cx="1630388" cy="692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420" y="1803334"/>
            <a:ext cx="388468" cy="613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9901" y="1893820"/>
            <a:ext cx="633713" cy="53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18609" y="1836670"/>
            <a:ext cx="423783" cy="54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1441" y="1814446"/>
            <a:ext cx="388468" cy="61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5778410" y="2770773"/>
            <a:ext cx="4029862" cy="1039834"/>
          </a:xfrm>
          <a:prstGeom prst="rect">
            <a:avLst/>
          </a:prstGeom>
          <a:solidFill>
            <a:schemeClr val="bg1"/>
          </a:solidFill>
          <a:ln>
            <a:solidFill>
              <a:srgbClr val="4140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40610" y="1476309"/>
            <a:ext cx="4029862" cy="1039833"/>
          </a:xfrm>
          <a:prstGeom prst="rect">
            <a:avLst/>
          </a:prstGeom>
          <a:solidFill>
            <a:schemeClr val="bg1"/>
          </a:solidFill>
          <a:ln>
            <a:solidFill>
              <a:srgbClr val="4140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cs typeface="Arial" pitchFamily="34" charset="0"/>
            </a:endParaRPr>
          </a:p>
        </p:txBody>
      </p:sp>
      <p:sp>
        <p:nvSpPr>
          <p:cNvPr id="18" name="TextBox 142"/>
          <p:cNvSpPr txBox="1">
            <a:spLocks noChangeArrowheads="1"/>
          </p:cNvSpPr>
          <p:nvPr/>
        </p:nvSpPr>
        <p:spPr bwMode="auto">
          <a:xfrm>
            <a:off x="1696193" y="1511233"/>
            <a:ext cx="17893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b="1" dirty="0">
                <a:latin typeface="+mn-lt"/>
              </a:rPr>
              <a:t>Security</a:t>
            </a:r>
          </a:p>
        </p:txBody>
      </p:sp>
      <p:sp>
        <p:nvSpPr>
          <p:cNvPr id="19" name="TextBox 143"/>
          <p:cNvSpPr txBox="1">
            <a:spLocks noChangeArrowheads="1"/>
          </p:cNvSpPr>
          <p:nvPr/>
        </p:nvSpPr>
        <p:spPr bwMode="auto">
          <a:xfrm>
            <a:off x="1715248" y="2724083"/>
            <a:ext cx="17893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b="1" dirty="0">
                <a:latin typeface="+mn-lt"/>
              </a:rPr>
              <a:t>Network</a:t>
            </a:r>
          </a:p>
        </p:txBody>
      </p:sp>
      <p:pic>
        <p:nvPicPr>
          <p:cNvPr id="20" name="Picture 15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5742" y="1879534"/>
            <a:ext cx="631751" cy="53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5735" y="1865245"/>
            <a:ext cx="423783" cy="54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5825" y="1800159"/>
            <a:ext cx="388468" cy="61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156"/>
          <p:cNvSpPr txBox="1">
            <a:spLocks noChangeArrowheads="1"/>
          </p:cNvSpPr>
          <p:nvPr/>
        </p:nvSpPr>
        <p:spPr bwMode="auto">
          <a:xfrm>
            <a:off x="6661599" y="1508058"/>
            <a:ext cx="17893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b="1" dirty="0">
                <a:latin typeface="+mn-lt"/>
              </a:rPr>
              <a:t>Security</a:t>
            </a:r>
          </a:p>
        </p:txBody>
      </p:sp>
      <p:sp>
        <p:nvSpPr>
          <p:cNvPr id="24" name="TextBox 157"/>
          <p:cNvSpPr txBox="1">
            <a:spLocks noChangeArrowheads="1"/>
          </p:cNvSpPr>
          <p:nvPr/>
        </p:nvSpPr>
        <p:spPr bwMode="auto">
          <a:xfrm>
            <a:off x="6871874" y="2775536"/>
            <a:ext cx="17893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b="1" dirty="0">
                <a:latin typeface="+mn-lt"/>
              </a:rPr>
              <a:t>Network</a:t>
            </a:r>
          </a:p>
        </p:txBody>
      </p:sp>
      <p:sp>
        <p:nvSpPr>
          <p:cNvPr id="25" name="TextBox 160"/>
          <p:cNvSpPr txBox="1">
            <a:spLocks noChangeArrowheads="1"/>
          </p:cNvSpPr>
          <p:nvPr/>
        </p:nvSpPr>
        <p:spPr bwMode="auto">
          <a:xfrm>
            <a:off x="5766015" y="2268471"/>
            <a:ext cx="159311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 dirty="0">
                <a:latin typeface="+mn-lt"/>
                <a:cs typeface="Arial" charset="0"/>
              </a:rPr>
              <a:t>Security Groups</a:t>
            </a:r>
          </a:p>
        </p:txBody>
      </p:sp>
      <p:sp>
        <p:nvSpPr>
          <p:cNvPr id="26" name="TextBox 161"/>
          <p:cNvSpPr txBox="1">
            <a:spLocks noChangeArrowheads="1"/>
          </p:cNvSpPr>
          <p:nvPr/>
        </p:nvSpPr>
        <p:spPr bwMode="auto">
          <a:xfrm>
            <a:off x="7085571" y="2276410"/>
            <a:ext cx="83187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 dirty="0">
                <a:latin typeface="+mn-lt"/>
                <a:cs typeface="Arial" charset="0"/>
              </a:rPr>
              <a:t>NACLs</a:t>
            </a:r>
          </a:p>
        </p:txBody>
      </p:sp>
      <p:sp>
        <p:nvSpPr>
          <p:cNvPr id="27" name="TextBox 162"/>
          <p:cNvSpPr txBox="1">
            <a:spLocks noChangeArrowheads="1"/>
          </p:cNvSpPr>
          <p:nvPr/>
        </p:nvSpPr>
        <p:spPr bwMode="auto">
          <a:xfrm>
            <a:off x="7766787" y="2262122"/>
            <a:ext cx="14224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dirty="0">
                <a:latin typeface="+mn-lt"/>
                <a:cs typeface="Arial" charset="0"/>
              </a:rPr>
              <a:t>Access Mgmt</a:t>
            </a:r>
          </a:p>
        </p:txBody>
      </p:sp>
      <p:sp>
        <p:nvSpPr>
          <p:cNvPr id="28" name="TextBox 18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101526" y="3467687"/>
            <a:ext cx="6749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 dirty="0">
                <a:solidFill>
                  <a:schemeClr val="bg1"/>
                </a:solidFill>
                <a:latin typeface="+mn-lt"/>
              </a:rPr>
              <a:t>VPC</a:t>
            </a:r>
          </a:p>
        </p:txBody>
      </p:sp>
      <p:grpSp>
        <p:nvGrpSpPr>
          <p:cNvPr id="29" name="Group 188"/>
          <p:cNvGrpSpPr>
            <a:grpSpLocks/>
          </p:cNvGrpSpPr>
          <p:nvPr/>
        </p:nvGrpSpPr>
        <p:grpSpPr bwMode="auto">
          <a:xfrm flipH="1">
            <a:off x="7707723" y="3005723"/>
            <a:ext cx="1575453" cy="700028"/>
            <a:chOff x="6581900" y="1921015"/>
            <a:chExt cx="1295400" cy="761320"/>
          </a:xfrm>
        </p:grpSpPr>
        <p:grpSp>
          <p:nvGrpSpPr>
            <p:cNvPr id="30" name="Group 190"/>
            <p:cNvGrpSpPr>
              <a:grpSpLocks/>
            </p:cNvGrpSpPr>
            <p:nvPr/>
          </p:nvGrpSpPr>
          <p:grpSpPr bwMode="auto">
            <a:xfrm>
              <a:off x="6581900" y="1921015"/>
              <a:ext cx="1295400" cy="761320"/>
              <a:chOff x="5254779" y="5754688"/>
              <a:chExt cx="866775" cy="542925"/>
            </a:xfrm>
          </p:grpSpPr>
          <p:sp>
            <p:nvSpPr>
              <p:cNvPr id="35" name="Freeform 292"/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654675" y="5983288"/>
                <a:ext cx="66675" cy="76200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0 h 8"/>
                  <a:gd name="T4" fmla="*/ 0 w 7"/>
                  <a:gd name="T5" fmla="*/ 2147483647 h 8"/>
                  <a:gd name="T6" fmla="*/ 0 w 7"/>
                  <a:gd name="T7" fmla="*/ 2147483647 h 8"/>
                  <a:gd name="T8" fmla="*/ 2147483647 w 7"/>
                  <a:gd name="T9" fmla="*/ 2147483647 h 8"/>
                  <a:gd name="T10" fmla="*/ 2147483647 w 7"/>
                  <a:gd name="T11" fmla="*/ 2147483647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8">
                    <a:moveTo>
                      <a:pt x="7" y="3"/>
                    </a:moveTo>
                    <a:cubicBezTo>
                      <a:pt x="7" y="3"/>
                      <a:pt x="7" y="0"/>
                      <a:pt x="4" y="0"/>
                    </a:cubicBezTo>
                    <a:cubicBezTo>
                      <a:pt x="0" y="0"/>
                      <a:pt x="0" y="3"/>
                      <a:pt x="0" y="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7" y="8"/>
                      <a:pt x="7" y="8"/>
                      <a:pt x="7" y="8"/>
                    </a:cubicBez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262261"/>
              </a:solidFill>
              <a:ln w="9525">
                <a:solidFill>
                  <a:srgbClr val="41404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00" dirty="0"/>
              </a:p>
            </p:txBody>
          </p:sp>
          <p:sp>
            <p:nvSpPr>
              <p:cNvPr id="36" name="Freeform 293"/>
              <p:cNvSpPr>
                <a:spLocks noEditPoint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254779" y="5754688"/>
                <a:ext cx="866775" cy="542925"/>
              </a:xfrm>
              <a:custGeom>
                <a:avLst/>
                <a:gdLst>
                  <a:gd name="T0" fmla="*/ 2147483647 w 91"/>
                  <a:gd name="T1" fmla="*/ 2147483647 h 57"/>
                  <a:gd name="T2" fmla="*/ 2147483647 w 91"/>
                  <a:gd name="T3" fmla="*/ 2147483647 h 57"/>
                  <a:gd name="T4" fmla="*/ 2147483647 w 91"/>
                  <a:gd name="T5" fmla="*/ 0 h 57"/>
                  <a:gd name="T6" fmla="*/ 2147483647 w 91"/>
                  <a:gd name="T7" fmla="*/ 2147483647 h 57"/>
                  <a:gd name="T8" fmla="*/ 2147483647 w 91"/>
                  <a:gd name="T9" fmla="*/ 2147483647 h 57"/>
                  <a:gd name="T10" fmla="*/ 2147483647 w 91"/>
                  <a:gd name="T11" fmla="*/ 2147483647 h 57"/>
                  <a:gd name="T12" fmla="*/ 0 w 91"/>
                  <a:gd name="T13" fmla="*/ 2147483647 h 57"/>
                  <a:gd name="T14" fmla="*/ 0 w 91"/>
                  <a:gd name="T15" fmla="*/ 2147483647 h 57"/>
                  <a:gd name="T16" fmla="*/ 2147483647 w 91"/>
                  <a:gd name="T17" fmla="*/ 2147483647 h 57"/>
                  <a:gd name="T18" fmla="*/ 2147483647 w 91"/>
                  <a:gd name="T19" fmla="*/ 2147483647 h 57"/>
                  <a:gd name="T20" fmla="*/ 2147483647 w 91"/>
                  <a:gd name="T21" fmla="*/ 2147483647 h 57"/>
                  <a:gd name="T22" fmla="*/ 2147483647 w 91"/>
                  <a:gd name="T23" fmla="*/ 2147483647 h 57"/>
                  <a:gd name="T24" fmla="*/ 2147483647 w 91"/>
                  <a:gd name="T25" fmla="*/ 2147483647 h 57"/>
                  <a:gd name="T26" fmla="*/ 2147483647 w 91"/>
                  <a:gd name="T27" fmla="*/ 2147483647 h 57"/>
                  <a:gd name="T28" fmla="*/ 2147483647 w 91"/>
                  <a:gd name="T29" fmla="*/ 2147483647 h 57"/>
                  <a:gd name="T30" fmla="*/ 2147483647 w 91"/>
                  <a:gd name="T31" fmla="*/ 2147483647 h 57"/>
                  <a:gd name="T32" fmla="*/ 2147483647 w 91"/>
                  <a:gd name="T33" fmla="*/ 2147483647 h 57"/>
                  <a:gd name="T34" fmla="*/ 2147483647 w 91"/>
                  <a:gd name="T35" fmla="*/ 2147483647 h 57"/>
                  <a:gd name="T36" fmla="*/ 2147483647 w 91"/>
                  <a:gd name="T37" fmla="*/ 2147483647 h 57"/>
                  <a:gd name="T38" fmla="*/ 2147483647 w 91"/>
                  <a:gd name="T39" fmla="*/ 2147483647 h 57"/>
                  <a:gd name="T40" fmla="*/ 2147483647 w 91"/>
                  <a:gd name="T41" fmla="*/ 2147483647 h 57"/>
                  <a:gd name="T42" fmla="*/ 2147483647 w 91"/>
                  <a:gd name="T43" fmla="*/ 2147483647 h 57"/>
                  <a:gd name="T44" fmla="*/ 2147483647 w 91"/>
                  <a:gd name="T45" fmla="*/ 2147483647 h 57"/>
                  <a:gd name="T46" fmla="*/ 2147483647 w 91"/>
                  <a:gd name="T47" fmla="*/ 2147483647 h 57"/>
                  <a:gd name="T48" fmla="*/ 2147483647 w 91"/>
                  <a:gd name="T49" fmla="*/ 2147483647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91" h="57">
                    <a:moveTo>
                      <a:pt x="79" y="24"/>
                    </a:moveTo>
                    <a:cubicBezTo>
                      <a:pt x="79" y="24"/>
                      <a:pt x="79" y="24"/>
                      <a:pt x="79" y="23"/>
                    </a:cubicBezTo>
                    <a:cubicBezTo>
                      <a:pt x="79" y="11"/>
                      <a:pt x="69" y="0"/>
                      <a:pt x="56" y="0"/>
                    </a:cubicBezTo>
                    <a:cubicBezTo>
                      <a:pt x="47" y="0"/>
                      <a:pt x="39" y="6"/>
                      <a:pt x="35" y="14"/>
                    </a:cubicBezTo>
                    <a:cubicBezTo>
                      <a:pt x="33" y="13"/>
                      <a:pt x="31" y="12"/>
                      <a:pt x="28" y="12"/>
                    </a:cubicBezTo>
                    <a:cubicBezTo>
                      <a:pt x="22" y="12"/>
                      <a:pt x="17" y="17"/>
                      <a:pt x="17" y="23"/>
                    </a:cubicBezTo>
                    <a:cubicBezTo>
                      <a:pt x="7" y="24"/>
                      <a:pt x="0" y="33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9"/>
                      <a:pt x="8" y="57"/>
                      <a:pt x="19" y="57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83" y="57"/>
                      <a:pt x="91" y="49"/>
                      <a:pt x="91" y="41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34"/>
                      <a:pt x="86" y="26"/>
                      <a:pt x="79" y="24"/>
                    </a:cubicBezTo>
                    <a:close/>
                    <a:moveTo>
                      <a:pt x="58" y="43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41" y="32"/>
                      <a:pt x="41" y="32"/>
                      <a:pt x="41" y="32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3"/>
                      <a:pt x="44" y="21"/>
                      <a:pt x="48" y="21"/>
                    </a:cubicBezTo>
                    <a:cubicBezTo>
                      <a:pt x="51" y="21"/>
                      <a:pt x="54" y="23"/>
                      <a:pt x="54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8" y="32"/>
                      <a:pt x="58" y="32"/>
                      <a:pt x="58" y="32"/>
                    </a:cubicBezTo>
                    <a:lnTo>
                      <a:pt x="58" y="43"/>
                    </a:lnTo>
                    <a:close/>
                  </a:path>
                </a:pathLst>
              </a:custGeom>
              <a:solidFill>
                <a:srgbClr val="FAA634"/>
              </a:solidFill>
              <a:ln w="9525">
                <a:solidFill>
                  <a:srgbClr val="41404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00" dirty="0"/>
              </a:p>
            </p:txBody>
          </p:sp>
        </p:grpSp>
        <p:sp>
          <p:nvSpPr>
            <p:cNvPr id="31" name="Freeform 18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6854531" y="2250920"/>
              <a:ext cx="177452" cy="145920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6" y="76"/>
                </a:cxn>
                <a:cxn ang="0">
                  <a:pos x="67" y="76"/>
                </a:cxn>
                <a:cxn ang="0">
                  <a:pos x="74" y="69"/>
                </a:cxn>
                <a:cxn ang="0">
                  <a:pos x="74" y="6"/>
                </a:cxn>
                <a:cxn ang="0">
                  <a:pos x="67" y="0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0" y="69"/>
                </a:cxn>
              </a:cxnLst>
              <a:rect l="0" t="0" r="r" b="b"/>
              <a:pathLst>
                <a:path w="74" h="76">
                  <a:moveTo>
                    <a:pt x="0" y="69"/>
                  </a:moveTo>
                  <a:cubicBezTo>
                    <a:pt x="0" y="73"/>
                    <a:pt x="3" y="76"/>
                    <a:pt x="6" y="76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71" y="76"/>
                    <a:pt x="74" y="73"/>
                    <a:pt x="74" y="69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3"/>
                    <a:pt x="71" y="0"/>
                    <a:pt x="6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69"/>
                  </a:ln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414042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ea typeface="+mn-ea"/>
                <a:cs typeface="+mn-cs"/>
              </a:endParaRPr>
            </a:p>
          </p:txBody>
        </p:sp>
        <p:sp>
          <p:nvSpPr>
            <p:cNvPr id="32" name="Freeform 18"/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7443349" y="2222371"/>
              <a:ext cx="177452" cy="145920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6" y="76"/>
                </a:cxn>
                <a:cxn ang="0">
                  <a:pos x="67" y="76"/>
                </a:cxn>
                <a:cxn ang="0">
                  <a:pos x="74" y="69"/>
                </a:cxn>
                <a:cxn ang="0">
                  <a:pos x="74" y="6"/>
                </a:cxn>
                <a:cxn ang="0">
                  <a:pos x="67" y="0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0" y="69"/>
                </a:cxn>
              </a:cxnLst>
              <a:rect l="0" t="0" r="r" b="b"/>
              <a:pathLst>
                <a:path w="74" h="76">
                  <a:moveTo>
                    <a:pt x="0" y="69"/>
                  </a:moveTo>
                  <a:cubicBezTo>
                    <a:pt x="0" y="73"/>
                    <a:pt x="3" y="76"/>
                    <a:pt x="6" y="76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71" y="76"/>
                    <a:pt x="74" y="73"/>
                    <a:pt x="74" y="69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3"/>
                    <a:pt x="71" y="0"/>
                    <a:pt x="6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69"/>
                  </a:ln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414042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ea typeface="+mn-ea"/>
                <a:cs typeface="+mn-cs"/>
              </a:endParaRPr>
            </a:p>
          </p:txBody>
        </p:sp>
        <p:sp>
          <p:nvSpPr>
            <p:cNvPr id="33" name="Freeform 18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6854531" y="2425390"/>
              <a:ext cx="177452" cy="145920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6" y="76"/>
                </a:cxn>
                <a:cxn ang="0">
                  <a:pos x="67" y="76"/>
                </a:cxn>
                <a:cxn ang="0">
                  <a:pos x="74" y="69"/>
                </a:cxn>
                <a:cxn ang="0">
                  <a:pos x="74" y="6"/>
                </a:cxn>
                <a:cxn ang="0">
                  <a:pos x="67" y="0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0" y="69"/>
                </a:cxn>
              </a:cxnLst>
              <a:rect l="0" t="0" r="r" b="b"/>
              <a:pathLst>
                <a:path w="74" h="76">
                  <a:moveTo>
                    <a:pt x="0" y="69"/>
                  </a:moveTo>
                  <a:cubicBezTo>
                    <a:pt x="0" y="73"/>
                    <a:pt x="3" y="76"/>
                    <a:pt x="6" y="76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71" y="76"/>
                    <a:pt x="74" y="73"/>
                    <a:pt x="74" y="69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3"/>
                    <a:pt x="71" y="0"/>
                    <a:pt x="6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69"/>
                  </a:ln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414042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ea typeface="+mn-ea"/>
                <a:cs typeface="+mn-cs"/>
              </a:endParaRPr>
            </a:p>
          </p:txBody>
        </p:sp>
        <p:sp>
          <p:nvSpPr>
            <p:cNvPr id="34" name="Freeform 18"/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7443349" y="2425390"/>
              <a:ext cx="177452" cy="145920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6" y="76"/>
                </a:cxn>
                <a:cxn ang="0">
                  <a:pos x="67" y="76"/>
                </a:cxn>
                <a:cxn ang="0">
                  <a:pos x="74" y="69"/>
                </a:cxn>
                <a:cxn ang="0">
                  <a:pos x="74" y="6"/>
                </a:cxn>
                <a:cxn ang="0">
                  <a:pos x="67" y="0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0" y="69"/>
                </a:cxn>
              </a:cxnLst>
              <a:rect l="0" t="0" r="r" b="b"/>
              <a:pathLst>
                <a:path w="74" h="76">
                  <a:moveTo>
                    <a:pt x="0" y="69"/>
                  </a:moveTo>
                  <a:cubicBezTo>
                    <a:pt x="0" y="73"/>
                    <a:pt x="3" y="76"/>
                    <a:pt x="6" y="76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71" y="76"/>
                    <a:pt x="74" y="73"/>
                    <a:pt x="74" y="69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3"/>
                    <a:pt x="71" y="0"/>
                    <a:pt x="6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lnTo>
                    <a:pt x="0" y="69"/>
                  </a:ln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414042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ea typeface="+mn-ea"/>
                <a:cs typeface="+mn-cs"/>
              </a:endParaRPr>
            </a:p>
          </p:txBody>
        </p:sp>
      </p:grpSp>
      <p:sp>
        <p:nvSpPr>
          <p:cNvPr id="37" name="TextBox 36"/>
          <p:cNvSpPr txBox="1"/>
          <p:nvPr>
            <p:custDataLst>
              <p:tags r:id="rId2"/>
            </p:custDataLst>
          </p:nvPr>
        </p:nvSpPr>
        <p:spPr>
          <a:xfrm flipH="1">
            <a:off x="8099938" y="3534363"/>
            <a:ext cx="66510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ea typeface="+mn-ea"/>
                <a:cs typeface="Arial"/>
              </a:rPr>
              <a:t>VPC</a:t>
            </a:r>
          </a:p>
        </p:txBody>
      </p:sp>
      <p:grpSp>
        <p:nvGrpSpPr>
          <p:cNvPr id="38" name="Group 197"/>
          <p:cNvGrpSpPr>
            <a:grpSpLocks/>
          </p:cNvGrpSpPr>
          <p:nvPr/>
        </p:nvGrpSpPr>
        <p:grpSpPr bwMode="auto">
          <a:xfrm flipH="1">
            <a:off x="5856215" y="2975559"/>
            <a:ext cx="1606844" cy="693171"/>
            <a:chOff x="4469301" y="1438042"/>
            <a:chExt cx="1309793" cy="752708"/>
          </a:xfrm>
        </p:grpSpPr>
        <p:grpSp>
          <p:nvGrpSpPr>
            <p:cNvPr id="39" name="Group 198"/>
            <p:cNvGrpSpPr>
              <a:grpSpLocks/>
            </p:cNvGrpSpPr>
            <p:nvPr/>
          </p:nvGrpSpPr>
          <p:grpSpPr bwMode="auto">
            <a:xfrm>
              <a:off x="4483694" y="1438042"/>
              <a:ext cx="1295400" cy="752708"/>
              <a:chOff x="4622204" y="1819042"/>
              <a:chExt cx="1295400" cy="752708"/>
            </a:xfrm>
          </p:grpSpPr>
          <p:sp>
            <p:nvSpPr>
              <p:cNvPr id="42" name="Freeform 251"/>
              <p:cNvSpPr>
                <a:spLocks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622204" y="1819042"/>
                <a:ext cx="1295400" cy="752708"/>
              </a:xfrm>
              <a:custGeom>
                <a:avLst/>
                <a:gdLst>
                  <a:gd name="T0" fmla="*/ 2147483647 w 89"/>
                  <a:gd name="T1" fmla="*/ 2147483647 h 55"/>
                  <a:gd name="T2" fmla="*/ 2147483647 w 89"/>
                  <a:gd name="T3" fmla="*/ 2147483647 h 55"/>
                  <a:gd name="T4" fmla="*/ 2147483647 w 89"/>
                  <a:gd name="T5" fmla="*/ 0 h 55"/>
                  <a:gd name="T6" fmla="*/ 2147483647 w 89"/>
                  <a:gd name="T7" fmla="*/ 2147483647 h 55"/>
                  <a:gd name="T8" fmla="*/ 2147483647 w 89"/>
                  <a:gd name="T9" fmla="*/ 2147483647 h 55"/>
                  <a:gd name="T10" fmla="*/ 2147483647 w 89"/>
                  <a:gd name="T11" fmla="*/ 2147483647 h 55"/>
                  <a:gd name="T12" fmla="*/ 0 w 89"/>
                  <a:gd name="T13" fmla="*/ 2147483647 h 55"/>
                  <a:gd name="T14" fmla="*/ 0 w 89"/>
                  <a:gd name="T15" fmla="*/ 2147483647 h 55"/>
                  <a:gd name="T16" fmla="*/ 2147483647 w 89"/>
                  <a:gd name="T17" fmla="*/ 2147483647 h 55"/>
                  <a:gd name="T18" fmla="*/ 2147483647 w 89"/>
                  <a:gd name="T19" fmla="*/ 2147483647 h 55"/>
                  <a:gd name="T20" fmla="*/ 2147483647 w 89"/>
                  <a:gd name="T21" fmla="*/ 2147483647 h 55"/>
                  <a:gd name="T22" fmla="*/ 2147483647 w 89"/>
                  <a:gd name="T23" fmla="*/ 2147483647 h 55"/>
                  <a:gd name="T24" fmla="*/ 2147483647 w 89"/>
                  <a:gd name="T25" fmla="*/ 2147483647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9" h="55">
                    <a:moveTo>
                      <a:pt x="77" y="23"/>
                    </a:moveTo>
                    <a:cubicBezTo>
                      <a:pt x="77" y="23"/>
                      <a:pt x="77" y="23"/>
                      <a:pt x="77" y="23"/>
                    </a:cubicBezTo>
                    <a:cubicBezTo>
                      <a:pt x="77" y="10"/>
                      <a:pt x="67" y="0"/>
                      <a:pt x="55" y="0"/>
                    </a:cubicBezTo>
                    <a:cubicBezTo>
                      <a:pt x="46" y="0"/>
                      <a:pt x="38" y="6"/>
                      <a:pt x="34" y="13"/>
                    </a:cubicBezTo>
                    <a:cubicBezTo>
                      <a:pt x="32" y="12"/>
                      <a:pt x="30" y="11"/>
                      <a:pt x="28" y="11"/>
                    </a:cubicBezTo>
                    <a:cubicBezTo>
                      <a:pt x="22" y="11"/>
                      <a:pt x="17" y="16"/>
                      <a:pt x="16" y="23"/>
                    </a:cubicBezTo>
                    <a:cubicBezTo>
                      <a:pt x="7" y="23"/>
                      <a:pt x="0" y="32"/>
                      <a:pt x="0" y="39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8"/>
                      <a:pt x="8" y="55"/>
                      <a:pt x="18" y="55"/>
                    </a:cubicBezTo>
                    <a:cubicBezTo>
                      <a:pt x="71" y="55"/>
                      <a:pt x="71" y="55"/>
                      <a:pt x="71" y="55"/>
                    </a:cubicBezTo>
                    <a:cubicBezTo>
                      <a:pt x="81" y="55"/>
                      <a:pt x="89" y="48"/>
                      <a:pt x="89" y="40"/>
                    </a:cubicBezTo>
                    <a:cubicBezTo>
                      <a:pt x="89" y="39"/>
                      <a:pt x="89" y="39"/>
                      <a:pt x="89" y="39"/>
                    </a:cubicBezTo>
                    <a:cubicBezTo>
                      <a:pt x="89" y="33"/>
                      <a:pt x="84" y="25"/>
                      <a:pt x="77" y="23"/>
                    </a:cubicBezTo>
                    <a:close/>
                  </a:path>
                </a:pathLst>
              </a:custGeom>
              <a:solidFill>
                <a:srgbClr val="C5C7C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000" dirty="0"/>
              </a:p>
            </p:txBody>
          </p:sp>
          <p:sp>
            <p:nvSpPr>
              <p:cNvPr id="43" name="Freeform 18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4954851" y="2192784"/>
                <a:ext cx="175918" cy="147279"/>
              </a:xfrm>
              <a:custGeom>
                <a:avLst/>
                <a:gdLst/>
                <a:ahLst/>
                <a:cxnLst>
                  <a:cxn ang="0">
                    <a:pos x="0" y="69"/>
                  </a:cxn>
                  <a:cxn ang="0">
                    <a:pos x="6" y="76"/>
                  </a:cxn>
                  <a:cxn ang="0">
                    <a:pos x="67" y="76"/>
                  </a:cxn>
                  <a:cxn ang="0">
                    <a:pos x="74" y="69"/>
                  </a:cxn>
                  <a:cxn ang="0">
                    <a:pos x="74" y="6"/>
                  </a:cxn>
                  <a:cxn ang="0">
                    <a:pos x="67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69"/>
                  </a:cxn>
                </a:cxnLst>
                <a:rect l="0" t="0" r="r" b="b"/>
                <a:pathLst>
                  <a:path w="74" h="76">
                    <a:moveTo>
                      <a:pt x="0" y="69"/>
                    </a:moveTo>
                    <a:cubicBezTo>
                      <a:pt x="0" y="73"/>
                      <a:pt x="3" y="76"/>
                      <a:pt x="6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71" y="76"/>
                      <a:pt x="74" y="73"/>
                      <a:pt x="74" y="69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3"/>
                      <a:pt x="71" y="0"/>
                      <a:pt x="6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solidFill>
                  <a:schemeClr val="accent6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dirty="0">
                  <a:ea typeface="+mn-ea"/>
                  <a:cs typeface="+mn-cs"/>
                </a:endParaRPr>
              </a:p>
            </p:txBody>
          </p:sp>
          <p:sp>
            <p:nvSpPr>
              <p:cNvPr id="44" name="Freeform 18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181945" y="2192784"/>
                <a:ext cx="175918" cy="147279"/>
              </a:xfrm>
              <a:custGeom>
                <a:avLst/>
                <a:gdLst/>
                <a:ahLst/>
                <a:cxnLst>
                  <a:cxn ang="0">
                    <a:pos x="0" y="69"/>
                  </a:cxn>
                  <a:cxn ang="0">
                    <a:pos x="6" y="76"/>
                  </a:cxn>
                  <a:cxn ang="0">
                    <a:pos x="67" y="76"/>
                  </a:cxn>
                  <a:cxn ang="0">
                    <a:pos x="74" y="69"/>
                  </a:cxn>
                  <a:cxn ang="0">
                    <a:pos x="74" y="6"/>
                  </a:cxn>
                  <a:cxn ang="0">
                    <a:pos x="67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69"/>
                  </a:cxn>
                </a:cxnLst>
                <a:rect l="0" t="0" r="r" b="b"/>
                <a:pathLst>
                  <a:path w="74" h="76">
                    <a:moveTo>
                      <a:pt x="0" y="69"/>
                    </a:moveTo>
                    <a:cubicBezTo>
                      <a:pt x="0" y="73"/>
                      <a:pt x="3" y="76"/>
                      <a:pt x="6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71" y="76"/>
                      <a:pt x="74" y="73"/>
                      <a:pt x="74" y="69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3"/>
                      <a:pt x="71" y="0"/>
                      <a:pt x="6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solidFill>
                  <a:schemeClr val="accent6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dirty="0">
                  <a:ea typeface="+mn-ea"/>
                  <a:cs typeface="+mn-cs"/>
                </a:endParaRPr>
              </a:p>
            </p:txBody>
          </p:sp>
          <p:sp>
            <p:nvSpPr>
              <p:cNvPr id="45" name="Freeform 18"/>
              <p:cNvSpPr>
                <a:spLocks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5410639" y="2186449"/>
                <a:ext cx="175918" cy="147279"/>
              </a:xfrm>
              <a:custGeom>
                <a:avLst/>
                <a:gdLst/>
                <a:ahLst/>
                <a:cxnLst>
                  <a:cxn ang="0">
                    <a:pos x="0" y="69"/>
                  </a:cxn>
                  <a:cxn ang="0">
                    <a:pos x="6" y="76"/>
                  </a:cxn>
                  <a:cxn ang="0">
                    <a:pos x="67" y="76"/>
                  </a:cxn>
                  <a:cxn ang="0">
                    <a:pos x="74" y="69"/>
                  </a:cxn>
                  <a:cxn ang="0">
                    <a:pos x="74" y="6"/>
                  </a:cxn>
                  <a:cxn ang="0">
                    <a:pos x="67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69"/>
                  </a:cxn>
                </a:cxnLst>
                <a:rect l="0" t="0" r="r" b="b"/>
                <a:pathLst>
                  <a:path w="74" h="76">
                    <a:moveTo>
                      <a:pt x="0" y="69"/>
                    </a:moveTo>
                    <a:cubicBezTo>
                      <a:pt x="0" y="73"/>
                      <a:pt x="3" y="76"/>
                      <a:pt x="6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71" y="76"/>
                      <a:pt x="74" y="73"/>
                      <a:pt x="74" y="69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3"/>
                      <a:pt x="71" y="0"/>
                      <a:pt x="6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solidFill>
                  <a:schemeClr val="accent6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dirty="0">
                  <a:ea typeface="+mn-ea"/>
                  <a:cs typeface="+mn-cs"/>
                </a:endParaRPr>
              </a:p>
            </p:txBody>
          </p:sp>
        </p:grpSp>
        <p:sp>
          <p:nvSpPr>
            <p:cNvPr id="40" name="TextBox 19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69301" y="1915353"/>
              <a:ext cx="1219193" cy="2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EC2 </a:t>
              </a:r>
              <a:r>
                <a:rPr lang="ja-JP" altLang="en-US" sz="1000" dirty="0">
                  <a:latin typeface="+mn-lt"/>
                  <a:cs typeface="Arial" charset="0"/>
                </a:rPr>
                <a:t>“</a:t>
              </a:r>
              <a:r>
                <a:rPr lang="en-US" altLang="ja-JP" sz="1000" dirty="0">
                  <a:latin typeface="+mn-lt"/>
                  <a:cs typeface="Arial" charset="0"/>
                </a:rPr>
                <a:t>Classic</a:t>
              </a:r>
              <a:r>
                <a:rPr lang="ja-JP" altLang="en-US" sz="1000" dirty="0">
                  <a:latin typeface="+mn-lt"/>
                  <a:cs typeface="Arial" charset="0"/>
                </a:rPr>
                <a:t>”</a:t>
              </a:r>
              <a:endParaRPr lang="en-US" sz="1000" dirty="0">
                <a:latin typeface="+mn-lt"/>
                <a:cs typeface="Arial" charset="0"/>
              </a:endParaRPr>
            </a:p>
          </p:txBody>
        </p:sp>
        <p:sp>
          <p:nvSpPr>
            <p:cNvPr id="41" name="TextBox 20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836262" y="1529197"/>
              <a:ext cx="748708" cy="267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ja-JP" altLang="en-US" sz="1000">
                  <a:latin typeface="+mn-lt"/>
                  <a:cs typeface="Arial" charset="0"/>
                </a:rPr>
                <a:t>“</a:t>
              </a:r>
              <a:r>
                <a:rPr lang="en-US" altLang="ja-JP" sz="1000" dirty="0">
                  <a:latin typeface="+mn-lt"/>
                  <a:cs typeface="Arial" charset="0"/>
                </a:rPr>
                <a:t>Public</a:t>
              </a:r>
              <a:r>
                <a:rPr lang="ja-JP" altLang="en-US" sz="1000">
                  <a:latin typeface="+mn-lt"/>
                  <a:cs typeface="Arial" charset="0"/>
                </a:rPr>
                <a:t>”</a:t>
              </a:r>
              <a:endParaRPr lang="en-US" sz="1000" dirty="0">
                <a:latin typeface="+mn-lt"/>
                <a:cs typeface="Arial" charset="0"/>
              </a:endParaRPr>
            </a:p>
          </p:txBody>
        </p:sp>
      </p:grpSp>
      <p:sp>
        <p:nvSpPr>
          <p:cNvPr id="46" name="Rectangle 4"/>
          <p:cNvSpPr>
            <a:spLocks noChangeArrowheads="1"/>
          </p:cNvSpPr>
          <p:nvPr/>
        </p:nvSpPr>
        <p:spPr bwMode="auto">
          <a:xfrm flipH="1">
            <a:off x="7210707" y="3616913"/>
            <a:ext cx="64940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en-US" sz="1000" dirty="0">
                <a:cs typeface="Arial" charset="0"/>
              </a:rPr>
              <a:t>ELB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197156" y="3590859"/>
            <a:ext cx="1881517" cy="567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cs typeface="Arial" pitchFamily="34" charset="0"/>
              </a:rPr>
              <a:t>On-Demand</a:t>
            </a:r>
          </a:p>
        </p:txBody>
      </p:sp>
      <p:sp>
        <p:nvSpPr>
          <p:cNvPr id="48" name="TextBox 230"/>
          <p:cNvSpPr txBox="1">
            <a:spLocks noChangeArrowheads="1"/>
          </p:cNvSpPr>
          <p:nvPr/>
        </p:nvSpPr>
        <p:spPr bwMode="auto">
          <a:xfrm>
            <a:off x="4365476" y="3389245"/>
            <a:ext cx="140279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 dirty="0">
                <a:latin typeface="+mn-lt"/>
              </a:rPr>
              <a:t>Provision</a:t>
            </a:r>
          </a:p>
        </p:txBody>
      </p:sp>
      <p:pic>
        <p:nvPicPr>
          <p:cNvPr id="49" name="Picture 90" descr="Amazon-Elastic-Load-Balacing.png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9382" y="2975561"/>
            <a:ext cx="904464" cy="904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ounded Rectangle 49"/>
          <p:cNvSpPr/>
          <p:nvPr>
            <p:custDataLst>
              <p:tags r:id="rId3"/>
            </p:custDataLst>
          </p:nvPr>
        </p:nvSpPr>
        <p:spPr>
          <a:xfrm>
            <a:off x="515999" y="1187758"/>
            <a:ext cx="11144049" cy="4253977"/>
          </a:xfrm>
          <a:prstGeom prst="roundRect">
            <a:avLst>
              <a:gd name="adj" fmla="val 51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1048323" y="1143000"/>
            <a:ext cx="10170792" cy="5979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b="1" dirty="0"/>
              <a:t>Traditional Infrastructure                                                                Amazon Web Services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01075" y="3540487"/>
            <a:ext cx="10969680" cy="808793"/>
            <a:chOff x="170444" y="3125428"/>
            <a:chExt cx="8876013" cy="880393"/>
          </a:xfrm>
        </p:grpSpPr>
        <p:sp>
          <p:nvSpPr>
            <p:cNvPr id="53" name="Round Diagonal Corner Rectangle 52"/>
            <p:cNvSpPr/>
            <p:nvPr/>
          </p:nvSpPr>
          <p:spPr>
            <a:xfrm>
              <a:off x="170444" y="3166574"/>
              <a:ext cx="4340228" cy="839247"/>
            </a:xfrm>
            <a:prstGeom prst="round2DiagRect">
              <a:avLst>
                <a:gd name="adj1" fmla="val 16667"/>
                <a:gd name="adj2" fmla="val 57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b="1" dirty="0"/>
            </a:p>
          </p:txBody>
        </p:sp>
        <p:sp>
          <p:nvSpPr>
            <p:cNvPr id="54" name="Round Diagonal Corner Rectangle 53"/>
            <p:cNvSpPr/>
            <p:nvPr/>
          </p:nvSpPr>
          <p:spPr>
            <a:xfrm>
              <a:off x="4706229" y="3168750"/>
              <a:ext cx="4340228" cy="837071"/>
            </a:xfrm>
            <a:prstGeom prst="round2DiagRect">
              <a:avLst>
                <a:gd name="adj1" fmla="val 16667"/>
                <a:gd name="adj2" fmla="val 57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b="1" dirty="0"/>
            </a:p>
          </p:txBody>
        </p:sp>
        <p:pic>
          <p:nvPicPr>
            <p:cNvPr id="56" name="Picture 33"/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1051" y="3235728"/>
              <a:ext cx="1905000" cy="65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91" descr="EC2-AMI.png"/>
            <p:cNvPicPr>
              <a:picLocks noChangeAspect="1"/>
            </p:cNvPicPr>
            <p:nvPr/>
          </p:nvPicPr>
          <p:blipFill>
            <a:blip r:embed="rId2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5383" y="3125428"/>
              <a:ext cx="731837" cy="73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TextBox 92"/>
            <p:cNvSpPr txBox="1">
              <a:spLocks noChangeArrowheads="1"/>
            </p:cNvSpPr>
            <p:nvPr/>
          </p:nvSpPr>
          <p:spPr bwMode="auto">
            <a:xfrm>
              <a:off x="5992311" y="3806465"/>
              <a:ext cx="407987" cy="167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AMI</a:t>
              </a:r>
            </a:p>
          </p:txBody>
        </p:sp>
        <p:pic>
          <p:nvPicPr>
            <p:cNvPr id="60" name="Picture 93" descr="EC2-Instances.png"/>
            <p:cNvPicPr>
              <a:picLocks noChangeAspect="1"/>
            </p:cNvPicPr>
            <p:nvPr/>
          </p:nvPicPr>
          <p:blipFill>
            <a:blip r:embed="rId2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8755" y="3157223"/>
              <a:ext cx="730250" cy="73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TextBox 94"/>
            <p:cNvSpPr txBox="1">
              <a:spLocks noChangeArrowheads="1"/>
            </p:cNvSpPr>
            <p:nvPr/>
          </p:nvSpPr>
          <p:spPr bwMode="auto">
            <a:xfrm>
              <a:off x="7040472" y="3817584"/>
              <a:ext cx="1640807" cy="167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EC2 Instances</a:t>
              </a:r>
            </a:p>
          </p:txBody>
        </p:sp>
        <p:sp>
          <p:nvSpPr>
            <p:cNvPr id="64" name="TextBox 92"/>
            <p:cNvSpPr txBox="1">
              <a:spLocks noChangeArrowheads="1"/>
            </p:cNvSpPr>
            <p:nvPr/>
          </p:nvSpPr>
          <p:spPr bwMode="auto">
            <a:xfrm>
              <a:off x="1922982" y="3824151"/>
              <a:ext cx="1482251" cy="167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On-Premises Servers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70633" y="1610679"/>
            <a:ext cx="10969680" cy="770993"/>
            <a:chOff x="111434" y="1195620"/>
            <a:chExt cx="8876013" cy="839247"/>
          </a:xfrm>
        </p:grpSpPr>
        <p:sp>
          <p:nvSpPr>
            <p:cNvPr id="66" name="Round Diagonal Corner Rectangle 65"/>
            <p:cNvSpPr/>
            <p:nvPr/>
          </p:nvSpPr>
          <p:spPr>
            <a:xfrm>
              <a:off x="111434" y="1195620"/>
              <a:ext cx="4340228" cy="839247"/>
            </a:xfrm>
            <a:prstGeom prst="round2DiagRect">
              <a:avLst>
                <a:gd name="adj1" fmla="val 16667"/>
                <a:gd name="adj2" fmla="val 57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b="1" dirty="0"/>
            </a:p>
          </p:txBody>
        </p:sp>
        <p:sp>
          <p:nvSpPr>
            <p:cNvPr id="67" name="Round Diagonal Corner Rectangle 66"/>
            <p:cNvSpPr/>
            <p:nvPr/>
          </p:nvSpPr>
          <p:spPr>
            <a:xfrm>
              <a:off x="4647219" y="1197796"/>
              <a:ext cx="4340228" cy="837071"/>
            </a:xfrm>
            <a:prstGeom prst="round2DiagRect">
              <a:avLst>
                <a:gd name="adj1" fmla="val 16667"/>
                <a:gd name="adj2" fmla="val 57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b="1" dirty="0"/>
            </a:p>
          </p:txBody>
        </p:sp>
        <p:pic>
          <p:nvPicPr>
            <p:cNvPr id="69" name="Picture 38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4536" y="1280100"/>
              <a:ext cx="511175" cy="433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Picture 2"/>
            <p:cNvPicPr>
              <a:picLocks noChangeAspect="1" noChangeArrowheads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447" y="1277943"/>
              <a:ext cx="342900" cy="44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Picture 5"/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2025" y="1222804"/>
              <a:ext cx="314325" cy="49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153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6669" y="1300591"/>
              <a:ext cx="511175" cy="434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" name="Picture 2"/>
            <p:cNvPicPr>
              <a:picLocks noChangeAspect="1" noChangeArrowheads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908" y="1286303"/>
              <a:ext cx="342900" cy="44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TextBox 160"/>
            <p:cNvSpPr txBox="1">
              <a:spLocks noChangeArrowheads="1"/>
            </p:cNvSpPr>
            <p:nvPr/>
          </p:nvSpPr>
          <p:spPr bwMode="auto">
            <a:xfrm>
              <a:off x="5405438" y="1689528"/>
              <a:ext cx="817404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Security Groups</a:t>
              </a:r>
            </a:p>
          </p:txBody>
        </p:sp>
        <p:sp>
          <p:nvSpPr>
            <p:cNvPr id="75" name="TextBox 161"/>
            <p:cNvSpPr txBox="1">
              <a:spLocks noChangeArrowheads="1"/>
            </p:cNvSpPr>
            <p:nvPr/>
          </p:nvSpPr>
          <p:spPr bwMode="auto">
            <a:xfrm>
              <a:off x="6724650" y="1697466"/>
              <a:ext cx="416614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NACLs</a:t>
              </a:r>
            </a:p>
          </p:txBody>
        </p:sp>
        <p:sp>
          <p:nvSpPr>
            <p:cNvPr id="76" name="TextBox 162"/>
            <p:cNvSpPr txBox="1">
              <a:spLocks noChangeArrowheads="1"/>
            </p:cNvSpPr>
            <p:nvPr/>
          </p:nvSpPr>
          <p:spPr bwMode="auto">
            <a:xfrm>
              <a:off x="7819542" y="1683178"/>
              <a:ext cx="323226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IAM</a:t>
              </a:r>
            </a:p>
          </p:txBody>
        </p:sp>
        <p:sp>
          <p:nvSpPr>
            <p:cNvPr id="79" name="TextBox 160"/>
            <p:cNvSpPr txBox="1">
              <a:spLocks noChangeArrowheads="1"/>
            </p:cNvSpPr>
            <p:nvPr/>
          </p:nvSpPr>
          <p:spPr bwMode="auto">
            <a:xfrm>
              <a:off x="753257" y="1687836"/>
              <a:ext cx="519081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Firewalls</a:t>
              </a:r>
            </a:p>
          </p:txBody>
        </p:sp>
        <p:sp>
          <p:nvSpPr>
            <p:cNvPr id="80" name="TextBox 161"/>
            <p:cNvSpPr txBox="1">
              <a:spLocks noChangeArrowheads="1"/>
            </p:cNvSpPr>
            <p:nvPr/>
          </p:nvSpPr>
          <p:spPr bwMode="auto">
            <a:xfrm>
              <a:off x="1787503" y="1696249"/>
              <a:ext cx="349167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ACLs</a:t>
              </a:r>
            </a:p>
          </p:txBody>
        </p:sp>
        <p:sp>
          <p:nvSpPr>
            <p:cNvPr id="81" name="TextBox 162"/>
            <p:cNvSpPr txBox="1">
              <a:spLocks noChangeArrowheads="1"/>
            </p:cNvSpPr>
            <p:nvPr/>
          </p:nvSpPr>
          <p:spPr bwMode="auto">
            <a:xfrm>
              <a:off x="2743666" y="1681074"/>
              <a:ext cx="774601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Administrators</a:t>
              </a:r>
            </a:p>
          </p:txBody>
        </p:sp>
        <p:pic>
          <p:nvPicPr>
            <p:cNvPr id="82" name="Picture 81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9687" y="1335507"/>
              <a:ext cx="205594" cy="389549"/>
            </a:xfrm>
            <a:prstGeom prst="rect">
              <a:avLst/>
            </a:prstGeom>
          </p:spPr>
        </p:pic>
      </p:grpSp>
      <p:grpSp>
        <p:nvGrpSpPr>
          <p:cNvPr id="83" name="Group 82"/>
          <p:cNvGrpSpPr/>
          <p:nvPr/>
        </p:nvGrpSpPr>
        <p:grpSpPr>
          <a:xfrm>
            <a:off x="455731" y="2582504"/>
            <a:ext cx="10969680" cy="787918"/>
            <a:chOff x="140939" y="2167440"/>
            <a:chExt cx="8876013" cy="857670"/>
          </a:xfrm>
        </p:grpSpPr>
        <p:sp>
          <p:nvSpPr>
            <p:cNvPr id="84" name="Round Diagonal Corner Rectangle 83"/>
            <p:cNvSpPr/>
            <p:nvPr/>
          </p:nvSpPr>
          <p:spPr>
            <a:xfrm>
              <a:off x="140939" y="2167440"/>
              <a:ext cx="4340228" cy="839247"/>
            </a:xfrm>
            <a:prstGeom prst="round2DiagRect">
              <a:avLst>
                <a:gd name="adj1" fmla="val 16667"/>
                <a:gd name="adj2" fmla="val 57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b="1" dirty="0"/>
            </a:p>
          </p:txBody>
        </p:sp>
        <p:sp>
          <p:nvSpPr>
            <p:cNvPr id="85" name="Round Diagonal Corner Rectangle 84"/>
            <p:cNvSpPr/>
            <p:nvPr/>
          </p:nvSpPr>
          <p:spPr>
            <a:xfrm>
              <a:off x="4676724" y="2169616"/>
              <a:ext cx="4340228" cy="837071"/>
            </a:xfrm>
            <a:prstGeom prst="round2DiagRect">
              <a:avLst>
                <a:gd name="adj1" fmla="val 16667"/>
                <a:gd name="adj2" fmla="val 573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b="1" dirty="0"/>
            </a:p>
          </p:txBody>
        </p:sp>
        <p:pic>
          <p:nvPicPr>
            <p:cNvPr id="87" name="Picture 37"/>
            <p:cNvPicPr>
              <a:picLocks noChangeAspect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320" y="2417493"/>
              <a:ext cx="5842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40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7221" y="2388918"/>
              <a:ext cx="554037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4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788" y="2245456"/>
              <a:ext cx="1319213" cy="560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TextBox 90"/>
            <p:cNvSpPr txBox="1"/>
            <p:nvPr>
              <p:custDataLst>
                <p:tags r:id="rId4"/>
              </p:custDataLst>
            </p:nvPr>
          </p:nvSpPr>
          <p:spPr>
            <a:xfrm flipH="1">
              <a:off x="7417596" y="2757092"/>
              <a:ext cx="361406" cy="2680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+mn-ea"/>
                  <a:cs typeface="Arial"/>
                </a:rPr>
                <a:t>VPC</a:t>
              </a:r>
            </a:p>
          </p:txBody>
        </p:sp>
        <p:sp>
          <p:nvSpPr>
            <p:cNvPr id="92" name="Rectangle 4"/>
            <p:cNvSpPr>
              <a:spLocks noChangeArrowheads="1"/>
            </p:cNvSpPr>
            <p:nvPr/>
          </p:nvSpPr>
          <p:spPr bwMode="auto">
            <a:xfrm flipH="1">
              <a:off x="5937839" y="2757092"/>
              <a:ext cx="356775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sz="1000" dirty="0">
                  <a:cs typeface="Arial" charset="0"/>
                </a:rPr>
                <a:t>ELB</a:t>
              </a:r>
            </a:p>
          </p:txBody>
        </p:sp>
        <p:sp>
          <p:nvSpPr>
            <p:cNvPr id="95" name="TextBox 160"/>
            <p:cNvSpPr txBox="1">
              <a:spLocks noChangeArrowheads="1"/>
            </p:cNvSpPr>
            <p:nvPr/>
          </p:nvSpPr>
          <p:spPr bwMode="auto">
            <a:xfrm>
              <a:off x="661976" y="2754234"/>
              <a:ext cx="437367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Router</a:t>
              </a:r>
            </a:p>
          </p:txBody>
        </p:sp>
        <p:sp>
          <p:nvSpPr>
            <p:cNvPr id="96" name="TextBox 160"/>
            <p:cNvSpPr txBox="1">
              <a:spLocks noChangeArrowheads="1"/>
            </p:cNvSpPr>
            <p:nvPr/>
          </p:nvSpPr>
          <p:spPr bwMode="auto">
            <a:xfrm>
              <a:off x="1587053" y="2753790"/>
              <a:ext cx="874475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Network Pipeline</a:t>
              </a:r>
            </a:p>
          </p:txBody>
        </p:sp>
        <p:sp>
          <p:nvSpPr>
            <p:cNvPr id="97" name="TextBox 160"/>
            <p:cNvSpPr txBox="1">
              <a:spLocks noChangeArrowheads="1"/>
            </p:cNvSpPr>
            <p:nvPr/>
          </p:nvSpPr>
          <p:spPr bwMode="auto">
            <a:xfrm>
              <a:off x="2930429" y="2752650"/>
              <a:ext cx="428288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>
                  <a:latin typeface="+mn-lt"/>
                  <a:cs typeface="Arial" charset="0"/>
                </a:rPr>
                <a:t>Switch</a:t>
              </a:r>
            </a:p>
          </p:txBody>
        </p:sp>
        <p:pic>
          <p:nvPicPr>
            <p:cNvPr id="98" name="Picture 97"/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6488" y="2198853"/>
              <a:ext cx="462819" cy="555382"/>
            </a:xfrm>
            <a:prstGeom prst="rect">
              <a:avLst/>
            </a:prstGeom>
          </p:spPr>
        </p:pic>
      </p:grpSp>
      <p:grpSp>
        <p:nvGrpSpPr>
          <p:cNvPr id="106" name="Group 105"/>
          <p:cNvGrpSpPr/>
          <p:nvPr/>
        </p:nvGrpSpPr>
        <p:grpSpPr>
          <a:xfrm>
            <a:off x="516000" y="4562111"/>
            <a:ext cx="10969680" cy="770993"/>
            <a:chOff x="156789" y="4149878"/>
            <a:chExt cx="8876013" cy="839247"/>
          </a:xfrm>
        </p:grpSpPr>
        <p:grpSp>
          <p:nvGrpSpPr>
            <p:cNvPr id="107" name="Group 106"/>
            <p:cNvGrpSpPr/>
            <p:nvPr/>
          </p:nvGrpSpPr>
          <p:grpSpPr>
            <a:xfrm>
              <a:off x="156789" y="4149878"/>
              <a:ext cx="8876013" cy="839247"/>
              <a:chOff x="156789" y="4149878"/>
              <a:chExt cx="8876013" cy="839247"/>
            </a:xfrm>
          </p:grpSpPr>
          <p:sp>
            <p:nvSpPr>
              <p:cNvPr id="111" name="Round Diagonal Corner Rectangle 110"/>
              <p:cNvSpPr/>
              <p:nvPr/>
            </p:nvSpPr>
            <p:spPr>
              <a:xfrm>
                <a:off x="156789" y="4149878"/>
                <a:ext cx="4340228" cy="839247"/>
              </a:xfrm>
              <a:prstGeom prst="round2DiagRect">
                <a:avLst>
                  <a:gd name="adj1" fmla="val 16667"/>
                  <a:gd name="adj2" fmla="val 573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b="1" dirty="0"/>
              </a:p>
            </p:txBody>
          </p:sp>
          <p:sp>
            <p:nvSpPr>
              <p:cNvPr id="112" name="Round Diagonal Corner Rectangle 111"/>
              <p:cNvSpPr/>
              <p:nvPr/>
            </p:nvSpPr>
            <p:spPr>
              <a:xfrm>
                <a:off x="4692574" y="4152054"/>
                <a:ext cx="4340228" cy="837071"/>
              </a:xfrm>
              <a:prstGeom prst="round2DiagRect">
                <a:avLst>
                  <a:gd name="adj1" fmla="val 16667"/>
                  <a:gd name="adj2" fmla="val 573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b="1" dirty="0"/>
              </a:p>
            </p:txBody>
          </p:sp>
          <p:sp>
            <p:nvSpPr>
              <p:cNvPr id="113" name="TextBox 142"/>
              <p:cNvSpPr txBox="1">
                <a:spLocks noChangeArrowheads="1"/>
              </p:cNvSpPr>
              <p:nvPr/>
            </p:nvSpPr>
            <p:spPr bwMode="auto">
              <a:xfrm>
                <a:off x="4003854" y="4426011"/>
                <a:ext cx="1271507" cy="3015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1200" b="1" dirty="0">
                    <a:latin typeface="+mn-lt"/>
                  </a:rPr>
                  <a:t>Storage</a:t>
                </a:r>
              </a:p>
            </p:txBody>
          </p:sp>
          <p:pic>
            <p:nvPicPr>
              <p:cNvPr id="114" name="Picture 113"/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018" y="4315479"/>
                <a:ext cx="6604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" name="TextBox 115"/>
              <p:cNvSpPr txBox="1">
                <a:spLocks noChangeArrowheads="1"/>
              </p:cNvSpPr>
              <p:nvPr/>
            </p:nvSpPr>
            <p:spPr bwMode="auto">
              <a:xfrm>
                <a:off x="543420" y="4480579"/>
                <a:ext cx="367326" cy="268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000" kern="1200" dirty="0"/>
                  <a:t>  DAS</a:t>
                </a:r>
              </a:p>
            </p:txBody>
          </p:sp>
          <p:pic>
            <p:nvPicPr>
              <p:cNvPr id="117" name="Picture 116"/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0034" y="4325004"/>
                <a:ext cx="658812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8" name="TextBox 117"/>
              <p:cNvSpPr txBox="1">
                <a:spLocks noChangeArrowheads="1"/>
              </p:cNvSpPr>
              <p:nvPr/>
            </p:nvSpPr>
            <p:spPr bwMode="auto">
              <a:xfrm>
                <a:off x="1821558" y="4492426"/>
                <a:ext cx="324524" cy="268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en-US" sz="1000" kern="1200" dirty="0"/>
                  <a:t>SAN</a:t>
                </a:r>
              </a:p>
            </p:txBody>
          </p:sp>
          <p:pic>
            <p:nvPicPr>
              <p:cNvPr id="119" name="Picture 118"/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9376" y="4267854"/>
                <a:ext cx="649287" cy="614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0" name="TextBox 119"/>
              <p:cNvSpPr txBox="1">
                <a:spLocks noChangeArrowheads="1"/>
              </p:cNvSpPr>
              <p:nvPr/>
            </p:nvSpPr>
            <p:spPr bwMode="auto">
              <a:xfrm>
                <a:off x="2736052" y="4492426"/>
                <a:ext cx="700088" cy="268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/>
                <a:r>
                  <a:rPr lang="en-US" sz="1000" kern="1200" dirty="0"/>
                  <a:t>NAS</a:t>
                </a:r>
              </a:p>
            </p:txBody>
          </p:sp>
          <p:pic>
            <p:nvPicPr>
              <p:cNvPr id="121" name="Picture 163"/>
              <p:cNvPicPr>
                <a:picLocks noChangeAspect="1"/>
              </p:cNvPicPr>
              <p:nvPr/>
            </p:nvPicPr>
            <p:blipFill>
              <a:blip r:embed="rId3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2058" y="4174813"/>
                <a:ext cx="382588" cy="471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164"/>
              <p:cNvPicPr>
                <a:picLocks noChangeAspect="1"/>
              </p:cNvPicPr>
              <p:nvPr/>
            </p:nvPicPr>
            <p:blipFill>
              <a:blip r:embed="rId3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48389" y="4195016"/>
                <a:ext cx="321685" cy="451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TextBox 165"/>
              <p:cNvSpPr txBox="1">
                <a:spLocks noChangeArrowheads="1"/>
              </p:cNvSpPr>
              <p:nvPr/>
            </p:nvSpPr>
            <p:spPr bwMode="auto">
              <a:xfrm>
                <a:off x="5754964" y="4639135"/>
                <a:ext cx="305067" cy="268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1000" dirty="0">
                    <a:latin typeface="+mn-lt"/>
                    <a:cs typeface="Arial" charset="0"/>
                  </a:rPr>
                  <a:t>EBS</a:t>
                </a:r>
              </a:p>
            </p:txBody>
          </p:sp>
          <p:sp>
            <p:nvSpPr>
              <p:cNvPr id="125" name="Isosceles Triangle 124"/>
              <p:cNvSpPr/>
              <p:nvPr/>
            </p:nvSpPr>
            <p:spPr>
              <a:xfrm rot="16200000">
                <a:off x="3559391" y="4447496"/>
                <a:ext cx="614556" cy="241419"/>
              </a:xfrm>
              <a:prstGeom prst="triangle">
                <a:avLst>
                  <a:gd name="adj" fmla="val 50000"/>
                </a:avLst>
              </a:prstGeom>
              <a:solidFill>
                <a:schemeClr val="bg1">
                  <a:lumMod val="50000"/>
                  <a:alpha val="42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26" name="Isosceles Triangle 125"/>
              <p:cNvSpPr/>
              <p:nvPr/>
            </p:nvSpPr>
            <p:spPr>
              <a:xfrm rot="5400000">
                <a:off x="5118300" y="4436016"/>
                <a:ext cx="614556" cy="241419"/>
              </a:xfrm>
              <a:prstGeom prst="triangle">
                <a:avLst>
                  <a:gd name="adj" fmla="val 50000"/>
                </a:avLst>
              </a:prstGeom>
              <a:solidFill>
                <a:schemeClr val="bg1">
                  <a:lumMod val="50000"/>
                  <a:alpha val="42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127" name="Picture 126"/>
              <p:cNvPicPr>
                <a:picLocks noChangeAspect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7539" y="4174981"/>
                <a:ext cx="392629" cy="471154"/>
              </a:xfrm>
              <a:prstGeom prst="rect">
                <a:avLst/>
              </a:prstGeom>
            </p:spPr>
          </p:pic>
        </p:grpSp>
        <p:sp>
          <p:nvSpPr>
            <p:cNvPr id="108" name="TextBox 165"/>
            <p:cNvSpPr txBox="1">
              <a:spLocks noChangeArrowheads="1"/>
            </p:cNvSpPr>
            <p:nvPr/>
          </p:nvSpPr>
          <p:spPr bwMode="auto">
            <a:xfrm>
              <a:off x="7023073" y="4639135"/>
              <a:ext cx="295988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EFS</a:t>
              </a:r>
            </a:p>
          </p:txBody>
        </p:sp>
        <p:sp>
          <p:nvSpPr>
            <p:cNvPr id="109" name="TextBox 165"/>
            <p:cNvSpPr txBox="1">
              <a:spLocks noChangeArrowheads="1"/>
            </p:cNvSpPr>
            <p:nvPr/>
          </p:nvSpPr>
          <p:spPr bwMode="auto">
            <a:xfrm>
              <a:off x="8186214" y="4639136"/>
              <a:ext cx="250591" cy="26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S3</a:t>
              </a:r>
            </a:p>
          </p:txBody>
        </p:sp>
      </p:grpSp>
      <p:sp>
        <p:nvSpPr>
          <p:cNvPr id="12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Traditional vs AWS Components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501074" y="5477404"/>
            <a:ext cx="10984606" cy="788617"/>
            <a:chOff x="11433" y="4797617"/>
            <a:chExt cx="8876013" cy="858432"/>
          </a:xfrm>
        </p:grpSpPr>
        <p:grpSp>
          <p:nvGrpSpPr>
            <p:cNvPr id="131" name="Group 130"/>
            <p:cNvGrpSpPr/>
            <p:nvPr/>
          </p:nvGrpSpPr>
          <p:grpSpPr>
            <a:xfrm>
              <a:off x="11433" y="4797617"/>
              <a:ext cx="8876013" cy="839248"/>
              <a:chOff x="11433" y="4797617"/>
              <a:chExt cx="8876013" cy="839248"/>
            </a:xfrm>
          </p:grpSpPr>
          <p:sp>
            <p:nvSpPr>
              <p:cNvPr id="135" name="Round Diagonal Corner Rectangle 134"/>
              <p:cNvSpPr/>
              <p:nvPr/>
            </p:nvSpPr>
            <p:spPr>
              <a:xfrm>
                <a:off x="11433" y="4797617"/>
                <a:ext cx="4340228" cy="839248"/>
              </a:xfrm>
              <a:prstGeom prst="round2DiagRect">
                <a:avLst>
                  <a:gd name="adj1" fmla="val 16667"/>
                  <a:gd name="adj2" fmla="val 573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b="1" dirty="0"/>
              </a:p>
            </p:txBody>
          </p:sp>
          <p:sp>
            <p:nvSpPr>
              <p:cNvPr id="136" name="Round Diagonal Corner Rectangle 135"/>
              <p:cNvSpPr/>
              <p:nvPr/>
            </p:nvSpPr>
            <p:spPr>
              <a:xfrm>
                <a:off x="4547218" y="4799793"/>
                <a:ext cx="4340228" cy="837070"/>
              </a:xfrm>
              <a:prstGeom prst="round2DiagRect">
                <a:avLst>
                  <a:gd name="adj1" fmla="val 16667"/>
                  <a:gd name="adj2" fmla="val 573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b="1" dirty="0"/>
              </a:p>
            </p:txBody>
          </p:sp>
          <p:sp>
            <p:nvSpPr>
              <p:cNvPr id="137" name="TextBox 142"/>
              <p:cNvSpPr txBox="1">
                <a:spLocks noChangeArrowheads="1"/>
              </p:cNvSpPr>
              <p:nvPr/>
            </p:nvSpPr>
            <p:spPr bwMode="auto">
              <a:xfrm>
                <a:off x="3858499" y="5073750"/>
                <a:ext cx="1271507" cy="3015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1200" b="1" dirty="0">
                    <a:latin typeface="+mn-lt"/>
                  </a:rPr>
                  <a:t>Database</a:t>
                </a:r>
              </a:p>
            </p:txBody>
          </p:sp>
          <p:sp>
            <p:nvSpPr>
              <p:cNvPr id="139" name="Rectangle 138"/>
              <p:cNvSpPr>
                <a:spLocks noChangeArrowheads="1"/>
              </p:cNvSpPr>
              <p:nvPr/>
            </p:nvSpPr>
            <p:spPr bwMode="auto">
              <a:xfrm>
                <a:off x="265417" y="4971215"/>
                <a:ext cx="957263" cy="438149"/>
              </a:xfrm>
              <a:prstGeom prst="rect">
                <a:avLst/>
              </a:prstGeom>
              <a:gradFill rotWithShape="1">
                <a:gsLst>
                  <a:gs pos="0">
                    <a:srgbClr val="BCBCBC"/>
                  </a:gs>
                  <a:gs pos="35001">
                    <a:srgbClr val="D0D0D0"/>
                  </a:gs>
                  <a:gs pos="100000">
                    <a:srgbClr val="EDEDED"/>
                  </a:gs>
                </a:gsLst>
                <a:lin ang="162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7999"/>
                  </a:srgbClr>
                </a:outerShdw>
              </a:effectLst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kern="1200" dirty="0">
                    <a:ea typeface="+mn-ea"/>
                    <a:cs typeface="Arial" pitchFamily="34" charset="0"/>
                  </a:rPr>
                  <a:t>RDBMS</a:t>
                </a:r>
              </a:p>
            </p:txBody>
          </p:sp>
          <p:pic>
            <p:nvPicPr>
              <p:cNvPr id="148" name="Picture 226"/>
              <p:cNvPicPr>
                <a:picLocks noChangeAspect="1"/>
              </p:cNvPicPr>
              <p:nvPr/>
            </p:nvPicPr>
            <p:blipFill>
              <a:blip r:embed="rId3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66388" y="4890355"/>
                <a:ext cx="359844" cy="547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9" name="Isosceles Triangle 148"/>
              <p:cNvSpPr/>
              <p:nvPr/>
            </p:nvSpPr>
            <p:spPr>
              <a:xfrm rot="16200000">
                <a:off x="3414036" y="5095234"/>
                <a:ext cx="614555" cy="241419"/>
              </a:xfrm>
              <a:prstGeom prst="triangle">
                <a:avLst>
                  <a:gd name="adj" fmla="val 50000"/>
                </a:avLst>
              </a:prstGeom>
              <a:solidFill>
                <a:schemeClr val="bg1">
                  <a:lumMod val="50000"/>
                  <a:alpha val="42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 rot="5400000">
                <a:off x="4972945" y="5083756"/>
                <a:ext cx="614555" cy="241419"/>
              </a:xfrm>
              <a:prstGeom prst="triangle">
                <a:avLst>
                  <a:gd name="adj" fmla="val 50000"/>
                </a:avLst>
              </a:prstGeom>
              <a:solidFill>
                <a:schemeClr val="bg1">
                  <a:lumMod val="50000"/>
                  <a:alpha val="42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</p:grpSp>
        <p:sp>
          <p:nvSpPr>
            <p:cNvPr id="134" name="TextBox 165"/>
            <p:cNvSpPr txBox="1">
              <a:spLocks noChangeArrowheads="1"/>
            </p:cNvSpPr>
            <p:nvPr/>
          </p:nvSpPr>
          <p:spPr bwMode="auto">
            <a:xfrm>
              <a:off x="7560608" y="5388032"/>
              <a:ext cx="727692" cy="268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dirty="0">
                  <a:latin typeface="+mn-lt"/>
                  <a:cs typeface="Arial" charset="0"/>
                </a:rPr>
                <a:t>Dynamo DB</a:t>
              </a:r>
            </a:p>
          </p:txBody>
        </p:sp>
      </p:grpSp>
      <p:sp>
        <p:nvSpPr>
          <p:cNvPr id="152" name="TextBox 142"/>
          <p:cNvSpPr txBox="1">
            <a:spLocks noChangeArrowheads="1"/>
          </p:cNvSpPr>
          <p:nvPr/>
        </p:nvSpPr>
        <p:spPr bwMode="auto">
          <a:xfrm>
            <a:off x="5271727" y="3819805"/>
            <a:ext cx="1571429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b="1" dirty="0">
                <a:latin typeface="+mn-lt"/>
              </a:rPr>
              <a:t>Servers</a:t>
            </a:r>
          </a:p>
        </p:txBody>
      </p:sp>
      <p:sp>
        <p:nvSpPr>
          <p:cNvPr id="153" name="Isosceles Triangle 152"/>
          <p:cNvSpPr/>
          <p:nvPr/>
        </p:nvSpPr>
        <p:spPr>
          <a:xfrm rot="16200000">
            <a:off x="4819895" y="3801253"/>
            <a:ext cx="564576" cy="298365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  <a:alpha val="4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54" name="Isosceles Triangle 153"/>
          <p:cNvSpPr/>
          <p:nvPr/>
        </p:nvSpPr>
        <p:spPr>
          <a:xfrm rot="5400000">
            <a:off x="6746518" y="3790706"/>
            <a:ext cx="564576" cy="298365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  <a:alpha val="4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55" name="TextBox 142"/>
          <p:cNvSpPr txBox="1">
            <a:spLocks noChangeArrowheads="1"/>
          </p:cNvSpPr>
          <p:nvPr/>
        </p:nvSpPr>
        <p:spPr bwMode="auto">
          <a:xfrm>
            <a:off x="5256538" y="2863681"/>
            <a:ext cx="1571429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b="1" dirty="0">
                <a:latin typeface="+mn-lt"/>
              </a:rPr>
              <a:t>Networking</a:t>
            </a:r>
          </a:p>
        </p:txBody>
      </p:sp>
      <p:sp>
        <p:nvSpPr>
          <p:cNvPr id="156" name="Isosceles Triangle 155"/>
          <p:cNvSpPr/>
          <p:nvPr/>
        </p:nvSpPr>
        <p:spPr>
          <a:xfrm rot="16200000">
            <a:off x="4804706" y="2845129"/>
            <a:ext cx="564576" cy="298365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  <a:alpha val="4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57" name="Isosceles Triangle 156"/>
          <p:cNvSpPr/>
          <p:nvPr/>
        </p:nvSpPr>
        <p:spPr>
          <a:xfrm rot="5400000">
            <a:off x="6731329" y="2834582"/>
            <a:ext cx="564576" cy="298365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  <a:alpha val="4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58" name="TextBox 142"/>
          <p:cNvSpPr txBox="1">
            <a:spLocks noChangeArrowheads="1"/>
          </p:cNvSpPr>
          <p:nvPr/>
        </p:nvSpPr>
        <p:spPr bwMode="auto">
          <a:xfrm>
            <a:off x="5256538" y="1893820"/>
            <a:ext cx="1571429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b="1" dirty="0">
                <a:latin typeface="+mn-lt"/>
              </a:rPr>
              <a:t>Security</a:t>
            </a:r>
          </a:p>
        </p:txBody>
      </p:sp>
      <p:sp>
        <p:nvSpPr>
          <p:cNvPr id="159" name="Isosceles Triangle 158"/>
          <p:cNvSpPr/>
          <p:nvPr/>
        </p:nvSpPr>
        <p:spPr>
          <a:xfrm rot="16200000">
            <a:off x="4804706" y="1875268"/>
            <a:ext cx="564576" cy="298365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  <a:alpha val="4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60" name="Isosceles Triangle 159"/>
          <p:cNvSpPr/>
          <p:nvPr/>
        </p:nvSpPr>
        <p:spPr>
          <a:xfrm rot="5400000">
            <a:off x="6731329" y="1864721"/>
            <a:ext cx="564576" cy="298365"/>
          </a:xfrm>
          <a:prstGeom prst="triangle">
            <a:avLst>
              <a:gd name="adj" fmla="val 50000"/>
            </a:avLst>
          </a:prstGeom>
          <a:solidFill>
            <a:schemeClr val="bg1">
              <a:lumMod val="50000"/>
              <a:alpha val="4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61" name="Rectangle 160"/>
          <p:cNvSpPr>
            <a:spLocks noChangeArrowheads="1"/>
          </p:cNvSpPr>
          <p:nvPr/>
        </p:nvSpPr>
        <p:spPr bwMode="auto">
          <a:xfrm>
            <a:off x="3328891" y="5662642"/>
            <a:ext cx="1184671" cy="402515"/>
          </a:xfrm>
          <a:prstGeom prst="rect">
            <a:avLst/>
          </a:prstGeom>
          <a:gradFill rotWithShape="1">
            <a:gsLst>
              <a:gs pos="0">
                <a:srgbClr val="BCBCBC"/>
              </a:gs>
              <a:gs pos="35001">
                <a:srgbClr val="D0D0D0"/>
              </a:gs>
              <a:gs pos="100000">
                <a:srgbClr val="EDEDED"/>
              </a:gs>
            </a:gsLst>
            <a:lin ang="162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kern="1200" dirty="0">
                <a:ea typeface="+mn-ea"/>
                <a:cs typeface="Arial" pitchFamily="34" charset="0"/>
              </a:rPr>
              <a:t>No SQL</a:t>
            </a:r>
          </a:p>
        </p:txBody>
      </p:sp>
      <p:sp>
        <p:nvSpPr>
          <p:cNvPr id="2" name="AutoShape 2" descr="Image result for dynamodb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44" y="3684331"/>
            <a:ext cx="1091556" cy="50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TextBox 92"/>
          <p:cNvSpPr txBox="1">
            <a:spLocks noChangeArrowheads="1"/>
          </p:cNvSpPr>
          <p:nvPr/>
        </p:nvSpPr>
        <p:spPr bwMode="auto">
          <a:xfrm>
            <a:off x="685800" y="4191000"/>
            <a:ext cx="137145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dirty="0">
                <a:latin typeface="+mn-lt"/>
                <a:cs typeface="Arial" charset="0"/>
              </a:rPr>
              <a:t>Operating System</a:t>
            </a:r>
          </a:p>
        </p:txBody>
      </p:sp>
      <p:pic>
        <p:nvPicPr>
          <p:cNvPr id="140" name="Picture 139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03" y="5539997"/>
            <a:ext cx="450848" cy="499402"/>
          </a:xfrm>
          <a:prstGeom prst="rect">
            <a:avLst/>
          </a:prstGeom>
        </p:spPr>
      </p:pic>
      <p:sp>
        <p:nvSpPr>
          <p:cNvPr id="141" name="TextBox 165"/>
          <p:cNvSpPr txBox="1">
            <a:spLocks noChangeArrowheads="1"/>
          </p:cNvSpPr>
          <p:nvPr/>
        </p:nvSpPr>
        <p:spPr bwMode="auto">
          <a:xfrm>
            <a:off x="7620000" y="6019800"/>
            <a:ext cx="45054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dirty="0">
                <a:latin typeface="+mn-lt"/>
                <a:cs typeface="Arial" charset="0"/>
              </a:rPr>
              <a:t>RDS</a:t>
            </a: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918" y="2574978"/>
            <a:ext cx="477882" cy="5814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C7BF4-B2B0-4527-8E54-C1165EB3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597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Global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170" y="914401"/>
            <a:ext cx="109756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 AWS Cloud operates 76 Availability Zones within 24 geographic Regions around the world, with announced plans for 9 more Availability Zones and 3 more Regions.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19BF1-E5F4-4054-A054-0E7A23A53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1636933"/>
            <a:ext cx="9896475" cy="44685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8D487E-6575-4491-AFF8-EBDCC4306B8A}"/>
              </a:ext>
            </a:extLst>
          </p:cNvPr>
          <p:cNvSpPr txBox="1"/>
          <p:nvPr/>
        </p:nvSpPr>
        <p:spPr>
          <a:xfrm>
            <a:off x="4029075" y="6305550"/>
            <a:ext cx="282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@May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11B06-43CD-4865-A1E0-556F1854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81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4390" y="1169076"/>
            <a:ext cx="594514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High Availability Through Multiple Availability Zones.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 each region there will be at least two availability zones for fault tolerance.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AZ is a combination of one or more data centers in a given region.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It is a logical grouping of data centers in a given region for service high availability.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datacenter is a location where actual physical data resides.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single or couple of data centers are clubbed in to one AZ.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13" y="1527916"/>
            <a:ext cx="4401696" cy="357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Availability Zone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C3BA59-73BD-4C86-A077-13DC6CB5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04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Edge Locations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170" y="914401"/>
            <a:ext cx="109756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 AWS have global network of 98 Edge locations (87 Points of Presence and 11 Regional Edge Caches) in 50 cities across 23 countries.</a:t>
            </a:r>
          </a:p>
        </p:txBody>
      </p:sp>
      <p:pic>
        <p:nvPicPr>
          <p:cNvPr id="5" name="Picture 2" descr="Amazon CloudFront Global Edge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79" y="1588400"/>
            <a:ext cx="10745410" cy="496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75F04B-2441-4F04-AB93-78531B72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603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AWS: How to access the Services</a:t>
            </a:r>
          </a:p>
        </p:txBody>
      </p:sp>
      <p:sp>
        <p:nvSpPr>
          <p:cNvPr id="2" name="Pentagon 1"/>
          <p:cNvSpPr/>
          <p:nvPr/>
        </p:nvSpPr>
        <p:spPr>
          <a:xfrm>
            <a:off x="836830" y="1066800"/>
            <a:ext cx="3277454" cy="4876800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AWS Management Console</a:t>
            </a:r>
          </a:p>
        </p:txBody>
      </p:sp>
      <p:sp>
        <p:nvSpPr>
          <p:cNvPr id="7" name="Pentagon 6"/>
          <p:cNvSpPr/>
          <p:nvPr/>
        </p:nvSpPr>
        <p:spPr>
          <a:xfrm>
            <a:off x="4342943" y="1081314"/>
            <a:ext cx="3277454" cy="4876800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AWS Command Line Interface  (CLI)</a:t>
            </a:r>
          </a:p>
        </p:txBody>
      </p:sp>
      <p:sp>
        <p:nvSpPr>
          <p:cNvPr id="8" name="Pentagon 7"/>
          <p:cNvSpPr/>
          <p:nvPr/>
        </p:nvSpPr>
        <p:spPr>
          <a:xfrm>
            <a:off x="7849056" y="1117600"/>
            <a:ext cx="3277454" cy="4876800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Software Development Kits  (SDK)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A2859-6798-452A-A72F-57586DA4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54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Hands-on Lab: Sign-up AWS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390" y="1117462"/>
            <a:ext cx="403965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Create and activate a new Amazon Web Services account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hlinkClick r:id="rId3"/>
              </a:rPr>
              <a:t>https://aws.amazon.com/free/</a:t>
            </a:r>
            <a:endParaRPr lang="en-US" dirty="0"/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/>
              <a:t>Payment method:</a:t>
            </a:r>
          </a:p>
          <a:p>
            <a:pPr marL="1200150" lvl="2" indent="-285750" algn="just">
              <a:buFont typeface="Wingdings" panose="05000000000000000000" pitchFamily="2" charset="2"/>
              <a:buChar char="§"/>
            </a:pPr>
            <a:r>
              <a:rPr lang="en-US" dirty="0"/>
              <a:t>Credit or Debit Card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/>
              <a:t>Support plan: </a:t>
            </a:r>
          </a:p>
          <a:p>
            <a:pPr marL="1200150" lvl="2" indent="-285750" algn="just">
              <a:buFont typeface="Wingdings" panose="05000000000000000000" pitchFamily="2" charset="2"/>
              <a:buChar char="§"/>
            </a:pPr>
            <a:r>
              <a:rPr lang="en-US" dirty="0"/>
              <a:t>Basic</a:t>
            </a:r>
          </a:p>
          <a:p>
            <a:pPr marL="1200150" lvl="2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Accounts are usually activated within a few minutes, but account activation can take up to 24 hours.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When your account is fully activated, you'll receive confirmation email. After you receive this email, you should have full access to all AWS services.</a:t>
            </a:r>
            <a:endParaRPr lang="en-US" b="1" dirty="0"/>
          </a:p>
          <a:p>
            <a:pPr lvl="1"/>
            <a:endParaRPr lang="en-US" dirty="0"/>
          </a:p>
          <a:p>
            <a:endParaRPr lang="en-US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267" y="1366462"/>
            <a:ext cx="7331881" cy="404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6F03C3-60F0-463D-A845-006D1FD9E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600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6885-5EC6-4BA6-AC13-7C42B483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Command Line Interface(CLI)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6E39-508D-4DA7-8991-CF9FC593F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731962"/>
            <a:ext cx="11696700" cy="4624388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Open source tool that enables you to interact with AWS services using commands in your command-line shell.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Very minimal configuration required 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u="sng" dirty="0">
                <a:latin typeface="+mj-lt"/>
              </a:rPr>
              <a:t>Supports below terminal program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Linux shells – Use common shell programs such as bash, </a:t>
            </a:r>
            <a:r>
              <a:rPr lang="en-US" dirty="0" err="1">
                <a:latin typeface="+mj-lt"/>
              </a:rPr>
              <a:t>zsh</a:t>
            </a:r>
            <a:r>
              <a:rPr lang="en-US" dirty="0">
                <a:latin typeface="+mj-lt"/>
              </a:rPr>
              <a:t>, and </a:t>
            </a:r>
            <a:r>
              <a:rPr lang="en-US" dirty="0" err="1">
                <a:latin typeface="+mj-lt"/>
              </a:rPr>
              <a:t>tcsh</a:t>
            </a:r>
            <a:r>
              <a:rPr lang="en-US" dirty="0">
                <a:latin typeface="+mj-lt"/>
              </a:rPr>
              <a:t> to run commands in Linux or macOS.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Windows command line – On Windows, run commands at the Windows command prompt or in PowerShell.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Remotely – Run commands on Amazon Elastic Compute Cloud (Amazon EC2) instances through a remote terminal program such as PuTTY or SSH, or with AWS Systems Manager.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                                                       Ref:</a:t>
            </a:r>
            <a:r>
              <a:rPr lang="en-IN" dirty="0">
                <a:hlinkClick r:id="rId2"/>
              </a:rPr>
              <a:t>https://aws.amazon.com/cli/</a:t>
            </a:r>
            <a:endParaRPr lang="en-IN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0E6CB-C7CB-41DC-B56C-B655D901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430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8177-1FAF-4C1F-A785-BB3B8E653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7145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 AWS SDKs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522FB-1BF7-46F5-9ED1-4975CFE41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398751"/>
            <a:ext cx="10515600" cy="47482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Access and manage AWS services with your preferred development language or platform.</a:t>
            </a:r>
          </a:p>
          <a:p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IN" sz="20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39DF4-F721-4C55-B82E-F2C488FE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7BA5F-7359-4A21-B206-8C39663F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278227"/>
            <a:ext cx="11277600" cy="326674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E230C3-E783-4510-8EF9-26BE88AB9075}"/>
              </a:ext>
            </a:extLst>
          </p:cNvPr>
          <p:cNvSpPr txBox="1"/>
          <p:nvPr/>
        </p:nvSpPr>
        <p:spPr>
          <a:xfrm>
            <a:off x="3152775" y="5810250"/>
            <a:ext cx="5829300" cy="366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+mj-lt"/>
              </a:rPr>
              <a:t>Ref:</a:t>
            </a:r>
            <a:r>
              <a:rPr lang="en-IN" dirty="0" err="1">
                <a:latin typeface="+mj-lt"/>
                <a:hlinkClick r:id="rId3"/>
              </a:rPr>
              <a:t>https</a:t>
            </a:r>
            <a:r>
              <a:rPr lang="en-IN" dirty="0">
                <a:latin typeface="+mj-lt"/>
                <a:hlinkClick r:id="rId3"/>
              </a:rPr>
              <a:t>://aws.amazon.com/getting-started/tools-</a:t>
            </a:r>
            <a:r>
              <a:rPr lang="en-IN" dirty="0" err="1">
                <a:latin typeface="+mj-lt"/>
                <a:hlinkClick r:id="rId3"/>
              </a:rPr>
              <a:t>sdks</a:t>
            </a:r>
            <a:r>
              <a:rPr lang="en-IN" dirty="0">
                <a:latin typeface="+mj-lt"/>
                <a:hlinkClick r:id="rId3"/>
              </a:rPr>
              <a:t>/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4886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AD37-BA5F-4C3E-8A01-A2E49962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77850"/>
          </a:xfrm>
        </p:spPr>
        <p:txBody>
          <a:bodyPr>
            <a:normAutofit fontScale="90000"/>
          </a:bodyPr>
          <a:lstStyle/>
          <a:p>
            <a:r>
              <a:rPr lang="en-IN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60CB0-1FC0-4F01-B7CF-B02267F36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77850"/>
            <a:ext cx="10715625" cy="5861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1. Who is responsible for security of the Cloud according to the Shared-Responsibility Model?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1800" dirty="0"/>
              <a:t>AWS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1800" dirty="0"/>
              <a:t>Customer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2.Which category of services includes Amazon S3?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1800" dirty="0"/>
              <a:t>Compute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1800" dirty="0"/>
              <a:t>Migration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1800" dirty="0"/>
              <a:t>Networking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1800" dirty="0"/>
              <a:t>Storage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1800" dirty="0"/>
              <a:t>3. Which of the following is a responsibility of the customer according to the Shared-Responsibility Model?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Physical security of the facilities in which the services operate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AWS Identity and Access Management (IAM)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Availability of third-party audit reports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Protection of global infrastructure</a:t>
            </a:r>
          </a:p>
          <a:p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E770F-4646-4980-A751-C37C6A29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875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AD37-BA5F-4C3E-8A01-A2E49962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77850"/>
          </a:xfrm>
        </p:spPr>
        <p:txBody>
          <a:bodyPr>
            <a:normAutofit fontScale="90000"/>
          </a:bodyPr>
          <a:lstStyle/>
          <a:p>
            <a:r>
              <a:rPr lang="en-IN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60CB0-1FC0-4F01-B7CF-B02267F36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536575"/>
            <a:ext cx="10715625" cy="5861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4. Which of the following is the best practice for adding an additional layer of security when logging into the AWS Management Console?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Secondary username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Multi-factor Authentication (MFA)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Root Access Permission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5. Which component of the AWS Global Infrastructure support the caching of content for faster access?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Edge Locations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Availability Zone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AWS Direct Connect Locations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Regions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6.Which method would you use to access AWS services through an easy-to-use graphical interface?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AWS Management Console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AWS Command Line Interface (AWS CLI)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AWS Software Development Kits (SDKs)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E770F-4646-4980-A751-C37C6A29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00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4EFE-6326-9166-028A-4B058D97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2FF3C-B673-1DB6-4558-E1CAFECFE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1B457-4BF1-D308-92F3-8F7FEA77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011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03FC-19E5-4346-A60A-A0DB9A4F1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1303338"/>
            <a:ext cx="9144000" cy="2387600"/>
          </a:xfrm>
        </p:spPr>
        <p:txBody>
          <a:bodyPr/>
          <a:lstStyle/>
          <a:p>
            <a:r>
              <a:rPr lang="en-IN" dirty="0"/>
              <a:t>AWS CLI </a:t>
            </a:r>
          </a:p>
        </p:txBody>
      </p:sp>
    </p:spTree>
    <p:extLst>
      <p:ext uri="{BB962C8B-B14F-4D97-AF65-F5344CB8AC3E}">
        <p14:creationId xmlns:p14="http://schemas.microsoft.com/office/powerpoint/2010/main" val="634637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D6E7-9859-4F5C-AC23-B22D9993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2381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Overview of AWS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C8B1-FA60-4AAD-927D-B967E7FE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1349375"/>
            <a:ext cx="12211050" cy="502285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+mj-lt"/>
              </a:rPr>
              <a:t>The AWS Command Line Interface (AWS CLI) is an open source tool that enables you to interact with AWS services using commands in  command-line shell. 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r>
              <a:rPr lang="en-US" sz="2200" dirty="0">
                <a:latin typeface="+mj-lt"/>
              </a:rPr>
              <a:t>Enables to start running commands from the command prompt in  terminal program:</a:t>
            </a:r>
          </a:p>
          <a:p>
            <a:endParaRPr lang="en-US" sz="2200" dirty="0">
              <a:latin typeface="+mj-l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• Linux shells – Use common shell programs such as bash, </a:t>
            </a:r>
            <a:r>
              <a:rPr lang="en-US" sz="2000" dirty="0" err="1">
                <a:latin typeface="+mj-lt"/>
              </a:rPr>
              <a:t>zsh</a:t>
            </a:r>
            <a:r>
              <a:rPr lang="en-US" sz="2000" dirty="0">
                <a:latin typeface="+mj-lt"/>
              </a:rPr>
              <a:t>, and </a:t>
            </a:r>
            <a:r>
              <a:rPr lang="en-US" sz="2000" dirty="0" err="1">
                <a:latin typeface="+mj-lt"/>
              </a:rPr>
              <a:t>tcsh</a:t>
            </a:r>
            <a:r>
              <a:rPr lang="en-US" sz="2000" dirty="0">
                <a:latin typeface="+mj-lt"/>
              </a:rPr>
              <a:t> to run commands in Linux or  macOS.</a:t>
            </a:r>
          </a:p>
          <a:p>
            <a:pPr marL="457200" lvl="1" indent="0">
              <a:buNone/>
            </a:pPr>
            <a:endParaRPr lang="en-US" sz="2000" dirty="0">
              <a:latin typeface="+mj-l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• Windows command line – On Windows, run commands at the Windows command prompt or in PowerShell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.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• Remotely – Run commands on Amazon Elastic Compute Cloud (Amazon EC2) instances through a remote terminal program such as PuTTY or SSH, or with AWS Systems Manager.</a:t>
            </a:r>
          </a:p>
          <a:p>
            <a:pPr marL="457200" lvl="1" indent="0">
              <a:buNone/>
            </a:pPr>
            <a:endParaRPr lang="en-US" sz="2000" dirty="0">
              <a:latin typeface="+mj-lt"/>
            </a:endParaRPr>
          </a:p>
          <a:p>
            <a:r>
              <a:rPr lang="en-US" sz="2400" dirty="0">
                <a:latin typeface="+mj-lt"/>
              </a:rPr>
              <a:t> 2 Versions are Version 2.x and Version 1.x</a:t>
            </a:r>
          </a:p>
          <a:p>
            <a:endParaRPr lang="en-US" sz="2000" dirty="0">
              <a:latin typeface="+mj-lt"/>
            </a:endParaRPr>
          </a:p>
          <a:p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5604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F5E8-F89C-43B2-A1DD-8237FAB6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27543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Benefits of AWS CLI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1530C-E69D-4AC6-A7B0-0B553046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4" y="1568450"/>
            <a:ext cx="11610975" cy="4351338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+mj-lt"/>
              </a:rPr>
              <a:t>Easier to install : </a:t>
            </a:r>
            <a:r>
              <a:rPr lang="en-US" sz="2200" dirty="0">
                <a:latin typeface="+mj-lt"/>
              </a:rPr>
              <a:t>One huge benefit of AWS CLI is that installation is smooth, quick, simple, and standardized.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Supports all Amazon Web Services: </a:t>
            </a:r>
            <a:r>
              <a:rPr lang="en-US" sz="2200" dirty="0">
                <a:latin typeface="+mj-lt"/>
              </a:rPr>
              <a:t>Lets you control all the services from one simple tool.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Saves time: </a:t>
            </a:r>
            <a:r>
              <a:rPr lang="en-US" sz="2200" dirty="0">
                <a:latin typeface="+mj-lt"/>
              </a:rPr>
              <a:t>GUIs are great when you’re just learning the ropes of a system. Once you get up and running, the user-friendly graphical interface tools start to stand in your way. 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Scripting: </a:t>
            </a:r>
            <a:r>
              <a:rPr lang="en-US" sz="2200" dirty="0">
                <a:latin typeface="+mj-lt"/>
              </a:rPr>
              <a:t>The ability to automate control of all Amazon’s web services with scripts is possibly the biggest benefit. </a:t>
            </a: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2838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E28D-B374-46A4-B5A3-EC8FA78F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-10160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Basic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1DFD-0FF4-4FEE-8A7F-296BAF322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9231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</a:rPr>
              <a:t>An AWS CLI command has the following structure: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&lt;command&gt; &lt;subcommand&gt; [options and parameters]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</a:rPr>
              <a:t>For example, to list S3 buckets, the command would be: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 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s3 ls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</a:rPr>
              <a:t>To view help documentation, use one of the following: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help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&lt;command&gt; help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&lt;command&gt; &lt;subcommand&gt; help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</a:rPr>
              <a:t>To get the version of the AWS CLI:</a:t>
            </a:r>
          </a:p>
          <a:p>
            <a:pPr marL="0" indent="0">
              <a:buNone/>
            </a:pPr>
            <a:r>
              <a:rPr lang="en-US" sz="2200" dirty="0">
                <a:latin typeface="+mj-lt"/>
              </a:rPr>
              <a:t>$ </a:t>
            </a:r>
            <a:r>
              <a:rPr lang="en-US" sz="2200" dirty="0" err="1">
                <a:latin typeface="+mj-lt"/>
              </a:rPr>
              <a:t>aws</a:t>
            </a:r>
            <a:r>
              <a:rPr lang="en-US" sz="2200" dirty="0">
                <a:latin typeface="+mj-lt"/>
              </a:rPr>
              <a:t> --version</a:t>
            </a: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0923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6E83-BD5E-4DE9-B4DE-5D2F432F3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4255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 Thanks</a:t>
            </a:r>
          </a:p>
        </p:txBody>
      </p:sp>
    </p:spTree>
    <p:extLst>
      <p:ext uri="{BB962C8B-B14F-4D97-AF65-F5344CB8AC3E}">
        <p14:creationId xmlns:p14="http://schemas.microsoft.com/office/powerpoint/2010/main" val="709182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616" y="3261995"/>
            <a:ext cx="2635885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5" dirty="0">
                <a:latin typeface="Calibri"/>
                <a:cs typeface="Calibri"/>
              </a:rPr>
              <a:t>Thank</a:t>
            </a:r>
            <a:r>
              <a:rPr sz="4800" b="1" spc="-80" dirty="0">
                <a:latin typeface="Calibri"/>
                <a:cs typeface="Calibri"/>
              </a:rPr>
              <a:t> </a:t>
            </a:r>
            <a:r>
              <a:rPr sz="4800" b="1" spc="-135" dirty="0">
                <a:latin typeface="Calibri"/>
                <a:cs typeface="Calibri"/>
              </a:rPr>
              <a:t>You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781C0-715F-4A23-8C7F-0E270265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GAAJULA- ALL COPYRIGHTS RESERVED</a:t>
            </a:r>
            <a:endParaRPr lang="en-I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1558</Words>
  <Application>Microsoft Office PowerPoint</Application>
  <PresentationFormat>Widescreen</PresentationFormat>
  <Paragraphs>265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What is Cloud Computing</vt:lpstr>
      <vt:lpstr>Cloud Computing: Definition</vt:lpstr>
      <vt:lpstr>Cloud Computing: Definition</vt:lpstr>
      <vt:lpstr>Cloud Computing: On-premises vs Service Models</vt:lpstr>
      <vt:lpstr>Cloud Computing: Advantages &amp; Disadvantages</vt:lpstr>
      <vt:lpstr>Cloud Computing: Cloud Computing Providers</vt:lpstr>
      <vt:lpstr>PowerPoint Presentation</vt:lpstr>
      <vt:lpstr>Why AWS</vt:lpstr>
      <vt:lpstr>What is AWS</vt:lpstr>
      <vt:lpstr>AWS: Benefits</vt:lpstr>
      <vt:lpstr>AWS: Services</vt:lpstr>
      <vt:lpstr>AWS: Traditional vs AWS Components</vt:lpstr>
      <vt:lpstr>AWS: Global Infrastructure</vt:lpstr>
      <vt:lpstr>AWS: Availability Zone</vt:lpstr>
      <vt:lpstr>AWS: Edge Locations</vt:lpstr>
      <vt:lpstr>AWS: How to access the Services</vt:lpstr>
      <vt:lpstr>Hands-on Lab: Sign-up AWS Account</vt:lpstr>
      <vt:lpstr>AWS Command Line Interface(CLI)</vt:lpstr>
      <vt:lpstr> AWS SDKs and tools</vt:lpstr>
      <vt:lpstr>Quiz</vt:lpstr>
      <vt:lpstr>Quiz</vt:lpstr>
      <vt:lpstr>PowerPoint Presentation</vt:lpstr>
      <vt:lpstr>AWS CLI </vt:lpstr>
      <vt:lpstr>Overview of AWS CLI</vt:lpstr>
      <vt:lpstr>Benefits of AWS CLI </vt:lpstr>
      <vt:lpstr>Basic Commands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Gaajula</dc:creator>
  <cp:lastModifiedBy>Chaitanya Gaajula</cp:lastModifiedBy>
  <cp:revision>17</cp:revision>
  <dcterms:created xsi:type="dcterms:W3CDTF">2020-05-16T14:27:06Z</dcterms:created>
  <dcterms:modified xsi:type="dcterms:W3CDTF">2023-06-22T12:00:50Z</dcterms:modified>
</cp:coreProperties>
</file>