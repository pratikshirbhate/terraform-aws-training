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8" r:id="rId2"/>
    <p:sldId id="260" r:id="rId3"/>
    <p:sldId id="261" r:id="rId4"/>
    <p:sldId id="262" r:id="rId5"/>
    <p:sldId id="263" r:id="rId6"/>
    <p:sldId id="286" r:id="rId7"/>
    <p:sldId id="287" r:id="rId8"/>
    <p:sldId id="264" r:id="rId9"/>
    <p:sldId id="284" r:id="rId10"/>
    <p:sldId id="285" r:id="rId11"/>
    <p:sldId id="267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92" r:id="rId21"/>
    <p:sldId id="288" r:id="rId22"/>
    <p:sldId id="266" r:id="rId23"/>
    <p:sldId id="290" r:id="rId24"/>
    <p:sldId id="291" r:id="rId25"/>
    <p:sldId id="289" r:id="rId26"/>
    <p:sldId id="28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U8eC2eZLX9b4/3ENeku9wA==" hashData="3lqszgeBM6BMc14yrB3l123bd87sbwVvD6m1YWWOdigiZlco5Cfx98kqQ2XPBHvbnKDuYinK9zqrGOjqmufLGA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0DACD-D8C6-4B31-BD33-46EE507DD67F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D5B55-C96F-4616-A091-B8A0BFAC43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113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736A86-BED5-413C-8AB0-579CE553B22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699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736A86-BED5-413C-8AB0-579CE553B22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61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736A86-BED5-413C-8AB0-579CE553B22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25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736A86-BED5-413C-8AB0-579CE553B22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8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736A86-BED5-413C-8AB0-579CE553B22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291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736A86-BED5-413C-8AB0-579CE553B22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238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C94DD-1B45-478A-B9E7-ED2609CE3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64BCB5-41E9-41BB-B1E6-7692B20FF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63E47-C076-4241-9F55-ED219C130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90881-16B9-4DB5-B3E7-DCCAB1C3C219}" type="datetime1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17628-C8B0-4D4A-A6C7-910B0399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0EEAA-7DEF-4E7B-8445-A26F1A8EC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C9B4-0C41-4272-8B0E-B28D6DCC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93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178CD-5A52-4DC9-9E89-A8E3F6733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4B329-6684-4D49-A27F-B159734FE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CCD4E-B198-4356-96F6-8EC9CA3D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1CF42-E3E1-4B11-B3DA-491ACD221CEA}" type="datetime1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EEDF1-8908-4D6F-ACA8-D6930E856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31046-F44A-4D63-A202-EAEB77E09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C9B4-0C41-4272-8B0E-B28D6DCC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946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F2B6D-B0E1-4F8A-AED7-010510AA7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12115-026D-4797-8C77-1AB9C23B9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CA574-7E6D-4C73-B4D3-43E31C9B3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6FA03-7270-4503-9545-44A58060AF71}" type="datetime1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805D3-5209-4290-9397-F2973B079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9E331-59AC-4851-AE14-5A83F2ED3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C9B4-0C41-4272-8B0E-B28D6DCC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31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2FF92-C5CB-4D41-9380-9F74B125B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1C3C2-D99E-40EE-B1C8-53B3888390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E5A21-D114-4739-B6AB-8320A5324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68575-9CFB-4F55-90F2-E93B4DFE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5CCE-7D23-45ED-92DA-8A871D4D7500}" type="datetime1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307C9-CB40-4DEA-9922-9A9246465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A16E4-72F9-4671-A49E-152FEE9FD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C9B4-0C41-4272-8B0E-B28D6DCC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583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89C02-B92E-4C1B-8AA2-65AE3C588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1E451-1E63-4B6C-B747-9F5FD3DAF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0492DC-E34A-43BD-B5E5-7CD32E01C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26D29C-1D11-493A-AB41-6AF6F2847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BC5741-59BB-4C19-B06C-C268EF512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6130DA-A227-4A1D-BF9B-D19D69395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59C97-A1E1-482A-BDC3-AA350F0676E6}" type="datetime1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3EFD23-981D-4146-B305-C8C28083B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B41D97-FE06-425C-85EA-9CF37362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C9B4-0C41-4272-8B0E-B28D6DCC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964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E06E-DFD3-4D3E-9A5C-E7F39CBA9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344D2D-0628-479E-AF92-9738BBD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695C6-AC7F-4340-9D67-FACA26F168C3}" type="datetime1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B6117C-57E9-419A-BE1D-69DCF3BB6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0F3060-2F50-4BBD-8A38-D080EB36F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C9B4-0C41-4272-8B0E-B28D6DCC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29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4E1941-EBE7-4A3C-90BA-C467BB429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458A-00CD-4302-B5B5-A5EEDDDAB3D3}" type="datetime1">
              <a:rPr lang="en-IN" smtClean="0"/>
              <a:t>27-07-2026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2D4D93-3AA7-4EA3-ADE3-A5129A550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26CA5-AF8C-4D2E-8D7E-9ED44698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C9B4-0C41-4272-8B0E-B28D6DCC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799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EDA42-0532-4E32-8FC6-E1792C76C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06F64-37B6-4F8C-A0FC-3C9646231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543099-A19B-471D-AD77-EF291BD3C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D9960-5BAD-4E43-AF90-4DCA6C28F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E5F5-2E58-4269-B588-808C2D37F6F6}" type="datetime1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0D2EC-02EC-4B1B-8C3F-20905A537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5A536-CE52-4EA5-9731-08B3DE551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C9B4-0C41-4272-8B0E-B28D6DCC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724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5E00D-66D1-45F9-A723-3B549C609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204709-C355-4168-A38E-282600662C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24AFDB-3106-4EA0-85BF-DD868BAB5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5912C-3302-4475-883A-A8E453809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4E029-1228-4B2E-9AB0-BF5A3A4731A9}" type="datetime1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F92BF-1844-4D72-973E-5C761166D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36E2E-F87C-4539-BF68-256E9F113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C9B4-0C41-4272-8B0E-B28D6DCC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857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92BD-0CEC-4E64-888C-247F712FA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AB704-7694-46C6-B2D1-C489D1480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2ED5D-E034-42C2-84EF-A4CF54E1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9512A-1A16-4242-BCF5-45987FBF3581}" type="datetime1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6F9F6-E2E9-4B28-A2BA-101F2302A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5F03C-F702-4EF3-9DFA-EFAC7ACC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C9B4-0C41-4272-8B0E-B28D6DCC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96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06579A-441F-4181-988D-1E4792888E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0E1C40-27EF-4B88-A001-1CA838B4A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AD2DC-1298-4FD6-B259-DA5C24F08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51874-2F48-4BC3-8B04-C1F0E600F175}" type="datetime1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3B6EA-8207-4C88-9373-CAD27DCDC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E84B3-07AA-484B-A4E3-9B7E29CE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4C9B4-0C41-4272-8B0E-B28D6DCC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493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0448BC-CC00-411A-8920-5ADCBD5CD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6319A-2E40-4A88-8B57-649CE092D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F9646-1178-4E3E-A52D-34A78E5036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72918-F76F-40E5-BCF2-F1DEDC211C8F}" type="datetime1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9F934-C742-4F38-B0F3-686E3C127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B88B8-3A37-4832-9329-5878687A7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4C9B4-0C41-4272-8B0E-B28D6DCC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091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lias.signin.aws.amazon.com/consol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sts.amazonaws.com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6681" y="2816087"/>
            <a:ext cx="9982200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Identity &amp; Access Management(IAM)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11"/>
          </p:nvPr>
        </p:nvSpPr>
        <p:spPr>
          <a:xfrm rot="5400000">
            <a:off x="8951573" y="3285108"/>
            <a:ext cx="3859795" cy="185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r>
              <a:rPr lang="en-US" spc="-10"/>
              <a:t>CHAITANYA GAAJULA - ALL RIGHTS RESERVED</a:t>
            </a:r>
            <a:endParaRPr spc="-1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04274-8BC0-409B-AB56-FBE32AF7B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355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What is IAM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2"/>
            <a:ext cx="11087100" cy="3533773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AWS Identity and Access Management (IAM) is a web service that helps you securely control access to AWS resources for your users.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You can use IAM to control who can use your AWS resources (</a:t>
            </a:r>
            <a:r>
              <a:rPr lang="en-US" sz="2000" dirty="0">
                <a:solidFill>
                  <a:srgbClr val="00B0F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authentication</a:t>
            </a: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) and what resources they can use and in what ways   (</a:t>
            </a:r>
            <a:r>
              <a:rPr lang="en-US" sz="2000" dirty="0">
                <a:solidFill>
                  <a:srgbClr val="00B0F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authorization</a:t>
            </a: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).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It works on the below principles</a:t>
            </a:r>
          </a:p>
          <a:p>
            <a:pPr lvl="1">
              <a:buClr>
                <a:schemeClr val="tx1"/>
              </a:buClr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CIA (Confidentiality , Integrity and Availability),</a:t>
            </a:r>
          </a:p>
          <a:p>
            <a:pPr lvl="1">
              <a:buClr>
                <a:schemeClr val="tx1"/>
              </a:buClr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AAA (Authentication , Authorization &amp; Availability) </a:t>
            </a:r>
          </a:p>
          <a:p>
            <a:pPr lvl="1">
              <a:buClr>
                <a:schemeClr val="tx1"/>
              </a:buClr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RBAC (Role Based Access Control)</a:t>
            </a:r>
          </a:p>
          <a:p>
            <a:pPr lvl="1">
              <a:buClr>
                <a:schemeClr val="tx1"/>
              </a:buClr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Least Privilege Access</a:t>
            </a:r>
          </a:p>
          <a:p>
            <a:pPr algn="l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D39F63-1BF9-4D15-86F6-DA137CFC8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BC3619-E10F-4F5E-AD51-55D769B7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093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IAM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7929" y="1676400"/>
            <a:ext cx="2210376" cy="1295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Shared access to AWS account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4525" y="1687286"/>
            <a:ext cx="2320849" cy="1295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Granular permissions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10895" y="1687286"/>
            <a:ext cx="2319261" cy="1295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Secure access to AWS resources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6376" y="1676400"/>
            <a:ext cx="2319261" cy="1295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Multi-factor authentication (MFA)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17929" y="3570514"/>
            <a:ext cx="2210376" cy="1295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Identity federation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04525" y="3581400"/>
            <a:ext cx="2320849" cy="1295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Identity information for assurance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10895" y="3581400"/>
            <a:ext cx="2319261" cy="1295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Eventually Consistent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06376" y="3570514"/>
            <a:ext cx="2319261" cy="1295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Free to Use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F0757C-0006-4B3C-8663-A1B61D71B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C824BE-54C5-4274-BA94-AB249E89C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920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 IAM: Identities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7929" y="1676400"/>
            <a:ext cx="2210376" cy="1295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2944" y="3352800"/>
            <a:ext cx="2320849" cy="1295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Group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496" y="4876800"/>
            <a:ext cx="2319261" cy="1295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Roles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C1878D-42FA-4612-8CBA-32995B4C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93C34-C7BA-4DC7-AB28-E02CA22C8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838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 IAM: User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2"/>
            <a:ext cx="11202888" cy="5181599"/>
          </a:xfrm>
        </p:spPr>
        <p:txBody>
          <a:bodyPr>
            <a:normAutofit/>
          </a:bodyPr>
          <a:lstStyle/>
          <a:p>
            <a:pPr marL="285750" lvl="0" indent="-285750"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Root User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When you create an AWS account, you create an AWS account root user identity—that is, the email.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When you use your root user credentials, you have complete, unrestricted access to all resources in your AWS account.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IAM User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IAM users are not separate accounts; they are users within your account. 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Each user can have its own password for access to the AWS Management Console</a:t>
            </a:r>
            <a:r>
              <a:rPr lang="en-US" sz="2000" dirty="0">
                <a:latin typeface="+mj-lt"/>
              </a:rPr>
              <a:t>. </a:t>
            </a: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An IAM user doesn't have to represent an actual person; you can create an IAM user in order to generate an access key for an application.</a:t>
            </a:r>
          </a:p>
          <a:p>
            <a:pPr marL="285750" lvl="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Federating Existing Users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If your users already have a way to be authenticated—for example, by signing in to your corporate network—you can federate those user identities into AWS.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EFE56F-1E4A-4292-978D-485F12299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E3015-D5C3-42E1-9F61-96F28B66B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252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8AE9-781F-45E3-A928-14B4F6E16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Root User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AC46F6C-DA9B-42ED-BE88-BA6CB151E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9843" y="2137134"/>
            <a:ext cx="7504887" cy="438251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424DA-D3D9-4BCB-A1AD-1F82B184D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D17E4-CB70-4619-8420-6CA8FE3DE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14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F0D99-82DD-4AF0-8E75-23CA5F49C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IAM USER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FE4A819-4682-4E22-BDC3-7453AD351A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1473" y="2338011"/>
            <a:ext cx="7164900" cy="423506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E3220-E211-4806-A3CF-F361B653F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3EE515-23C9-4585-A7DF-79A011C7B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266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 IAM: How IAM User Sign-in to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2"/>
            <a:ext cx="11202888" cy="5257799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ea typeface="Verdana" panose="020B0604030504040204" pitchFamily="34" charset="0"/>
                <a:cs typeface="Verdana" panose="020B0604030504040204" pitchFamily="34" charset="0"/>
              </a:rPr>
              <a:t>By default, the sign-in URL for your account includes your account ID.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ea typeface="Verdana" panose="020B0604030504040204" pitchFamily="34" charset="0"/>
                <a:cs typeface="Verdana" panose="020B0604030504040204" pitchFamily="34" charset="0"/>
              </a:rPr>
              <a:t>You can create a unique sign-in URL for your account so that the URL includes a name instead of an account ID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sz="1800" dirty="0"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ea typeface="Verdana" panose="020B0604030504040204" pitchFamily="34" charset="0"/>
                <a:cs typeface="Verdana" panose="020B0604030504040204" pitchFamily="34" charset="0"/>
              </a:rPr>
              <a:t>The sign-in endpoint follows this pattern:</a:t>
            </a:r>
          </a:p>
          <a:p>
            <a:pPr marL="742950" lvl="1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000FF"/>
                </a:solidFill>
                <a:ea typeface="Verdana" panose="020B0604030504040204" pitchFamily="34" charset="0"/>
                <a:cs typeface="Verdana" panose="020B0604030504040204" pitchFamily="34" charset="0"/>
                <a:hlinkClick r:id="rId2"/>
              </a:rPr>
              <a:t>https://alias.signin.aws.amazon.com/console</a:t>
            </a:r>
            <a:endParaRPr lang="en-US" sz="1800" dirty="0">
              <a:solidFill>
                <a:srgbClr val="0000FF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sz="1800" dirty="0">
              <a:solidFill>
                <a:srgbClr val="0000FF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>
                <a:ea typeface="Verdana" panose="020B0604030504040204" pitchFamily="34" charset="0"/>
                <a:cs typeface="Verdana" panose="020B0604030504040204" pitchFamily="34" charset="0"/>
              </a:rPr>
              <a:t>IAM </a:t>
            </a:r>
            <a:r>
              <a:rPr lang="en-US" sz="1800" dirty="0">
                <a:ea typeface="Verdana" panose="020B0604030504040204" pitchFamily="34" charset="0"/>
                <a:cs typeface="Verdana" panose="020B0604030504040204" pitchFamily="34" charset="0"/>
              </a:rPr>
              <a:t>users in your account have access only to the authorised AWS resources</a:t>
            </a:r>
            <a:br>
              <a:rPr lang="en-US" dirty="0"/>
            </a:br>
            <a:endParaRPr lang="en-US" sz="18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image9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6348" y="1676400"/>
            <a:ext cx="6478687" cy="1143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6CA0363-3050-4E07-BE6A-9D502226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7313D-1C88-4E46-9993-056F4280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110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12416-66DC-4D5A-BA61-0E8CFBBEE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2508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 AWS </a:t>
            </a:r>
            <a:r>
              <a:rPr lang="en-IN" sz="4000" dirty="0" err="1"/>
              <a:t>IAM:Group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01B-C47B-4C80-9C81-4BBA547EF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06" y="1447800"/>
            <a:ext cx="9705448" cy="4800599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+mj-lt"/>
              </a:rPr>
              <a:t>Allows for policy assignment to multiple users at once</a:t>
            </a:r>
          </a:p>
          <a:p>
            <a:r>
              <a:rPr lang="en-IN" sz="2400" dirty="0">
                <a:latin typeface="+mj-lt"/>
              </a:rPr>
              <a:t>More efficient way to manage users and policies</a:t>
            </a:r>
          </a:p>
          <a:p>
            <a:pPr marL="0" indent="0">
              <a:buNone/>
            </a:pPr>
            <a:endParaRPr lang="en-IN" sz="2400" dirty="0">
              <a:latin typeface="+mj-lt"/>
            </a:endParaRPr>
          </a:p>
          <a:p>
            <a:pPr marL="0" indent="0">
              <a:buNone/>
            </a:pPr>
            <a:r>
              <a:rPr lang="en-IN" sz="2400" b="1" dirty="0">
                <a:latin typeface="+mj-lt"/>
              </a:rPr>
              <a:t> Best Practices: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+mj-lt"/>
              </a:rPr>
              <a:t> Organize users by functions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+mj-lt"/>
              </a:rPr>
              <a:t> Assign policies to the group , not  individual users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5C04F5-7627-4D04-A9F2-BD9A3316F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A29A6-C140-4E63-A10F-5F375D169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918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3C9A-7C0A-48A6-8139-4B7CEDEA8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Groups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E6A7E-B819-4203-8942-17F8E9B91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9A944-45EA-4386-8730-E36FC6473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10</a:t>
            </a:fld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96D56DC-2BA5-4815-ACB5-5BACB8DE3D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8443" y="2004526"/>
            <a:ext cx="8127105" cy="451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3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 IAM: Password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390" y="1676400"/>
            <a:ext cx="2210376" cy="1524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Minimum password length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2952" y="1687286"/>
            <a:ext cx="2320849" cy="151311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Require at least one uppercase letter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53576" y="1687286"/>
            <a:ext cx="2319261" cy="151311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Require at least one lowercase letter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496" y="1676400"/>
            <a:ext cx="2624140" cy="1524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Require at least one nonalphanumeric character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2802" y="3657600"/>
            <a:ext cx="2210376" cy="1524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Allow users to change their own password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2951" y="3668486"/>
            <a:ext cx="2320849" cy="151311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Enable password expiration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53576" y="3668486"/>
            <a:ext cx="2319261" cy="151311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Prevent password reuse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497" y="3657600"/>
            <a:ext cx="2624139" cy="1524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a typeface="Verdana" panose="020B0604030504040204" pitchFamily="34" charset="0"/>
                <a:cs typeface="Verdana" panose="020B0604030504040204" pitchFamily="34" charset="0"/>
              </a:rPr>
              <a:t>Password expiration requires administrator reset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60B4D27-E48E-4192-8B3F-39B151BCE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7C24DB-D7B7-4B61-BFC4-FD4ED8487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908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 IAM: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5" y="1143002"/>
            <a:ext cx="11441013" cy="5181599"/>
          </a:xfrm>
        </p:spPr>
        <p:txBody>
          <a:bodyPr>
            <a:no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Permissions let you specify who has access to AWS resources, and what actions they can perform on those resources. 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Permissions are granted through policies that are created and then attached to users, groups, or roles.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By default, IAM users can't access anything in your account. You grant permissions to a user by creating a policy.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Users in your account have multiple policies that together represent the permissions for that user.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When you give permissions to a group, all users in that group get those permissions. 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To assign permissions to federated users, you can create an entity referred to as a role and deﬁne permissions for the role.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227442-A298-442B-AA4E-49F47B91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72460-8F6C-404C-8A87-42D436EDD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714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 IAM: Permission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143002"/>
            <a:ext cx="6210419" cy="5181599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Resource-based permissions and resource-level permissions. 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Resource-based permissions are permissions you can attach directly to a resource.</a:t>
            </a:r>
          </a:p>
          <a:p>
            <a:pPr marL="457200" lvl="1" indent="0" algn="just">
              <a:buNone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Resource-level permissions refers to what actions users can perform, and what they allowed to perform</a:t>
            </a:r>
          </a:p>
          <a:p>
            <a:pPr marL="285750" lvl="0" indent="-285750" algn="just">
              <a:buFont typeface="Wingdings" panose="05000000000000000000" pitchFamily="2" charset="2"/>
              <a:buChar char="q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q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image36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9693" y="1095374"/>
            <a:ext cx="4477916" cy="515302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A04315-7D39-4115-89DD-3CD7A4769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E435B-26B0-4A66-B785-AEFE49D4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44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 IAM: Policies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1"/>
            <a:ext cx="5562620" cy="365759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Each policy is a JSON document.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 policy is a document that formally states one or more permissions.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US" sz="18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The policy document includes the following elements:</a:t>
            </a:r>
          </a:p>
          <a:p>
            <a:pPr lvl="1"/>
            <a:r>
              <a:rPr lang="en-US" sz="1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Effect </a:t>
            </a:r>
          </a:p>
          <a:p>
            <a:pPr lvl="1"/>
            <a:r>
              <a:rPr lang="en-US" sz="1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Action</a:t>
            </a:r>
          </a:p>
          <a:p>
            <a:pPr lvl="1"/>
            <a:r>
              <a:rPr lang="en-US" sz="1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Resource</a:t>
            </a:r>
          </a:p>
          <a:p>
            <a:pPr lvl="1"/>
            <a:r>
              <a:rPr lang="en-US" sz="1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Condition (Optional)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51731" y="906601"/>
            <a:ext cx="5640269" cy="5632311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{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"Version": "2012-10-17",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"Statement": [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{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"Sid": "</a:t>
            </a:r>
            <a:r>
              <a:rPr lang="en-US" sz="1200" dirty="0" err="1">
                <a:ea typeface="Verdana" panose="020B0604030504040204" pitchFamily="34" charset="0"/>
                <a:cs typeface="Verdana" panose="020B0604030504040204" pitchFamily="34" charset="0"/>
              </a:rPr>
              <a:t>FirstStatement</a:t>
            </a:r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", 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 "Effect": "Allow",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 "Action": ["</a:t>
            </a:r>
            <a:r>
              <a:rPr lang="en-US" sz="1200" dirty="0" err="1">
                <a:ea typeface="Verdana" panose="020B0604030504040204" pitchFamily="34" charset="0"/>
                <a:cs typeface="Verdana" panose="020B0604030504040204" pitchFamily="34" charset="0"/>
              </a:rPr>
              <a:t>iam:ChangePassword</a:t>
            </a:r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"], 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 "Resource": "*"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},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{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 "Sid": "</a:t>
            </a:r>
            <a:r>
              <a:rPr lang="en-US" sz="1200" dirty="0" err="1">
                <a:ea typeface="Verdana" panose="020B0604030504040204" pitchFamily="34" charset="0"/>
                <a:cs typeface="Verdana" panose="020B0604030504040204" pitchFamily="34" charset="0"/>
              </a:rPr>
              <a:t>SecondStatement</a:t>
            </a:r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", 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 "Effect": "Allow",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 "Action": "s3:ListAllMyBuckets", 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 "Resource": "*"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},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{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  "Sid": "</a:t>
            </a:r>
            <a:r>
              <a:rPr lang="en-US" sz="1200" dirty="0" err="1">
                <a:ea typeface="Verdana" panose="020B0604030504040204" pitchFamily="34" charset="0"/>
                <a:cs typeface="Verdana" panose="020B0604030504040204" pitchFamily="34" charset="0"/>
              </a:rPr>
              <a:t>ThirdStatement</a:t>
            </a:r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", 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  "Effect": "Allow", 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  "Action": [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                    "s3:List*",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                    "s3:Get*"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  ],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   "Resource": [ 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         "arn:aws:s3:::confidential-data",  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         "arn:aws:s3:::confidential-data/*"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 ],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  "Condition": {"Bool": {"aws:MultiFactorAuthPresent": "true"}}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}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]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55EB32-A5E0-405F-B2DE-B8626F2BD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B3F32-A236-4DA5-9AF1-3F784E29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403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 IAM: User Based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1"/>
            <a:ext cx="11202888" cy="2438400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Attach this policy to an IAM user or group.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User or group is allowed to perform only this one action (ListBucket) on one Amazon S3 bucket (example_bucket).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28675" y="3167269"/>
            <a:ext cx="8096250" cy="2554545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ea typeface="Verdana" panose="020B0604030504040204" pitchFamily="34" charset="0"/>
                <a:cs typeface="Verdana" panose="020B0604030504040204" pitchFamily="34" charset="0"/>
              </a:rPr>
              <a:t>{</a:t>
            </a:r>
          </a:p>
          <a:p>
            <a:r>
              <a:rPr lang="en-US" sz="2000" dirty="0">
                <a:ea typeface="Verdana" panose="020B0604030504040204" pitchFamily="34" charset="0"/>
                <a:cs typeface="Verdana" panose="020B0604030504040204" pitchFamily="34" charset="0"/>
              </a:rPr>
              <a:t>    "Version": "2012-10-17",</a:t>
            </a:r>
          </a:p>
          <a:p>
            <a:r>
              <a:rPr lang="en-US" sz="2000" dirty="0">
                <a:ea typeface="Verdana" panose="020B0604030504040204" pitchFamily="34" charset="0"/>
                <a:cs typeface="Verdana" panose="020B0604030504040204" pitchFamily="34" charset="0"/>
              </a:rPr>
              <a:t>       "Statement": { </a:t>
            </a:r>
          </a:p>
          <a:p>
            <a:r>
              <a:rPr lang="en-US" sz="2000" dirty="0">
                <a:ea typeface="Verdana" panose="020B0604030504040204" pitchFamily="34" charset="0"/>
                <a:cs typeface="Verdana" panose="020B0604030504040204" pitchFamily="34" charset="0"/>
              </a:rPr>
              <a:t>       "Effect": "Allow",</a:t>
            </a:r>
          </a:p>
          <a:p>
            <a:r>
              <a:rPr lang="en-US" sz="2000" dirty="0">
                <a:ea typeface="Verdana" panose="020B0604030504040204" pitchFamily="34" charset="0"/>
                <a:cs typeface="Verdana" panose="020B0604030504040204" pitchFamily="34" charset="0"/>
              </a:rPr>
              <a:t>       "Action": "s3:ListBucket",</a:t>
            </a:r>
          </a:p>
          <a:p>
            <a:r>
              <a:rPr lang="en-US" sz="2000" dirty="0">
                <a:ea typeface="Verdana" panose="020B0604030504040204" pitchFamily="34" charset="0"/>
                <a:cs typeface="Verdana" panose="020B0604030504040204" pitchFamily="34" charset="0"/>
              </a:rPr>
              <a:t>       "Resource": "arn:aws:s3:::example_bucket"</a:t>
            </a:r>
          </a:p>
          <a:p>
            <a:r>
              <a:rPr lang="en-US" sz="2000" dirty="0">
                <a:ea typeface="Verdana" panose="020B0604030504040204" pitchFamily="34" charset="0"/>
                <a:cs typeface="Verdana" panose="020B0604030504040204" pitchFamily="34" charset="0"/>
              </a:rPr>
              <a:t>    }</a:t>
            </a:r>
          </a:p>
          <a:p>
            <a:r>
              <a:rPr lang="en-US" sz="2000" dirty="0">
                <a:ea typeface="Verdana" panose="020B0604030504040204" pitchFamily="34" charset="0"/>
                <a:cs typeface="Verdana" panose="020B0604030504040204" pitchFamily="34" charset="0"/>
              </a:rPr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ECB1B-213B-41AF-9BCF-0896CAF72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A4E26-5A54-4267-99FD-7621DA5D5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881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89044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 IAM: Resource Based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777877"/>
            <a:ext cx="11202888" cy="2895599"/>
          </a:xfrm>
        </p:spPr>
        <p:txBody>
          <a:bodyPr>
            <a:no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 resource-based policy contains slightly diﬀerent information than a user-based policy.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sz="18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 a resource-based policy you specify what actions are permitted and what resource is aﬀected (just like a user-based policy).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sz="18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However, you also explicitly list who is allowed access to the resource. (In a user-based policy, the "who" is established by whomever the policy is attached to.)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sz="18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Resource-based policies include a Principal element that speciﬁes who is granted the permissions. 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sz="18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 algn="l">
              <a:buFont typeface="Wingdings" panose="05000000000000000000" pitchFamily="2" charset="2"/>
              <a:buChar char="Ø"/>
            </a:pPr>
            <a:endParaRPr lang="en-US" sz="18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38424" y="3861256"/>
            <a:ext cx="5820569" cy="2677656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ea typeface="Verdana" panose="020B0604030504040204" pitchFamily="34" charset="0"/>
                <a:cs typeface="Verdana" panose="020B0604030504040204" pitchFamily="34" charset="0"/>
              </a:rPr>
              <a:t>{</a:t>
            </a:r>
          </a:p>
          <a:p>
            <a:r>
              <a:rPr lang="en-US" sz="1400" dirty="0">
                <a:ea typeface="Verdana" panose="020B0604030504040204" pitchFamily="34" charset="0"/>
                <a:cs typeface="Verdana" panose="020B0604030504040204" pitchFamily="34" charset="0"/>
              </a:rPr>
              <a:t>	"Version": "2012-10-17",</a:t>
            </a:r>
          </a:p>
          <a:p>
            <a:r>
              <a:rPr lang="en-US" sz="1400" dirty="0">
                <a:ea typeface="Verdana" panose="020B0604030504040204" pitchFamily="34" charset="0"/>
                <a:cs typeface="Verdana" panose="020B0604030504040204" pitchFamily="34" charset="0"/>
              </a:rPr>
              <a:t>	"Statement": { </a:t>
            </a:r>
          </a:p>
          <a:p>
            <a:r>
              <a:rPr lang="en-US" sz="1400" dirty="0">
                <a:ea typeface="Verdana" panose="020B0604030504040204" pitchFamily="34" charset="0"/>
                <a:cs typeface="Verdana" panose="020B0604030504040204" pitchFamily="34" charset="0"/>
              </a:rPr>
              <a:t>	"Effect": "Allow",</a:t>
            </a:r>
          </a:p>
          <a:p>
            <a:r>
              <a:rPr lang="en-US" sz="1400" dirty="0">
                <a:ea typeface="Verdana" panose="020B0604030504040204" pitchFamily="34" charset="0"/>
                <a:cs typeface="Verdana" panose="020B0604030504040204" pitchFamily="34" charset="0"/>
              </a:rPr>
              <a:t>	"Principal": {"AWS": "</a:t>
            </a:r>
            <a:r>
              <a:rPr lang="en-US" sz="1400" dirty="0" err="1">
                <a:ea typeface="Verdana" panose="020B0604030504040204" pitchFamily="34" charset="0"/>
                <a:cs typeface="Verdana" panose="020B0604030504040204" pitchFamily="34" charset="0"/>
              </a:rPr>
              <a:t>arn:aws:iam</a:t>
            </a:r>
            <a:r>
              <a:rPr lang="en-US" sz="1400" dirty="0">
                <a:ea typeface="Verdana" panose="020B0604030504040204" pitchFamily="34" charset="0"/>
                <a:cs typeface="Verdana" panose="020B0604030504040204" pitchFamily="34" charset="0"/>
              </a:rPr>
              <a:t>::777788889999:user/bob"}, </a:t>
            </a:r>
          </a:p>
          <a:p>
            <a:r>
              <a:rPr lang="en-US" sz="1400" dirty="0">
                <a:ea typeface="Verdana" panose="020B0604030504040204" pitchFamily="34" charset="0"/>
                <a:cs typeface="Verdana" panose="020B0604030504040204" pitchFamily="34" charset="0"/>
              </a:rPr>
              <a:t>	"Action": [</a:t>
            </a:r>
          </a:p>
          <a:p>
            <a:r>
              <a:rPr lang="en-US" sz="1400" dirty="0">
                <a:ea typeface="Verdana" panose="020B0604030504040204" pitchFamily="34" charset="0"/>
                <a:cs typeface="Verdana" panose="020B0604030504040204" pitchFamily="34" charset="0"/>
              </a:rPr>
              <a:t>		"s3:PutObject", “</a:t>
            </a:r>
          </a:p>
          <a:p>
            <a:r>
              <a:rPr lang="en-US" sz="1400" dirty="0">
                <a:ea typeface="Verdana" panose="020B0604030504040204" pitchFamily="34" charset="0"/>
                <a:cs typeface="Verdana" panose="020B0604030504040204" pitchFamily="34" charset="0"/>
              </a:rPr>
              <a:t>		  s3:PutObjectAcl"</a:t>
            </a:r>
          </a:p>
          <a:p>
            <a:r>
              <a:rPr lang="en-US" sz="1400" dirty="0">
                <a:ea typeface="Verdana" panose="020B0604030504040204" pitchFamily="34" charset="0"/>
                <a:cs typeface="Verdana" panose="020B0604030504040204" pitchFamily="34" charset="0"/>
              </a:rPr>
              <a:t>	],</a:t>
            </a:r>
          </a:p>
          <a:p>
            <a:r>
              <a:rPr lang="en-US" sz="1400" dirty="0">
                <a:ea typeface="Verdana" panose="020B0604030504040204" pitchFamily="34" charset="0"/>
                <a:cs typeface="Verdana" panose="020B0604030504040204" pitchFamily="34" charset="0"/>
              </a:rPr>
              <a:t>	"Resource": "arn:aws:s3:::example-bucket/*"</a:t>
            </a:r>
          </a:p>
          <a:p>
            <a:r>
              <a:rPr lang="en-US" sz="1400" dirty="0">
                <a:ea typeface="Verdana" panose="020B0604030504040204" pitchFamily="34" charset="0"/>
                <a:cs typeface="Verdana" panose="020B0604030504040204" pitchFamily="34" charset="0"/>
              </a:rPr>
              <a:t>	}</a:t>
            </a:r>
          </a:p>
          <a:p>
            <a:r>
              <a:rPr lang="en-US" sz="1400" dirty="0">
                <a:ea typeface="Verdana" panose="020B0604030504040204" pitchFamily="34" charset="0"/>
                <a:cs typeface="Verdana" panose="020B0604030504040204" pitchFamily="34" charset="0"/>
              </a:rPr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6FCE5-26B3-48B3-95E5-E89A7EE25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733EB-53A7-4548-AC34-4C6804B2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111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 IAM: Resource Based Permission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1"/>
            <a:ext cx="11202888" cy="2377856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For resource-based permissions, attach a policy to the resource, such as an S3 Bucket.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Include, who is allowed to access the resource, known as the Principal.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This Policy attached to an Amazon S3 bucket and grants permission to a speciﬁc AWS account to perform any Amazon S3 actions in </a:t>
            </a:r>
            <a:r>
              <a:rPr lang="en-US" sz="1800" dirty="0" err="1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mybucket</a:t>
            </a:r>
            <a:r>
              <a:rPr lang="en-US" sz="1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This includes both working with the bucket and with the objects in it. </a:t>
            </a:r>
          </a:p>
        </p:txBody>
      </p:sp>
      <p:sp>
        <p:nvSpPr>
          <p:cNvPr id="2" name="Rectangle 1"/>
          <p:cNvSpPr/>
          <p:nvPr/>
        </p:nvSpPr>
        <p:spPr>
          <a:xfrm>
            <a:off x="1980128" y="3799344"/>
            <a:ext cx="7850644" cy="2677656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{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"Version": "2012-10-17",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"Id": "S3-Account-Permissions", 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"Statement": [{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"Sid": "1",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"Effect": "Allow",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"Principal": {"AWS": ["</a:t>
            </a:r>
            <a:r>
              <a:rPr lang="en-US" sz="1200" dirty="0" err="1">
                <a:ea typeface="Verdana" panose="020B0604030504040204" pitchFamily="34" charset="0"/>
                <a:cs typeface="Verdana" panose="020B0604030504040204" pitchFamily="34" charset="0"/>
              </a:rPr>
              <a:t>arn:aws:iam</a:t>
            </a:r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::</a:t>
            </a:r>
            <a:r>
              <a:rPr lang="en-US" sz="1200" dirty="0" err="1">
                <a:ea typeface="Verdana" panose="020B0604030504040204" pitchFamily="34" charset="0"/>
                <a:cs typeface="Verdana" panose="020B0604030504040204" pitchFamily="34" charset="0"/>
              </a:rPr>
              <a:t>ACCOUNT-ID-WITHOUT-HYPHENS:root</a:t>
            </a:r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"]}, 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"Action": "s3:*",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"Resource": [ 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"arn:aws:s3:::</a:t>
            </a:r>
            <a:r>
              <a:rPr lang="en-US" sz="1200" dirty="0" err="1">
                <a:ea typeface="Verdana" panose="020B0604030504040204" pitchFamily="34" charset="0"/>
                <a:cs typeface="Verdana" panose="020B0604030504040204" pitchFamily="34" charset="0"/>
              </a:rPr>
              <a:t>mybucket</a:t>
            </a:r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",  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  "arn:aws:s3:::</a:t>
            </a:r>
            <a:r>
              <a:rPr lang="en-US" sz="1200" dirty="0" err="1">
                <a:ea typeface="Verdana" panose="020B0604030504040204" pitchFamily="34" charset="0"/>
                <a:cs typeface="Verdana" panose="020B0604030504040204" pitchFamily="34" charset="0"/>
              </a:rPr>
              <a:t>mybucket</a:t>
            </a:r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/*"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   ]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  }]</a:t>
            </a:r>
          </a:p>
          <a:p>
            <a:r>
              <a:rPr lang="en-US" sz="1200" dirty="0">
                <a:ea typeface="Verdana" panose="020B0604030504040204" pitchFamily="34" charset="0"/>
                <a:cs typeface="Verdana" panose="020B0604030504040204" pitchFamily="34" charset="0"/>
              </a:rPr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65507-8754-4D79-8B92-A1FE9923E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E8D85-63E6-4049-BA8E-0ED18EB84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946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 IAM: Policies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7845" y="2005692"/>
            <a:ext cx="2913481" cy="244248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AWS Managed </a:t>
            </a:r>
          </a:p>
          <a:p>
            <a:pPr algn="ctr"/>
            <a:r>
              <a:rPr lang="en-US" dirty="0">
                <a:solidFill>
                  <a:schemeClr val="tx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Job Based Policies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9100" y="2005691"/>
            <a:ext cx="2912687" cy="244248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Customer Managed Policies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573BBE-42DF-4008-A911-AA2651D35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6DE2D3-263C-42CD-8288-C1FBA46E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18</a:t>
            </a:fld>
            <a:endParaRPr lang="en-IN"/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CC27ED85-CBA7-409C-BA64-A9B1B0C6BB47}"/>
              </a:ext>
            </a:extLst>
          </p:cNvPr>
          <p:cNvSpPr/>
          <p:nvPr/>
        </p:nvSpPr>
        <p:spPr>
          <a:xfrm>
            <a:off x="264008" y="2005692"/>
            <a:ext cx="2913481" cy="244248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AWS Managed </a:t>
            </a:r>
          </a:p>
          <a:p>
            <a:pPr algn="ctr"/>
            <a:r>
              <a:rPr lang="en-US" dirty="0">
                <a:solidFill>
                  <a:schemeClr val="tx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Service Based Policies</a:t>
            </a:r>
          </a:p>
        </p:txBody>
      </p:sp>
    </p:spTree>
    <p:extLst>
      <p:ext uri="{BB962C8B-B14F-4D97-AF65-F5344CB8AC3E}">
        <p14:creationId xmlns:p14="http://schemas.microsoft.com/office/powerpoint/2010/main" val="1201114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a typeface="Verdana" panose="020B0604030504040204" pitchFamily="34" charset="0"/>
                <a:cs typeface="Verdana" panose="020B0604030504040204" pitchFamily="34" charset="0"/>
              </a:rPr>
              <a:t>AWS IAM: Request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1044575"/>
            <a:ext cx="5867499" cy="5105399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When a request is made, the AWS service decides whether a given request should be allowed or denied</a:t>
            </a:r>
            <a:r>
              <a:rPr lang="en-US" sz="2200" dirty="0">
                <a:latin typeface="+mj-lt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The evaluation logic follows these rules: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By default, all requests are denied. 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An explicit allow overrides this default.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An explicit deny overrides any allows.</a:t>
            </a:r>
          </a:p>
        </p:txBody>
      </p:sp>
      <p:pic>
        <p:nvPicPr>
          <p:cNvPr id="5" name="image75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9851" y="939065"/>
            <a:ext cx="5323406" cy="4811858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6AB25B-A9D6-4470-A68A-C3222ECD6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EA414-9645-4191-9CAD-DDA08779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903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3D144-E2F9-4C03-8EB2-7AB9747B1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36525"/>
            <a:ext cx="10515600" cy="1325563"/>
          </a:xfrm>
        </p:spPr>
        <p:txBody>
          <a:bodyPr/>
          <a:lstStyle/>
          <a:p>
            <a:r>
              <a:rPr lang="en-IN" dirty="0"/>
              <a:t>Access Advisor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86895-069D-4E53-8152-C05216F12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835" y="1231424"/>
            <a:ext cx="9404723" cy="16356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+mj-lt"/>
              </a:rPr>
              <a:t>Users should have few permissions as much possible (Least Privilege)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+mj-lt"/>
              </a:rPr>
              <a:t>Access Advisor is for auditing permissions , unused permissions to be identified.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+mj-lt"/>
              </a:rPr>
              <a:t>Can be used for  Users, Groups and Roles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20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87F23-7760-4D26-9FD0-D3DF60AB8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A83822-0119-484C-A93D-7C8079B2D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20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3F8A3B-DCFE-4F3E-9F69-B1E6E1A2C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35" y="2958485"/>
            <a:ext cx="11463131" cy="273746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91814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8E21C-0429-40C9-B5F7-EF589EE94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07"/>
            <a:ext cx="10877550" cy="1325563"/>
          </a:xfrm>
        </p:spPr>
        <p:txBody>
          <a:bodyPr/>
          <a:lstStyle/>
          <a:p>
            <a:r>
              <a:rPr lang="en-IN" dirty="0"/>
              <a:t>IAM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16778-3DA1-4FDF-ADD9-7C341E6FD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340" y="1338470"/>
            <a:ext cx="10410410" cy="490992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IAM roles are a secure way to grant permissions to entities that you trust.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200" dirty="0">
              <a:latin typeface="+mj-lt"/>
            </a:endParaRPr>
          </a:p>
          <a:p>
            <a:pPr marL="0" indent="0">
              <a:buNone/>
            </a:pPr>
            <a:r>
              <a:rPr lang="en-US" sz="2200" b="1" u="sng" dirty="0">
                <a:latin typeface="+mj-lt"/>
              </a:rPr>
              <a:t>Examples of entities include the following: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IAM user in another account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Application code running on an EC2 instance that needs to perform actions on AWS resources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An AWS service that needs to act on resources in your account to provide its features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Users from a corporate directory who use identity federation with SAML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IAM roles issue keys that are valid for short durations, making them a more secure way to grant access.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20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F8B7CC-D85F-4CBA-AD58-430D3357C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C7C5B-B352-4731-AA37-204DCB6AB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329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AWS IAM: IAM Role to EC2 Instance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1143002"/>
            <a:ext cx="11507688" cy="144779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Use an IAM role to manage </a:t>
            </a:r>
            <a:r>
              <a:rPr lang="en-US" sz="2200" i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temporary credentials </a:t>
            </a: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for applications that run on an EC2 instance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The role supplies temporary permissions that applications can use when they make calls to other AWS resources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image32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3667" y="2667000"/>
            <a:ext cx="7317105" cy="36576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2F8A4DD-094A-4BF2-AF13-ADD046435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9B58C6-BBBE-4141-8420-D5BF14A9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0937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48FD7-86F5-4662-AFEC-55CE48204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115519"/>
            <a:ext cx="10515600" cy="1325563"/>
          </a:xfrm>
        </p:spPr>
        <p:txBody>
          <a:bodyPr/>
          <a:lstStyle/>
          <a:p>
            <a:r>
              <a:rPr lang="en-IN" dirty="0"/>
              <a:t>Identity Federation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76A84-E541-49B8-9779-1E019EA8B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1447800"/>
            <a:ext cx="10648122" cy="480059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+mj-lt"/>
              </a:rPr>
              <a:t>Federation</a:t>
            </a:r>
            <a:r>
              <a:rPr lang="en-IN" sz="2200" dirty="0">
                <a:latin typeface="+mj-lt"/>
              </a:rPr>
              <a:t> : Provide a non-AWS user temporary AWS access by linking that user ‘s identity across multiple identity systems.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200" dirty="0">
              <a:latin typeface="+mj-lt"/>
            </a:endParaRPr>
          </a:p>
          <a:p>
            <a:pPr marL="0" indent="0">
              <a:buNone/>
            </a:pPr>
            <a:endParaRPr lang="en-IN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+mj-lt"/>
              </a:rPr>
              <a:t>Federation with Third Party Providers:</a:t>
            </a:r>
          </a:p>
          <a:p>
            <a:pPr lvl="1"/>
            <a:r>
              <a:rPr lang="en-IN" sz="1800" dirty="0">
                <a:latin typeface="+mj-lt"/>
              </a:rPr>
              <a:t>Used in Web and Mobile Applications</a:t>
            </a:r>
          </a:p>
          <a:p>
            <a:pPr lvl="1"/>
            <a:r>
              <a:rPr lang="en-IN" sz="1800" dirty="0">
                <a:latin typeface="+mj-lt"/>
              </a:rPr>
              <a:t>AWS Cognito allows for</a:t>
            </a:r>
          </a:p>
          <a:p>
            <a:pPr marL="457200" lvl="1" indent="0">
              <a:buNone/>
            </a:pPr>
            <a:r>
              <a:rPr lang="en-IN" sz="1800" dirty="0">
                <a:latin typeface="+mj-lt"/>
              </a:rPr>
              <a:t>      - Creation of unique identities for users</a:t>
            </a:r>
          </a:p>
          <a:p>
            <a:pPr marL="457200" lvl="1" indent="0">
              <a:buNone/>
            </a:pPr>
            <a:r>
              <a:rPr lang="en-IN" sz="1800" dirty="0">
                <a:latin typeface="+mj-lt"/>
              </a:rPr>
              <a:t>    -  Use Identity Providers to federate</a:t>
            </a:r>
          </a:p>
          <a:p>
            <a:pPr lvl="1"/>
            <a:r>
              <a:rPr lang="en-IN" sz="1800" dirty="0">
                <a:latin typeface="+mj-lt"/>
              </a:rPr>
              <a:t>Example Providers : Facebook , Google , Amazon etc..</a:t>
            </a:r>
          </a:p>
          <a:p>
            <a:pPr marL="0" indent="0">
              <a:buNone/>
            </a:pPr>
            <a:r>
              <a:rPr lang="en-IN" sz="2200" dirty="0">
                <a:latin typeface="+mj-lt"/>
              </a:rPr>
              <a:t>       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A621B1-56F2-466F-B942-3F5FFB8F2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22296-3538-4738-B1BA-94DB556C7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23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BFD5F8-425B-424A-8B7C-2F24C7687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700" y="2316485"/>
            <a:ext cx="5581650" cy="322230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77158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215CB-D307-4C17-9974-9BAB1D2E3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Establishing SSO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BC6C6-EB8A-4206-9B5B-5F2D041BC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550504"/>
            <a:ext cx="10880120" cy="46978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200" b="1" u="sng" dirty="0">
                <a:latin typeface="+mj-lt"/>
              </a:rPr>
              <a:t>Using SAML 2.0</a:t>
            </a:r>
          </a:p>
          <a:p>
            <a:r>
              <a:rPr lang="en-IN" sz="2200" dirty="0">
                <a:latin typeface="+mj-lt"/>
              </a:rPr>
              <a:t>Used in enterprise environments with and existing directory system – Active Directory, LDAP etc.</a:t>
            </a:r>
          </a:p>
          <a:p>
            <a:r>
              <a:rPr lang="en-IN" sz="2200" dirty="0">
                <a:latin typeface="+mj-lt"/>
              </a:rPr>
              <a:t>Federated Users can access AWS resources using their corporate domain accounts</a:t>
            </a:r>
          </a:p>
          <a:p>
            <a:r>
              <a:rPr lang="en-IN" sz="2200" dirty="0">
                <a:latin typeface="+mj-lt"/>
              </a:rPr>
              <a:t>Also helps user management by allowing central management of accounts</a:t>
            </a:r>
          </a:p>
          <a:p>
            <a:pPr marL="0" indent="0">
              <a:buNone/>
            </a:pPr>
            <a:endParaRPr lang="en-IN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u="sng" dirty="0">
                <a:latin typeface="+mj-lt"/>
              </a:rPr>
              <a:t>Without SAML</a:t>
            </a:r>
          </a:p>
          <a:p>
            <a:r>
              <a:rPr lang="en-IN" sz="2200" dirty="0">
                <a:latin typeface="+mj-lt"/>
              </a:rPr>
              <a:t>AWS Directory Service for Microsoft Directory</a:t>
            </a:r>
          </a:p>
          <a:p>
            <a:r>
              <a:rPr lang="en-IN" sz="2200" dirty="0">
                <a:latin typeface="+mj-lt"/>
              </a:rPr>
              <a:t>Allows for Windows Trust Relationship to be built between On-Premises AD and AWS     Microsoft AD in the cloud.</a:t>
            </a:r>
          </a:p>
          <a:p>
            <a:pPr marL="0" indent="0">
              <a:buNone/>
            </a:pPr>
            <a:endParaRPr lang="en-IN" sz="2200" dirty="0">
              <a:latin typeface="+mj-lt"/>
            </a:endParaRPr>
          </a:p>
          <a:p>
            <a:endParaRPr lang="en-IN" sz="2200" dirty="0">
              <a:latin typeface="+mj-lt"/>
            </a:endParaRPr>
          </a:p>
          <a:p>
            <a:endParaRPr lang="en-IN" sz="220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810A8-4760-4E67-B34C-0A07ED5A7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6CF57-C40A-46B1-BDBE-1FC7EC8F5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166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55539-9992-4407-AD53-F64A374B1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IN" dirty="0"/>
              <a:t>Security Token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88EE-6270-4FD8-90D4-DD25FDF79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22" y="1338470"/>
            <a:ext cx="9612531" cy="490992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+mj-lt"/>
              </a:rPr>
              <a:t>Allows for management of temporary security credentials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+mj-lt"/>
              </a:rPr>
              <a:t>Allows for granular control of how long the access must be </a:t>
            </a:r>
            <a:r>
              <a:rPr lang="en-IN" sz="2200" dirty="0" err="1">
                <a:latin typeface="+mj-lt"/>
              </a:rPr>
              <a:t>active.Default</a:t>
            </a:r>
            <a:r>
              <a:rPr lang="en-IN" sz="2200" dirty="0">
                <a:latin typeface="+mj-lt"/>
              </a:rPr>
              <a:t> is 1 hr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+mj-lt"/>
              </a:rPr>
              <a:t>Credentials are not stored with the user , rather token is provided for every access request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+mj-lt"/>
              </a:rPr>
              <a:t>Uses a single endpoint  - </a:t>
            </a:r>
            <a:r>
              <a:rPr lang="en-IN" sz="2200" dirty="0">
                <a:latin typeface="+mj-lt"/>
                <a:hlinkClick r:id="rId2"/>
              </a:rPr>
              <a:t>https://sts.amazonaws.com</a:t>
            </a:r>
            <a:endParaRPr lang="en-IN" sz="2200" dirty="0">
              <a:latin typeface="+mj-lt"/>
            </a:endParaRPr>
          </a:p>
          <a:p>
            <a:pPr marL="0" indent="0">
              <a:buNone/>
            </a:pPr>
            <a:r>
              <a:rPr lang="en-IN" sz="2200" dirty="0">
                <a:latin typeface="+mj-lt"/>
              </a:rPr>
              <a:t>       - Resides in us-east-1(North Virginia)</a:t>
            </a:r>
          </a:p>
          <a:p>
            <a:pPr marL="0" indent="0">
              <a:buNone/>
            </a:pPr>
            <a:r>
              <a:rPr lang="en-IN" sz="2200" dirty="0">
                <a:latin typeface="+mj-lt"/>
              </a:rPr>
              <a:t>        </a:t>
            </a:r>
          </a:p>
          <a:p>
            <a:pPr marL="0" indent="0">
              <a:buNone/>
            </a:pPr>
            <a:r>
              <a:rPr lang="en-IN" sz="2200" dirty="0">
                <a:latin typeface="+mj-lt"/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63598-264E-4E0B-AF8A-85451F4F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CHAITANYA GAAJULA - ALL RIGHTS RESERVED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77DD1-5E4B-4520-B054-4063F174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2776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5616" y="3261995"/>
            <a:ext cx="2635885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spc="-5" dirty="0">
                <a:latin typeface="Calibri Light" panose="020F0302020204030204" pitchFamily="34" charset="0"/>
                <a:cs typeface="Calibri Light" panose="020F0302020204030204" pitchFamily="34" charset="0"/>
              </a:rPr>
              <a:t>Thank</a:t>
            </a:r>
            <a:r>
              <a:rPr sz="4800" spc="-8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sz="4800" spc="-135" dirty="0">
                <a:latin typeface="Calibri Light" panose="020F0302020204030204" pitchFamily="34" charset="0"/>
                <a:cs typeface="Calibri Light" panose="020F0302020204030204" pitchFamily="34" charset="0"/>
              </a:rPr>
              <a:t>You</a:t>
            </a:r>
            <a:endParaRPr sz="4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r>
              <a:rPr lang="en-US" spc="-5"/>
              <a:t>CHAITANYA GAAJULA - ALL RIGHTS RESERVED</a:t>
            </a:r>
            <a:endParaRPr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26A2A-8B7F-46FE-B7A2-00F388F7D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13F3F-B775-4D4E-B921-D845C01B31E6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706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1857</Words>
  <Application>Microsoft Office PowerPoint</Application>
  <PresentationFormat>Widescreen</PresentationFormat>
  <Paragraphs>302</Paragraphs>
  <Slides>26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Courier New</vt:lpstr>
      <vt:lpstr>Verdana</vt:lpstr>
      <vt:lpstr>Wingdings</vt:lpstr>
      <vt:lpstr>Office Theme</vt:lpstr>
      <vt:lpstr>PowerPoint Presentation</vt:lpstr>
      <vt:lpstr>What is IAM</vt:lpstr>
      <vt:lpstr>IAM Features</vt:lpstr>
      <vt:lpstr>AWS IAM: Identities</vt:lpstr>
      <vt:lpstr>AWS IAM: User Types</vt:lpstr>
      <vt:lpstr>Root User</vt:lpstr>
      <vt:lpstr> IAM USER</vt:lpstr>
      <vt:lpstr>AWS IAM: How IAM User Sign-in to Account</vt:lpstr>
      <vt:lpstr> AWS IAM:Group</vt:lpstr>
      <vt:lpstr>Groups</vt:lpstr>
      <vt:lpstr>AWS IAM: Password Policy</vt:lpstr>
      <vt:lpstr>AWS IAM: Permissions</vt:lpstr>
      <vt:lpstr>AWS IAM: Permission Types</vt:lpstr>
      <vt:lpstr>AWS IAM: Policies Structure</vt:lpstr>
      <vt:lpstr>AWS IAM: User Based Policies</vt:lpstr>
      <vt:lpstr>AWS IAM: Resource Based Policy</vt:lpstr>
      <vt:lpstr>AWS IAM: Resource Based Permission</vt:lpstr>
      <vt:lpstr>AWS IAM: Policies Types</vt:lpstr>
      <vt:lpstr>AWS IAM: Request Flow</vt:lpstr>
      <vt:lpstr>Access Advisor</vt:lpstr>
      <vt:lpstr>IAM Roles</vt:lpstr>
      <vt:lpstr>AWS IAM: IAM Role to EC2 Instance</vt:lpstr>
      <vt:lpstr>Identity Federation</vt:lpstr>
      <vt:lpstr>Establishing SSO</vt:lpstr>
      <vt:lpstr>Security Token Service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Chaitanya Gaajula</dc:creator>
  <cp:lastModifiedBy>Chaitanya Gaajula</cp:lastModifiedBy>
  <cp:revision>9</cp:revision>
  <dcterms:created xsi:type="dcterms:W3CDTF">2020-05-17T13:34:50Z</dcterms:created>
  <dcterms:modified xsi:type="dcterms:W3CDTF">2026-07-27T06:50:15Z</dcterms:modified>
</cp:coreProperties>
</file>