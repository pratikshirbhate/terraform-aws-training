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1" r:id="rId2"/>
    <p:sldId id="373" r:id="rId3"/>
    <p:sldId id="1685" r:id="rId4"/>
    <p:sldId id="716" r:id="rId5"/>
    <p:sldId id="257" r:id="rId6"/>
    <p:sldId id="1640" r:id="rId7"/>
    <p:sldId id="1686" r:id="rId8"/>
    <p:sldId id="276" r:id="rId9"/>
    <p:sldId id="724" r:id="rId10"/>
    <p:sldId id="281" r:id="rId11"/>
    <p:sldId id="282" r:id="rId12"/>
    <p:sldId id="283" r:id="rId13"/>
    <p:sldId id="284" r:id="rId14"/>
    <p:sldId id="1489" r:id="rId15"/>
    <p:sldId id="1485" r:id="rId16"/>
    <p:sldId id="1676" r:id="rId17"/>
    <p:sldId id="1488" r:id="rId18"/>
    <p:sldId id="296" r:id="rId19"/>
    <p:sldId id="1511" r:id="rId20"/>
    <p:sldId id="1469" r:id="rId21"/>
    <p:sldId id="1466" r:id="rId22"/>
    <p:sldId id="734" r:id="rId23"/>
    <p:sldId id="818" r:id="rId24"/>
    <p:sldId id="819" r:id="rId25"/>
    <p:sldId id="820" r:id="rId26"/>
    <p:sldId id="737" r:id="rId27"/>
    <p:sldId id="738" r:id="rId28"/>
    <p:sldId id="1514" r:id="rId29"/>
    <p:sldId id="822" r:id="rId30"/>
    <p:sldId id="2208" r:id="rId31"/>
    <p:sldId id="26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zUPdZc3l7WYfabgCYhlAzg==" hashData="Ye0TE/OhKw/lrwIv/cuG8K+A87ioGjhozbaEz7mb1KZaIB3wG6UI7c40iKJAGKyPmYHKE95X4v87IUDBHTKEy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8FA86-09E9-4ECB-BAE4-BD926DA51745}" v="1" dt="2024-12-03T17:45:49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#3" qsCatId="simple" csTypeId="urn:microsoft.com/office/officeart/2005/8/colors/accent1_2#3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err="1"/>
            <a:t>init</a:t>
          </a:r>
          <a:endParaRPr lang="en-GB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#4" qsCatId="simple" csTypeId="urn:microsoft.com/office/officeart/2005/8/colors/accent1_2#4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err="1"/>
            <a:t>init</a:t>
          </a:r>
          <a:endParaRPr lang="en-GB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2921" y="978692"/>
          <a:ext cx="2600221" cy="1040088"/>
        </a:xfrm>
        <a:prstGeom prst="chevron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err="1"/>
            <a:t>init</a:t>
          </a:r>
          <a:endParaRPr lang="en-GB" sz="3400" kern="1200"/>
        </a:p>
      </dsp:txBody>
      <dsp:txXfrm>
        <a:off x="522965" y="978692"/>
        <a:ext cx="1560133" cy="1040088"/>
      </dsp:txXfrm>
    </dsp:sp>
    <dsp:sp modelId="{F3F5304F-B7FB-B345-8139-093CF3A9A474}">
      <dsp:nvSpPr>
        <dsp:cNvPr id="0" name=""/>
        <dsp:cNvSpPr/>
      </dsp:nvSpPr>
      <dsp:spPr>
        <a:xfrm>
          <a:off x="2343121" y="978692"/>
          <a:ext cx="2600221" cy="1040088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validate</a:t>
          </a:r>
        </a:p>
      </dsp:txBody>
      <dsp:txXfrm>
        <a:off x="2863165" y="978692"/>
        <a:ext cx="1560133" cy="1040088"/>
      </dsp:txXfrm>
    </dsp:sp>
    <dsp:sp modelId="{5C64987E-048B-9447-A4A9-302C198DFBD7}">
      <dsp:nvSpPr>
        <dsp:cNvPr id="0" name=""/>
        <dsp:cNvSpPr/>
      </dsp:nvSpPr>
      <dsp:spPr>
        <a:xfrm>
          <a:off x="4683320" y="978692"/>
          <a:ext cx="2600221" cy="1040088"/>
        </a:xfrm>
        <a:prstGeom prst="chevron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plan</a:t>
          </a:r>
        </a:p>
      </dsp:txBody>
      <dsp:txXfrm>
        <a:off x="5203364" y="978692"/>
        <a:ext cx="1560133" cy="1040088"/>
      </dsp:txXfrm>
    </dsp:sp>
    <dsp:sp modelId="{8954FAC8-3D3F-4843-A4C1-704D07721619}">
      <dsp:nvSpPr>
        <dsp:cNvPr id="0" name=""/>
        <dsp:cNvSpPr/>
      </dsp:nvSpPr>
      <dsp:spPr>
        <a:xfrm>
          <a:off x="7023520" y="978692"/>
          <a:ext cx="2600221" cy="1040088"/>
        </a:xfrm>
        <a:prstGeom prst="chevron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apply</a:t>
          </a:r>
        </a:p>
      </dsp:txBody>
      <dsp:txXfrm>
        <a:off x="7543564" y="978692"/>
        <a:ext cx="1560133" cy="1040088"/>
      </dsp:txXfrm>
    </dsp:sp>
    <dsp:sp modelId="{5C8D29A2-549D-2F46-BAE7-AFBA252E9BA4}">
      <dsp:nvSpPr>
        <dsp:cNvPr id="0" name=""/>
        <dsp:cNvSpPr/>
      </dsp:nvSpPr>
      <dsp:spPr>
        <a:xfrm>
          <a:off x="9363719" y="978692"/>
          <a:ext cx="2600221" cy="1040088"/>
        </a:xfrm>
        <a:prstGeom prst="chevron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destroy</a:t>
          </a:r>
        </a:p>
      </dsp:txBody>
      <dsp:txXfrm>
        <a:off x="9883763" y="978692"/>
        <a:ext cx="1560133" cy="1040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2921" y="978692"/>
          <a:ext cx="2600221" cy="1040088"/>
        </a:xfrm>
        <a:prstGeom prst="chevron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err="1"/>
            <a:t>init</a:t>
          </a:r>
          <a:endParaRPr lang="en-GB" sz="3400" kern="1200"/>
        </a:p>
      </dsp:txBody>
      <dsp:txXfrm>
        <a:off x="522965" y="978692"/>
        <a:ext cx="1560133" cy="1040088"/>
      </dsp:txXfrm>
    </dsp:sp>
    <dsp:sp modelId="{F3F5304F-B7FB-B345-8139-093CF3A9A474}">
      <dsp:nvSpPr>
        <dsp:cNvPr id="0" name=""/>
        <dsp:cNvSpPr/>
      </dsp:nvSpPr>
      <dsp:spPr>
        <a:xfrm>
          <a:off x="2343121" y="978692"/>
          <a:ext cx="2600221" cy="1040088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validate</a:t>
          </a:r>
        </a:p>
      </dsp:txBody>
      <dsp:txXfrm>
        <a:off x="2863165" y="978692"/>
        <a:ext cx="1560133" cy="1040088"/>
      </dsp:txXfrm>
    </dsp:sp>
    <dsp:sp modelId="{5C64987E-048B-9447-A4A9-302C198DFBD7}">
      <dsp:nvSpPr>
        <dsp:cNvPr id="0" name=""/>
        <dsp:cNvSpPr/>
      </dsp:nvSpPr>
      <dsp:spPr>
        <a:xfrm>
          <a:off x="4683320" y="978692"/>
          <a:ext cx="2600221" cy="1040088"/>
        </a:xfrm>
        <a:prstGeom prst="chevron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plan</a:t>
          </a:r>
        </a:p>
      </dsp:txBody>
      <dsp:txXfrm>
        <a:off x="5203364" y="978692"/>
        <a:ext cx="1560133" cy="1040088"/>
      </dsp:txXfrm>
    </dsp:sp>
    <dsp:sp modelId="{8954FAC8-3D3F-4843-A4C1-704D07721619}">
      <dsp:nvSpPr>
        <dsp:cNvPr id="0" name=""/>
        <dsp:cNvSpPr/>
      </dsp:nvSpPr>
      <dsp:spPr>
        <a:xfrm>
          <a:off x="7023520" y="978692"/>
          <a:ext cx="2600221" cy="1040088"/>
        </a:xfrm>
        <a:prstGeom prst="chevron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apply</a:t>
          </a:r>
        </a:p>
      </dsp:txBody>
      <dsp:txXfrm>
        <a:off x="7543564" y="978692"/>
        <a:ext cx="1560133" cy="1040088"/>
      </dsp:txXfrm>
    </dsp:sp>
    <dsp:sp modelId="{5C8D29A2-549D-2F46-BAE7-AFBA252E9BA4}">
      <dsp:nvSpPr>
        <dsp:cNvPr id="0" name=""/>
        <dsp:cNvSpPr/>
      </dsp:nvSpPr>
      <dsp:spPr>
        <a:xfrm>
          <a:off x="9363719" y="978692"/>
          <a:ext cx="2600221" cy="1040088"/>
        </a:xfrm>
        <a:prstGeom prst="chevron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destroy</a:t>
          </a:r>
        </a:p>
      </dsp:txBody>
      <dsp:txXfrm>
        <a:off x="9883763" y="978692"/>
        <a:ext cx="1560133" cy="1040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0677B-A6FA-4635-9026-939F39B584D2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F201B-D854-4D1D-AB6A-A56BA0AE5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59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AB26-4B5A-BFDB-16B5-A6914CA57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83473-5B0A-D9AB-5D60-933E6F8FC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D6E81-7C3C-D7CD-0CEA-788C3B45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65A6-8856-41C6-8591-8994AB5DCDC2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F55D6-F2D3-0744-89EE-DC0AE473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2222-D2DD-3E3E-FF52-0BF020B2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57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25D4-37E3-6B3C-7623-2074DA78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AE60-61BC-5347-E8A0-CE70AA287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F6AA-E514-761A-D03D-7129B807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A53F-CFF9-45A2-B231-BF0104B21242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6DE16-E606-E1D8-9D20-53F15F63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E7E1-D154-0965-19FD-3C1AEC80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59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CEE3-2122-8329-2C7A-544F0007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5B900-1891-2DE4-8DB0-ED4749988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E6D18-92E9-3ACA-724D-E2B28E7E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AA4A5-F538-4F6D-9D13-DAF258A4D4ED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432A-F059-1A76-EDC0-6DA5ACBE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683C-C945-889F-36E3-97B57250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78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D2F6-10B1-5895-8819-D6C7EAC6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39D0-A1B1-5C83-B96C-42E95DBC5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EE292-B9E6-AEB6-175D-B2BBB80BB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1B2DC-DB57-086D-263F-A57E9B45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B170-66D6-4E2E-AD05-2FFFF5D5E914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DAE9B-4366-28F2-27DF-511CD9AD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7E52-D63E-2F38-6F5A-BCC20516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79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4CF-A4EC-CD2D-DC9F-8518A952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D8BD1-A490-3CDE-E24F-0F03A0EB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A3175-F171-8BF7-10D0-FA5BDE1B7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FC263-7781-FA87-7581-FC99A06E9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D48B4-677D-7367-153B-EF69BD3FF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E236CD-CE69-E559-0522-9FBD5DEF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DB5DA-9ECF-4D3D-BBC9-106E7380C959}" type="datetime1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08430-6355-AF22-D541-48F960AC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6DB2D-7A17-92CE-E600-07DE60A0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66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C150-CF7B-8029-F15B-E773F7A8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23E76-4C2F-B862-5B59-4B6FB4F7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A8E6-D4B9-48B8-B772-55071C5740AD}" type="datetime1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99F7E-5618-CA8F-89EC-7F2A3949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C8A93-DE12-6E6B-EE7E-A273C54E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3D6AE-C3E4-FC81-3F50-4C081A1A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564FB-D340-4D8F-BEDC-728F67BA7927}" type="datetime1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A0CA9-A86A-D597-E56A-8BF6FCB5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8C539-7AB9-5153-8FEA-BAFC97E7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35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D1DA-E06F-130D-6B01-D0FAF637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B0A0-AEE9-438F-E5D1-3344EA05F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7B454-515B-AC4C-2480-3F49D44D2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C915-F1D5-7437-4B4B-EAE9ECFF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8081-DD87-4919-A215-4D5C3245AE67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BBD1A-67D7-6089-A8F9-F0675CD0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280CC-5C27-DEC0-6697-8DC7274B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49F9-546B-E36C-3B4C-C0487020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7EB82-1249-F801-E60E-3C5E12C62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B090C-58D6-C136-C983-0602DD622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1A2AA-BE45-BC0D-E564-4D4B5E83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1AB9F-9CD4-4537-9C38-8E249B4EC29A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DCD78-4AD0-DE88-AC08-E910961E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32335-8CD8-A50B-9C94-CB5E15E3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41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8756-5C7E-5E6A-A89D-FE8BB01D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2F3F5-AC2B-F925-5D67-99E9C415D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D186-0918-3FDD-0570-E89AF04E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E51F-AF65-46DA-8E1D-B85035B3101E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6AE7-7D3D-8E47-BA1C-2D617A22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FB80-3112-29F5-08F1-A8D9FFDD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6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DA4F6-15B9-0DE7-2799-694653E99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23B3C-E007-16C4-5389-F448C1DDA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862D0-FF02-36FA-2896-3F6142FC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FC121-9588-4B3F-85F0-24AC18800D97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3B582-2F84-99BC-D1CD-03690D7D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84FE-23CA-1874-3DC2-A10E9EC5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5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451006"/>
            <a:ext cx="1916783" cy="365125"/>
          </a:xfrm>
        </p:spPr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61"/>
            <a:ext cx="10515600" cy="4659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99070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 sz="2000"/>
              <a:t>Sub heading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810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7361" y="434416"/>
            <a:ext cx="5637276" cy="594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CHAITANYA TRAINING AND CONSULTANCY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A6A2C-624F-421E-AB0E-0588CD865CD8}" type="datetime1">
              <a:rPr lang="en-IN" smtClean="0"/>
              <a:t>24-08-2026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757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4692F-B9C7-0150-937E-CD4A7913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8B6AB-50D5-2415-3FF2-C8080CC8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77FED-1E3B-BD0D-5335-EC04BAB31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E37F3-36C0-4558-A805-00737147E799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C5358-12B9-7526-D403-926C0663E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228DA-EE19-253A-B1A1-C991E7712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DD5DE-B0B1-4750-AEFB-384D21086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82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svg"/><Relationship Id="rId7" Type="http://schemas.openxmlformats.org/officeDocument/2006/relationships/image" Target="../media/image25.svg"/><Relationship Id="rId12" Type="http://schemas.openxmlformats.org/officeDocument/2006/relationships/image" Target="../media/image29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13.svg"/><Relationship Id="rId10" Type="http://schemas.openxmlformats.org/officeDocument/2006/relationships/image" Target="../media/image27.svg"/><Relationship Id="rId4" Type="http://schemas.openxmlformats.org/officeDocument/2006/relationships/image" Target="../media/image12.svg"/><Relationship Id="rId9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8CB9-E5A2-7826-3AB4-E4A3E4F7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831" y="2427902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  <a:ea typeface="Calibri" panose="020F0502020204030204" pitchFamily="34" charset="0"/>
              </a:rPr>
              <a:t>Continuous Deployment using Terraform </a:t>
            </a:r>
            <a:endParaRPr lang="en-IN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E3565-A3CC-8215-56F7-E9B0DF1F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1E503-351E-E8B1-5B8C-3D51822E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40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8A50-CEFB-88C4-49AB-DC4DF210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141594"/>
            <a:ext cx="10515600" cy="539443"/>
          </a:xfrm>
        </p:spPr>
        <p:txBody>
          <a:bodyPr>
            <a:noAutofit/>
          </a:bodyPr>
          <a:lstStyle/>
          <a:p>
            <a:r>
              <a:rPr lang="en-IN" sz="36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C547-DBAC-831B-1FF6-6936153D6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26" y="138317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What is  Terraform</a:t>
            </a:r>
          </a:p>
          <a:p>
            <a:r>
              <a:rPr lang="en-US" sz="2400" dirty="0">
                <a:latin typeface="+mj-lt"/>
              </a:rPr>
              <a:t>Terraform Resource</a:t>
            </a:r>
          </a:p>
          <a:p>
            <a:r>
              <a:rPr lang="en-US" sz="2400" dirty="0">
                <a:latin typeface="+mj-lt"/>
              </a:rPr>
              <a:t>Terraform Providers</a:t>
            </a:r>
          </a:p>
          <a:p>
            <a:r>
              <a:rPr lang="en-US" sz="2400" dirty="0">
                <a:latin typeface="+mj-lt"/>
              </a:rPr>
              <a:t>Terraform Modules</a:t>
            </a:r>
          </a:p>
          <a:p>
            <a:r>
              <a:rPr lang="en-US" sz="2400" dirty="0">
                <a:latin typeface="+mj-lt"/>
              </a:rPr>
              <a:t>Terraform Workflow</a:t>
            </a:r>
          </a:p>
          <a:p>
            <a:r>
              <a:rPr lang="en-US" sz="2400" dirty="0">
                <a:latin typeface="+mj-lt"/>
              </a:rPr>
              <a:t>Terraform State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4A6A5-A183-181F-07FD-26FF0CF0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504A8-B915-D238-1D1B-71BEC833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28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232C-AF6E-F06A-A58B-D23A2A2C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4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000" b="1" dirty="0">
              <a:latin typeface="+mj-lt"/>
            </a:endParaRPr>
          </a:p>
          <a:p>
            <a:pPr marL="0" indent="0">
              <a:buNone/>
            </a:pPr>
            <a:endParaRPr lang="en-IN" sz="4000" b="1" dirty="0">
              <a:latin typeface="+mj-lt"/>
            </a:endParaRPr>
          </a:p>
          <a:p>
            <a:pPr marL="0" indent="0">
              <a:buNone/>
            </a:pPr>
            <a:r>
              <a:rPr lang="en-IN" sz="4000" b="1" dirty="0">
                <a:latin typeface="+mj-lt"/>
              </a:rPr>
              <a:t>    Overview of Terraform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511B95-3A19-961E-AA30-4E5ECCEF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06F4-36E2-02FA-9904-C1F3E056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7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20" y="76632"/>
            <a:ext cx="694569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b="1" spc="-15" dirty="0"/>
              <a:t>What is </a:t>
            </a:r>
            <a:r>
              <a:rPr sz="3600" b="1" spc="-15" dirty="0"/>
              <a:t>T</a:t>
            </a:r>
            <a:r>
              <a:rPr sz="3600" b="1" spc="-20" dirty="0"/>
              <a:t>e</a:t>
            </a:r>
            <a:r>
              <a:rPr sz="3600" b="1" dirty="0"/>
              <a:t>r</a:t>
            </a:r>
            <a:r>
              <a:rPr sz="3600" b="1" spc="-20" dirty="0"/>
              <a:t>ra</a:t>
            </a:r>
            <a:r>
              <a:rPr sz="3600" b="1" spc="-15" dirty="0"/>
              <a:t>f</a:t>
            </a:r>
            <a:r>
              <a:rPr sz="3600" b="1" spc="-20" dirty="0"/>
              <a:t>o</a:t>
            </a:r>
            <a:r>
              <a:rPr sz="3600" b="1" dirty="0"/>
              <a:t>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15087-F2D2-DA58-F3A9-BE5C84876659}"/>
              </a:ext>
            </a:extLst>
          </p:cNvPr>
          <p:cNvSpPr txBox="1"/>
          <p:nvPr/>
        </p:nvSpPr>
        <p:spPr>
          <a:xfrm>
            <a:off x="222020" y="1037579"/>
            <a:ext cx="107981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A provisioning declarative tool that based on Infrastructure as a  Code paradigm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Uses own syntax - HCL (</a:t>
            </a:r>
            <a:r>
              <a:rPr lang="en-IN" sz="2200" dirty="0" err="1">
                <a:latin typeface="+mj-lt"/>
              </a:rPr>
              <a:t>Hashicorp</a:t>
            </a:r>
            <a:r>
              <a:rPr lang="en-IN" sz="2200" dirty="0">
                <a:latin typeface="+mj-lt"/>
              </a:rPr>
              <a:t> Configuration  Language)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Written in Golang.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Helps to evolve you infrastructure, safely and predictably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Applies Graph Theory to </a:t>
            </a:r>
            <a:r>
              <a:rPr lang="en-IN" sz="2200" dirty="0" err="1">
                <a:latin typeface="+mj-lt"/>
              </a:rPr>
              <a:t>IaaC</a:t>
            </a: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A plugin-based architecture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Open source. Backed by </a:t>
            </a:r>
            <a:r>
              <a:rPr lang="en-IN" sz="2200" dirty="0" err="1">
                <a:latin typeface="+mj-lt"/>
              </a:rPr>
              <a:t>Hashicorp</a:t>
            </a:r>
            <a:r>
              <a:rPr lang="en-IN" sz="2200" dirty="0">
                <a:latin typeface="+mj-lt"/>
              </a:rPr>
              <a:t>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+mj-lt"/>
              </a:rPr>
              <a:t>Terraform is not a configuration management tool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3B67A-60ED-8B9F-5322-4830A34E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BA673-C1B9-7B65-6D17-E58589B8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7300" y="202692"/>
              <a:ext cx="9677400" cy="64526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4B79-E637-95FD-839F-964C9B7A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1175-E867-95C5-0C8E-D90525BF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68C97D-2868-C240-90D7-4C57DA1E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41" y="157790"/>
            <a:ext cx="10515600" cy="9907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Manage using IaC with Terraform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CF545-2F6F-944B-8A24-C4F90440E905}"/>
              </a:ext>
            </a:extLst>
          </p:cNvPr>
          <p:cNvSpPr/>
          <p:nvPr/>
        </p:nvSpPr>
        <p:spPr>
          <a:xfrm>
            <a:off x="209341" y="1398396"/>
            <a:ext cx="2185517" cy="67826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/>
              <a:t>Visibility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811D54-EB7E-5E46-BCB4-592E1FDBE761}"/>
              </a:ext>
            </a:extLst>
          </p:cNvPr>
          <p:cNvSpPr/>
          <p:nvPr/>
        </p:nvSpPr>
        <p:spPr>
          <a:xfrm>
            <a:off x="2580472" y="1398396"/>
            <a:ext cx="9402187" cy="67826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IaC serves as a very </a:t>
            </a:r>
            <a:r>
              <a:rPr lang="en-US" sz="1500" dirty="0">
                <a:solidFill>
                  <a:srgbClr val="FFFF00"/>
                </a:solidFill>
              </a:rPr>
              <a:t>clear reference </a:t>
            </a:r>
            <a:r>
              <a:rPr lang="en-US" sz="1500" dirty="0"/>
              <a:t>of what resources we created, and what their settings are. We don’t have to </a:t>
            </a:r>
            <a:r>
              <a:rPr lang="en-US" sz="1500" dirty="0">
                <a:solidFill>
                  <a:srgbClr val="FFFF00"/>
                </a:solidFill>
              </a:rPr>
              <a:t>navigate</a:t>
            </a:r>
            <a:r>
              <a:rPr lang="en-US" sz="1500" dirty="0"/>
              <a:t> to the web console to check the parameters.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04048F-C4AC-EA46-954A-15E0384D754B}"/>
              </a:ext>
            </a:extLst>
          </p:cNvPr>
          <p:cNvSpPr/>
          <p:nvPr/>
        </p:nvSpPr>
        <p:spPr>
          <a:xfrm>
            <a:off x="209341" y="2257007"/>
            <a:ext cx="2185517" cy="857982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/>
              <a:t>Stability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34DCC3-8D57-D04B-B9FA-216FAE65E1A5}"/>
              </a:ext>
            </a:extLst>
          </p:cNvPr>
          <p:cNvSpPr/>
          <p:nvPr/>
        </p:nvSpPr>
        <p:spPr>
          <a:xfrm>
            <a:off x="2580472" y="2257006"/>
            <a:ext cx="9402187" cy="857983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If you </a:t>
            </a:r>
            <a:r>
              <a:rPr lang="en-IN" sz="1500">
                <a:solidFill>
                  <a:srgbClr val="FF0000"/>
                </a:solidFill>
              </a:rPr>
              <a:t>accidentally</a:t>
            </a:r>
            <a:r>
              <a:rPr lang="en-IN" sz="1500"/>
              <a:t> change the </a:t>
            </a:r>
            <a:r>
              <a:rPr lang="en-IN" sz="1500">
                <a:solidFill>
                  <a:srgbClr val="FF0000"/>
                </a:solidFill>
              </a:rPr>
              <a:t>wrong</a:t>
            </a:r>
            <a:r>
              <a:rPr lang="en-IN" sz="1500"/>
              <a:t> setting or delete the </a:t>
            </a:r>
            <a:r>
              <a:rPr lang="en-IN" sz="1500">
                <a:solidFill>
                  <a:srgbClr val="FF0000"/>
                </a:solidFill>
              </a:rPr>
              <a:t>wrong</a:t>
            </a:r>
            <a:r>
              <a:rPr lang="en-IN" sz="1500"/>
              <a:t> resource in the web console you can </a:t>
            </a:r>
            <a:r>
              <a:rPr lang="en-IN" sz="1500">
                <a:solidFill>
                  <a:srgbClr val="FF0000"/>
                </a:solidFill>
              </a:rPr>
              <a:t>break things</a:t>
            </a:r>
            <a:r>
              <a:rPr lang="en-IN" sz="1500"/>
              <a:t>. </a:t>
            </a:r>
            <a:r>
              <a:rPr lang="en-IN" sz="1500" err="1"/>
              <a:t>IaC</a:t>
            </a:r>
            <a:r>
              <a:rPr lang="en-IN" sz="1500"/>
              <a:t> helps </a:t>
            </a:r>
            <a:r>
              <a:rPr lang="en-IN" sz="1500">
                <a:solidFill>
                  <a:srgbClr val="FFFF00"/>
                </a:solidFill>
              </a:rPr>
              <a:t>solve this</a:t>
            </a:r>
            <a:r>
              <a:rPr lang="en-IN" sz="1500"/>
              <a:t>, especially when it is combined with </a:t>
            </a:r>
            <a:r>
              <a:rPr lang="en-IN" sz="1500">
                <a:solidFill>
                  <a:srgbClr val="FFFF00"/>
                </a:solidFill>
              </a:rPr>
              <a:t>version control, </a:t>
            </a:r>
            <a:r>
              <a:rPr lang="en-IN" sz="1500"/>
              <a:t>such as Git.</a:t>
            </a:r>
            <a:endParaRPr lang="en-US" sz="15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3E34FA-623E-1B41-AB06-D693719D4E12}"/>
              </a:ext>
            </a:extLst>
          </p:cNvPr>
          <p:cNvSpPr/>
          <p:nvPr/>
        </p:nvSpPr>
        <p:spPr>
          <a:xfrm>
            <a:off x="209341" y="3296452"/>
            <a:ext cx="2185517" cy="85798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/>
              <a:t>Scalability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9D9E82-F461-A144-9A68-AB14CF476637}"/>
              </a:ext>
            </a:extLst>
          </p:cNvPr>
          <p:cNvSpPr/>
          <p:nvPr/>
        </p:nvSpPr>
        <p:spPr>
          <a:xfrm>
            <a:off x="2580472" y="3295335"/>
            <a:ext cx="9402187" cy="85798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With </a:t>
            </a:r>
            <a:r>
              <a:rPr lang="en-IN" sz="1500" err="1"/>
              <a:t>IaC</a:t>
            </a:r>
            <a:r>
              <a:rPr lang="en-IN" sz="1500"/>
              <a:t> we can </a:t>
            </a:r>
            <a:r>
              <a:rPr lang="en-IN" sz="1500">
                <a:solidFill>
                  <a:srgbClr val="FFFF00"/>
                </a:solidFill>
              </a:rPr>
              <a:t>write it once </a:t>
            </a:r>
            <a:r>
              <a:rPr lang="en-IN" sz="1500"/>
              <a:t>and then </a:t>
            </a:r>
            <a:r>
              <a:rPr lang="en-IN" sz="1500">
                <a:solidFill>
                  <a:srgbClr val="FFFF00"/>
                </a:solidFill>
              </a:rPr>
              <a:t>reuse it many times</a:t>
            </a:r>
            <a:r>
              <a:rPr lang="en-IN" sz="1500"/>
              <a:t>. This means that one well written template can be used as the </a:t>
            </a:r>
            <a:r>
              <a:rPr lang="en-IN" sz="1500">
                <a:solidFill>
                  <a:srgbClr val="FFFF00"/>
                </a:solidFill>
              </a:rPr>
              <a:t>basis for multiple services</a:t>
            </a:r>
            <a:r>
              <a:rPr lang="en-IN" sz="1500"/>
              <a:t>, in multiple regions around the world, making it much easier to horizontally scale.</a:t>
            </a:r>
            <a:endParaRPr lang="en-US" sz="15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86B4E0-8323-4745-8BF1-A5386365F346}"/>
              </a:ext>
            </a:extLst>
          </p:cNvPr>
          <p:cNvSpPr/>
          <p:nvPr/>
        </p:nvSpPr>
        <p:spPr>
          <a:xfrm>
            <a:off x="209341" y="4335898"/>
            <a:ext cx="2185517" cy="857982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/>
              <a:t>Security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7C22AC-1ED9-E14B-B826-78AB19F1C473}"/>
              </a:ext>
            </a:extLst>
          </p:cNvPr>
          <p:cNvSpPr/>
          <p:nvPr/>
        </p:nvSpPr>
        <p:spPr>
          <a:xfrm>
            <a:off x="2580472" y="4321104"/>
            <a:ext cx="9402187" cy="857983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Once again </a:t>
            </a:r>
            <a:r>
              <a:rPr lang="en-IN" sz="1500" err="1"/>
              <a:t>IaC</a:t>
            </a:r>
            <a:r>
              <a:rPr lang="en-IN" sz="1500"/>
              <a:t> gives you a </a:t>
            </a:r>
            <a:r>
              <a:rPr lang="en-IN" sz="1500">
                <a:solidFill>
                  <a:srgbClr val="FFFF00"/>
                </a:solidFill>
              </a:rPr>
              <a:t>unified template </a:t>
            </a:r>
            <a:r>
              <a:rPr lang="en-IN" sz="1500"/>
              <a:t>for how to deploy our architecture. If we create one well </a:t>
            </a:r>
            <a:r>
              <a:rPr lang="en-IN" sz="1500">
                <a:solidFill>
                  <a:srgbClr val="FFFF00"/>
                </a:solidFill>
              </a:rPr>
              <a:t>secured architecture </a:t>
            </a:r>
            <a:r>
              <a:rPr lang="en-IN" sz="1500"/>
              <a:t>we can reuse it multiple times, and know that each deployed version is following the same settings.</a:t>
            </a:r>
            <a:endParaRPr lang="en-US" sz="15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453332F-02DD-144C-8F6C-908A5592C22F}"/>
              </a:ext>
            </a:extLst>
          </p:cNvPr>
          <p:cNvSpPr/>
          <p:nvPr/>
        </p:nvSpPr>
        <p:spPr>
          <a:xfrm>
            <a:off x="209341" y="5375344"/>
            <a:ext cx="2185517" cy="85798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/>
              <a:t>Audit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13A99E-2442-234B-8CCB-DD4AE10F4FF8}"/>
              </a:ext>
            </a:extLst>
          </p:cNvPr>
          <p:cNvSpPr/>
          <p:nvPr/>
        </p:nvSpPr>
        <p:spPr>
          <a:xfrm>
            <a:off x="2580472" y="5346872"/>
            <a:ext cx="9402187" cy="85798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Terraform not only creates resources it also </a:t>
            </a:r>
            <a:r>
              <a:rPr lang="en-IN" sz="1500">
                <a:solidFill>
                  <a:srgbClr val="FFFF00"/>
                </a:solidFill>
              </a:rPr>
              <a:t>maintains the record </a:t>
            </a:r>
            <a:r>
              <a:rPr lang="en-IN" sz="1500"/>
              <a:t>of what is created in real world cloud environments using its State files. </a:t>
            </a:r>
            <a:endParaRPr lang="en-US" sz="15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48302C-57A9-ACD9-3CF1-30F5380A2A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74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702D0-CF7C-4F0E-AFD1-A3E61BECEAA0}"/>
              </a:ext>
            </a:extLst>
          </p:cNvPr>
          <p:cNvSpPr txBox="1"/>
          <p:nvPr/>
        </p:nvSpPr>
        <p:spPr>
          <a:xfrm>
            <a:off x="1736333" y="1674674"/>
            <a:ext cx="96679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dirty="0"/>
          </a:p>
          <a:p>
            <a:endParaRPr lang="en-IN" sz="3600" dirty="0"/>
          </a:p>
          <a:p>
            <a:r>
              <a:rPr lang="en-IN" sz="4000" dirty="0"/>
              <a:t>Terraform Architecture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78B22-FA6C-9D57-D176-0C2F5630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9830E-704C-BB31-8E47-8E451BD2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8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51562" y="786210"/>
            <a:ext cx="9372600" cy="5579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C6673A-D1AD-4833-4F06-ABCEF8E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39DF06-073C-4728-4BA8-A2E3A56F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16508" y="1677922"/>
            <a:ext cx="10591800" cy="4819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130A7E-A5A8-EFEC-226B-EEA13E20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18463-47E8-D507-235F-EE4CF91D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95496" y="2877134"/>
            <a:ext cx="5000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Terraform</a:t>
            </a:r>
            <a:r>
              <a:rPr sz="4400" spc="-5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Providers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E312BC-5694-5BDB-E53D-FBB9EE5A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A9230-749D-D50B-ACB2-8581AD8E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81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1195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900" y="330595"/>
            <a:ext cx="4481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/>
              <a:t>Terraform Providers</a:t>
            </a:r>
            <a:endParaRPr sz="36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5082666" y="2017216"/>
            <a:ext cx="4893310" cy="313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EF5A28"/>
                </a:solidFill>
                <a:latin typeface="Verdana"/>
                <a:cs typeface="Verdana"/>
              </a:rPr>
              <a:t>IaaS, </a:t>
            </a:r>
            <a:r>
              <a:rPr sz="2400" spc="-70" dirty="0">
                <a:solidFill>
                  <a:srgbClr val="EF5A28"/>
                </a:solidFill>
                <a:latin typeface="Verdana"/>
                <a:cs typeface="Verdana"/>
              </a:rPr>
              <a:t>PaaS,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and</a:t>
            </a:r>
            <a:r>
              <a:rPr sz="2400" spc="-34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EF5A28"/>
                </a:solidFill>
                <a:latin typeface="Verdana"/>
                <a:cs typeface="Verdana"/>
              </a:rPr>
              <a:t>SaaS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Community and</a:t>
            </a:r>
            <a:r>
              <a:rPr sz="2400" spc="-240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EF5A28"/>
                </a:solidFill>
                <a:latin typeface="Verdana"/>
                <a:cs typeface="Verdana"/>
              </a:rPr>
              <a:t>HashiCorp</a:t>
            </a:r>
            <a:endParaRPr sz="2400" dirty="0">
              <a:latin typeface="Verdana"/>
              <a:cs typeface="Verdana"/>
            </a:endParaRPr>
          </a:p>
          <a:p>
            <a:pPr marL="251460">
              <a:lnSpc>
                <a:spcPct val="100000"/>
              </a:lnSpc>
              <a:spcBef>
                <a:spcPts val="600"/>
              </a:spcBef>
              <a:tabLst>
                <a:tab pos="541020" algn="l"/>
              </a:tabLst>
            </a:pPr>
            <a:r>
              <a:rPr sz="1800" dirty="0">
                <a:solidFill>
                  <a:srgbClr val="EF5A28"/>
                </a:solidFill>
                <a:latin typeface="Trebuchet MS"/>
                <a:cs typeface="Trebuchet MS"/>
              </a:rPr>
              <a:t>-	</a:t>
            </a:r>
            <a:r>
              <a:rPr sz="2400" spc="-50" dirty="0">
                <a:solidFill>
                  <a:srgbClr val="EF5A28"/>
                </a:solidFill>
                <a:latin typeface="Verdana"/>
                <a:cs typeface="Verdana"/>
              </a:rPr>
              <a:t>AWS, </a:t>
            </a:r>
            <a:r>
              <a:rPr sz="2400" spc="-25" dirty="0">
                <a:solidFill>
                  <a:srgbClr val="EF5A28"/>
                </a:solidFill>
                <a:latin typeface="Verdana"/>
                <a:cs typeface="Verdana"/>
              </a:rPr>
              <a:t>Azure, </a:t>
            </a:r>
            <a:r>
              <a:rPr sz="2400" spc="-135" dirty="0">
                <a:solidFill>
                  <a:srgbClr val="EF5A28"/>
                </a:solidFill>
                <a:latin typeface="Verdana"/>
                <a:cs typeface="Verdana"/>
              </a:rPr>
              <a:t>GCP, </a:t>
            </a:r>
            <a:r>
              <a:rPr sz="2400" dirty="0">
                <a:solidFill>
                  <a:srgbClr val="EF5A28"/>
                </a:solidFill>
                <a:latin typeface="Verdana"/>
                <a:cs typeface="Verdana"/>
              </a:rPr>
              <a:t>and</a:t>
            </a:r>
            <a:r>
              <a:rPr sz="2400" spc="-49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EF5A28"/>
                </a:solidFill>
                <a:latin typeface="Verdana"/>
                <a:cs typeface="Verdana"/>
              </a:rPr>
              <a:t>Oracle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spc="40" dirty="0">
                <a:solidFill>
                  <a:srgbClr val="EF5A28"/>
                </a:solidFill>
                <a:latin typeface="Verdana"/>
                <a:cs typeface="Verdana"/>
              </a:rPr>
              <a:t>Open </a:t>
            </a:r>
            <a:r>
              <a:rPr sz="2400" spc="10" dirty="0">
                <a:solidFill>
                  <a:srgbClr val="EF5A28"/>
                </a:solidFill>
                <a:latin typeface="Verdana"/>
                <a:cs typeface="Verdana"/>
              </a:rPr>
              <a:t>source </a:t>
            </a:r>
            <a:r>
              <a:rPr sz="2400" dirty="0">
                <a:solidFill>
                  <a:srgbClr val="EF5A28"/>
                </a:solidFill>
                <a:latin typeface="Verdana"/>
                <a:cs typeface="Verdana"/>
              </a:rPr>
              <a:t>using</a:t>
            </a:r>
            <a:r>
              <a:rPr sz="2400" spc="17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EF5A28"/>
                </a:solidFill>
                <a:latin typeface="Verdana"/>
                <a:cs typeface="Verdana"/>
              </a:rPr>
              <a:t>APIs</a:t>
            </a:r>
            <a:endParaRPr sz="2400" dirty="0">
              <a:latin typeface="Verdana"/>
              <a:cs typeface="Verdana"/>
            </a:endParaRPr>
          </a:p>
          <a:p>
            <a:pPr marL="12700" marR="588010">
              <a:lnSpc>
                <a:spcPct val="163000"/>
              </a:lnSpc>
              <a:spcBef>
                <a:spcPts val="10"/>
              </a:spcBef>
            </a:pP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Resources and </a:t>
            </a:r>
            <a:r>
              <a:rPr sz="2400" spc="15" dirty="0">
                <a:solidFill>
                  <a:srgbClr val="EF5A28"/>
                </a:solidFill>
                <a:latin typeface="Verdana"/>
                <a:cs typeface="Verdana"/>
              </a:rPr>
              <a:t>data</a:t>
            </a:r>
            <a:r>
              <a:rPr sz="2400" spc="-35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sources  </a:t>
            </a:r>
            <a:r>
              <a:rPr sz="2400" spc="25" dirty="0">
                <a:solidFill>
                  <a:srgbClr val="EF5A28"/>
                </a:solidFill>
                <a:latin typeface="Verdana"/>
                <a:cs typeface="Verdana"/>
              </a:rPr>
              <a:t>Multiple</a:t>
            </a:r>
            <a:r>
              <a:rPr sz="2400" spc="-2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EF5A28"/>
                </a:solidFill>
                <a:latin typeface="Verdana"/>
                <a:cs typeface="Verdana"/>
              </a:rPr>
              <a:t>instances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425" y="2035574"/>
            <a:ext cx="3601383" cy="3188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2554D-CC99-90E0-353E-CE1E0F08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75429-6D34-9F50-52D9-3D5AD163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60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86" y="439722"/>
            <a:ext cx="7311390" cy="20056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latin typeface="+mj-lt"/>
                <a:cs typeface="Arial Black"/>
              </a:rPr>
              <a:t>Terraform: Providers</a:t>
            </a:r>
            <a:r>
              <a:rPr sz="3600" b="1" spc="-105" dirty="0">
                <a:latin typeface="+mj-lt"/>
                <a:cs typeface="Arial Black"/>
              </a:rPr>
              <a:t> </a:t>
            </a:r>
            <a:r>
              <a:rPr sz="3600" b="1" spc="-5" dirty="0">
                <a:latin typeface="+mj-lt"/>
                <a:cs typeface="Arial Black"/>
              </a:rPr>
              <a:t>(Plugins)</a:t>
            </a:r>
            <a:endParaRPr sz="3600" b="1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585858"/>
                </a:solidFill>
                <a:latin typeface="Arial"/>
                <a:cs typeface="Arial"/>
              </a:rPr>
              <a:t>1125+ </a:t>
            </a:r>
            <a:r>
              <a:rPr sz="2400" spc="-15" dirty="0">
                <a:solidFill>
                  <a:srgbClr val="585858"/>
                </a:solidFill>
                <a:latin typeface="Arial"/>
                <a:cs typeface="Arial"/>
              </a:rPr>
              <a:t>infrastructure</a:t>
            </a:r>
            <a:r>
              <a:rPr sz="2400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Arial"/>
                <a:cs typeface="Arial"/>
              </a:rPr>
              <a:t>providers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 dirty="0">
              <a:latin typeface="Arial"/>
              <a:cs typeface="Arial"/>
            </a:endParaRPr>
          </a:p>
          <a:p>
            <a:pPr marL="4249420">
              <a:lnSpc>
                <a:spcPct val="100000"/>
              </a:lnSpc>
            </a:pPr>
            <a:r>
              <a:rPr sz="2400" b="1" dirty="0">
                <a:solidFill>
                  <a:srgbClr val="585858"/>
                </a:solidFill>
                <a:latin typeface="Arial"/>
                <a:cs typeface="Arial"/>
              </a:rPr>
              <a:t>Major </a:t>
            </a:r>
            <a:r>
              <a:rPr sz="2400" b="1" spc="-15" dirty="0">
                <a:solidFill>
                  <a:srgbClr val="585858"/>
                </a:solidFill>
                <a:latin typeface="Arial"/>
                <a:cs typeface="Arial"/>
              </a:rPr>
              <a:t>Cloud</a:t>
            </a:r>
            <a:r>
              <a:rPr sz="2400" b="1" spc="-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585858"/>
                </a:solidFill>
                <a:latin typeface="Arial"/>
                <a:cs typeface="Arial"/>
              </a:rPr>
              <a:t>Partners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7967" y="2642616"/>
            <a:ext cx="9656064" cy="4012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2692" y="1872995"/>
            <a:ext cx="4108450" cy="0"/>
          </a:xfrm>
          <a:custGeom>
            <a:avLst/>
            <a:gdLst/>
            <a:ahLst/>
            <a:cxnLst/>
            <a:rect l="l" t="t" r="r" b="b"/>
            <a:pathLst>
              <a:path w="4108450">
                <a:moveTo>
                  <a:pt x="0" y="0"/>
                </a:moveTo>
                <a:lnTo>
                  <a:pt x="4108196" y="0"/>
                </a:lnTo>
              </a:path>
            </a:pathLst>
          </a:custGeom>
          <a:ln w="9144">
            <a:solidFill>
              <a:srgbClr val="5B4D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E3DC4-E852-DFEF-087B-1BF0FCD0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95FB6-A548-FE58-A46E-2D43B1A3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4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042" y="568518"/>
            <a:ext cx="623307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" dirty="0"/>
              <a:t>Terraform:</a:t>
            </a:r>
            <a:r>
              <a:rPr sz="3600" b="1" spc="-20" dirty="0"/>
              <a:t> </a:t>
            </a:r>
            <a:r>
              <a:rPr sz="3600" b="1" spc="-15" dirty="0"/>
              <a:t>Providers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17042" y="1614296"/>
            <a:ext cx="957580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585858"/>
                </a:solidFill>
                <a:latin typeface="Arial"/>
                <a:cs typeface="Arial"/>
              </a:rPr>
              <a:t>Can </a:t>
            </a:r>
            <a:r>
              <a:rPr sz="2400" spc="-10" dirty="0">
                <a:solidFill>
                  <a:srgbClr val="585858"/>
                </a:solidFill>
                <a:latin typeface="Arial"/>
                <a:cs typeface="Arial"/>
              </a:rPr>
              <a:t>be </a:t>
            </a:r>
            <a:r>
              <a:rPr sz="2400" spc="-15" dirty="0">
                <a:solidFill>
                  <a:srgbClr val="585858"/>
                </a:solidFill>
                <a:latin typeface="Arial"/>
                <a:cs typeface="Arial"/>
              </a:rPr>
              <a:t>integrated with any API using providers</a:t>
            </a:r>
            <a:r>
              <a:rPr sz="2400" spc="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Arial"/>
                <a:cs typeface="Arial"/>
              </a:rPr>
              <a:t>framework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Arial"/>
              <a:cs typeface="Arial"/>
            </a:endParaRPr>
          </a:p>
          <a:p>
            <a:pPr marL="1841500" indent="-448945">
              <a:lnSpc>
                <a:spcPct val="100000"/>
              </a:lnSpc>
              <a:buChar char="○"/>
              <a:tabLst>
                <a:tab pos="1841500" algn="l"/>
                <a:tab pos="1842135" algn="l"/>
              </a:tabLst>
            </a:pPr>
            <a:r>
              <a:rPr sz="1850" dirty="0">
                <a:solidFill>
                  <a:srgbClr val="585858"/>
                </a:solidFill>
                <a:latin typeface="Arial"/>
                <a:cs typeface="Arial"/>
              </a:rPr>
              <a:t>Note: </a:t>
            </a:r>
            <a:r>
              <a:rPr sz="1850" spc="-25" dirty="0">
                <a:solidFill>
                  <a:srgbClr val="585858"/>
                </a:solidFill>
                <a:latin typeface="Arial"/>
                <a:cs typeface="Arial"/>
              </a:rPr>
              <a:t>Terraform </a:t>
            </a:r>
            <a:r>
              <a:rPr sz="1850" dirty="0">
                <a:solidFill>
                  <a:srgbClr val="585858"/>
                </a:solidFill>
                <a:latin typeface="Arial"/>
                <a:cs typeface="Arial"/>
              </a:rPr>
              <a:t>Docs </a:t>
            </a:r>
            <a:r>
              <a:rPr sz="1850" spc="20" dirty="0">
                <a:solidFill>
                  <a:srgbClr val="585858"/>
                </a:solidFill>
                <a:latin typeface="Arial"/>
                <a:cs typeface="Arial"/>
              </a:rPr>
              <a:t>→ </a:t>
            </a:r>
            <a:r>
              <a:rPr sz="1850" spc="-5" dirty="0">
                <a:solidFill>
                  <a:srgbClr val="585858"/>
                </a:solidFill>
                <a:latin typeface="Arial"/>
                <a:cs typeface="Arial"/>
              </a:rPr>
              <a:t>Extending </a:t>
            </a:r>
            <a:r>
              <a:rPr sz="1850" spc="-25" dirty="0">
                <a:solidFill>
                  <a:srgbClr val="585858"/>
                </a:solidFill>
                <a:latin typeface="Arial"/>
                <a:cs typeface="Arial"/>
              </a:rPr>
              <a:t>Terraform </a:t>
            </a:r>
            <a:r>
              <a:rPr sz="1850" spc="20" dirty="0">
                <a:solidFill>
                  <a:srgbClr val="585858"/>
                </a:solidFill>
                <a:latin typeface="Arial"/>
                <a:cs typeface="Arial"/>
              </a:rPr>
              <a:t>→ </a:t>
            </a:r>
            <a:r>
              <a:rPr sz="1850" spc="-10" dirty="0">
                <a:solidFill>
                  <a:srgbClr val="585858"/>
                </a:solidFill>
                <a:latin typeface="Arial"/>
                <a:cs typeface="Arial"/>
              </a:rPr>
              <a:t>Writing </a:t>
            </a:r>
            <a:r>
              <a:rPr sz="1850" dirty="0">
                <a:solidFill>
                  <a:srgbClr val="585858"/>
                </a:solidFill>
                <a:latin typeface="Arial"/>
                <a:cs typeface="Arial"/>
              </a:rPr>
              <a:t>Custom</a:t>
            </a:r>
            <a:r>
              <a:rPr sz="1850" spc="-25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85858"/>
                </a:solidFill>
                <a:latin typeface="Arial"/>
                <a:cs typeface="Arial"/>
              </a:rPr>
              <a:t>Providers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6051" y="4354067"/>
            <a:ext cx="1144524" cy="1005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7012" y="3278123"/>
            <a:ext cx="999744" cy="920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6051" y="5487923"/>
            <a:ext cx="1121664" cy="1005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05619" y="2940558"/>
            <a:ext cx="1678939" cy="1708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Docker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K</a:t>
            </a:r>
            <a:r>
              <a:rPr sz="1850" dirty="0">
                <a:latin typeface="Arial"/>
                <a:cs typeface="Arial"/>
              </a:rPr>
              <a:t>ube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ne</a:t>
            </a:r>
            <a:r>
              <a:rPr sz="1850" spc="-15" dirty="0">
                <a:latin typeface="Arial"/>
                <a:cs typeface="Arial"/>
              </a:rPr>
              <a:t>t</a:t>
            </a:r>
            <a:r>
              <a:rPr sz="185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5" dirty="0">
                <a:latin typeface="Arial"/>
                <a:cs typeface="Arial"/>
              </a:rPr>
              <a:t>Nomad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19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Consul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30" dirty="0">
                <a:latin typeface="Arial"/>
                <a:cs typeface="Arial"/>
              </a:rPr>
              <a:t>Vault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25" dirty="0">
                <a:latin typeface="Arial"/>
                <a:cs typeface="Arial"/>
              </a:rPr>
              <a:t>Terraform</a:t>
            </a:r>
            <a:r>
              <a:rPr sz="1850" spc="-170" dirty="0">
                <a:latin typeface="Arial"/>
                <a:cs typeface="Arial"/>
              </a:rPr>
              <a:t> </a:t>
            </a:r>
            <a:r>
              <a:rPr sz="1850" spc="-15" dirty="0">
                <a:latin typeface="Arial"/>
                <a:cs typeface="Arial"/>
              </a:rPr>
              <a:t>:)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2830" y="5299709"/>
            <a:ext cx="1873885" cy="1149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Digital</a:t>
            </a:r>
            <a:r>
              <a:rPr sz="1850" spc="-17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Ocean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Fastly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OpenStack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Heroku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5415" y="4070985"/>
            <a:ext cx="2429510" cy="8705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50215">
              <a:lnSpc>
                <a:spcPts val="2210"/>
              </a:lnSpc>
              <a:spcBef>
                <a:spcPts val="120"/>
              </a:spcBef>
              <a:buChar char="●"/>
              <a:tabLst>
                <a:tab pos="462280" algn="l"/>
                <a:tab pos="462915" algn="l"/>
              </a:tabLst>
            </a:pPr>
            <a:r>
              <a:rPr sz="1850" spc="5" dirty="0">
                <a:latin typeface="Arial"/>
                <a:cs typeface="Arial"/>
              </a:rPr>
              <a:t>DNS</a:t>
            </a:r>
            <a:endParaRPr sz="1850">
              <a:latin typeface="Arial"/>
              <a:cs typeface="Arial"/>
            </a:endParaRPr>
          </a:p>
          <a:p>
            <a:pPr marL="462280" indent="-450215">
              <a:lnSpc>
                <a:spcPts val="2200"/>
              </a:lnSpc>
              <a:buChar char="●"/>
              <a:tabLst>
                <a:tab pos="462280" algn="l"/>
                <a:tab pos="462915" algn="l"/>
              </a:tabLst>
            </a:pPr>
            <a:r>
              <a:rPr sz="1850" dirty="0">
                <a:latin typeface="Arial"/>
                <a:cs typeface="Arial"/>
              </a:rPr>
              <a:t>Palo </a:t>
            </a:r>
            <a:r>
              <a:rPr sz="1850" spc="-5" dirty="0">
                <a:latin typeface="Arial"/>
                <a:cs typeface="Arial"/>
              </a:rPr>
              <a:t>Alto</a:t>
            </a:r>
            <a:r>
              <a:rPr sz="1850" spc="-32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Networks</a:t>
            </a:r>
            <a:endParaRPr sz="1850">
              <a:latin typeface="Arial"/>
              <a:cs typeface="Arial"/>
            </a:endParaRPr>
          </a:p>
          <a:p>
            <a:pPr marL="462280" indent="-450215">
              <a:lnSpc>
                <a:spcPts val="2215"/>
              </a:lnSpc>
              <a:buChar char="●"/>
              <a:tabLst>
                <a:tab pos="462280" algn="l"/>
                <a:tab pos="462915" algn="l"/>
              </a:tabLst>
            </a:pPr>
            <a:r>
              <a:rPr sz="1850" dirty="0">
                <a:latin typeface="Arial"/>
                <a:cs typeface="Arial"/>
              </a:rPr>
              <a:t>F5</a:t>
            </a:r>
            <a:r>
              <a:rPr sz="1850" spc="-40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BIG-IP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0270" y="5361228"/>
            <a:ext cx="1587500" cy="8705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NewRelic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Datadog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P</a:t>
            </a:r>
            <a:r>
              <a:rPr sz="1850" dirty="0">
                <a:latin typeface="Arial"/>
                <a:cs typeface="Arial"/>
              </a:rPr>
              <a:t>age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Du</a:t>
            </a:r>
            <a:r>
              <a:rPr sz="1850" spc="-15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y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9610" y="3273933"/>
            <a:ext cx="1468120" cy="8705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GitLab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GitHub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BitBucket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3594" y="4867783"/>
            <a:ext cx="2021839" cy="1708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spc="-30" dirty="0">
                <a:latin typeface="Arial"/>
                <a:cs typeface="Arial"/>
              </a:rPr>
              <a:t>Template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5" dirty="0">
                <a:latin typeface="Arial"/>
                <a:cs typeface="Arial"/>
              </a:rPr>
              <a:t>Random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Null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5"/>
              </a:lnSpc>
              <a:spcBef>
                <a:spcPts val="75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External</a:t>
            </a:r>
            <a:endParaRPr sz="1850">
              <a:latin typeface="Arial"/>
              <a:cs typeface="Arial"/>
            </a:endParaRPr>
          </a:p>
          <a:p>
            <a:pPr marL="462280">
              <a:lnSpc>
                <a:spcPts val="2155"/>
              </a:lnSpc>
            </a:pPr>
            <a:r>
              <a:rPr sz="1850" spc="10" dirty="0">
                <a:latin typeface="Arial"/>
                <a:cs typeface="Arial"/>
              </a:rPr>
              <a:t>(escape</a:t>
            </a:r>
            <a:r>
              <a:rPr sz="1850" spc="-200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hatch)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16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Archive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0114" y="2915158"/>
            <a:ext cx="2263140" cy="1149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2280" indent="-449580">
              <a:lnSpc>
                <a:spcPts val="2210"/>
              </a:lnSpc>
              <a:spcBef>
                <a:spcPts val="120"/>
              </a:spcBef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OpenFaaS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0"/>
              </a:lnSpc>
              <a:buFont typeface="Arial"/>
              <a:buChar char="●"/>
              <a:tabLst>
                <a:tab pos="461645" algn="l"/>
                <a:tab pos="462280" algn="l"/>
              </a:tabLst>
            </a:pPr>
            <a:r>
              <a:rPr sz="1850" b="1" dirty="0">
                <a:latin typeface="Arial"/>
                <a:cs typeface="Arial"/>
              </a:rPr>
              <a:t>OpenAPI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05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dirty="0">
                <a:latin typeface="Arial"/>
                <a:cs typeface="Arial"/>
              </a:rPr>
              <a:t>Generic Rest</a:t>
            </a:r>
            <a:r>
              <a:rPr sz="1850" spc="-310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API</a:t>
            </a:r>
            <a:endParaRPr sz="1850">
              <a:latin typeface="Arial"/>
              <a:cs typeface="Arial"/>
            </a:endParaRPr>
          </a:p>
          <a:p>
            <a:pPr marL="462280" indent="-449580">
              <a:lnSpc>
                <a:spcPts val="2210"/>
              </a:lnSpc>
              <a:buChar char="●"/>
              <a:tabLst>
                <a:tab pos="461645" algn="l"/>
                <a:tab pos="462280" algn="l"/>
              </a:tabLst>
            </a:pPr>
            <a:r>
              <a:rPr sz="1850" spc="-5" dirty="0">
                <a:latin typeface="Arial"/>
                <a:cs typeface="Arial"/>
              </a:rPr>
              <a:t>Stateful</a:t>
            </a:r>
            <a:endParaRPr sz="185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8DD6A-CA7D-8DE0-5A8E-40448888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BEC0E37-C1B4-C5A6-7A81-9FED8906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29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DEB00-85CD-C644-990C-416C4E22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70" y="164888"/>
            <a:ext cx="4762506" cy="75952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Terraform Providers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4459" y="1218049"/>
            <a:ext cx="1073728" cy="1073728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4851" y="2581845"/>
            <a:ext cx="1073728" cy="1073728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4851" y="3773924"/>
            <a:ext cx="1073728" cy="1073728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4850" y="4908255"/>
            <a:ext cx="1073728" cy="107372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34CD7FB-D322-8949-A76A-F480055F0A34}"/>
              </a:ext>
            </a:extLst>
          </p:cNvPr>
          <p:cNvSpPr/>
          <p:nvPr/>
        </p:nvSpPr>
        <p:spPr>
          <a:xfrm>
            <a:off x="8687041" y="5140178"/>
            <a:ext cx="728238" cy="538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Azure</a:t>
            </a:r>
          </a:p>
          <a:p>
            <a:pPr algn="ctr"/>
            <a:r>
              <a:rPr lang="en-US" sz="150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D8BDD-FF2C-B54E-9293-DD569227BA6F}"/>
              </a:ext>
            </a:extLst>
          </p:cNvPr>
          <p:cNvSpPr txBox="1"/>
          <p:nvPr/>
        </p:nvSpPr>
        <p:spPr>
          <a:xfrm>
            <a:off x="597478" y="1679864"/>
            <a:ext cx="1509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64394-2513-C048-AB7A-2E15AD6C8529}"/>
              </a:ext>
            </a:extLst>
          </p:cNvPr>
          <p:cNvSpPr txBox="1"/>
          <p:nvPr/>
        </p:nvSpPr>
        <p:spPr>
          <a:xfrm>
            <a:off x="597478" y="2883616"/>
            <a:ext cx="12670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AB127-F0CD-B449-AF75-3345FF879342}"/>
              </a:ext>
            </a:extLst>
          </p:cNvPr>
          <p:cNvSpPr txBox="1"/>
          <p:nvPr/>
        </p:nvSpPr>
        <p:spPr>
          <a:xfrm>
            <a:off x="597477" y="4125741"/>
            <a:ext cx="12291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FE02D-BD1C-7948-8E07-03120186C2A6}"/>
              </a:ext>
            </a:extLst>
          </p:cNvPr>
          <p:cNvSpPr txBox="1"/>
          <p:nvPr/>
        </p:nvSpPr>
        <p:spPr>
          <a:xfrm>
            <a:off x="671350" y="5197742"/>
            <a:ext cx="14452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/>
              <a:t>Terraform Azure</a:t>
            </a:r>
          </a:p>
          <a:p>
            <a:pPr algn="ctr"/>
            <a:r>
              <a:rPr lang="en-US" sz="150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2981323" y="2180292"/>
            <a:ext cx="10390" cy="5033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2981323" y="3544459"/>
            <a:ext cx="0" cy="400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2981323" y="4735984"/>
            <a:ext cx="1" cy="3779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3528578" y="5409457"/>
            <a:ext cx="5158463" cy="356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017" y="3809673"/>
            <a:ext cx="990709" cy="99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BB740D-ED88-4340-AE47-5D96738CE91E}"/>
              </a:ext>
            </a:extLst>
          </p:cNvPr>
          <p:cNvSpPr txBox="1"/>
          <p:nvPr/>
        </p:nvSpPr>
        <p:spPr>
          <a:xfrm>
            <a:off x="5178382" y="4639402"/>
            <a:ext cx="16221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3528579" y="4305028"/>
            <a:ext cx="2209438" cy="5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206FF85-B0C0-FC42-B811-EDF7DFD6A594}"/>
              </a:ext>
            </a:extLst>
          </p:cNvPr>
          <p:cNvSpPr txBox="1"/>
          <p:nvPr/>
        </p:nvSpPr>
        <p:spPr>
          <a:xfrm>
            <a:off x="3716791" y="3951715"/>
            <a:ext cx="12394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 err="1">
                <a:solidFill>
                  <a:srgbClr val="7030A0"/>
                </a:solidFill>
              </a:rPr>
              <a:t>init</a:t>
            </a:r>
            <a:endParaRPr lang="en-US" sz="150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860CE0-6581-064E-9961-A4039C4EBBCD}"/>
              </a:ext>
            </a:extLst>
          </p:cNvPr>
          <p:cNvSpPr txBox="1"/>
          <p:nvPr/>
        </p:nvSpPr>
        <p:spPr>
          <a:xfrm>
            <a:off x="4148774" y="5057531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73A972-E3B5-8D4D-9AE8-E334AEF3F124}"/>
              </a:ext>
            </a:extLst>
          </p:cNvPr>
          <p:cNvSpPr txBox="1"/>
          <p:nvPr/>
        </p:nvSpPr>
        <p:spPr>
          <a:xfrm>
            <a:off x="5444121" y="5372446"/>
            <a:ext cx="15697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3103542" y="4389349"/>
            <a:ext cx="2670573" cy="7596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08A489A-E83D-2D4D-86BA-9AEC2127B215}"/>
              </a:ext>
            </a:extLst>
          </p:cNvPr>
          <p:cNvSpPr txBox="1"/>
          <p:nvPr/>
        </p:nvSpPr>
        <p:spPr>
          <a:xfrm rot="20607091">
            <a:off x="3252942" y="4555971"/>
            <a:ext cx="16836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3985D-48B1-5E44-BF2E-E204B872B337}"/>
              </a:ext>
            </a:extLst>
          </p:cNvPr>
          <p:cNvSpPr txBox="1"/>
          <p:nvPr/>
        </p:nvSpPr>
        <p:spPr>
          <a:xfrm>
            <a:off x="6617804" y="5064677"/>
            <a:ext cx="14093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18A0EC-8919-E249-A6C6-73BC4E8F739A}"/>
              </a:ext>
            </a:extLst>
          </p:cNvPr>
          <p:cNvSpPr/>
          <p:nvPr/>
        </p:nvSpPr>
        <p:spPr>
          <a:xfrm>
            <a:off x="5644645" y="153869"/>
            <a:ext cx="6436152" cy="4748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Providers are </a:t>
            </a:r>
            <a:r>
              <a:rPr lang="en-US" sz="1500">
                <a:solidFill>
                  <a:srgbClr val="FFC000"/>
                </a:solidFill>
              </a:rPr>
              <a:t>HEART</a:t>
            </a:r>
            <a:r>
              <a:rPr lang="en-US" sz="1500"/>
              <a:t> of Terraform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F0A7CC-6899-0947-A33B-1BC0E7C4C4D4}"/>
              </a:ext>
            </a:extLst>
          </p:cNvPr>
          <p:cNvSpPr/>
          <p:nvPr/>
        </p:nvSpPr>
        <p:spPr>
          <a:xfrm>
            <a:off x="5644645" y="1339034"/>
            <a:ext cx="6436152" cy="4748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Without Providers Terraform </a:t>
            </a:r>
            <a:r>
              <a:rPr lang="en-US" sz="1500">
                <a:solidFill>
                  <a:srgbClr val="C00000"/>
                </a:solidFill>
              </a:rPr>
              <a:t>cannot</a:t>
            </a:r>
            <a:r>
              <a:rPr lang="en-US" sz="1500"/>
              <a:t> manage any infrastructure.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9A783C2-5F7C-F64F-BA9A-F499F9CA3570}"/>
              </a:ext>
            </a:extLst>
          </p:cNvPr>
          <p:cNvSpPr/>
          <p:nvPr/>
        </p:nvSpPr>
        <p:spPr>
          <a:xfrm>
            <a:off x="5644645" y="1951106"/>
            <a:ext cx="6436152" cy="5564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Providers are distributed separately from Terraform and each provider has its own </a:t>
            </a:r>
            <a:r>
              <a:rPr lang="en-US" sz="1500">
                <a:solidFill>
                  <a:srgbClr val="FFC000"/>
                </a:solidFill>
              </a:rPr>
              <a:t>release cycles </a:t>
            </a:r>
            <a:r>
              <a:rPr lang="en-US" sz="1500"/>
              <a:t>and </a:t>
            </a:r>
            <a:r>
              <a:rPr lang="en-US" sz="1500">
                <a:solidFill>
                  <a:srgbClr val="FFC000"/>
                </a:solidFill>
              </a:rPr>
              <a:t>Version Numbers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1B664F-7415-EB43-9F6F-AE9213CC97C9}"/>
              </a:ext>
            </a:extLst>
          </p:cNvPr>
          <p:cNvSpPr/>
          <p:nvPr/>
        </p:nvSpPr>
        <p:spPr>
          <a:xfrm>
            <a:off x="5644645" y="2615570"/>
            <a:ext cx="6436152" cy="5564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Terraform </a:t>
            </a:r>
            <a:r>
              <a:rPr lang="en-US" sz="1500">
                <a:solidFill>
                  <a:srgbClr val="FFC000"/>
                </a:solidFill>
              </a:rPr>
              <a:t>Registry</a:t>
            </a:r>
            <a:r>
              <a:rPr lang="en-US" sz="1500"/>
              <a:t> is publicly available which contains many Terraform Providers for most </a:t>
            </a:r>
            <a:r>
              <a:rPr lang="en-US" sz="1500">
                <a:solidFill>
                  <a:srgbClr val="FFC000"/>
                </a:solidFill>
              </a:rPr>
              <a:t>major</a:t>
            </a:r>
            <a:r>
              <a:rPr lang="en-US" sz="1500"/>
              <a:t> Infra Platforms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BB0AE0-4BDC-2C46-974E-941694ECFA50}"/>
              </a:ext>
            </a:extLst>
          </p:cNvPr>
          <p:cNvSpPr/>
          <p:nvPr/>
        </p:nvSpPr>
        <p:spPr>
          <a:xfrm>
            <a:off x="5644645" y="749091"/>
            <a:ext cx="6436152" cy="4748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Every </a:t>
            </a:r>
            <a:r>
              <a:rPr lang="en-US" sz="1500">
                <a:solidFill>
                  <a:srgbClr val="FFC000"/>
                </a:solidFill>
              </a:rPr>
              <a:t>Resource Type </a:t>
            </a:r>
            <a:r>
              <a:rPr lang="en-US" sz="1500"/>
              <a:t>(example: Azure Resource Group), is implemented by a Provider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4B087D-84C1-E54D-A981-4A87A7259AFF}"/>
              </a:ext>
            </a:extLst>
          </p:cNvPr>
          <p:cNvSpPr/>
          <p:nvPr/>
        </p:nvSpPr>
        <p:spPr>
          <a:xfrm>
            <a:off x="4114801" y="3655572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5663F2-4526-F147-9AA1-27A443B282A4}"/>
              </a:ext>
            </a:extLst>
          </p:cNvPr>
          <p:cNvSpPr/>
          <p:nvPr/>
        </p:nvSpPr>
        <p:spPr>
          <a:xfrm>
            <a:off x="1409013" y="5929087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FF7EAF-362C-1B44-8E86-F300B881145B}"/>
              </a:ext>
            </a:extLst>
          </p:cNvPr>
          <p:cNvSpPr txBox="1"/>
          <p:nvPr/>
        </p:nvSpPr>
        <p:spPr>
          <a:xfrm>
            <a:off x="1800480" y="5897622"/>
            <a:ext cx="15982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565A9AD-BFEC-3A40-9AAF-EBE9E3DC2653}"/>
              </a:ext>
            </a:extLst>
          </p:cNvPr>
          <p:cNvSpPr/>
          <p:nvPr/>
        </p:nvSpPr>
        <p:spPr>
          <a:xfrm>
            <a:off x="3796174" y="5087376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D69D9C8-360A-2B42-AC2A-30CEF8746D77}"/>
              </a:ext>
            </a:extLst>
          </p:cNvPr>
          <p:cNvSpPr/>
          <p:nvPr/>
        </p:nvSpPr>
        <p:spPr>
          <a:xfrm>
            <a:off x="6253036" y="5096142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47CE6D1-DD1E-6C43-BE83-4BD0258BF846}"/>
              </a:ext>
            </a:extLst>
          </p:cNvPr>
          <p:cNvSpPr/>
          <p:nvPr/>
        </p:nvSpPr>
        <p:spPr>
          <a:xfrm>
            <a:off x="5113854" y="5461117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5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279AFFD-1732-E140-BA53-CA2BAEE7EBDA}"/>
              </a:ext>
            </a:extLst>
          </p:cNvPr>
          <p:cNvCxnSpPr>
            <a:cxnSpLocks/>
            <a:stCxn id="25" idx="3"/>
            <a:endCxn id="8" idx="1"/>
          </p:cNvCxnSpPr>
          <p:nvPr/>
        </p:nvCxnSpPr>
        <p:spPr>
          <a:xfrm>
            <a:off x="9415280" y="5409458"/>
            <a:ext cx="9775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FE2B48F-40A9-C349-A7B6-7E6F8787873F}"/>
              </a:ext>
            </a:extLst>
          </p:cNvPr>
          <p:cNvSpPr/>
          <p:nvPr/>
        </p:nvSpPr>
        <p:spPr>
          <a:xfrm>
            <a:off x="8512108" y="4042291"/>
            <a:ext cx="3318076" cy="2116847"/>
          </a:xfrm>
          <a:prstGeom prst="rect">
            <a:avLst/>
          </a:prstGeom>
          <a:noFill/>
          <a:ln w="952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22455-FF0F-EE4C-92F3-4A4B4E5E64B5}"/>
              </a:ext>
            </a:extLst>
          </p:cNvPr>
          <p:cNvSpPr txBox="1"/>
          <p:nvPr/>
        </p:nvSpPr>
        <p:spPr>
          <a:xfrm>
            <a:off x="9293929" y="4140045"/>
            <a:ext cx="178414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/>
              <a:t>Azure Cloud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23EF00-E17A-0147-BADB-54F3D793A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2808" y="4956974"/>
            <a:ext cx="904967" cy="9049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169EA2-757B-6B4A-A8B6-706E13EF9947}"/>
              </a:ext>
            </a:extLst>
          </p:cNvPr>
          <p:cNvSpPr txBox="1"/>
          <p:nvPr/>
        </p:nvSpPr>
        <p:spPr>
          <a:xfrm>
            <a:off x="10111899" y="5799735"/>
            <a:ext cx="1565685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Resource Group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59C68-6DFC-4347-89A3-16542F970F97}"/>
              </a:ext>
            </a:extLst>
          </p:cNvPr>
          <p:cNvCxnSpPr/>
          <p:nvPr/>
        </p:nvCxnSpPr>
        <p:spPr>
          <a:xfrm>
            <a:off x="10111900" y="4800382"/>
            <a:ext cx="1542196" cy="103856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40F14D5-2D94-5B4F-92F0-571912FB9365}"/>
              </a:ext>
            </a:extLst>
          </p:cNvPr>
          <p:cNvCxnSpPr>
            <a:cxnSpLocks/>
          </p:cNvCxnSpPr>
          <p:nvPr/>
        </p:nvCxnSpPr>
        <p:spPr>
          <a:xfrm flipV="1">
            <a:off x="10107796" y="4857665"/>
            <a:ext cx="1569568" cy="967908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B4A3A-F915-0BA7-A20C-82004847F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737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/>
      <p:bldP spid="29" grpId="0"/>
      <p:bldP spid="45" grpId="0"/>
      <p:bldP spid="50" grpId="0"/>
      <p:bldP spid="51" grpId="0"/>
      <p:bldP spid="52" grpId="0"/>
      <p:bldP spid="56" grpId="0"/>
      <p:bldP spid="58" grpId="0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/>
      <p:bldP spid="69" grpId="0" animBg="1"/>
      <p:bldP spid="70" grpId="0" animBg="1"/>
      <p:bldP spid="71" grpId="0" animBg="1"/>
      <p:bldP spid="3" grpId="0" animBg="1"/>
      <p:bldP spid="5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E44F494-D0C1-D741-A4C0-3F1C1BF2D214}"/>
              </a:ext>
            </a:extLst>
          </p:cNvPr>
          <p:cNvSpPr/>
          <p:nvPr/>
        </p:nvSpPr>
        <p:spPr>
          <a:xfrm>
            <a:off x="173182" y="1610592"/>
            <a:ext cx="3385705" cy="91786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Provider Requirements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7C55C7-E2C7-4A47-8A96-73411A84C5B6}"/>
              </a:ext>
            </a:extLst>
          </p:cNvPr>
          <p:cNvSpPr/>
          <p:nvPr/>
        </p:nvSpPr>
        <p:spPr>
          <a:xfrm>
            <a:off x="4482523" y="1610592"/>
            <a:ext cx="3385705" cy="91786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Provider Configuration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4BEE7D-5857-D84B-AECF-DAC2FEE61A82}"/>
              </a:ext>
            </a:extLst>
          </p:cNvPr>
          <p:cNvSpPr/>
          <p:nvPr/>
        </p:nvSpPr>
        <p:spPr>
          <a:xfrm>
            <a:off x="8540750" y="1538433"/>
            <a:ext cx="3385705" cy="917863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Dependency Lock File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880089-17A0-F842-80D7-B0FAD27E7A15}"/>
              </a:ext>
            </a:extLst>
          </p:cNvPr>
          <p:cNvSpPr/>
          <p:nvPr/>
        </p:nvSpPr>
        <p:spPr>
          <a:xfrm>
            <a:off x="4482523" y="57728"/>
            <a:ext cx="3385705" cy="9178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</a:t>
            </a:r>
          </a:p>
          <a:p>
            <a:pPr algn="ctr"/>
            <a:r>
              <a:rPr lang="en-US" sz="1500"/>
              <a:t>Providers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230FCD-DEAD-4645-9F62-B3501909AE7C}"/>
              </a:ext>
            </a:extLst>
          </p:cNvPr>
          <p:cNvCxnSpPr/>
          <p:nvPr/>
        </p:nvCxnSpPr>
        <p:spPr>
          <a:xfrm>
            <a:off x="4225637" y="1792432"/>
            <a:ext cx="0" cy="4355523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A13DA-06EB-BF46-9778-3D2C96A383EA}"/>
              </a:ext>
            </a:extLst>
          </p:cNvPr>
          <p:cNvCxnSpPr/>
          <p:nvPr/>
        </p:nvCxnSpPr>
        <p:spPr>
          <a:xfrm>
            <a:off x="8309842" y="1792432"/>
            <a:ext cx="0" cy="4355523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71A7E78-C78A-184B-AD06-A97A50091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4" y="2775314"/>
            <a:ext cx="3577878" cy="2472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66318E-5446-8D42-A1CA-12B84077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05" y="2797081"/>
            <a:ext cx="3542526" cy="1708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CC429F-55FB-6C4A-8B4A-3397E7995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640" y="2797081"/>
            <a:ext cx="3040288" cy="19399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782224-B54F-AA4A-BAE1-47432A8FC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640" y="4871014"/>
            <a:ext cx="3040287" cy="14383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A78DB4-5499-D451-A4F8-0787BA58B5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00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0BCC6-99E7-7142-9606-0855205E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2" y="-12692"/>
            <a:ext cx="10515600" cy="9907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Required Providers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50D1E-7450-3A49-8D02-D82545C8514D}"/>
              </a:ext>
            </a:extLst>
          </p:cNvPr>
          <p:cNvSpPr/>
          <p:nvPr/>
        </p:nvSpPr>
        <p:spPr>
          <a:xfrm>
            <a:off x="4072848" y="835402"/>
            <a:ext cx="2118403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Local Names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9FDE1-B789-0945-849E-C5B3FD1E843E}"/>
              </a:ext>
            </a:extLst>
          </p:cNvPr>
          <p:cNvSpPr/>
          <p:nvPr/>
        </p:nvSpPr>
        <p:spPr>
          <a:xfrm>
            <a:off x="4072848" y="1281548"/>
            <a:ext cx="7767205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Local Names are </a:t>
            </a:r>
            <a:r>
              <a:rPr lang="en-US" sz="1500">
                <a:solidFill>
                  <a:srgbClr val="FFC000"/>
                </a:solidFill>
              </a:rPr>
              <a:t>Module specific </a:t>
            </a:r>
            <a:r>
              <a:rPr lang="en-US" sz="1500"/>
              <a:t>and should be </a:t>
            </a:r>
            <a:r>
              <a:rPr lang="en-US" sz="1500">
                <a:solidFill>
                  <a:srgbClr val="FFC000"/>
                </a:solidFill>
              </a:rPr>
              <a:t>unique</a:t>
            </a:r>
            <a:r>
              <a:rPr lang="en-US" sz="1500"/>
              <a:t> per-module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3A1FF-4F3F-E442-A4A1-2048237581B8}"/>
              </a:ext>
            </a:extLst>
          </p:cNvPr>
          <p:cNvSpPr/>
          <p:nvPr/>
        </p:nvSpPr>
        <p:spPr>
          <a:xfrm>
            <a:off x="4072848" y="1733621"/>
            <a:ext cx="7767205" cy="5375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Terraform configurations always refer to </a:t>
            </a:r>
            <a:r>
              <a:rPr lang="en-US" sz="1500">
                <a:solidFill>
                  <a:srgbClr val="FFC000"/>
                </a:solidFill>
              </a:rPr>
              <a:t>local name </a:t>
            </a:r>
            <a:r>
              <a:rPr lang="en-US" sz="1500"/>
              <a:t>of provider </a:t>
            </a:r>
            <a:r>
              <a:rPr lang="en-US" sz="1500">
                <a:solidFill>
                  <a:srgbClr val="FFC000"/>
                </a:solidFill>
              </a:rPr>
              <a:t>outside</a:t>
            </a:r>
            <a:r>
              <a:rPr lang="en-US" sz="1500"/>
              <a:t> </a:t>
            </a:r>
            <a:r>
              <a:rPr lang="en-US" sz="1500" err="1"/>
              <a:t>required_provider</a:t>
            </a:r>
            <a:r>
              <a:rPr lang="en-US" sz="1500"/>
              <a:t> block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3D2F5-73A5-1F47-AE3A-D55EEB1B4ED7}"/>
              </a:ext>
            </a:extLst>
          </p:cNvPr>
          <p:cNvSpPr/>
          <p:nvPr/>
        </p:nvSpPr>
        <p:spPr>
          <a:xfrm>
            <a:off x="4072848" y="2363929"/>
            <a:ext cx="7767205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Users of a provider can choose </a:t>
            </a:r>
            <a:r>
              <a:rPr lang="en-IN" sz="1500">
                <a:solidFill>
                  <a:srgbClr val="FFC000"/>
                </a:solidFill>
              </a:rPr>
              <a:t>any local name </a:t>
            </a:r>
            <a:r>
              <a:rPr lang="en-IN" sz="1500"/>
              <a:t>for it (</a:t>
            </a:r>
            <a:r>
              <a:rPr lang="en-IN" sz="1500" err="1"/>
              <a:t>myazure</a:t>
            </a:r>
            <a:r>
              <a:rPr lang="en-IN" sz="1500"/>
              <a:t>, azure1, azure2).</a:t>
            </a:r>
            <a:endParaRPr lang="en-US" sz="1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7EAF91-FB4D-4F47-85B9-FC479627F621}"/>
              </a:ext>
            </a:extLst>
          </p:cNvPr>
          <p:cNvSpPr/>
          <p:nvPr/>
        </p:nvSpPr>
        <p:spPr>
          <a:xfrm>
            <a:off x="4072848" y="2821778"/>
            <a:ext cx="7767205" cy="767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Recommended way of choosing local name is to use preferred local name of that provider (For Azure Provider: </a:t>
            </a:r>
            <a:r>
              <a:rPr lang="en-IN" sz="1500" err="1"/>
              <a:t>hashicorp</a:t>
            </a:r>
            <a:r>
              <a:rPr lang="en-IN" sz="1500"/>
              <a:t>/</a:t>
            </a:r>
            <a:r>
              <a:rPr lang="en-IN" sz="1500" err="1"/>
              <a:t>azurerm</a:t>
            </a:r>
            <a:r>
              <a:rPr lang="en-IN" sz="1500"/>
              <a:t>, </a:t>
            </a:r>
            <a:r>
              <a:rPr lang="en-IN" sz="1500">
                <a:solidFill>
                  <a:srgbClr val="FFC000"/>
                </a:solidFill>
              </a:rPr>
              <a:t>preferred local name </a:t>
            </a:r>
            <a:r>
              <a:rPr lang="en-IN" sz="1500"/>
              <a:t>is </a:t>
            </a:r>
            <a:r>
              <a:rPr lang="en-IN" sz="1500" err="1"/>
              <a:t>azurerm</a:t>
            </a:r>
            <a:r>
              <a:rPr lang="en-IN" sz="1500"/>
              <a:t>)</a:t>
            </a:r>
            <a:endParaRPr lang="en-US" sz="15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202390-2D7B-9245-97D7-998D159FF748}"/>
              </a:ext>
            </a:extLst>
          </p:cNvPr>
          <p:cNvSpPr/>
          <p:nvPr/>
        </p:nvSpPr>
        <p:spPr>
          <a:xfrm>
            <a:off x="4072847" y="3648968"/>
            <a:ext cx="2118403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CF1D29-248B-014A-B47C-61FFDBA2F377}"/>
              </a:ext>
            </a:extLst>
          </p:cNvPr>
          <p:cNvSpPr/>
          <p:nvPr/>
        </p:nvSpPr>
        <p:spPr>
          <a:xfrm>
            <a:off x="4072847" y="4046884"/>
            <a:ext cx="7767205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It is the </a:t>
            </a:r>
            <a:r>
              <a:rPr lang="en-US" sz="1500">
                <a:solidFill>
                  <a:srgbClr val="FFC000"/>
                </a:solidFill>
              </a:rPr>
              <a:t>primary location </a:t>
            </a:r>
            <a:r>
              <a:rPr lang="en-US" sz="1500"/>
              <a:t>where we can download the Terraform Provider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262354-229D-2246-98BD-2F6FE8CE41C9}"/>
              </a:ext>
            </a:extLst>
          </p:cNvPr>
          <p:cNvSpPr/>
          <p:nvPr/>
        </p:nvSpPr>
        <p:spPr>
          <a:xfrm>
            <a:off x="4072847" y="4472625"/>
            <a:ext cx="7767205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Source addresses consist of </a:t>
            </a:r>
            <a:r>
              <a:rPr lang="en-IN" sz="1500">
                <a:solidFill>
                  <a:srgbClr val="FFC000"/>
                </a:solidFill>
              </a:rPr>
              <a:t>three parts </a:t>
            </a:r>
            <a:r>
              <a:rPr lang="en-IN" sz="1500"/>
              <a:t>delimited by </a:t>
            </a:r>
            <a:r>
              <a:rPr lang="en-IN" sz="1500">
                <a:solidFill>
                  <a:srgbClr val="FFC000"/>
                </a:solidFill>
              </a:rPr>
              <a:t>slashes (/)</a:t>
            </a:r>
            <a:endParaRPr lang="en-US" sz="1500">
              <a:solidFill>
                <a:srgbClr val="FFC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7AD0C9-CF0E-6046-BC02-35BD4AC8EC8E}"/>
              </a:ext>
            </a:extLst>
          </p:cNvPr>
          <p:cNvSpPr/>
          <p:nvPr/>
        </p:nvSpPr>
        <p:spPr>
          <a:xfrm>
            <a:off x="4072847" y="4917644"/>
            <a:ext cx="7767205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[&lt;HOSTNAME&gt;/]&lt;NAMESPACE&gt;/&lt;TYPE&gt;</a:t>
            </a:r>
            <a:endParaRPr lang="en-US" sz="15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39DC26-F945-E44B-8F98-89E1779E59B6}"/>
              </a:ext>
            </a:extLst>
          </p:cNvPr>
          <p:cNvSpPr/>
          <p:nvPr/>
        </p:nvSpPr>
        <p:spPr>
          <a:xfrm>
            <a:off x="4072847" y="5362663"/>
            <a:ext cx="7767205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err="1">
                <a:solidFill>
                  <a:schemeClr val="tx1"/>
                </a:solidFill>
              </a:rPr>
              <a:t>registry.terraform.io</a:t>
            </a:r>
            <a:r>
              <a:rPr lang="en-IN" sz="1500">
                <a:solidFill>
                  <a:schemeClr val="tx1"/>
                </a:solidFill>
              </a:rPr>
              <a:t>/</a:t>
            </a:r>
            <a:r>
              <a:rPr lang="en-IN" sz="1500" err="1">
                <a:solidFill>
                  <a:schemeClr val="tx1"/>
                </a:solidFill>
              </a:rPr>
              <a:t>hashicorp</a:t>
            </a:r>
            <a:r>
              <a:rPr lang="en-IN" sz="1500">
                <a:solidFill>
                  <a:schemeClr val="tx1"/>
                </a:solidFill>
              </a:rPr>
              <a:t>/</a:t>
            </a:r>
            <a:r>
              <a:rPr lang="en-IN" sz="1500" err="1">
                <a:solidFill>
                  <a:schemeClr val="tx1"/>
                </a:solidFill>
              </a:rPr>
              <a:t>azurerm</a:t>
            </a:r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EFA661-3F57-7B42-B67F-0B5C970F3F2C}"/>
              </a:ext>
            </a:extLst>
          </p:cNvPr>
          <p:cNvSpPr/>
          <p:nvPr/>
        </p:nvSpPr>
        <p:spPr>
          <a:xfrm>
            <a:off x="4072847" y="5803234"/>
            <a:ext cx="7767205" cy="3651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Registry Name is </a:t>
            </a:r>
            <a:r>
              <a:rPr lang="en-IN" sz="1500">
                <a:solidFill>
                  <a:srgbClr val="FFC000"/>
                </a:solidFill>
              </a:rPr>
              <a:t>optional</a:t>
            </a:r>
            <a:r>
              <a:rPr lang="en-IN" sz="1500"/>
              <a:t> as default is going to be Terraform Public Registry 	</a:t>
            </a:r>
            <a:endParaRPr 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9B58A-D24E-5B4E-900B-29B6C9AF6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2" y="1322607"/>
            <a:ext cx="3767131" cy="45442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F6D668F-2766-FC43-80EC-4039A5747052}"/>
              </a:ext>
            </a:extLst>
          </p:cNvPr>
          <p:cNvSpPr/>
          <p:nvPr/>
        </p:nvSpPr>
        <p:spPr>
          <a:xfrm>
            <a:off x="462987" y="2546748"/>
            <a:ext cx="954911" cy="34489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B27CB6-9318-534F-B705-39F004588215}"/>
              </a:ext>
            </a:extLst>
          </p:cNvPr>
          <p:cNvSpPr/>
          <p:nvPr/>
        </p:nvSpPr>
        <p:spPr>
          <a:xfrm>
            <a:off x="1031112" y="4863537"/>
            <a:ext cx="1038828" cy="34489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B6A731-01F2-714F-9BF9-154281A05EE7}"/>
              </a:ext>
            </a:extLst>
          </p:cNvPr>
          <p:cNvCxnSpPr>
            <a:stCxn id="9" idx="1"/>
            <a:endCxn id="16" idx="3"/>
          </p:cNvCxnSpPr>
          <p:nvPr/>
        </p:nvCxnSpPr>
        <p:spPr>
          <a:xfrm flipH="1">
            <a:off x="1417898" y="1017964"/>
            <a:ext cx="2654950" cy="170123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29B2A9C-A160-7D46-8CBA-6724F0092D05}"/>
              </a:ext>
            </a:extLst>
          </p:cNvPr>
          <p:cNvCxnSpPr>
            <a:cxnSpLocks/>
            <a:stCxn id="9" idx="1"/>
            <a:endCxn id="27" idx="3"/>
          </p:cNvCxnSpPr>
          <p:nvPr/>
        </p:nvCxnSpPr>
        <p:spPr>
          <a:xfrm rot="10800000" flipV="1">
            <a:off x="2069939" y="1017964"/>
            <a:ext cx="2002908" cy="4018022"/>
          </a:xfrm>
          <a:prstGeom prst="bentConnector3">
            <a:avLst>
              <a:gd name="adj1" fmla="val 14845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0DE1AF7-133A-864E-A76F-18C1DCFBEC3F}"/>
              </a:ext>
            </a:extLst>
          </p:cNvPr>
          <p:cNvSpPr/>
          <p:nvPr/>
        </p:nvSpPr>
        <p:spPr>
          <a:xfrm>
            <a:off x="646467" y="2939951"/>
            <a:ext cx="3096014" cy="34489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00CF14-AD3F-EA4E-B25B-4708E624B30E}"/>
              </a:ext>
            </a:extLst>
          </p:cNvPr>
          <p:cNvCxnSpPr>
            <a:stCxn id="17" idx="1"/>
            <a:endCxn id="35" idx="2"/>
          </p:cNvCxnSpPr>
          <p:nvPr/>
        </p:nvCxnSpPr>
        <p:spPr>
          <a:xfrm flipH="1" flipV="1">
            <a:off x="2194474" y="3284850"/>
            <a:ext cx="1878373" cy="54668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D9A885-9385-4A86-E02F-AF6F7729F2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91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6" grpId="0" animBg="1"/>
      <p:bldP spid="27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F459CFD-7ADA-DC42-9F33-BAD4C6D58E4E}"/>
              </a:ext>
            </a:extLst>
          </p:cNvPr>
          <p:cNvSpPr/>
          <p:nvPr/>
        </p:nvSpPr>
        <p:spPr>
          <a:xfrm>
            <a:off x="4289137" y="630989"/>
            <a:ext cx="3385705" cy="9178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Provider Registry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AF672-E48E-1D46-AF3E-A6713A4FFCA0}"/>
              </a:ext>
            </a:extLst>
          </p:cNvPr>
          <p:cNvSpPr/>
          <p:nvPr/>
        </p:nvSpPr>
        <p:spPr>
          <a:xfrm>
            <a:off x="243899" y="1813366"/>
            <a:ext cx="2805545" cy="4329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Providers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38657-5B34-D64A-9AA9-DB3757F9EDAA}"/>
              </a:ext>
            </a:extLst>
          </p:cNvPr>
          <p:cNvSpPr/>
          <p:nvPr/>
        </p:nvSpPr>
        <p:spPr>
          <a:xfrm>
            <a:off x="9142555" y="1813366"/>
            <a:ext cx="2805545" cy="4329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Modules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93CE0-0AAA-B347-911F-CD4816C40375}"/>
              </a:ext>
            </a:extLst>
          </p:cNvPr>
          <p:cNvSpPr/>
          <p:nvPr/>
        </p:nvSpPr>
        <p:spPr>
          <a:xfrm>
            <a:off x="243899" y="2501033"/>
            <a:ext cx="2805545" cy="4329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Provider Badges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FFED79-84F7-0644-9002-21E0B9F3C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2" y="2454964"/>
            <a:ext cx="1449917" cy="582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BB4358-4FF8-6A4A-AFCA-91D9F7D9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312" y="3179799"/>
            <a:ext cx="1418167" cy="772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0C31AC-6D24-754E-B1B1-8785B7D8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20" y="4237938"/>
            <a:ext cx="1428750" cy="6561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912419-FAD1-8A44-834E-F0293EB2D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187" y="5134378"/>
            <a:ext cx="1418167" cy="8360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719BA9E-B52F-2C42-8D72-A1B55A9F6B04}"/>
              </a:ext>
            </a:extLst>
          </p:cNvPr>
          <p:cNvSpPr/>
          <p:nvPr/>
        </p:nvSpPr>
        <p:spPr>
          <a:xfrm>
            <a:off x="243899" y="3225509"/>
            <a:ext cx="2805545" cy="4329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Provider Documentation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4D4B9-09C8-F146-9873-9AADAFBDA1AA}"/>
              </a:ext>
            </a:extLst>
          </p:cNvPr>
          <p:cNvSpPr/>
          <p:nvPr/>
        </p:nvSpPr>
        <p:spPr>
          <a:xfrm>
            <a:off x="5922818" y="2558026"/>
            <a:ext cx="6025283" cy="375961"/>
          </a:xfrm>
          <a:prstGeom prst="rect">
            <a:avLst/>
          </a:prstGeom>
          <a:solidFill>
            <a:srgbClr val="E4C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These are owned and maintained by </a:t>
            </a:r>
            <a:r>
              <a:rPr lang="en-US" sz="1500" err="1"/>
              <a:t>HashiCorp</a:t>
            </a:r>
            <a:endParaRPr lang="en-US" sz="15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14530-A07A-0F42-A472-2706699B87BA}"/>
              </a:ext>
            </a:extLst>
          </p:cNvPr>
          <p:cNvSpPr/>
          <p:nvPr/>
        </p:nvSpPr>
        <p:spPr>
          <a:xfrm>
            <a:off x="5922818" y="3179799"/>
            <a:ext cx="6025283" cy="772583"/>
          </a:xfrm>
          <a:prstGeom prst="rect">
            <a:avLst/>
          </a:prstGeom>
          <a:solidFill>
            <a:srgbClr val="1A4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/>
              <a:t>These are owned and maintained by third-party technology partners. </a:t>
            </a:r>
            <a:r>
              <a:rPr lang="en-IN" sz="1500" i="1" err="1"/>
              <a:t>HashiCorp</a:t>
            </a:r>
            <a:r>
              <a:rPr lang="en-IN" sz="1500" i="1"/>
              <a:t> has verified the authenticity of the Provider’s publisher</a:t>
            </a:r>
            <a:endParaRPr lang="en-US" sz="15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6E7CD3-5482-C147-9F82-1ADD1E1519C1}"/>
              </a:ext>
            </a:extLst>
          </p:cNvPr>
          <p:cNvSpPr/>
          <p:nvPr/>
        </p:nvSpPr>
        <p:spPr>
          <a:xfrm>
            <a:off x="5922818" y="4173197"/>
            <a:ext cx="6025283" cy="77258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Community providers are published to the Terraform Registry by individual maintainers, groups of maintainers, or other members of the Terraform community.</a:t>
            </a:r>
            <a:endParaRPr lang="en-US" sz="15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F643A5-5423-5541-9343-030484F8858B}"/>
              </a:ext>
            </a:extLst>
          </p:cNvPr>
          <p:cNvSpPr/>
          <p:nvPr/>
        </p:nvSpPr>
        <p:spPr>
          <a:xfrm>
            <a:off x="5922818" y="5261113"/>
            <a:ext cx="6025283" cy="6170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Archived Providers are Official or Verified Providers that are no longer maintained by </a:t>
            </a:r>
            <a:r>
              <a:rPr lang="en-IN" sz="1500" err="1"/>
              <a:t>HashiCorp</a:t>
            </a:r>
            <a:r>
              <a:rPr lang="en-IN" sz="1500"/>
              <a:t> or the community. </a:t>
            </a:r>
            <a:endParaRPr lang="en-US" sz="15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BFB2D4-A85B-2E47-A417-E235183728CA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 flipH="1">
            <a:off x="1646672" y="1548852"/>
            <a:ext cx="4335318" cy="2645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013634-CE60-A946-8697-DF975BDE715A}"/>
              </a:ext>
            </a:extLst>
          </p:cNvPr>
          <p:cNvCxnSpPr>
            <a:stCxn id="5" idx="4"/>
            <a:endCxn id="10" idx="0"/>
          </p:cNvCxnSpPr>
          <p:nvPr/>
        </p:nvCxnSpPr>
        <p:spPr>
          <a:xfrm>
            <a:off x="5981990" y="1548852"/>
            <a:ext cx="4563338" cy="2645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70A99D-A584-A84D-B90A-373A0B08420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049444" y="2717510"/>
            <a:ext cx="988868" cy="284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A7974F-EF11-5147-8F57-6AAEB4D55B2F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3049444" y="2717510"/>
            <a:ext cx="988868" cy="8485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555484-0444-4F49-BA96-FF0F58AB0559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3049445" y="2717510"/>
            <a:ext cx="983576" cy="184851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AE1BE7-0704-E74C-BEDF-937DF5DB28FD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3049444" y="2717511"/>
            <a:ext cx="1004743" cy="28349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BA90F782-4F83-6F45-A3EB-7122917B0418}"/>
              </a:ext>
            </a:extLst>
          </p:cNvPr>
          <p:cNvSpPr/>
          <p:nvPr/>
        </p:nvSpPr>
        <p:spPr>
          <a:xfrm>
            <a:off x="4452217" y="1757530"/>
            <a:ext cx="3385705" cy="56022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err="1"/>
              <a:t>registry.terraform.io</a:t>
            </a:r>
            <a:endParaRPr lang="en-US" sz="15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E940A0-2C37-B948-A1B1-723AD1FAF28E}"/>
              </a:ext>
            </a:extLst>
          </p:cNvPr>
          <p:cNvCxnSpPr>
            <a:stCxn id="9" idx="3"/>
            <a:endCxn id="37" idx="2"/>
          </p:cNvCxnSpPr>
          <p:nvPr/>
        </p:nvCxnSpPr>
        <p:spPr>
          <a:xfrm>
            <a:off x="3049444" y="2029843"/>
            <a:ext cx="1402773" cy="779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8B53BD-55C4-FF42-8762-A4E92C36082B}"/>
              </a:ext>
            </a:extLst>
          </p:cNvPr>
          <p:cNvCxnSpPr>
            <a:stCxn id="37" idx="6"/>
            <a:endCxn id="10" idx="1"/>
          </p:cNvCxnSpPr>
          <p:nvPr/>
        </p:nvCxnSpPr>
        <p:spPr>
          <a:xfrm flipV="1">
            <a:off x="7837922" y="2029843"/>
            <a:ext cx="1304633" cy="779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3">
            <a:extLst>
              <a:ext uri="{FF2B5EF4-FFF2-40B4-BE49-F238E27FC236}">
                <a16:creationId xmlns:a16="http://schemas.microsoft.com/office/drawing/2014/main" id="{EF1A5F6F-5F4B-114F-B46F-6CAB943D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96" y="63858"/>
            <a:ext cx="4405264" cy="9907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Terraform Registry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6D0984-72B2-4EA9-DAA3-8503921639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95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1967" y="2397576"/>
            <a:ext cx="49339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cs typeface="Arial"/>
              </a:rPr>
              <a:t>Terraform</a:t>
            </a:r>
            <a:r>
              <a:rPr b="1" spc="-80" dirty="0">
                <a:cs typeface="Arial"/>
              </a:rPr>
              <a:t> </a:t>
            </a:r>
            <a:r>
              <a:rPr b="1" dirty="0">
                <a:cs typeface="Arial"/>
              </a:rPr>
              <a:t>Workflow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30CF8-611D-8DFF-DC7B-EEF8354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7E90F-86B2-C5F5-1694-1E06A68A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0550" y="0"/>
            <a:ext cx="1073728" cy="1073728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0942" y="1363797"/>
            <a:ext cx="1073728" cy="1073728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0942" y="2555875"/>
            <a:ext cx="1073728" cy="1073728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0941" y="3690207"/>
            <a:ext cx="1073728" cy="107372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34CD7FB-D322-8949-A76A-F480055F0A34}"/>
              </a:ext>
            </a:extLst>
          </p:cNvPr>
          <p:cNvSpPr/>
          <p:nvPr/>
        </p:nvSpPr>
        <p:spPr>
          <a:xfrm>
            <a:off x="7437284" y="3930978"/>
            <a:ext cx="728238" cy="538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Azure</a:t>
            </a:r>
          </a:p>
          <a:p>
            <a:pPr algn="ctr"/>
            <a:r>
              <a:rPr lang="en-US" sz="150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D8BDD-FF2C-B54E-9293-DD569227BA6F}"/>
              </a:ext>
            </a:extLst>
          </p:cNvPr>
          <p:cNvSpPr txBox="1"/>
          <p:nvPr/>
        </p:nvSpPr>
        <p:spPr>
          <a:xfrm>
            <a:off x="3038312" y="849382"/>
            <a:ext cx="9983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</a:t>
            </a:r>
          </a:p>
          <a:p>
            <a:r>
              <a:rPr lang="en-US" sz="1500"/>
              <a:t>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64394-2513-C048-AB7A-2E15AD6C8529}"/>
              </a:ext>
            </a:extLst>
          </p:cNvPr>
          <p:cNvSpPr txBox="1"/>
          <p:nvPr/>
        </p:nvSpPr>
        <p:spPr>
          <a:xfrm>
            <a:off x="493569" y="1665567"/>
            <a:ext cx="12670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AB127-F0CD-B449-AF75-3345FF879342}"/>
              </a:ext>
            </a:extLst>
          </p:cNvPr>
          <p:cNvSpPr txBox="1"/>
          <p:nvPr/>
        </p:nvSpPr>
        <p:spPr>
          <a:xfrm>
            <a:off x="493568" y="2907693"/>
            <a:ext cx="12291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FE02D-BD1C-7948-8E07-03120186C2A6}"/>
              </a:ext>
            </a:extLst>
          </p:cNvPr>
          <p:cNvSpPr txBox="1"/>
          <p:nvPr/>
        </p:nvSpPr>
        <p:spPr>
          <a:xfrm>
            <a:off x="567441" y="3979693"/>
            <a:ext cx="14452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/>
              <a:t>Terraform Azure</a:t>
            </a:r>
          </a:p>
          <a:p>
            <a:pPr algn="ctr"/>
            <a:r>
              <a:rPr lang="en-US" sz="150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2877414" y="962244"/>
            <a:ext cx="10390" cy="5033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2877413" y="2326410"/>
            <a:ext cx="0" cy="400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2877414" y="3517936"/>
            <a:ext cx="1" cy="3779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3424669" y="4200259"/>
            <a:ext cx="4012616" cy="26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108" y="2591625"/>
            <a:ext cx="990709" cy="99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BB740D-ED88-4340-AE47-5D96738CE91E}"/>
              </a:ext>
            </a:extLst>
          </p:cNvPr>
          <p:cNvSpPr txBox="1"/>
          <p:nvPr/>
        </p:nvSpPr>
        <p:spPr>
          <a:xfrm>
            <a:off x="5074473" y="3421354"/>
            <a:ext cx="16221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3424669" y="3086979"/>
            <a:ext cx="2209438" cy="5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206FF85-B0C0-FC42-B811-EDF7DFD6A594}"/>
              </a:ext>
            </a:extLst>
          </p:cNvPr>
          <p:cNvSpPr txBox="1"/>
          <p:nvPr/>
        </p:nvSpPr>
        <p:spPr>
          <a:xfrm>
            <a:off x="3612882" y="2733666"/>
            <a:ext cx="12394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 err="1">
                <a:solidFill>
                  <a:srgbClr val="7030A0"/>
                </a:solidFill>
              </a:rPr>
              <a:t>init</a:t>
            </a:r>
            <a:endParaRPr lang="en-US" sz="150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860CE0-6581-064E-9961-A4039C4EBBCD}"/>
              </a:ext>
            </a:extLst>
          </p:cNvPr>
          <p:cNvSpPr txBox="1"/>
          <p:nvPr/>
        </p:nvSpPr>
        <p:spPr>
          <a:xfrm>
            <a:off x="1641795" y="5042283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73A972-E3B5-8D4D-9AE8-E334AEF3F124}"/>
              </a:ext>
            </a:extLst>
          </p:cNvPr>
          <p:cNvSpPr txBox="1"/>
          <p:nvPr/>
        </p:nvSpPr>
        <p:spPr>
          <a:xfrm>
            <a:off x="5340212" y="4213772"/>
            <a:ext cx="15697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2999633" y="3171300"/>
            <a:ext cx="2670573" cy="7596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08A489A-E83D-2D4D-86BA-9AEC2127B215}"/>
              </a:ext>
            </a:extLst>
          </p:cNvPr>
          <p:cNvSpPr txBox="1"/>
          <p:nvPr/>
        </p:nvSpPr>
        <p:spPr>
          <a:xfrm rot="20607091">
            <a:off x="3149033" y="3337922"/>
            <a:ext cx="16836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3985D-48B1-5E44-BF2E-E204B872B337}"/>
              </a:ext>
            </a:extLst>
          </p:cNvPr>
          <p:cNvSpPr txBox="1"/>
          <p:nvPr/>
        </p:nvSpPr>
        <p:spPr>
          <a:xfrm>
            <a:off x="3941207" y="3844620"/>
            <a:ext cx="14093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18A0EC-8919-E249-A6C6-73BC4E8F739A}"/>
              </a:ext>
            </a:extLst>
          </p:cNvPr>
          <p:cNvSpPr/>
          <p:nvPr/>
        </p:nvSpPr>
        <p:spPr>
          <a:xfrm>
            <a:off x="4268894" y="1660970"/>
            <a:ext cx="7793257" cy="664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This state is stored by default in a local file named "</a:t>
            </a:r>
            <a:r>
              <a:rPr lang="en-IN" sz="1500" err="1">
                <a:solidFill>
                  <a:srgbClr val="FFFF00"/>
                </a:solidFill>
              </a:rPr>
              <a:t>terraform.tfstate</a:t>
            </a:r>
            <a:r>
              <a:rPr lang="en-IN" sz="1500"/>
              <a:t>", but it can also be stored </a:t>
            </a:r>
            <a:r>
              <a:rPr lang="en-IN" sz="1500">
                <a:solidFill>
                  <a:srgbClr val="FFFF00"/>
                </a:solidFill>
              </a:rPr>
              <a:t>remotely</a:t>
            </a:r>
            <a:r>
              <a:rPr lang="en-IN" sz="1500"/>
              <a:t>, which works better in a </a:t>
            </a:r>
            <a:r>
              <a:rPr lang="en-IN" sz="1500">
                <a:solidFill>
                  <a:srgbClr val="FFFF00"/>
                </a:solidFill>
              </a:rPr>
              <a:t>team</a:t>
            </a:r>
            <a:r>
              <a:rPr lang="en-IN" sz="1500"/>
              <a:t> environment.</a:t>
            </a:r>
            <a:endParaRPr lang="en-US" sz="15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BB0AE0-4BDC-2C46-974E-941694ECFA50}"/>
              </a:ext>
            </a:extLst>
          </p:cNvPr>
          <p:cNvSpPr/>
          <p:nvPr/>
        </p:nvSpPr>
        <p:spPr>
          <a:xfrm>
            <a:off x="3656169" y="4957974"/>
            <a:ext cx="8405982" cy="563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The </a:t>
            </a:r>
            <a:r>
              <a:rPr lang="en-IN" sz="1500">
                <a:solidFill>
                  <a:srgbClr val="FFFF00"/>
                </a:solidFill>
              </a:rPr>
              <a:t>primary purpose </a:t>
            </a:r>
            <a:r>
              <a:rPr lang="en-IN" sz="1500"/>
              <a:t>of Terraform state is to store bindings between objects in a </a:t>
            </a:r>
            <a:r>
              <a:rPr lang="en-IN" sz="1500">
                <a:solidFill>
                  <a:srgbClr val="FFFF00"/>
                </a:solidFill>
              </a:rPr>
              <a:t>remote system </a:t>
            </a:r>
            <a:r>
              <a:rPr lang="en-IN" sz="1500"/>
              <a:t>and resource instances </a:t>
            </a:r>
            <a:r>
              <a:rPr lang="en-IN" sz="1500">
                <a:solidFill>
                  <a:srgbClr val="FFFF00"/>
                </a:solidFill>
              </a:rPr>
              <a:t>declared</a:t>
            </a:r>
            <a:r>
              <a:rPr lang="en-IN" sz="1500"/>
              <a:t> in your configuration. </a:t>
            </a:r>
            <a:endParaRPr lang="en-US" sz="15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4B087D-84C1-E54D-A981-4A87A7259AFF}"/>
              </a:ext>
            </a:extLst>
          </p:cNvPr>
          <p:cNvSpPr/>
          <p:nvPr/>
        </p:nvSpPr>
        <p:spPr>
          <a:xfrm>
            <a:off x="4010891" y="2437524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5663F2-4526-F147-9AA1-27A443B282A4}"/>
              </a:ext>
            </a:extLst>
          </p:cNvPr>
          <p:cNvSpPr/>
          <p:nvPr/>
        </p:nvSpPr>
        <p:spPr>
          <a:xfrm>
            <a:off x="1305104" y="4711039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FF7EAF-362C-1B44-8E86-F300B881145B}"/>
              </a:ext>
            </a:extLst>
          </p:cNvPr>
          <p:cNvSpPr txBox="1"/>
          <p:nvPr/>
        </p:nvSpPr>
        <p:spPr>
          <a:xfrm>
            <a:off x="1696571" y="4679574"/>
            <a:ext cx="15982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7030A0"/>
                </a:solidFill>
              </a:rPr>
              <a:t>terraform</a:t>
            </a:r>
            <a:r>
              <a:rPr lang="en-US" sz="1500"/>
              <a:t> </a:t>
            </a:r>
            <a:r>
              <a:rPr lang="en-US" sz="150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565A9AD-BFEC-3A40-9AAF-EBE9E3DC2653}"/>
              </a:ext>
            </a:extLst>
          </p:cNvPr>
          <p:cNvSpPr/>
          <p:nvPr/>
        </p:nvSpPr>
        <p:spPr>
          <a:xfrm>
            <a:off x="1289195" y="5072127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D69D9C8-360A-2B42-AC2A-30CEF8746D77}"/>
              </a:ext>
            </a:extLst>
          </p:cNvPr>
          <p:cNvSpPr/>
          <p:nvPr/>
        </p:nvSpPr>
        <p:spPr>
          <a:xfrm>
            <a:off x="3576439" y="3876084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47CE6D1-DD1E-6C43-BE83-4BD0258BF846}"/>
              </a:ext>
            </a:extLst>
          </p:cNvPr>
          <p:cNvSpPr/>
          <p:nvPr/>
        </p:nvSpPr>
        <p:spPr>
          <a:xfrm>
            <a:off x="5009945" y="4302444"/>
            <a:ext cx="413904" cy="29614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5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70A4D40E-C91E-7949-8962-16CA9CA58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6413" y="5406241"/>
            <a:ext cx="917864" cy="91786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199CF2A-5CAF-3240-9423-E01A3E397A9F}"/>
              </a:ext>
            </a:extLst>
          </p:cNvPr>
          <p:cNvSpPr txBox="1"/>
          <p:nvPr/>
        </p:nvSpPr>
        <p:spPr>
          <a:xfrm>
            <a:off x="635621" y="5413969"/>
            <a:ext cx="14888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>
                <a:solidFill>
                  <a:srgbClr val="C00000"/>
                </a:solidFill>
              </a:rPr>
              <a:t>Terraform State</a:t>
            </a:r>
          </a:p>
          <a:p>
            <a:pPr algn="ctr"/>
            <a:r>
              <a:rPr lang="en-US" sz="1500">
                <a:solidFill>
                  <a:srgbClr val="C00000"/>
                </a:solidFill>
              </a:rPr>
              <a:t>File</a:t>
            </a:r>
          </a:p>
          <a:p>
            <a:pPr algn="ctr"/>
            <a:r>
              <a:rPr lang="en-US" sz="1500" err="1">
                <a:solidFill>
                  <a:srgbClr val="C00000"/>
                </a:solidFill>
              </a:rPr>
              <a:t>terraform.tfstate</a:t>
            </a:r>
            <a:endParaRPr lang="en-US" sz="150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24D621-5A5F-5746-8043-8DA87DF8CB9B}"/>
              </a:ext>
            </a:extLst>
          </p:cNvPr>
          <p:cNvSpPr/>
          <p:nvPr/>
        </p:nvSpPr>
        <p:spPr>
          <a:xfrm>
            <a:off x="4268894" y="138712"/>
            <a:ext cx="7793257" cy="4748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Terraform must </a:t>
            </a:r>
            <a:r>
              <a:rPr lang="en-IN" sz="1500">
                <a:solidFill>
                  <a:srgbClr val="FFFF00"/>
                </a:solidFill>
              </a:rPr>
              <a:t>store state </a:t>
            </a:r>
            <a:r>
              <a:rPr lang="en-IN" sz="1500"/>
              <a:t>about your managed infrastructure and configuration</a:t>
            </a:r>
            <a:endParaRPr lang="en-US" sz="15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412F29-37E9-1C47-AD57-218EB0E0B02D}"/>
              </a:ext>
            </a:extLst>
          </p:cNvPr>
          <p:cNvSpPr/>
          <p:nvPr/>
        </p:nvSpPr>
        <p:spPr>
          <a:xfrm>
            <a:off x="4268894" y="733934"/>
            <a:ext cx="7793257" cy="8413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This state is used by Terraform to map </a:t>
            </a:r>
            <a:r>
              <a:rPr lang="en-IN" sz="1500">
                <a:solidFill>
                  <a:srgbClr val="FFFF00"/>
                </a:solidFill>
              </a:rPr>
              <a:t>real world resources </a:t>
            </a:r>
            <a:r>
              <a:rPr lang="en-IN" sz="1500"/>
              <a:t>to your </a:t>
            </a:r>
            <a:r>
              <a:rPr lang="en-IN" sz="1500">
                <a:solidFill>
                  <a:srgbClr val="FFFF00"/>
                </a:solidFill>
              </a:rPr>
              <a:t>configuration (.</a:t>
            </a:r>
            <a:r>
              <a:rPr lang="en-IN" sz="1500" err="1">
                <a:solidFill>
                  <a:srgbClr val="FFFF00"/>
                </a:solidFill>
              </a:rPr>
              <a:t>tf</a:t>
            </a:r>
            <a:r>
              <a:rPr lang="en-IN" sz="1500">
                <a:solidFill>
                  <a:srgbClr val="FFFF00"/>
                </a:solidFill>
              </a:rPr>
              <a:t> files)</a:t>
            </a:r>
            <a:r>
              <a:rPr lang="en-IN" sz="1500"/>
              <a:t>, keep track of metadata, and to improve performance for large infrastructures.</a:t>
            </a:r>
            <a:endParaRPr lang="en-US" sz="15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0809111-A011-DE49-AEE1-C7B35F92EF6A}"/>
              </a:ext>
            </a:extLst>
          </p:cNvPr>
          <p:cNvSpPr/>
          <p:nvPr/>
        </p:nvSpPr>
        <p:spPr>
          <a:xfrm>
            <a:off x="3656169" y="5589727"/>
            <a:ext cx="8402313" cy="7795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When Terraform creates a remote object in response to a change of configuration, it will record the </a:t>
            </a:r>
            <a:r>
              <a:rPr lang="en-IN" sz="1500">
                <a:solidFill>
                  <a:srgbClr val="FFFF00"/>
                </a:solidFill>
              </a:rPr>
              <a:t>identity</a:t>
            </a:r>
            <a:r>
              <a:rPr lang="en-IN" sz="1500"/>
              <a:t> of that remote object against a particular resource instance, and then </a:t>
            </a:r>
            <a:r>
              <a:rPr lang="en-IN" sz="1500">
                <a:solidFill>
                  <a:srgbClr val="FFFF00"/>
                </a:solidFill>
              </a:rPr>
              <a:t>potentially</a:t>
            </a:r>
            <a:r>
              <a:rPr lang="en-IN" sz="1500"/>
              <a:t> </a:t>
            </a:r>
            <a:r>
              <a:rPr lang="en-IN" sz="1500">
                <a:solidFill>
                  <a:srgbClr val="FFFF00"/>
                </a:solidFill>
              </a:rPr>
              <a:t>update or delete </a:t>
            </a:r>
            <a:r>
              <a:rPr lang="en-IN" sz="1500"/>
              <a:t>that object in response to future configuration changes.</a:t>
            </a:r>
            <a:endParaRPr lang="en-US" sz="15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D7FA8A4-794E-F44B-B539-3FB255BF81B3}"/>
              </a:ext>
            </a:extLst>
          </p:cNvPr>
          <p:cNvSpPr/>
          <p:nvPr/>
        </p:nvSpPr>
        <p:spPr>
          <a:xfrm>
            <a:off x="7219383" y="2556067"/>
            <a:ext cx="4735110" cy="2116847"/>
          </a:xfrm>
          <a:prstGeom prst="rect">
            <a:avLst/>
          </a:prstGeom>
          <a:noFill/>
          <a:ln w="952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612A2D-22B5-6C48-AF46-CFC11331F9BD}"/>
              </a:ext>
            </a:extLst>
          </p:cNvPr>
          <p:cNvSpPr txBox="1"/>
          <p:nvPr/>
        </p:nvSpPr>
        <p:spPr>
          <a:xfrm>
            <a:off x="8665099" y="2535768"/>
            <a:ext cx="178414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/>
              <a:t>Azure Cloud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AF088A52-0F26-ED4B-B257-E09E9684D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4620" y="3717182"/>
            <a:ext cx="683646" cy="68364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64924DA-0A51-AA44-8269-E72590467230}"/>
              </a:ext>
            </a:extLst>
          </p:cNvPr>
          <p:cNvSpPr txBox="1"/>
          <p:nvPr/>
        </p:nvSpPr>
        <p:spPr>
          <a:xfrm>
            <a:off x="8539604" y="4316300"/>
            <a:ext cx="1565685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Resource Group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684690-2C88-0E4A-8BDD-D9A4F4E8A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3386" y="2850618"/>
            <a:ext cx="699782" cy="69978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3E7CA866-5670-054F-A602-3F2EE63BB896}"/>
              </a:ext>
            </a:extLst>
          </p:cNvPr>
          <p:cNvSpPr txBox="1"/>
          <p:nvPr/>
        </p:nvSpPr>
        <p:spPr>
          <a:xfrm>
            <a:off x="7212005" y="3424175"/>
            <a:ext cx="1563313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Virtual Network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39CA48D-A0DC-F743-95AE-6F0D4F21C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18908" y="2829221"/>
            <a:ext cx="670284" cy="67028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C471304-7709-594D-ABDA-9B1EAB22541F}"/>
              </a:ext>
            </a:extLst>
          </p:cNvPr>
          <p:cNvSpPr txBox="1"/>
          <p:nvPr/>
        </p:nvSpPr>
        <p:spPr>
          <a:xfrm>
            <a:off x="9078738" y="3391645"/>
            <a:ext cx="795859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Subnet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3CDDDEA-4C66-7040-BE15-AED072627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63235" y="2819067"/>
            <a:ext cx="680438" cy="68043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34CE62A-416A-7841-8F38-399E143E930D}"/>
              </a:ext>
            </a:extLst>
          </p:cNvPr>
          <p:cNvSpPr txBox="1"/>
          <p:nvPr/>
        </p:nvSpPr>
        <p:spPr>
          <a:xfrm>
            <a:off x="10657819" y="3415621"/>
            <a:ext cx="922047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Public IP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AB2791F5-0EEB-9C4A-8474-961DBDB02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3468" y="3757600"/>
            <a:ext cx="604180" cy="60418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02DF4CC-5E4D-8C4C-B408-D5B153D17D1C}"/>
              </a:ext>
            </a:extLst>
          </p:cNvPr>
          <p:cNvSpPr txBox="1"/>
          <p:nvPr/>
        </p:nvSpPr>
        <p:spPr>
          <a:xfrm>
            <a:off x="10219588" y="4315307"/>
            <a:ext cx="1755224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7"/>
              <a:t>Network Interface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FCEAB0-01D6-5D4D-A418-EF76524E3FEF}"/>
              </a:ext>
            </a:extLst>
          </p:cNvPr>
          <p:cNvCxnSpPr/>
          <p:nvPr/>
        </p:nvCxnSpPr>
        <p:spPr>
          <a:xfrm>
            <a:off x="7187994" y="2456459"/>
            <a:ext cx="4870488" cy="2291337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A81102-FE4C-A040-BBA1-75C8DAFBD04C}"/>
              </a:ext>
            </a:extLst>
          </p:cNvPr>
          <p:cNvCxnSpPr/>
          <p:nvPr/>
        </p:nvCxnSpPr>
        <p:spPr>
          <a:xfrm flipV="1">
            <a:off x="7122192" y="2496226"/>
            <a:ext cx="5069808" cy="2267708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261CFF-4F10-BAF1-83DD-4F49824F6B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645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/>
      <p:bldP spid="29" grpId="0"/>
      <p:bldP spid="45" grpId="0"/>
      <p:bldP spid="50" grpId="0"/>
      <p:bldP spid="51" grpId="0"/>
      <p:bldP spid="52" grpId="0"/>
      <p:bldP spid="56" grpId="0"/>
      <p:bldP spid="58" grpId="0"/>
      <p:bldP spid="57" grpId="0" animBg="1"/>
      <p:bldP spid="63" grpId="0" animBg="1"/>
      <p:bldP spid="64" grpId="0" animBg="1"/>
      <p:bldP spid="67" grpId="0" animBg="1"/>
      <p:bldP spid="68" grpId="0"/>
      <p:bldP spid="69" grpId="0" animBg="1"/>
      <p:bldP spid="70" grpId="0" animBg="1"/>
      <p:bldP spid="71" grpId="0" animBg="1"/>
      <p:bldP spid="47" grpId="0"/>
      <p:bldP spid="49" grpId="0" animBg="1"/>
      <p:bldP spid="54" grpId="0" animBg="1"/>
      <p:bldP spid="59" grpId="0" animBg="1"/>
      <p:bldP spid="55" grpId="0" animBg="1"/>
      <p:bldP spid="60" grpId="0"/>
      <p:bldP spid="62" grpId="0"/>
      <p:bldP spid="65" grpId="0"/>
      <p:bldP spid="66" grpId="0"/>
      <p:bldP spid="73" grpId="0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99002-099A-DE49-B824-DE6DBD84A1A5}"/>
              </a:ext>
            </a:extLst>
          </p:cNvPr>
          <p:cNvGraphicFramePr/>
          <p:nvPr/>
        </p:nvGraphicFramePr>
        <p:xfrm>
          <a:off x="112569" y="1687816"/>
          <a:ext cx="11966863" cy="2997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161CE93-17E0-9D44-98AD-D4837A3A3DD5}"/>
              </a:ext>
            </a:extLst>
          </p:cNvPr>
          <p:cNvSpPr/>
          <p:nvPr/>
        </p:nvSpPr>
        <p:spPr>
          <a:xfrm>
            <a:off x="1096820" y="1991598"/>
            <a:ext cx="389659" cy="39831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A41790-BF06-9A49-9D2E-C12021E9D759}"/>
              </a:ext>
            </a:extLst>
          </p:cNvPr>
          <p:cNvSpPr/>
          <p:nvPr/>
        </p:nvSpPr>
        <p:spPr>
          <a:xfrm>
            <a:off x="3362615" y="1991598"/>
            <a:ext cx="389659" cy="3983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F8689-3E6C-9E45-AF11-DA6AFBA29F5A}"/>
              </a:ext>
            </a:extLst>
          </p:cNvPr>
          <p:cNvSpPr/>
          <p:nvPr/>
        </p:nvSpPr>
        <p:spPr>
          <a:xfrm>
            <a:off x="5706341" y="1991598"/>
            <a:ext cx="389659" cy="39831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6D40A-581C-3C47-80C6-76F25ACE8ED5}"/>
              </a:ext>
            </a:extLst>
          </p:cNvPr>
          <p:cNvSpPr/>
          <p:nvPr/>
        </p:nvSpPr>
        <p:spPr>
          <a:xfrm>
            <a:off x="8050068" y="1991598"/>
            <a:ext cx="389659" cy="39831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0C8899-83C5-9B42-99AB-8B988F1ED88A}"/>
              </a:ext>
            </a:extLst>
          </p:cNvPr>
          <p:cNvSpPr/>
          <p:nvPr/>
        </p:nvSpPr>
        <p:spPr>
          <a:xfrm>
            <a:off x="10471727" y="1991598"/>
            <a:ext cx="389659" cy="3983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3BDB4-4041-8043-A0D7-8D047D882BE5}"/>
              </a:ext>
            </a:extLst>
          </p:cNvPr>
          <p:cNvSpPr/>
          <p:nvPr/>
        </p:nvSpPr>
        <p:spPr>
          <a:xfrm>
            <a:off x="112569" y="4390878"/>
            <a:ext cx="2060863" cy="432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</a:t>
            </a:r>
            <a:r>
              <a:rPr lang="en-US" sz="1500" err="1"/>
              <a:t>init</a:t>
            </a:r>
            <a:endParaRPr lang="en-US" sz="15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37D96-B1EC-9C48-BB22-66D49D5A75A1}"/>
              </a:ext>
            </a:extLst>
          </p:cNvPr>
          <p:cNvSpPr/>
          <p:nvPr/>
        </p:nvSpPr>
        <p:spPr>
          <a:xfrm>
            <a:off x="2527012" y="4390878"/>
            <a:ext cx="2060863" cy="4329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7C3BE-B259-574A-8CAA-A27587CF1269}"/>
              </a:ext>
            </a:extLst>
          </p:cNvPr>
          <p:cNvSpPr/>
          <p:nvPr/>
        </p:nvSpPr>
        <p:spPr>
          <a:xfrm>
            <a:off x="4888778" y="4390878"/>
            <a:ext cx="2060863" cy="4329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AAE04-2F94-6B46-B34F-7C9B206A3B41}"/>
              </a:ext>
            </a:extLst>
          </p:cNvPr>
          <p:cNvSpPr/>
          <p:nvPr/>
        </p:nvSpPr>
        <p:spPr>
          <a:xfrm>
            <a:off x="7214465" y="4390878"/>
            <a:ext cx="2060863" cy="4329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5BE2F-2B87-F043-BF5D-167699751B3B}"/>
              </a:ext>
            </a:extLst>
          </p:cNvPr>
          <p:cNvSpPr/>
          <p:nvPr/>
        </p:nvSpPr>
        <p:spPr>
          <a:xfrm>
            <a:off x="9540153" y="4390878"/>
            <a:ext cx="2060863" cy="4329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destroy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0BBB42-58FA-58B9-7F47-44FCCE4CFA66}"/>
              </a:ext>
            </a:extLst>
          </p:cNvPr>
          <p:cNvSpPr txBox="1"/>
          <p:nvPr/>
        </p:nvSpPr>
        <p:spPr>
          <a:xfrm>
            <a:off x="413458" y="393666"/>
            <a:ext cx="491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Terraform </a:t>
            </a:r>
            <a:r>
              <a:rPr lang="en-IN" sz="3600" b="1" dirty="0" err="1">
                <a:latin typeface="+mj-lt"/>
              </a:rPr>
              <a:t>WorkFlow</a:t>
            </a:r>
            <a:endParaRPr lang="en-IN" sz="3600" b="1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E0461-9C3C-72E6-8E09-50714740FD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82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99002-099A-DE49-B824-DE6DBD84A1A5}"/>
              </a:ext>
            </a:extLst>
          </p:cNvPr>
          <p:cNvGraphicFramePr/>
          <p:nvPr/>
        </p:nvGraphicFramePr>
        <p:xfrm>
          <a:off x="112569" y="787264"/>
          <a:ext cx="11966863" cy="2997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161CE93-17E0-9D44-98AD-D4837A3A3DD5}"/>
              </a:ext>
            </a:extLst>
          </p:cNvPr>
          <p:cNvSpPr/>
          <p:nvPr/>
        </p:nvSpPr>
        <p:spPr>
          <a:xfrm>
            <a:off x="1096820" y="1091045"/>
            <a:ext cx="389659" cy="39831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A41790-BF06-9A49-9D2E-C12021E9D759}"/>
              </a:ext>
            </a:extLst>
          </p:cNvPr>
          <p:cNvSpPr/>
          <p:nvPr/>
        </p:nvSpPr>
        <p:spPr>
          <a:xfrm>
            <a:off x="3362615" y="1091045"/>
            <a:ext cx="389659" cy="3983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F8689-3E6C-9E45-AF11-DA6AFBA29F5A}"/>
              </a:ext>
            </a:extLst>
          </p:cNvPr>
          <p:cNvSpPr/>
          <p:nvPr/>
        </p:nvSpPr>
        <p:spPr>
          <a:xfrm>
            <a:off x="5706341" y="1091045"/>
            <a:ext cx="389659" cy="39831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6D40A-581C-3C47-80C6-76F25ACE8ED5}"/>
              </a:ext>
            </a:extLst>
          </p:cNvPr>
          <p:cNvSpPr/>
          <p:nvPr/>
        </p:nvSpPr>
        <p:spPr>
          <a:xfrm>
            <a:off x="8050068" y="1091045"/>
            <a:ext cx="389659" cy="39831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0C8899-83C5-9B42-99AB-8B988F1ED88A}"/>
              </a:ext>
            </a:extLst>
          </p:cNvPr>
          <p:cNvSpPr/>
          <p:nvPr/>
        </p:nvSpPr>
        <p:spPr>
          <a:xfrm>
            <a:off x="10471727" y="1091045"/>
            <a:ext cx="389659" cy="3983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97AF1-5C1C-0048-A78D-3A72CA11CA19}"/>
              </a:ext>
            </a:extLst>
          </p:cNvPr>
          <p:cNvSpPr/>
          <p:nvPr/>
        </p:nvSpPr>
        <p:spPr>
          <a:xfrm>
            <a:off x="112569" y="2944091"/>
            <a:ext cx="2112818" cy="33424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583"/>
              <a:t>Used to Initialize a working directory containing terraform config files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en-IN" sz="1583"/>
              <a:t>This is the first command that should be run after writing a new Terraform configuration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en-IN" sz="1583"/>
              <a:t>Downloads </a:t>
            </a:r>
            <a:r>
              <a:rPr lang="en-IN" sz="1583">
                <a:solidFill>
                  <a:srgbClr val="FFFF00"/>
                </a:solidFill>
              </a:rPr>
              <a:t>Providers</a:t>
            </a:r>
            <a:endParaRPr lang="en-US" sz="1583">
              <a:solidFill>
                <a:srgbClr val="FFFF00"/>
              </a:solidFill>
            </a:endParaRPr>
          </a:p>
          <a:p>
            <a:pPr marL="285739" indent="-285739">
              <a:buFont typeface="Arial" panose="020B0604020202020204" pitchFamily="34" charset="0"/>
              <a:buChar char="•"/>
            </a:pPr>
            <a:endParaRPr lang="en-US" sz="166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460A0-E145-FF4E-A86D-3C0C48402798}"/>
              </a:ext>
            </a:extLst>
          </p:cNvPr>
          <p:cNvSpPr/>
          <p:nvPr/>
        </p:nvSpPr>
        <p:spPr>
          <a:xfrm>
            <a:off x="2501034" y="2944091"/>
            <a:ext cx="2112818" cy="33424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667"/>
              <a:t>Validates the terraform configurations files in that respective directory to ensure they are </a:t>
            </a:r>
            <a:r>
              <a:rPr lang="en-US" sz="1667">
                <a:solidFill>
                  <a:srgbClr val="FFFF00"/>
                </a:solidFill>
              </a:rPr>
              <a:t>syntactically valid and internally consistent. 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endParaRPr lang="en-US" sz="16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57BB7F-D76F-5C45-AFC3-7EFF8C1C080D}"/>
              </a:ext>
            </a:extLst>
          </p:cNvPr>
          <p:cNvSpPr/>
          <p:nvPr/>
        </p:nvSpPr>
        <p:spPr>
          <a:xfrm>
            <a:off x="4844761" y="2952748"/>
            <a:ext cx="2112818" cy="3342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667"/>
              <a:t>Creates an execution plan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667"/>
              <a:t>Terraform performs a refresh and determines what actions are necessary to achieve the </a:t>
            </a:r>
            <a:r>
              <a:rPr lang="en-US" sz="1667">
                <a:solidFill>
                  <a:srgbClr val="FFFF00"/>
                </a:solidFill>
              </a:rPr>
              <a:t>desired state </a:t>
            </a:r>
            <a:r>
              <a:rPr lang="en-US" sz="1667"/>
              <a:t>specified in configuration 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E1547-D5E2-F24E-B189-1D9E635BB5E2}"/>
              </a:ext>
            </a:extLst>
          </p:cNvPr>
          <p:cNvSpPr/>
          <p:nvPr/>
        </p:nvSpPr>
        <p:spPr>
          <a:xfrm>
            <a:off x="7188488" y="2944090"/>
            <a:ext cx="2112818" cy="334240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667"/>
              <a:t>Used to apply the changes required </a:t>
            </a:r>
            <a:r>
              <a:rPr lang="en-US" sz="1667">
                <a:solidFill>
                  <a:srgbClr val="FFFF00"/>
                </a:solidFill>
              </a:rPr>
              <a:t>to reach the desired state</a:t>
            </a:r>
            <a:r>
              <a:rPr lang="en-US" sz="1667"/>
              <a:t> of the configuration.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en-IN" sz="1667"/>
              <a:t>By default, apply scans the current directory for the configuration and applies the changes appropriately.</a:t>
            </a:r>
            <a:endParaRPr lang="en-US" sz="166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94B5E-6FBE-B841-B471-8F0A441CCFDB}"/>
              </a:ext>
            </a:extLst>
          </p:cNvPr>
          <p:cNvSpPr/>
          <p:nvPr/>
        </p:nvSpPr>
        <p:spPr>
          <a:xfrm>
            <a:off x="9529328" y="2944089"/>
            <a:ext cx="2112818" cy="334240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en-IN" sz="1667"/>
              <a:t>Used to destroy the Terraform-managed infrastructure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en-US" sz="1667"/>
              <a:t>This will ask for confirmation before destroying.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D8F73-9F02-84A8-7B47-986F392CAF80}"/>
              </a:ext>
            </a:extLst>
          </p:cNvPr>
          <p:cNvSpPr txBox="1"/>
          <p:nvPr/>
        </p:nvSpPr>
        <p:spPr>
          <a:xfrm>
            <a:off x="295471" y="239677"/>
            <a:ext cx="491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Terraform </a:t>
            </a:r>
            <a:r>
              <a:rPr lang="en-IN" sz="3600" b="1" dirty="0" err="1">
                <a:latin typeface="+mj-lt"/>
              </a:rPr>
              <a:t>WorkFlow</a:t>
            </a:r>
            <a:endParaRPr lang="en-IN" sz="3600" b="1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D7325-4106-96F2-888C-E60F0067D4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03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6902" y="475513"/>
            <a:ext cx="556387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b="1" spc="-5" dirty="0">
                <a:latin typeface="+mj-lt"/>
                <a:cs typeface="Arial"/>
              </a:rPr>
              <a:t>Workflow: </a:t>
            </a:r>
            <a:r>
              <a:rPr sz="3700" b="1" dirty="0">
                <a:latin typeface="+mj-lt"/>
                <a:cs typeface="Arial"/>
              </a:rPr>
              <a:t>Adoption</a:t>
            </a:r>
            <a:r>
              <a:rPr sz="3700" b="1" spc="-375" dirty="0">
                <a:latin typeface="+mj-lt"/>
                <a:cs typeface="Arial"/>
              </a:rPr>
              <a:t> </a:t>
            </a:r>
            <a:r>
              <a:rPr sz="3700" b="1" spc="15" dirty="0">
                <a:latin typeface="+mj-lt"/>
                <a:cs typeface="Arial"/>
              </a:rPr>
              <a:t>stages</a:t>
            </a:r>
            <a:endParaRPr sz="3700" b="1" dirty="0">
              <a:latin typeface="+mj-lt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3815" y="1720037"/>
            <a:ext cx="1945639" cy="9975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394335">
              <a:lnSpc>
                <a:spcPts val="3810"/>
              </a:lnSpc>
              <a:spcBef>
                <a:spcPts val="254"/>
              </a:spcBef>
            </a:pPr>
            <a:r>
              <a:rPr sz="3200" spc="-15" dirty="0">
                <a:latin typeface="Arial"/>
                <a:cs typeface="Arial"/>
              </a:rPr>
              <a:t>Single  </a:t>
            </a:r>
            <a:r>
              <a:rPr sz="3200" dirty="0">
                <a:latin typeface="Arial"/>
                <a:cs typeface="Arial"/>
              </a:rPr>
              <a:t>contr</a:t>
            </a:r>
            <a:r>
              <a:rPr sz="3200" spc="-10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b</a:t>
            </a:r>
            <a:r>
              <a:rPr sz="3200" spc="-10" dirty="0">
                <a:latin typeface="Arial"/>
                <a:cs typeface="Arial"/>
              </a:rPr>
              <a:t>u</a:t>
            </a:r>
            <a:r>
              <a:rPr sz="3200" dirty="0">
                <a:latin typeface="Arial"/>
                <a:cs typeface="Arial"/>
              </a:rPr>
              <a:t>tor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2692" y="3043427"/>
            <a:ext cx="11786616" cy="2830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48DE3-B8C3-1997-A254-C7E3F31558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AE8FF-181C-189A-BD3E-B2BF6EDF13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CD52-6854-43A7-85B8-DA1FF121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71" y="188327"/>
            <a:ext cx="11602072" cy="656591"/>
          </a:xfrm>
        </p:spPr>
        <p:txBody>
          <a:bodyPr>
            <a:normAutofit/>
          </a:bodyPr>
          <a:lstStyle/>
          <a:p>
            <a:r>
              <a:rPr lang="en-US" sz="3600" b="1" dirty="0"/>
              <a:t>Terraform Commands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BA38CB-975C-42F9-859A-FC4FF7CDD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571" y="1462769"/>
            <a:ext cx="10346364" cy="482191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D1E10-81B7-F572-C614-D8E2690B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1A056-D37A-D51A-12D5-E1B74EC5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869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BBFD25-EBE5-4CD8-9A33-A6EC3FE9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4" y="1115829"/>
            <a:ext cx="11698333" cy="549669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7376C3-8720-4F8A-B57E-20E2299F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92" y="0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Terraform Commands</a:t>
            </a:r>
            <a:endParaRPr lang="en-IN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DBEF-BF04-4467-43B3-2C32F0DA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959CF-238F-4D78-EE1B-0997EE9A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20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400523-4765-4DF2-9EF3-193895629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1124745"/>
            <a:ext cx="11612596" cy="554432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10BFA8C-8FFD-4EFC-A9A4-63CBD245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02" y="0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Terraform Commands</a:t>
            </a:r>
            <a:endParaRPr lang="en-IN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86E34-4C41-994C-9CBB-E36FC5DE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E9428-E4F5-D9FC-1328-1486A511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25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63006" y="2517539"/>
            <a:ext cx="38468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cs typeface="Arial"/>
              </a:rPr>
              <a:t>Terraform</a:t>
            </a:r>
            <a:r>
              <a:rPr sz="4400" b="1" spc="-90" dirty="0">
                <a:cs typeface="Arial"/>
              </a:rPr>
              <a:t> </a:t>
            </a:r>
            <a:r>
              <a:rPr lang="en-IN" b="1" spc="-90" dirty="0">
                <a:cs typeface="Arial"/>
              </a:rPr>
              <a:t>S</a:t>
            </a:r>
            <a:r>
              <a:rPr sz="4400" b="1" dirty="0" err="1">
                <a:cs typeface="Arial"/>
              </a:rPr>
              <a:t>tate</a:t>
            </a:r>
            <a:endParaRPr sz="4400" b="1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5293BA-7619-2280-D7C9-FB8A1751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0F7DF-2D12-BD92-5B1B-5AFE095A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1195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995" y="340870"/>
            <a:ext cx="35490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40" dirty="0"/>
              <a:t>Terraform</a:t>
            </a:r>
            <a:r>
              <a:rPr sz="3600" b="1" spc="-550" dirty="0"/>
              <a:t> </a:t>
            </a:r>
            <a:r>
              <a:rPr lang="en-IN" sz="3600" b="1" spc="-550" dirty="0"/>
              <a:t> </a:t>
            </a:r>
            <a:r>
              <a:rPr sz="3600" b="1" spc="-215" dirty="0"/>
              <a:t>State</a:t>
            </a:r>
            <a:endParaRPr sz="36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5082666" y="2095627"/>
            <a:ext cx="5421630" cy="283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200"/>
              </a:lnSpc>
              <a:spcBef>
                <a:spcPts val="100"/>
              </a:spcBef>
            </a:pPr>
            <a:r>
              <a:rPr sz="2400" spc="65" dirty="0">
                <a:solidFill>
                  <a:srgbClr val="EF5A28"/>
                </a:solidFill>
                <a:latin typeface="Verdana"/>
                <a:cs typeface="Verdana"/>
              </a:rPr>
              <a:t>JSON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format </a:t>
            </a:r>
            <a:r>
              <a:rPr sz="2400" spc="20" dirty="0">
                <a:solidFill>
                  <a:srgbClr val="EF5A28"/>
                </a:solidFill>
                <a:latin typeface="Verdana"/>
                <a:cs typeface="Verdana"/>
              </a:rPr>
              <a:t>(Do not </a:t>
            </a:r>
            <a:r>
              <a:rPr sz="2400" spc="-15" dirty="0">
                <a:solidFill>
                  <a:srgbClr val="EF5A28"/>
                </a:solidFill>
                <a:latin typeface="Verdana"/>
                <a:cs typeface="Verdana"/>
              </a:rPr>
              <a:t>touch!) 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Resources </a:t>
            </a:r>
            <a:r>
              <a:rPr sz="2400" spc="15" dirty="0">
                <a:solidFill>
                  <a:srgbClr val="EF5A28"/>
                </a:solidFill>
                <a:latin typeface="Verdana"/>
                <a:cs typeface="Verdana"/>
              </a:rPr>
              <a:t>mappings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and</a:t>
            </a:r>
            <a:r>
              <a:rPr sz="2400" spc="-305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EF5A28"/>
                </a:solidFill>
                <a:latin typeface="Verdana"/>
                <a:cs typeface="Verdana"/>
              </a:rPr>
              <a:t>metadata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400" spc="40" dirty="0">
                <a:solidFill>
                  <a:srgbClr val="EF5A28"/>
                </a:solidFill>
                <a:latin typeface="Verdana"/>
                <a:cs typeface="Verdana"/>
              </a:rPr>
              <a:t>Locking</a:t>
            </a:r>
            <a:endParaRPr sz="2400">
              <a:latin typeface="Verdana"/>
              <a:cs typeface="Verdana"/>
            </a:endParaRPr>
          </a:p>
          <a:p>
            <a:pPr marL="12700" marR="3138805">
              <a:lnSpc>
                <a:spcPct val="162900"/>
              </a:lnSpc>
              <a:spcBef>
                <a:spcPts val="5"/>
              </a:spcBef>
            </a:pPr>
            <a:r>
              <a:rPr sz="2400" spc="50" dirty="0">
                <a:solidFill>
                  <a:srgbClr val="EF5A28"/>
                </a:solidFill>
                <a:latin typeface="Verdana"/>
                <a:cs typeface="Verdana"/>
              </a:rPr>
              <a:t>Local </a:t>
            </a:r>
            <a:r>
              <a:rPr sz="2400" dirty="0">
                <a:solidFill>
                  <a:srgbClr val="EF5A28"/>
                </a:solidFill>
                <a:latin typeface="Verdana"/>
                <a:cs typeface="Verdana"/>
              </a:rPr>
              <a:t>/</a:t>
            </a:r>
            <a:r>
              <a:rPr sz="2400" spc="-170" dirty="0">
                <a:solidFill>
                  <a:srgbClr val="EF5A28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EF5A28"/>
                </a:solidFill>
                <a:latin typeface="Verdana"/>
                <a:cs typeface="Verdana"/>
              </a:rPr>
              <a:t>remote  </a:t>
            </a:r>
            <a:r>
              <a:rPr sz="2400" spc="-5" dirty="0">
                <a:solidFill>
                  <a:srgbClr val="EF5A28"/>
                </a:solidFill>
                <a:latin typeface="Verdana"/>
                <a:cs typeface="Verdana"/>
              </a:rPr>
              <a:t>Environments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8027" y="1898336"/>
            <a:ext cx="2883058" cy="346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27437-4BF9-BD01-092A-7883533B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59F67-2546-FBC8-5235-ECFD2B40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0EA8F0-2A68-8B48-9425-66AF2518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87" y="76925"/>
            <a:ext cx="10515600" cy="9907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Desired &amp; Current Terraform States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AFD74F72-8AD7-7949-8807-43EDF0695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9276" y="2665556"/>
            <a:ext cx="917864" cy="917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9AC7D-D51F-C049-B9F0-90A4F38FAC68}"/>
              </a:ext>
            </a:extLst>
          </p:cNvPr>
          <p:cNvSpPr txBox="1"/>
          <p:nvPr/>
        </p:nvSpPr>
        <p:spPr>
          <a:xfrm>
            <a:off x="5033773" y="3580686"/>
            <a:ext cx="1488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err="1"/>
              <a:t>terraform.tfstate</a:t>
            </a:r>
            <a:endParaRPr lang="en-US" sz="15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5B2107-A5E4-8C45-93C4-4CB138E52D8E}"/>
              </a:ext>
            </a:extLst>
          </p:cNvPr>
          <p:cNvSpPr/>
          <p:nvPr/>
        </p:nvSpPr>
        <p:spPr>
          <a:xfrm>
            <a:off x="316287" y="1388914"/>
            <a:ext cx="3697432" cy="4435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Terraform Configuration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75D0B3-85BE-F542-BB53-939A97E8705D}"/>
              </a:ext>
            </a:extLst>
          </p:cNvPr>
          <p:cNvSpPr/>
          <p:nvPr/>
        </p:nvSpPr>
        <p:spPr>
          <a:xfrm>
            <a:off x="8041942" y="1388913"/>
            <a:ext cx="3697432" cy="4435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Real World Resources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CB5005-3FAD-EE41-B527-14E55CB67AD1}"/>
              </a:ext>
            </a:extLst>
          </p:cNvPr>
          <p:cNvSpPr/>
          <p:nvPr/>
        </p:nvSpPr>
        <p:spPr>
          <a:xfrm>
            <a:off x="597478" y="5211323"/>
            <a:ext cx="3030668" cy="44357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Desired State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F7F502-1252-B342-BBAB-ECD38EA62B66}"/>
              </a:ext>
            </a:extLst>
          </p:cNvPr>
          <p:cNvSpPr/>
          <p:nvPr/>
        </p:nvSpPr>
        <p:spPr>
          <a:xfrm>
            <a:off x="8323133" y="5211322"/>
            <a:ext cx="3030668" cy="44357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Current State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143859-B6CB-8E4F-A235-DE23C503316C}"/>
              </a:ext>
            </a:extLst>
          </p:cNvPr>
          <p:cNvSpPr/>
          <p:nvPr/>
        </p:nvSpPr>
        <p:spPr>
          <a:xfrm>
            <a:off x="4416137" y="2060864"/>
            <a:ext cx="2671561" cy="2736273"/>
          </a:xfrm>
          <a:prstGeom prst="ellipse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4A2C7-7E6E-5A44-A7E2-CEEC02B6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3" y="2792375"/>
            <a:ext cx="3320665" cy="1147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F10B8-8C66-1644-A192-8A41DDA8D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963" y="2153770"/>
            <a:ext cx="4680815" cy="273627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381617-64E6-0160-9348-F180FECD3C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CHAITANYA TRAINING AND CONSULTANCY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3480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EBC6-65F8-4DFA-B773-09BD034F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82" y="16991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Terraform State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6F3DF-D305-46CE-B25B-F429140E9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317523"/>
            <a:ext cx="11206316" cy="4859440"/>
          </a:xfrm>
        </p:spPr>
        <p:txBody>
          <a:bodyPr>
            <a:normAutofit/>
          </a:bodyPr>
          <a:lstStyle/>
          <a:p>
            <a:r>
              <a:rPr lang="en-US" sz="2400" b="0" dirty="0">
                <a:latin typeface="+mj-lt"/>
              </a:rPr>
              <a:t>Terraform keeps remote state of the infrastructure</a:t>
            </a:r>
          </a:p>
          <a:p>
            <a:r>
              <a:rPr lang="en-US" sz="2400" b="0" dirty="0">
                <a:latin typeface="+mj-lt"/>
              </a:rPr>
              <a:t>It stores it in a file called </a:t>
            </a:r>
            <a:r>
              <a:rPr lang="en-US" sz="2400" i="1" dirty="0" err="1">
                <a:latin typeface="+mj-lt"/>
              </a:rPr>
              <a:t>terraform.tfstate</a:t>
            </a:r>
            <a:endParaRPr lang="en-US" sz="2400" i="1" dirty="0">
              <a:latin typeface="+mj-lt"/>
            </a:endParaRPr>
          </a:p>
          <a:p>
            <a:r>
              <a:rPr lang="en-US" sz="2400" b="0" dirty="0">
                <a:latin typeface="+mj-lt"/>
              </a:rPr>
              <a:t>There is also a backup of the previous state in </a:t>
            </a:r>
            <a:r>
              <a:rPr lang="en-US" sz="2400" i="1" dirty="0" err="1">
                <a:latin typeface="+mj-lt"/>
              </a:rPr>
              <a:t>terraform.tfstate.backup</a:t>
            </a:r>
            <a:endParaRPr lang="en-US" sz="2400" i="1" dirty="0">
              <a:latin typeface="+mj-lt"/>
            </a:endParaRPr>
          </a:p>
          <a:p>
            <a:r>
              <a:rPr lang="en-US" sz="2400" b="0" dirty="0">
                <a:latin typeface="+mj-lt"/>
              </a:rPr>
              <a:t>When we execute terraform apply, a new </a:t>
            </a:r>
            <a:r>
              <a:rPr lang="en-US" sz="2400" i="1" dirty="0" err="1">
                <a:latin typeface="+mj-lt"/>
              </a:rPr>
              <a:t>terraform.tfstate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b="0" dirty="0">
                <a:latin typeface="+mj-lt"/>
              </a:rPr>
              <a:t>and backup is written to disk.</a:t>
            </a:r>
          </a:p>
          <a:p>
            <a:r>
              <a:rPr lang="en-US" sz="2400" b="0" dirty="0">
                <a:latin typeface="+mj-lt"/>
              </a:rPr>
              <a:t>If the remote state changes and we hit ‘terraform apply’ again, terraform will make changes to meet the correct remote state again.</a:t>
            </a:r>
          </a:p>
          <a:p>
            <a:r>
              <a:rPr lang="en-US" sz="2400" b="0" dirty="0">
                <a:latin typeface="+mj-lt"/>
              </a:rPr>
              <a:t>For  example, if we terminate the instance that is managed by terraform manually. After the next terraform apply, it will start the instance again.</a:t>
            </a:r>
          </a:p>
          <a:p>
            <a:endParaRPr lang="en-IN" sz="2400" b="0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5BDDB-73DB-0235-6123-040B98C3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CE87F-30B1-79EB-3198-BCA057EB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21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B6CE-9B6F-CABE-9E23-5EFE4A6D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18256"/>
            <a:ext cx="10515600" cy="925642"/>
          </a:xfrm>
        </p:spPr>
        <p:txBody>
          <a:bodyPr>
            <a:normAutofit/>
          </a:bodyPr>
          <a:lstStyle/>
          <a:p>
            <a:r>
              <a:rPr lang="en-IN" sz="3600" dirty="0"/>
              <a:t>Important Links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1C10C-870C-0DA4-6E3F-107272214AC5}"/>
              </a:ext>
            </a:extLst>
          </p:cNvPr>
          <p:cNvSpPr txBox="1"/>
          <p:nvPr/>
        </p:nvSpPr>
        <p:spPr>
          <a:xfrm>
            <a:off x="580103" y="1179871"/>
            <a:ext cx="9851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https://www.terraform.io/</a:t>
            </a:r>
          </a:p>
          <a:p>
            <a:endParaRPr lang="en-IN" dirty="0"/>
          </a:p>
          <a:p>
            <a:r>
              <a:rPr lang="en-IN" dirty="0"/>
              <a:t>https://www.terraform.io/use-cases/infrastructure-as-code</a:t>
            </a:r>
          </a:p>
          <a:p>
            <a:endParaRPr lang="en-IN" dirty="0"/>
          </a:p>
          <a:p>
            <a:r>
              <a:rPr lang="en-IN" dirty="0"/>
              <a:t>https://registry.terraform.io/</a:t>
            </a:r>
          </a:p>
          <a:p>
            <a:endParaRPr lang="en-IN" dirty="0"/>
          </a:p>
          <a:p>
            <a:r>
              <a:rPr lang="en-IN" dirty="0"/>
              <a:t>https://registry.terraform.io/providers/hashicorp/aws/latest/docs</a:t>
            </a:r>
          </a:p>
          <a:p>
            <a:endParaRPr lang="en-IN" dirty="0"/>
          </a:p>
          <a:p>
            <a:r>
              <a:rPr lang="en-IN" dirty="0"/>
              <a:t>https://developer.hashicorp.com/terraform/intro/core-workflow</a:t>
            </a:r>
          </a:p>
          <a:p>
            <a:endParaRPr lang="en-IN" dirty="0"/>
          </a:p>
          <a:p>
            <a:r>
              <a:rPr lang="en-IN" dirty="0"/>
              <a:t>https://developer.hashicorp.com/terraform/tutorials/aws-get-started/aws-build</a:t>
            </a:r>
          </a:p>
          <a:p>
            <a:endParaRPr lang="en-IN" dirty="0"/>
          </a:p>
          <a:p>
            <a:r>
              <a:rPr lang="en-IN"/>
              <a:t>https://developer.hashicorp.com/terraform/language/state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77D0C-8646-0F8E-558D-CD67685D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07E9D-01BE-66A7-D750-D906C6B7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883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387" y="2669754"/>
            <a:ext cx="6591300" cy="6818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IN" sz="4800" b="1" dirty="0">
                <a:solidFill>
                  <a:schemeClr val="tx1"/>
                </a:solidFill>
              </a:rPr>
              <a:t>Thank You</a:t>
            </a:r>
            <a:endParaRPr sz="4800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56350-1ADF-D01D-765D-74343CE9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3EF84-D080-DCCB-858E-21B981F6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D5DE-B0B1-4750-AEFB-384D21086E88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1436</Words>
  <Application>Microsoft Office PowerPoint</Application>
  <PresentationFormat>Widescreen</PresentationFormat>
  <Paragraphs>304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Calibri</vt:lpstr>
      <vt:lpstr>Calibri Light</vt:lpstr>
      <vt:lpstr>Trebuchet MS</vt:lpstr>
      <vt:lpstr>Verdana</vt:lpstr>
      <vt:lpstr>Office Theme</vt:lpstr>
      <vt:lpstr>Continuous Deployment using Terraform </vt:lpstr>
      <vt:lpstr>Agenda</vt:lpstr>
      <vt:lpstr>PowerPoint Presentation</vt:lpstr>
      <vt:lpstr>What is Terraform</vt:lpstr>
      <vt:lpstr>PowerPoint Presentation</vt:lpstr>
      <vt:lpstr>Manage using IaC with Terraform</vt:lpstr>
      <vt:lpstr>PowerPoint Presentation</vt:lpstr>
      <vt:lpstr>PowerPoint Presentation</vt:lpstr>
      <vt:lpstr>PowerPoint Presentation</vt:lpstr>
      <vt:lpstr>Terraform Providers</vt:lpstr>
      <vt:lpstr>Terraform Providers</vt:lpstr>
      <vt:lpstr>PowerPoint Presentation</vt:lpstr>
      <vt:lpstr>Terraform: Providers</vt:lpstr>
      <vt:lpstr>Terraform Providers</vt:lpstr>
      <vt:lpstr>PowerPoint Presentation</vt:lpstr>
      <vt:lpstr>Required Providers</vt:lpstr>
      <vt:lpstr>Terraform Registry</vt:lpstr>
      <vt:lpstr>Terraform Workflow</vt:lpstr>
      <vt:lpstr>PowerPoint Presentation</vt:lpstr>
      <vt:lpstr>PowerPoint Presentation</vt:lpstr>
      <vt:lpstr>PowerPoint Presentation</vt:lpstr>
      <vt:lpstr>PowerPoint Presentation</vt:lpstr>
      <vt:lpstr>Terraform Commands</vt:lpstr>
      <vt:lpstr>Terraform Commands</vt:lpstr>
      <vt:lpstr>Terraform Commands</vt:lpstr>
      <vt:lpstr>Terraform State</vt:lpstr>
      <vt:lpstr>Terraform  State</vt:lpstr>
      <vt:lpstr>Desired &amp; Current Terraform States</vt:lpstr>
      <vt:lpstr>Terraform State</vt:lpstr>
      <vt:lpstr>Important Links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Gaajula</dc:creator>
  <cp:lastModifiedBy>Chaitanya Gaajula</cp:lastModifiedBy>
  <cp:revision>7</cp:revision>
  <dcterms:created xsi:type="dcterms:W3CDTF">2024-10-29T06:29:11Z</dcterms:created>
  <dcterms:modified xsi:type="dcterms:W3CDTF">2026-08-24T05:03:05Z</dcterms:modified>
</cp:coreProperties>
</file>