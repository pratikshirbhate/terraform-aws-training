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7"/>
  </p:notesMasterIdLst>
  <p:sldIdLst>
    <p:sldId id="326" r:id="rId2"/>
    <p:sldId id="334" r:id="rId3"/>
    <p:sldId id="335" r:id="rId4"/>
    <p:sldId id="336" r:id="rId5"/>
    <p:sldId id="337" r:id="rId6"/>
    <p:sldId id="338" r:id="rId7"/>
    <p:sldId id="339" r:id="rId8"/>
    <p:sldId id="350" r:id="rId9"/>
    <p:sldId id="351" r:id="rId10"/>
    <p:sldId id="352" r:id="rId11"/>
    <p:sldId id="353" r:id="rId12"/>
    <p:sldId id="354" r:id="rId13"/>
    <p:sldId id="355" r:id="rId14"/>
    <p:sldId id="356" r:id="rId15"/>
    <p:sldId id="357" r:id="rId16"/>
    <p:sldId id="358" r:id="rId17"/>
    <p:sldId id="359" r:id="rId18"/>
    <p:sldId id="360" r:id="rId19"/>
    <p:sldId id="361" r:id="rId20"/>
    <p:sldId id="362" r:id="rId21"/>
    <p:sldId id="363" r:id="rId22"/>
    <p:sldId id="364" r:id="rId23"/>
    <p:sldId id="365" r:id="rId24"/>
    <p:sldId id="366" r:id="rId25"/>
    <p:sldId id="367" r:id="rId26"/>
    <p:sldId id="368" r:id="rId27"/>
    <p:sldId id="369" r:id="rId28"/>
    <p:sldId id="370" r:id="rId29"/>
    <p:sldId id="371" r:id="rId30"/>
    <p:sldId id="372" r:id="rId31"/>
    <p:sldId id="373" r:id="rId32"/>
    <p:sldId id="374" r:id="rId33"/>
    <p:sldId id="375" r:id="rId34"/>
    <p:sldId id="376" r:id="rId35"/>
    <p:sldId id="377" r:id="rId36"/>
    <p:sldId id="378" r:id="rId37"/>
    <p:sldId id="379" r:id="rId38"/>
    <p:sldId id="380" r:id="rId39"/>
    <p:sldId id="381" r:id="rId40"/>
    <p:sldId id="382" r:id="rId41"/>
    <p:sldId id="383" r:id="rId42"/>
    <p:sldId id="384" r:id="rId43"/>
    <p:sldId id="385" r:id="rId44"/>
    <p:sldId id="386" r:id="rId45"/>
    <p:sldId id="432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UFqEA5cLbPE3DcQy+cKZKw==" hashData="5EuT7sE6PCDcgU27+n6eUrVAxe4g/Jg7RIBv2C4W2shZtKYRdn6nyQh/4PxbMLZJ2iGEvZBXqP2BUI361S06ow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ED355E-D1DF-4356-BFF0-6AEE663CC4D5}" type="datetimeFigureOut">
              <a:rPr lang="en-IN" smtClean="0"/>
              <a:t>17-10-2025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D59410-654E-4240-B7F7-ADB56F7991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014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B85C9-8ADA-494B-B309-66062B37CC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E0B143-BC03-E380-C0B0-4FBDBC1C40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40891-A94F-A3DD-C5F3-29E58F8F0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55211-C1EB-418D-AE1C-489A9F8E8C86}" type="datetime1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F12EA-BD5C-236A-2941-86638F4CB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CHAITANYA TRAINING AND CONSULTANCY</a:t>
            </a:r>
            <a:endParaRPr lang="en-IN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9151F-A868-B582-FA22-E52473415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0031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36CE7-CED4-6410-5393-359C93023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4F3C3-FCDF-A8CC-B5FB-4EA71FC48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1AAF0-00A7-57F7-A5EE-D0012E6F4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CF35F-3BD9-4EB4-B8E8-6363953053FE}" type="datetime1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750AB-4B83-0172-CEA4-FF798C28B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CHAITANYA TRAINING AND CONSULTANCY</a:t>
            </a:r>
            <a:endParaRPr lang="en-IN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4356C-CC33-0EE7-6BB6-F194DCFF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08125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284AB-E2AD-AD53-3721-37B365193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4BAD99-8842-A0F4-6791-9B9C9BDAEE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E76E3-02C6-D0FD-187A-89D2C7DA9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8E873-0414-4D5B-BA43-47DFA3C1F162}" type="datetime1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C12C9-A166-DE97-28A4-AAFF17860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CHAITANYA TRAINING AND CONSULTANCY</a:t>
            </a:r>
            <a:endParaRPr lang="en-IN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1C0DD2-C29B-7FAD-F2B3-CA3B38F72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11253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D4903-9FB1-0890-ECFE-4E210EF97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FE2C6-7CC9-32D9-F9C7-8B1FD99DE4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F386DF-CC35-0068-8A38-7C118017A1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0AB66A-C380-CF99-67D0-E3006A04B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4FF16-6262-44BD-8356-1C08B26D1FCC}" type="datetime1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46B6B2-48B1-B24A-8D8A-468B06083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CHAITANYA TRAINING AND CONSULTANCY</a:t>
            </a:r>
            <a:endParaRPr lang="en-IN" spc="-1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99B0FB-74D0-CFF5-7FED-B69CE2E3C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04871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55B28-AD1D-F3B1-AB07-B2275EDF2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D0C281-4662-AF8C-2C4D-BD5A778CC8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E7ED7A-CA27-50A2-92C7-3EC23E0834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79BA51-5E46-CF38-DC48-A6FAB7D0AE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5D4575-E094-8D89-192E-A30E5F7AA1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233E76-EB22-23D2-7663-1BFDAE1D8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B8CB3-93F4-4D0C-B1CE-9BF894D61D08}" type="datetime1">
              <a:rPr lang="en-US" smtClean="0"/>
              <a:t>10/17/2025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D0AADF-6E1E-6EF5-5390-CCDBF35DB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CHAITANYA TRAINING AND CONSULTANCY</a:t>
            </a:r>
            <a:endParaRPr lang="en-IN" spc="-1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CA71FC-0963-946B-2820-4E244D7D0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64613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46D8B-30A8-AA6B-449D-5C7AFF125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137003-A50E-BFEF-9D4D-952285375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233F6-9F46-487D-9BFB-FE8050A8CD54}" type="datetime1">
              <a:rPr lang="en-US" smtClean="0"/>
              <a:t>10/17/2025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FAFC6F-A4A6-2206-42F8-F215917D9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CHAITANYA TRAINING AND CONSULTANCY</a:t>
            </a:r>
            <a:endParaRPr lang="en-IN" spc="-1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01E034-9980-D83E-7F10-0B0AEE2C2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27684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6DA1DF-C270-6CAA-2095-3B1D8B7A1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68B04-C4DA-4FCF-B6D8-67DD7216C020}" type="datetime1">
              <a:rPr lang="en-US" smtClean="0"/>
              <a:t>10/17/2025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807242-8EE8-01B5-61E6-69D850E42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CHAITANYA TRAINING AND CONSULTANCY</a:t>
            </a:r>
            <a:endParaRPr lang="en-IN" spc="-1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7F67B8-171F-2928-A2CF-AADC8607D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13502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CE4AC-2EF9-E3D0-E913-3D6284BE3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4B94F-2426-9F25-D1EC-D2FA781CC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F13BAA-5CFF-06E0-80EC-1239529E32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7AB19E-4F30-2F03-5FA3-3B218595A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7E63A-410F-4C1D-AB3F-706FC3DB0BC9}" type="datetime1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5FC973-4768-EA62-0F75-B17A66975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CHAITANYA TRAINING AND CONSULTANCY</a:t>
            </a:r>
            <a:endParaRPr lang="en-IN" spc="-1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2798CA-1417-4A1F-B482-12FF182F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77220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B815A-37C4-4E6A-90CC-54679182D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D3AF3D-9BD9-CBF5-7EA5-A7D772C055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531EC6-04C4-50AC-5E10-D9CC873FEB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07CC55-688C-8DC6-7D0A-5EC6EC6E9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9704F-9D2A-44BE-83DA-7EA564799A7F}" type="datetime1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29D96C-95A6-B97F-FECB-2F4F364EB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CHAITANYA TRAINING AND CONSULTANCY</a:t>
            </a:r>
            <a:endParaRPr lang="en-IN" spc="-1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2A1D85-60E5-1999-4FD1-0BDDD0A3B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78965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88774-CE98-C459-82E2-5C5C47DEF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A9B8BE-8AEA-D918-F487-6AEE4C7B4B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D8FF30-5007-2CBE-A9B0-E514EB406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90690-AF4F-47E6-B51A-C71D843516CF}" type="datetime1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590C5-0871-4AF9-5531-207F672A3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CHAITANYA TRAINING AND CONSULTANCY</a:t>
            </a:r>
            <a:endParaRPr lang="en-IN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B03D57-A94A-C445-6BF9-7F1445B9F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79520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E4901C-C934-384B-BAA8-39C3179A52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F79C9-A678-B8DC-8C2F-17A711455C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76B26-008F-6E53-9AD6-2A6A10F17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D9113-47A6-46C6-B6AB-CB7C6BA2A6FE}" type="datetime1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B13B7-7833-3AF6-0D28-982B309F0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CHAITANYA TRAINING AND CONSULTANCY</a:t>
            </a:r>
            <a:endParaRPr lang="en-IN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89BEB-AE91-4F43-2F5E-3BA1FECC8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610719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50" b="1" i="0">
                <a:solidFill>
                  <a:srgbClr val="17569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CHAITANYA TRAINING AND CONSULTANCY</a:t>
            </a: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95B6DC-3256-4694-AA9E-FB5004DD0AFA}" type="datetime1">
              <a:rPr lang="en-US" smtClean="0"/>
              <a:t>10/17/2025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©</a:t>
            </a:r>
            <a:r>
              <a:rPr spc="5" dirty="0"/>
              <a:t> </a:t>
            </a:r>
            <a:r>
              <a:rPr spc="-5" dirty="0"/>
              <a:t>APEX</a:t>
            </a:r>
            <a:r>
              <a:rPr spc="80" dirty="0"/>
              <a:t> </a:t>
            </a:r>
            <a:r>
              <a:rPr spc="-5" dirty="0"/>
              <a:t>Global</a:t>
            </a:r>
            <a:r>
              <a:rPr spc="20" dirty="0"/>
              <a:t> </a:t>
            </a:r>
            <a:r>
              <a:rPr dirty="0"/>
              <a:t>|</a:t>
            </a:r>
            <a:r>
              <a:rPr spc="5" dirty="0"/>
              <a:t> </a:t>
            </a:r>
            <a:fld id="{81D60167-4931-47E6-BA6A-407CBD079E47}" type="slidenum">
              <a:rPr dirty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93896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78AD3B-9552-436C-264E-96190BAE4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E2F3AD-C580-CA1B-09DD-931FE2545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DD192-A3EF-E756-AF97-47DC958CA0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D9EB3-C49C-49E7-BFE1-09D7D2D5B302}" type="datetime1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10B01-0A96-5A69-E349-420A00725B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CHAITANYA TRAINING AND CONSULTANCY</a:t>
            </a:r>
            <a:endParaRPr lang="en-IN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7F5A7-DB76-99FD-44CA-390C7CE723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88183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apexgloballearning.com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jp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apexgloballearning.com/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pexgloballearning.com/" TargetMode="External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pexgloballearning.com/" TargetMode="Externa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apexgloballearning.com/" TargetMode="Externa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pexgloballearning.com/" TargetMode="Externa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7998"/>
                </a:lnTo>
                <a:lnTo>
                  <a:pt x="12192000" y="6857998"/>
                </a:lnTo>
                <a:lnTo>
                  <a:pt x="12192000" y="0"/>
                </a:lnTo>
                <a:close/>
              </a:path>
            </a:pathLst>
          </a:custGeom>
          <a:solidFill>
            <a:srgbClr val="17569A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12192000" cy="299085"/>
            <a:chOff x="0" y="0"/>
            <a:chExt cx="12192000" cy="299085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4038600" cy="299085"/>
            </a:xfrm>
            <a:custGeom>
              <a:avLst/>
              <a:gdLst/>
              <a:ahLst/>
              <a:cxnLst/>
              <a:rect l="l" t="t" r="r" b="b"/>
              <a:pathLst>
                <a:path w="4038600" h="299085">
                  <a:moveTo>
                    <a:pt x="4038600" y="0"/>
                  </a:moveTo>
                  <a:lnTo>
                    <a:pt x="0" y="0"/>
                  </a:lnTo>
                  <a:lnTo>
                    <a:pt x="0" y="298703"/>
                  </a:lnTo>
                  <a:lnTo>
                    <a:pt x="4038600" y="298703"/>
                  </a:lnTo>
                  <a:lnTo>
                    <a:pt x="4038600" y="0"/>
                  </a:lnTo>
                  <a:close/>
                </a:path>
              </a:pathLst>
            </a:custGeom>
            <a:solidFill>
              <a:srgbClr val="426FB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4038600" y="0"/>
              <a:ext cx="4114800" cy="299085"/>
            </a:xfrm>
            <a:custGeom>
              <a:avLst/>
              <a:gdLst/>
              <a:ahLst/>
              <a:cxnLst/>
              <a:rect l="l" t="t" r="r" b="b"/>
              <a:pathLst>
                <a:path w="4114800" h="299085">
                  <a:moveTo>
                    <a:pt x="4114800" y="0"/>
                  </a:moveTo>
                  <a:lnTo>
                    <a:pt x="0" y="0"/>
                  </a:lnTo>
                  <a:lnTo>
                    <a:pt x="0" y="298703"/>
                  </a:lnTo>
                  <a:lnTo>
                    <a:pt x="4114800" y="298703"/>
                  </a:lnTo>
                  <a:lnTo>
                    <a:pt x="4114800" y="0"/>
                  </a:lnTo>
                  <a:close/>
                </a:path>
              </a:pathLst>
            </a:custGeom>
            <a:solidFill>
              <a:srgbClr val="175FAB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8153400" y="0"/>
              <a:ext cx="4038600" cy="299085"/>
            </a:xfrm>
            <a:custGeom>
              <a:avLst/>
              <a:gdLst/>
              <a:ahLst/>
              <a:cxnLst/>
              <a:rect l="l" t="t" r="r" b="b"/>
              <a:pathLst>
                <a:path w="4038600" h="299085">
                  <a:moveTo>
                    <a:pt x="4038600" y="0"/>
                  </a:moveTo>
                  <a:lnTo>
                    <a:pt x="0" y="0"/>
                  </a:lnTo>
                  <a:lnTo>
                    <a:pt x="0" y="298703"/>
                  </a:lnTo>
                  <a:lnTo>
                    <a:pt x="4038600" y="298703"/>
                  </a:lnTo>
                  <a:lnTo>
                    <a:pt x="4038600" y="0"/>
                  </a:lnTo>
                  <a:close/>
                </a:path>
              </a:pathLst>
            </a:custGeom>
            <a:solidFill>
              <a:srgbClr val="124A86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0" y="6568439"/>
            <a:ext cx="12192000" cy="289560"/>
            <a:chOff x="0" y="6568439"/>
            <a:chExt cx="12192000" cy="289560"/>
          </a:xfrm>
        </p:grpSpPr>
        <p:sp>
          <p:nvSpPr>
            <p:cNvPr id="9" name="object 9"/>
            <p:cNvSpPr/>
            <p:nvPr/>
          </p:nvSpPr>
          <p:spPr>
            <a:xfrm>
              <a:off x="8153400" y="6568439"/>
              <a:ext cx="4038600" cy="289560"/>
            </a:xfrm>
            <a:custGeom>
              <a:avLst/>
              <a:gdLst/>
              <a:ahLst/>
              <a:cxnLst/>
              <a:rect l="l" t="t" r="r" b="b"/>
              <a:pathLst>
                <a:path w="4038600" h="289559">
                  <a:moveTo>
                    <a:pt x="4038599" y="0"/>
                  </a:moveTo>
                  <a:lnTo>
                    <a:pt x="0" y="0"/>
                  </a:lnTo>
                  <a:lnTo>
                    <a:pt x="0" y="289558"/>
                  </a:lnTo>
                  <a:lnTo>
                    <a:pt x="4038599" y="289558"/>
                  </a:lnTo>
                  <a:lnTo>
                    <a:pt x="4038599" y="0"/>
                  </a:lnTo>
                  <a:close/>
                </a:path>
              </a:pathLst>
            </a:custGeom>
            <a:solidFill>
              <a:srgbClr val="4370A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4038600" y="6568439"/>
              <a:ext cx="4114800" cy="289560"/>
            </a:xfrm>
            <a:custGeom>
              <a:avLst/>
              <a:gdLst/>
              <a:ahLst/>
              <a:cxnLst/>
              <a:rect l="l" t="t" r="r" b="b"/>
              <a:pathLst>
                <a:path w="4114800" h="289559">
                  <a:moveTo>
                    <a:pt x="4114800" y="0"/>
                  </a:moveTo>
                  <a:lnTo>
                    <a:pt x="0" y="0"/>
                  </a:lnTo>
                  <a:lnTo>
                    <a:pt x="0" y="289558"/>
                  </a:lnTo>
                  <a:lnTo>
                    <a:pt x="4114800" y="289558"/>
                  </a:lnTo>
                  <a:lnTo>
                    <a:pt x="4114800" y="0"/>
                  </a:lnTo>
                  <a:close/>
                </a:path>
              </a:pathLst>
            </a:custGeom>
            <a:solidFill>
              <a:srgbClr val="1C60A8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6568439"/>
              <a:ext cx="4038600" cy="289560"/>
            </a:xfrm>
            <a:custGeom>
              <a:avLst/>
              <a:gdLst/>
              <a:ahLst/>
              <a:cxnLst/>
              <a:rect l="l" t="t" r="r" b="b"/>
              <a:pathLst>
                <a:path w="4038600" h="289559">
                  <a:moveTo>
                    <a:pt x="4038600" y="0"/>
                  </a:moveTo>
                  <a:lnTo>
                    <a:pt x="0" y="0"/>
                  </a:lnTo>
                  <a:lnTo>
                    <a:pt x="0" y="289558"/>
                  </a:lnTo>
                  <a:lnTo>
                    <a:pt x="4038600" y="289558"/>
                  </a:lnTo>
                  <a:lnTo>
                    <a:pt x="4038600" y="0"/>
                  </a:lnTo>
                  <a:close/>
                </a:path>
              </a:pathLst>
            </a:custGeom>
            <a:solidFill>
              <a:srgbClr val="164D8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07864" y="1124711"/>
            <a:ext cx="2176272" cy="2176272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4599178" y="3518357"/>
            <a:ext cx="3587750" cy="6769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250" spc="-25" dirty="0">
                <a:solidFill>
                  <a:srgbClr val="FFFFFF"/>
                </a:solidFill>
              </a:rPr>
              <a:t>Terraform</a:t>
            </a:r>
            <a:r>
              <a:rPr sz="4250" spc="-55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Code</a:t>
            </a:r>
            <a:endParaRPr sz="28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3E9F59-5150-7081-DFEA-2D74AA0BD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CHAITANYA TRAINING AND CONSULTANCY</a:t>
            </a:r>
            <a:endParaRPr lang="en-IN" spc="-10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5573CCF-2772-36C6-6E06-519BD1CE6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1</a:t>
            </a:fld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10895" y="329184"/>
            <a:ext cx="11409045" cy="5230495"/>
            <a:chOff x="310895" y="329184"/>
            <a:chExt cx="11409045" cy="52304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33543" y="329184"/>
              <a:ext cx="2880359" cy="157581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0895" y="1789175"/>
              <a:ext cx="11408664" cy="377037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30936" y="2758439"/>
              <a:ext cx="2697480" cy="527685"/>
            </a:xfrm>
            <a:custGeom>
              <a:avLst/>
              <a:gdLst/>
              <a:ahLst/>
              <a:cxnLst/>
              <a:rect l="l" t="t" r="r" b="b"/>
              <a:pathLst>
                <a:path w="2697479" h="527685">
                  <a:moveTo>
                    <a:pt x="2697479" y="0"/>
                  </a:moveTo>
                  <a:lnTo>
                    <a:pt x="0" y="0"/>
                  </a:lnTo>
                  <a:lnTo>
                    <a:pt x="0" y="527303"/>
                  </a:lnTo>
                  <a:lnTo>
                    <a:pt x="2697479" y="527303"/>
                  </a:lnTo>
                  <a:lnTo>
                    <a:pt x="2697479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101648" y="2829813"/>
            <a:ext cx="1757045" cy="351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00" b="0" spc="-25" dirty="0">
                <a:solidFill>
                  <a:srgbClr val="FFFFFF"/>
                </a:solidFill>
                <a:latin typeface="Calibri"/>
                <a:cs typeface="Calibri"/>
              </a:rPr>
              <a:t>Terraform</a:t>
            </a:r>
            <a:r>
              <a:rPr sz="2100" b="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b="0" spc="10" dirty="0">
                <a:solidFill>
                  <a:srgbClr val="FFFFFF"/>
                </a:solidFill>
                <a:latin typeface="Calibri"/>
                <a:cs typeface="Calibri"/>
              </a:rPr>
              <a:t>Block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30936" y="3429000"/>
            <a:ext cx="2697480" cy="634365"/>
          </a:xfrm>
          <a:custGeom>
            <a:avLst/>
            <a:gdLst/>
            <a:ahLst/>
            <a:cxnLst/>
            <a:rect l="l" t="t" r="r" b="b"/>
            <a:pathLst>
              <a:path w="2697479" h="634364">
                <a:moveTo>
                  <a:pt x="2697479" y="0"/>
                </a:moveTo>
                <a:lnTo>
                  <a:pt x="0" y="0"/>
                </a:lnTo>
                <a:lnTo>
                  <a:pt x="0" y="633983"/>
                </a:lnTo>
                <a:lnTo>
                  <a:pt x="2697479" y="633983"/>
                </a:lnTo>
                <a:lnTo>
                  <a:pt x="2697479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29080" y="3554729"/>
            <a:ext cx="1704975" cy="351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Providers</a:t>
            </a:r>
            <a:r>
              <a:rPr kumimoji="0" sz="2100" b="0" i="0" u="none" strike="noStrike" kern="120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Block</a:t>
            </a:r>
            <a:endParaRPr kumimoji="0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30936" y="4206240"/>
            <a:ext cx="2697480" cy="637540"/>
          </a:xfrm>
          <a:custGeom>
            <a:avLst/>
            <a:gdLst/>
            <a:ahLst/>
            <a:cxnLst/>
            <a:rect l="l" t="t" r="r" b="b"/>
            <a:pathLst>
              <a:path w="2697479" h="637539">
                <a:moveTo>
                  <a:pt x="2697479" y="0"/>
                </a:moveTo>
                <a:lnTo>
                  <a:pt x="0" y="0"/>
                </a:lnTo>
                <a:lnTo>
                  <a:pt x="0" y="637031"/>
                </a:lnTo>
                <a:lnTo>
                  <a:pt x="2697479" y="637031"/>
                </a:lnTo>
                <a:lnTo>
                  <a:pt x="2697479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86408" y="4333748"/>
            <a:ext cx="1790700" cy="351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Resources</a:t>
            </a:r>
            <a:r>
              <a:rPr kumimoji="0" sz="2100" b="0" i="0" u="none" strike="noStrike" kern="120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Block</a:t>
            </a:r>
            <a:endParaRPr kumimoji="0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99566" y="5021707"/>
            <a:ext cx="214249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-5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Fundamental</a:t>
            </a:r>
            <a:r>
              <a:rPr kumimoji="0" sz="2000" b="1" i="0" u="none" strike="noStrike" kern="1200" cap="none" spc="-7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1" i="0" u="none" strike="noStrike" kern="1200" cap="none" spc="-1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Blocks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824984" y="2758439"/>
            <a:ext cx="2697480" cy="527685"/>
          </a:xfrm>
          <a:custGeom>
            <a:avLst/>
            <a:gdLst/>
            <a:ahLst/>
            <a:cxnLst/>
            <a:rect l="l" t="t" r="r" b="b"/>
            <a:pathLst>
              <a:path w="2697479" h="527685">
                <a:moveTo>
                  <a:pt x="2697480" y="0"/>
                </a:moveTo>
                <a:lnTo>
                  <a:pt x="0" y="0"/>
                </a:lnTo>
                <a:lnTo>
                  <a:pt x="0" y="527303"/>
                </a:lnTo>
                <a:lnTo>
                  <a:pt x="2697480" y="527303"/>
                </a:lnTo>
                <a:lnTo>
                  <a:pt x="2697480" y="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11673" y="2829813"/>
            <a:ext cx="2326005" cy="351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Input</a:t>
            </a:r>
            <a:r>
              <a:rPr kumimoji="0" sz="2100" b="0" i="0" u="none" strike="noStrike" kern="120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Variables</a:t>
            </a:r>
            <a:r>
              <a:rPr kumimoji="0" sz="2100" b="0" i="0" u="none" strike="noStrike" kern="120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Block</a:t>
            </a:r>
            <a:endParaRPr kumimoji="0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824984" y="3474720"/>
            <a:ext cx="2697480" cy="588645"/>
          </a:xfrm>
          <a:custGeom>
            <a:avLst/>
            <a:gdLst/>
            <a:ahLst/>
            <a:cxnLst/>
            <a:rect l="l" t="t" r="r" b="b"/>
            <a:pathLst>
              <a:path w="2697479" h="588645">
                <a:moveTo>
                  <a:pt x="2697480" y="0"/>
                </a:moveTo>
                <a:lnTo>
                  <a:pt x="0" y="0"/>
                </a:lnTo>
                <a:lnTo>
                  <a:pt x="0" y="588264"/>
                </a:lnTo>
                <a:lnTo>
                  <a:pt x="2697480" y="588264"/>
                </a:lnTo>
                <a:lnTo>
                  <a:pt x="2697480" y="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54346" y="3577539"/>
            <a:ext cx="2240915" cy="3517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Output</a:t>
            </a:r>
            <a:r>
              <a:rPr kumimoji="0" sz="2100" b="0" i="0" u="none" strike="noStrike" kern="120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Values</a:t>
            </a:r>
            <a:r>
              <a:rPr kumimoji="0" sz="2100" b="0" i="0" u="none" strike="noStrike" kern="120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Block</a:t>
            </a:r>
            <a:endParaRPr kumimoji="0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824984" y="4245864"/>
            <a:ext cx="2697480" cy="551815"/>
          </a:xfrm>
          <a:custGeom>
            <a:avLst/>
            <a:gdLst/>
            <a:ahLst/>
            <a:cxnLst/>
            <a:rect l="l" t="t" r="r" b="b"/>
            <a:pathLst>
              <a:path w="2697479" h="551814">
                <a:moveTo>
                  <a:pt x="2697480" y="0"/>
                </a:moveTo>
                <a:lnTo>
                  <a:pt x="0" y="0"/>
                </a:lnTo>
                <a:lnTo>
                  <a:pt x="0" y="551688"/>
                </a:lnTo>
                <a:lnTo>
                  <a:pt x="2697480" y="551688"/>
                </a:lnTo>
                <a:lnTo>
                  <a:pt x="2697480" y="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167121" y="4329506"/>
            <a:ext cx="2012950" cy="3517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Local</a:t>
            </a:r>
            <a:r>
              <a:rPr kumimoji="0" sz="2100" b="0" i="0" u="none" strike="noStrike" kern="120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Values</a:t>
            </a:r>
            <a:r>
              <a:rPr kumimoji="0" sz="2100" b="0" i="0" u="none" strike="noStrike" kern="120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Block</a:t>
            </a:r>
            <a:endParaRPr kumimoji="0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200903" y="5027167"/>
            <a:ext cx="1615440" cy="329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-2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Variable</a:t>
            </a:r>
            <a:r>
              <a:rPr kumimoji="0" sz="2000" b="1" i="0" u="none" strike="noStrike" kern="1200" cap="none" spc="-3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1" i="0" u="none" strike="noStrike" kern="1200" cap="none" spc="-10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Blocks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555735" y="2758439"/>
            <a:ext cx="2810510" cy="548640"/>
          </a:xfrm>
          <a:custGeom>
            <a:avLst/>
            <a:gdLst/>
            <a:ahLst/>
            <a:cxnLst/>
            <a:rect l="l" t="t" r="r" b="b"/>
            <a:pathLst>
              <a:path w="2810509" h="548639">
                <a:moveTo>
                  <a:pt x="2810255" y="0"/>
                </a:moveTo>
                <a:lnTo>
                  <a:pt x="0" y="0"/>
                </a:lnTo>
                <a:lnTo>
                  <a:pt x="0" y="548639"/>
                </a:lnTo>
                <a:lnTo>
                  <a:pt x="2810255" y="548639"/>
                </a:lnTo>
                <a:lnTo>
                  <a:pt x="2810255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910573" y="2840812"/>
            <a:ext cx="2104390" cy="3517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Data</a:t>
            </a:r>
            <a:r>
              <a:rPr kumimoji="0" sz="2100" b="0" i="0" u="none" strike="noStrike" kern="120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Sources</a:t>
            </a:r>
            <a:r>
              <a:rPr kumimoji="0" sz="2100" b="0" i="0" u="none" strike="noStrike" kern="1200" cap="none" spc="-5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Block</a:t>
            </a:r>
            <a:endParaRPr kumimoji="0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555735" y="3459479"/>
            <a:ext cx="2810510" cy="603885"/>
          </a:xfrm>
          <a:custGeom>
            <a:avLst/>
            <a:gdLst/>
            <a:ahLst/>
            <a:cxnLst/>
            <a:rect l="l" t="t" r="r" b="b"/>
            <a:pathLst>
              <a:path w="2810509" h="603885">
                <a:moveTo>
                  <a:pt x="2810255" y="0"/>
                </a:moveTo>
                <a:lnTo>
                  <a:pt x="0" y="0"/>
                </a:lnTo>
                <a:lnTo>
                  <a:pt x="0" y="603504"/>
                </a:lnTo>
                <a:lnTo>
                  <a:pt x="2810255" y="603504"/>
                </a:lnTo>
                <a:lnTo>
                  <a:pt x="2810255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142221" y="3569284"/>
            <a:ext cx="1638935" cy="3517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Modules</a:t>
            </a:r>
            <a:r>
              <a:rPr kumimoji="0" sz="2100" b="0" i="0" u="none" strike="noStrike" kern="1200" cap="none" spc="-7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Block</a:t>
            </a:r>
            <a:endParaRPr kumimoji="0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460105" y="4989322"/>
            <a:ext cx="3122295" cy="351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10" normalizeH="0" baseline="0" noProof="0" dirty="0">
                <a:ln>
                  <a:noFill/>
                </a:ln>
                <a:solidFill>
                  <a:srgbClr val="6F2F9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Calling</a:t>
            </a:r>
            <a:r>
              <a:rPr kumimoji="0" sz="2100" b="1" i="0" u="none" strike="noStrike" kern="1200" cap="none" spc="-10" normalizeH="0" baseline="0" noProof="0" dirty="0">
                <a:ln>
                  <a:noFill/>
                </a:ln>
                <a:solidFill>
                  <a:srgbClr val="6F2F9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1" i="0" u="none" strike="noStrike" kern="1200" cap="none" spc="15" normalizeH="0" baseline="0" noProof="0" dirty="0">
                <a:ln>
                  <a:noFill/>
                </a:ln>
                <a:solidFill>
                  <a:srgbClr val="6F2F9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/</a:t>
            </a:r>
            <a:r>
              <a:rPr kumimoji="0" sz="2100" b="1" i="0" u="none" strike="noStrike" kern="1200" cap="none" spc="-10" normalizeH="0" baseline="0" noProof="0" dirty="0">
                <a:ln>
                  <a:noFill/>
                </a:ln>
                <a:solidFill>
                  <a:srgbClr val="6F2F9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1" i="0" u="none" strike="noStrike" kern="1200" cap="none" spc="0" normalizeH="0" baseline="0" noProof="0" dirty="0">
                <a:ln>
                  <a:noFill/>
                </a:ln>
                <a:solidFill>
                  <a:srgbClr val="6F2F9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Referencing</a:t>
            </a:r>
            <a:r>
              <a:rPr kumimoji="0" sz="2100" b="1" i="0" u="none" strike="noStrike" kern="1200" cap="none" spc="-5" normalizeH="0" baseline="0" noProof="0" dirty="0">
                <a:ln>
                  <a:noFill/>
                </a:ln>
                <a:solidFill>
                  <a:srgbClr val="6F2F9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1" i="0" u="none" strike="noStrike" kern="1200" cap="none" spc="10" normalizeH="0" baseline="0" noProof="0" dirty="0">
                <a:ln>
                  <a:noFill/>
                </a:ln>
                <a:solidFill>
                  <a:srgbClr val="6F2F9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Blocks</a:t>
            </a:r>
            <a:endParaRPr kumimoji="0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844040" y="1911222"/>
            <a:ext cx="8115934" cy="680085"/>
          </a:xfrm>
          <a:custGeom>
            <a:avLst/>
            <a:gdLst/>
            <a:ahLst/>
            <a:cxnLst/>
            <a:rect l="l" t="t" r="r" b="b"/>
            <a:pathLst>
              <a:path w="8115934" h="680085">
                <a:moveTo>
                  <a:pt x="8115935" y="654558"/>
                </a:moveTo>
                <a:lnTo>
                  <a:pt x="8114004" y="653161"/>
                </a:lnTo>
                <a:lnTo>
                  <a:pt x="8047101" y="604520"/>
                </a:lnTo>
                <a:lnTo>
                  <a:pt x="8042313" y="633044"/>
                </a:lnTo>
                <a:lnTo>
                  <a:pt x="4329049" y="12636"/>
                </a:lnTo>
                <a:lnTo>
                  <a:pt x="4327271" y="0"/>
                </a:lnTo>
                <a:lnTo>
                  <a:pt x="4287888" y="5753"/>
                </a:lnTo>
                <a:lnTo>
                  <a:pt x="4253484" y="0"/>
                </a:lnTo>
                <a:lnTo>
                  <a:pt x="4251604" y="11049"/>
                </a:lnTo>
                <a:lnTo>
                  <a:pt x="74041" y="621106"/>
                </a:lnTo>
                <a:lnTo>
                  <a:pt x="69850" y="592455"/>
                </a:lnTo>
                <a:lnTo>
                  <a:pt x="0" y="641223"/>
                </a:lnTo>
                <a:lnTo>
                  <a:pt x="80899" y="667893"/>
                </a:lnTo>
                <a:lnTo>
                  <a:pt x="76962" y="641096"/>
                </a:lnTo>
                <a:lnTo>
                  <a:pt x="76695" y="639267"/>
                </a:lnTo>
                <a:lnTo>
                  <a:pt x="4287456" y="24231"/>
                </a:lnTo>
                <a:lnTo>
                  <a:pt x="8039290" y="651078"/>
                </a:lnTo>
                <a:lnTo>
                  <a:pt x="8034528" y="679577"/>
                </a:lnTo>
                <a:lnTo>
                  <a:pt x="8115935" y="6545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C634E045-0288-669C-1CF7-7A48120A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CHAITANYA TRAINING AND CONSULTANCY</a:t>
            </a:r>
            <a:endParaRPr lang="en-IN" spc="-10" dirty="0"/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723A63EC-FCA6-B835-5298-89E3C79D5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2</a:t>
            </a:fld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299085"/>
            <a:chOff x="0" y="0"/>
            <a:chExt cx="12192000" cy="29908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4038600" cy="299085"/>
            </a:xfrm>
            <a:custGeom>
              <a:avLst/>
              <a:gdLst/>
              <a:ahLst/>
              <a:cxnLst/>
              <a:rect l="l" t="t" r="r" b="b"/>
              <a:pathLst>
                <a:path w="4038600" h="299085">
                  <a:moveTo>
                    <a:pt x="4038600" y="0"/>
                  </a:moveTo>
                  <a:lnTo>
                    <a:pt x="0" y="0"/>
                  </a:lnTo>
                  <a:lnTo>
                    <a:pt x="0" y="298703"/>
                  </a:lnTo>
                  <a:lnTo>
                    <a:pt x="4038600" y="298703"/>
                  </a:lnTo>
                  <a:lnTo>
                    <a:pt x="4038600" y="0"/>
                  </a:lnTo>
                  <a:close/>
                </a:path>
              </a:pathLst>
            </a:custGeom>
            <a:solidFill>
              <a:srgbClr val="F8BE4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4038600" y="0"/>
              <a:ext cx="4114800" cy="299085"/>
            </a:xfrm>
            <a:custGeom>
              <a:avLst/>
              <a:gdLst/>
              <a:ahLst/>
              <a:cxnLst/>
              <a:rect l="l" t="t" r="r" b="b"/>
              <a:pathLst>
                <a:path w="4114800" h="299085">
                  <a:moveTo>
                    <a:pt x="4114800" y="0"/>
                  </a:moveTo>
                  <a:lnTo>
                    <a:pt x="0" y="0"/>
                  </a:lnTo>
                  <a:lnTo>
                    <a:pt x="0" y="298703"/>
                  </a:lnTo>
                  <a:lnTo>
                    <a:pt x="4114800" y="298703"/>
                  </a:lnTo>
                  <a:lnTo>
                    <a:pt x="4114800" y="0"/>
                  </a:lnTo>
                  <a:close/>
                </a:path>
              </a:pathLst>
            </a:custGeom>
            <a:solidFill>
              <a:srgbClr val="F8A83D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8153400" y="0"/>
              <a:ext cx="4038600" cy="299085"/>
            </a:xfrm>
            <a:custGeom>
              <a:avLst/>
              <a:gdLst/>
              <a:ahLst/>
              <a:cxnLst/>
              <a:rect l="l" t="t" r="r" b="b"/>
              <a:pathLst>
                <a:path w="4038600" h="299085">
                  <a:moveTo>
                    <a:pt x="4038600" y="0"/>
                  </a:moveTo>
                  <a:lnTo>
                    <a:pt x="0" y="0"/>
                  </a:lnTo>
                  <a:lnTo>
                    <a:pt x="0" y="298703"/>
                  </a:lnTo>
                  <a:lnTo>
                    <a:pt x="4038600" y="298703"/>
                  </a:lnTo>
                  <a:lnTo>
                    <a:pt x="4038600" y="0"/>
                  </a:lnTo>
                  <a:close/>
                </a:path>
              </a:pathLst>
            </a:custGeom>
            <a:solidFill>
              <a:srgbClr val="DF872F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0" y="1216152"/>
            <a:ext cx="12192000" cy="5641975"/>
            <a:chOff x="0" y="1216152"/>
            <a:chExt cx="12192000" cy="5641975"/>
          </a:xfrm>
        </p:grpSpPr>
        <p:sp>
          <p:nvSpPr>
            <p:cNvPr id="7" name="object 7"/>
            <p:cNvSpPr/>
            <p:nvPr/>
          </p:nvSpPr>
          <p:spPr>
            <a:xfrm>
              <a:off x="0" y="6461759"/>
              <a:ext cx="12192000" cy="396240"/>
            </a:xfrm>
            <a:custGeom>
              <a:avLst/>
              <a:gdLst/>
              <a:ahLst/>
              <a:cxnLst/>
              <a:rect l="l" t="t" r="r" b="b"/>
              <a:pathLst>
                <a:path w="12192000" h="396240">
                  <a:moveTo>
                    <a:pt x="12192000" y="0"/>
                  </a:moveTo>
                  <a:lnTo>
                    <a:pt x="0" y="0"/>
                  </a:lnTo>
                  <a:lnTo>
                    <a:pt x="0" y="396238"/>
                  </a:lnTo>
                  <a:lnTo>
                    <a:pt x="12192000" y="39623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175FAB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4058411" y="1473708"/>
              <a:ext cx="4282440" cy="5004435"/>
            </a:xfrm>
            <a:custGeom>
              <a:avLst/>
              <a:gdLst/>
              <a:ahLst/>
              <a:cxnLst/>
              <a:rect l="l" t="t" r="r" b="b"/>
              <a:pathLst>
                <a:path w="4282440" h="5004435">
                  <a:moveTo>
                    <a:pt x="0" y="121919"/>
                  </a:moveTo>
                  <a:lnTo>
                    <a:pt x="0" y="5004231"/>
                  </a:lnTo>
                </a:path>
                <a:path w="4282440" h="5004435">
                  <a:moveTo>
                    <a:pt x="4282440" y="0"/>
                  </a:moveTo>
                  <a:lnTo>
                    <a:pt x="4282440" y="4882603"/>
                  </a:lnTo>
                </a:path>
              </a:pathLst>
            </a:custGeom>
            <a:ln w="39624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4974335" y="1216152"/>
              <a:ext cx="2618740" cy="1515110"/>
            </a:xfrm>
            <a:custGeom>
              <a:avLst/>
              <a:gdLst/>
              <a:ahLst/>
              <a:cxnLst/>
              <a:rect l="l" t="t" r="r" b="b"/>
              <a:pathLst>
                <a:path w="2618740" h="1515110">
                  <a:moveTo>
                    <a:pt x="1309115" y="0"/>
                  </a:moveTo>
                  <a:lnTo>
                    <a:pt x="1249191" y="779"/>
                  </a:lnTo>
                  <a:lnTo>
                    <a:pt x="1189958" y="3095"/>
                  </a:lnTo>
                  <a:lnTo>
                    <a:pt x="1131475" y="6914"/>
                  </a:lnTo>
                  <a:lnTo>
                    <a:pt x="1073799" y="12202"/>
                  </a:lnTo>
                  <a:lnTo>
                    <a:pt x="1016987" y="18927"/>
                  </a:lnTo>
                  <a:lnTo>
                    <a:pt x="961098" y="27054"/>
                  </a:lnTo>
                  <a:lnTo>
                    <a:pt x="906190" y="36551"/>
                  </a:lnTo>
                  <a:lnTo>
                    <a:pt x="852320" y="47384"/>
                  </a:lnTo>
                  <a:lnTo>
                    <a:pt x="799546" y="59519"/>
                  </a:lnTo>
                  <a:lnTo>
                    <a:pt x="747925" y="72923"/>
                  </a:lnTo>
                  <a:lnTo>
                    <a:pt x="697516" y="87563"/>
                  </a:lnTo>
                  <a:lnTo>
                    <a:pt x="648377" y="103406"/>
                  </a:lnTo>
                  <a:lnTo>
                    <a:pt x="600564" y="120417"/>
                  </a:lnTo>
                  <a:lnTo>
                    <a:pt x="554136" y="138564"/>
                  </a:lnTo>
                  <a:lnTo>
                    <a:pt x="509151" y="157812"/>
                  </a:lnTo>
                  <a:lnTo>
                    <a:pt x="465666" y="178130"/>
                  </a:lnTo>
                  <a:lnTo>
                    <a:pt x="423739" y="199482"/>
                  </a:lnTo>
                  <a:lnTo>
                    <a:pt x="383428" y="221837"/>
                  </a:lnTo>
                  <a:lnTo>
                    <a:pt x="344791" y="245159"/>
                  </a:lnTo>
                  <a:lnTo>
                    <a:pt x="307885" y="269417"/>
                  </a:lnTo>
                  <a:lnTo>
                    <a:pt x="272768" y="294576"/>
                  </a:lnTo>
                  <a:lnTo>
                    <a:pt x="239499" y="320604"/>
                  </a:lnTo>
                  <a:lnTo>
                    <a:pt x="208133" y="347466"/>
                  </a:lnTo>
                  <a:lnTo>
                    <a:pt x="178731" y="375129"/>
                  </a:lnTo>
                  <a:lnTo>
                    <a:pt x="151348" y="403561"/>
                  </a:lnTo>
                  <a:lnTo>
                    <a:pt x="126044" y="432726"/>
                  </a:lnTo>
                  <a:lnTo>
                    <a:pt x="81900" y="493127"/>
                  </a:lnTo>
                  <a:lnTo>
                    <a:pt x="46762" y="556065"/>
                  </a:lnTo>
                  <a:lnTo>
                    <a:pt x="21091" y="621273"/>
                  </a:lnTo>
                  <a:lnTo>
                    <a:pt x="5349" y="688483"/>
                  </a:lnTo>
                  <a:lnTo>
                    <a:pt x="0" y="757427"/>
                  </a:lnTo>
                  <a:lnTo>
                    <a:pt x="1347" y="792100"/>
                  </a:lnTo>
                  <a:lnTo>
                    <a:pt x="11950" y="860211"/>
                  </a:lnTo>
                  <a:lnTo>
                    <a:pt x="32714" y="926453"/>
                  </a:lnTo>
                  <a:lnTo>
                    <a:pt x="63177" y="990559"/>
                  </a:lnTo>
                  <a:lnTo>
                    <a:pt x="102875" y="1052262"/>
                  </a:lnTo>
                  <a:lnTo>
                    <a:pt x="151348" y="1111294"/>
                  </a:lnTo>
                  <a:lnTo>
                    <a:pt x="178731" y="1139726"/>
                  </a:lnTo>
                  <a:lnTo>
                    <a:pt x="208133" y="1167389"/>
                  </a:lnTo>
                  <a:lnTo>
                    <a:pt x="239499" y="1194251"/>
                  </a:lnTo>
                  <a:lnTo>
                    <a:pt x="272768" y="1220279"/>
                  </a:lnTo>
                  <a:lnTo>
                    <a:pt x="307885" y="1245438"/>
                  </a:lnTo>
                  <a:lnTo>
                    <a:pt x="344791" y="1269696"/>
                  </a:lnTo>
                  <a:lnTo>
                    <a:pt x="383428" y="1293018"/>
                  </a:lnTo>
                  <a:lnTo>
                    <a:pt x="423739" y="1315373"/>
                  </a:lnTo>
                  <a:lnTo>
                    <a:pt x="465666" y="1336725"/>
                  </a:lnTo>
                  <a:lnTo>
                    <a:pt x="509151" y="1357043"/>
                  </a:lnTo>
                  <a:lnTo>
                    <a:pt x="554136" y="1376291"/>
                  </a:lnTo>
                  <a:lnTo>
                    <a:pt x="600564" y="1394438"/>
                  </a:lnTo>
                  <a:lnTo>
                    <a:pt x="648377" y="1411449"/>
                  </a:lnTo>
                  <a:lnTo>
                    <a:pt x="697516" y="1427292"/>
                  </a:lnTo>
                  <a:lnTo>
                    <a:pt x="747925" y="1441932"/>
                  </a:lnTo>
                  <a:lnTo>
                    <a:pt x="799546" y="1455336"/>
                  </a:lnTo>
                  <a:lnTo>
                    <a:pt x="852320" y="1467471"/>
                  </a:lnTo>
                  <a:lnTo>
                    <a:pt x="906190" y="1478304"/>
                  </a:lnTo>
                  <a:lnTo>
                    <a:pt x="961098" y="1487801"/>
                  </a:lnTo>
                  <a:lnTo>
                    <a:pt x="1016987" y="1495928"/>
                  </a:lnTo>
                  <a:lnTo>
                    <a:pt x="1073799" y="1502653"/>
                  </a:lnTo>
                  <a:lnTo>
                    <a:pt x="1131475" y="1507941"/>
                  </a:lnTo>
                  <a:lnTo>
                    <a:pt x="1189958" y="1511760"/>
                  </a:lnTo>
                  <a:lnTo>
                    <a:pt x="1249191" y="1514076"/>
                  </a:lnTo>
                  <a:lnTo>
                    <a:pt x="1309115" y="1514856"/>
                  </a:lnTo>
                  <a:lnTo>
                    <a:pt x="1369040" y="1514076"/>
                  </a:lnTo>
                  <a:lnTo>
                    <a:pt x="1428273" y="1511760"/>
                  </a:lnTo>
                  <a:lnTo>
                    <a:pt x="1486756" y="1507941"/>
                  </a:lnTo>
                  <a:lnTo>
                    <a:pt x="1544432" y="1502653"/>
                  </a:lnTo>
                  <a:lnTo>
                    <a:pt x="1601244" y="1495928"/>
                  </a:lnTo>
                  <a:lnTo>
                    <a:pt x="1657133" y="1487801"/>
                  </a:lnTo>
                  <a:lnTo>
                    <a:pt x="1712041" y="1478304"/>
                  </a:lnTo>
                  <a:lnTo>
                    <a:pt x="1765911" y="1467471"/>
                  </a:lnTo>
                  <a:lnTo>
                    <a:pt x="1818685" y="1455336"/>
                  </a:lnTo>
                  <a:lnTo>
                    <a:pt x="1870306" y="1441932"/>
                  </a:lnTo>
                  <a:lnTo>
                    <a:pt x="1920715" y="1427292"/>
                  </a:lnTo>
                  <a:lnTo>
                    <a:pt x="1969854" y="1411449"/>
                  </a:lnTo>
                  <a:lnTo>
                    <a:pt x="2017667" y="1394438"/>
                  </a:lnTo>
                  <a:lnTo>
                    <a:pt x="2064095" y="1376291"/>
                  </a:lnTo>
                  <a:lnTo>
                    <a:pt x="2109080" y="1357043"/>
                  </a:lnTo>
                  <a:lnTo>
                    <a:pt x="2152565" y="1336725"/>
                  </a:lnTo>
                  <a:lnTo>
                    <a:pt x="2194492" y="1315373"/>
                  </a:lnTo>
                  <a:lnTo>
                    <a:pt x="2234803" y="1293018"/>
                  </a:lnTo>
                  <a:lnTo>
                    <a:pt x="2273440" y="1269696"/>
                  </a:lnTo>
                  <a:lnTo>
                    <a:pt x="2310346" y="1245438"/>
                  </a:lnTo>
                  <a:lnTo>
                    <a:pt x="2345463" y="1220279"/>
                  </a:lnTo>
                  <a:lnTo>
                    <a:pt x="2378732" y="1194251"/>
                  </a:lnTo>
                  <a:lnTo>
                    <a:pt x="2410098" y="1167389"/>
                  </a:lnTo>
                  <a:lnTo>
                    <a:pt x="2439500" y="1139726"/>
                  </a:lnTo>
                  <a:lnTo>
                    <a:pt x="2466883" y="1111294"/>
                  </a:lnTo>
                  <a:lnTo>
                    <a:pt x="2492187" y="1082129"/>
                  </a:lnTo>
                  <a:lnTo>
                    <a:pt x="2536331" y="1021728"/>
                  </a:lnTo>
                  <a:lnTo>
                    <a:pt x="2571469" y="958790"/>
                  </a:lnTo>
                  <a:lnTo>
                    <a:pt x="2597140" y="893582"/>
                  </a:lnTo>
                  <a:lnTo>
                    <a:pt x="2612882" y="826372"/>
                  </a:lnTo>
                  <a:lnTo>
                    <a:pt x="2618232" y="757427"/>
                  </a:lnTo>
                  <a:lnTo>
                    <a:pt x="2616884" y="722755"/>
                  </a:lnTo>
                  <a:lnTo>
                    <a:pt x="2606281" y="654644"/>
                  </a:lnTo>
                  <a:lnTo>
                    <a:pt x="2585517" y="588402"/>
                  </a:lnTo>
                  <a:lnTo>
                    <a:pt x="2555054" y="524296"/>
                  </a:lnTo>
                  <a:lnTo>
                    <a:pt x="2515356" y="462593"/>
                  </a:lnTo>
                  <a:lnTo>
                    <a:pt x="2466883" y="403561"/>
                  </a:lnTo>
                  <a:lnTo>
                    <a:pt x="2439500" y="375129"/>
                  </a:lnTo>
                  <a:lnTo>
                    <a:pt x="2410098" y="347466"/>
                  </a:lnTo>
                  <a:lnTo>
                    <a:pt x="2378732" y="320604"/>
                  </a:lnTo>
                  <a:lnTo>
                    <a:pt x="2345463" y="294576"/>
                  </a:lnTo>
                  <a:lnTo>
                    <a:pt x="2310346" y="269417"/>
                  </a:lnTo>
                  <a:lnTo>
                    <a:pt x="2273440" y="245159"/>
                  </a:lnTo>
                  <a:lnTo>
                    <a:pt x="2234803" y="221837"/>
                  </a:lnTo>
                  <a:lnTo>
                    <a:pt x="2194492" y="199482"/>
                  </a:lnTo>
                  <a:lnTo>
                    <a:pt x="2152565" y="178130"/>
                  </a:lnTo>
                  <a:lnTo>
                    <a:pt x="2109080" y="157812"/>
                  </a:lnTo>
                  <a:lnTo>
                    <a:pt x="2064095" y="138564"/>
                  </a:lnTo>
                  <a:lnTo>
                    <a:pt x="2017667" y="120417"/>
                  </a:lnTo>
                  <a:lnTo>
                    <a:pt x="1969854" y="103406"/>
                  </a:lnTo>
                  <a:lnTo>
                    <a:pt x="1920715" y="87563"/>
                  </a:lnTo>
                  <a:lnTo>
                    <a:pt x="1870306" y="72923"/>
                  </a:lnTo>
                  <a:lnTo>
                    <a:pt x="1818685" y="59519"/>
                  </a:lnTo>
                  <a:lnTo>
                    <a:pt x="1765911" y="47384"/>
                  </a:lnTo>
                  <a:lnTo>
                    <a:pt x="1712041" y="36551"/>
                  </a:lnTo>
                  <a:lnTo>
                    <a:pt x="1657133" y="27054"/>
                  </a:lnTo>
                  <a:lnTo>
                    <a:pt x="1601244" y="18927"/>
                  </a:lnTo>
                  <a:lnTo>
                    <a:pt x="1544432" y="12202"/>
                  </a:lnTo>
                  <a:lnTo>
                    <a:pt x="1486756" y="6914"/>
                  </a:lnTo>
                  <a:lnTo>
                    <a:pt x="1428273" y="3095"/>
                  </a:lnTo>
                  <a:lnTo>
                    <a:pt x="1369040" y="779"/>
                  </a:lnTo>
                  <a:lnTo>
                    <a:pt x="1309115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456082" y="453644"/>
            <a:ext cx="5314950" cy="596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35" dirty="0"/>
              <a:t>Terraform</a:t>
            </a:r>
            <a:r>
              <a:rPr spc="-60" dirty="0"/>
              <a:t> </a:t>
            </a:r>
            <a:r>
              <a:rPr spc="-10" dirty="0"/>
              <a:t>Basic</a:t>
            </a:r>
            <a:r>
              <a:rPr spc="-114" dirty="0"/>
              <a:t> </a:t>
            </a:r>
            <a:r>
              <a:rPr spc="-5" dirty="0"/>
              <a:t>Blocks</a:t>
            </a:r>
          </a:p>
        </p:txBody>
      </p:sp>
      <p:sp>
        <p:nvSpPr>
          <p:cNvPr id="12" name="object 12"/>
          <p:cNvSpPr/>
          <p:nvPr/>
        </p:nvSpPr>
        <p:spPr>
          <a:xfrm>
            <a:off x="688848" y="1261872"/>
            <a:ext cx="2545080" cy="1417320"/>
          </a:xfrm>
          <a:custGeom>
            <a:avLst/>
            <a:gdLst/>
            <a:ahLst/>
            <a:cxnLst/>
            <a:rect l="l" t="t" r="r" b="b"/>
            <a:pathLst>
              <a:path w="2545080" h="1417320">
                <a:moveTo>
                  <a:pt x="1272539" y="0"/>
                </a:moveTo>
                <a:lnTo>
                  <a:pt x="1210884" y="817"/>
                </a:lnTo>
                <a:lnTo>
                  <a:pt x="1149985" y="3243"/>
                </a:lnTo>
                <a:lnTo>
                  <a:pt x="1089911" y="7242"/>
                </a:lnTo>
                <a:lnTo>
                  <a:pt x="1030727" y="12777"/>
                </a:lnTo>
                <a:lnTo>
                  <a:pt x="972501" y="19809"/>
                </a:lnTo>
                <a:lnTo>
                  <a:pt x="915298" y="28303"/>
                </a:lnTo>
                <a:lnTo>
                  <a:pt x="859186" y="38220"/>
                </a:lnTo>
                <a:lnTo>
                  <a:pt x="804232" y="49524"/>
                </a:lnTo>
                <a:lnTo>
                  <a:pt x="750501" y="62178"/>
                </a:lnTo>
                <a:lnTo>
                  <a:pt x="698061" y="76145"/>
                </a:lnTo>
                <a:lnTo>
                  <a:pt x="646978" y="91387"/>
                </a:lnTo>
                <a:lnTo>
                  <a:pt x="597319" y="107868"/>
                </a:lnTo>
                <a:lnTo>
                  <a:pt x="549151" y="125550"/>
                </a:lnTo>
                <a:lnTo>
                  <a:pt x="502540" y="144396"/>
                </a:lnTo>
                <a:lnTo>
                  <a:pt x="457553" y="164370"/>
                </a:lnTo>
                <a:lnTo>
                  <a:pt x="414257" y="185433"/>
                </a:lnTo>
                <a:lnTo>
                  <a:pt x="372718" y="207549"/>
                </a:lnTo>
                <a:lnTo>
                  <a:pt x="333002" y="230681"/>
                </a:lnTo>
                <a:lnTo>
                  <a:pt x="295177" y="254792"/>
                </a:lnTo>
                <a:lnTo>
                  <a:pt x="259310" y="279844"/>
                </a:lnTo>
                <a:lnTo>
                  <a:pt x="225466" y="305801"/>
                </a:lnTo>
                <a:lnTo>
                  <a:pt x="193713" y="332625"/>
                </a:lnTo>
                <a:lnTo>
                  <a:pt x="164117" y="360279"/>
                </a:lnTo>
                <a:lnTo>
                  <a:pt x="136745" y="388727"/>
                </a:lnTo>
                <a:lnTo>
                  <a:pt x="111663" y="417930"/>
                </a:lnTo>
                <a:lnTo>
                  <a:pt x="68638" y="478456"/>
                </a:lnTo>
                <a:lnTo>
                  <a:pt x="35575" y="541562"/>
                </a:lnTo>
                <a:lnTo>
                  <a:pt x="13006" y="606949"/>
                </a:lnTo>
                <a:lnTo>
                  <a:pt x="1467" y="674322"/>
                </a:lnTo>
                <a:lnTo>
                  <a:pt x="0" y="708660"/>
                </a:lnTo>
                <a:lnTo>
                  <a:pt x="1467" y="742997"/>
                </a:lnTo>
                <a:lnTo>
                  <a:pt x="13006" y="810370"/>
                </a:lnTo>
                <a:lnTo>
                  <a:pt x="35575" y="875757"/>
                </a:lnTo>
                <a:lnTo>
                  <a:pt x="68638" y="938863"/>
                </a:lnTo>
                <a:lnTo>
                  <a:pt x="111663" y="999389"/>
                </a:lnTo>
                <a:lnTo>
                  <a:pt x="136745" y="1028592"/>
                </a:lnTo>
                <a:lnTo>
                  <a:pt x="164117" y="1057040"/>
                </a:lnTo>
                <a:lnTo>
                  <a:pt x="193713" y="1084694"/>
                </a:lnTo>
                <a:lnTo>
                  <a:pt x="225466" y="1111518"/>
                </a:lnTo>
                <a:lnTo>
                  <a:pt x="259310" y="1137475"/>
                </a:lnTo>
                <a:lnTo>
                  <a:pt x="295177" y="1162527"/>
                </a:lnTo>
                <a:lnTo>
                  <a:pt x="333002" y="1186638"/>
                </a:lnTo>
                <a:lnTo>
                  <a:pt x="372718" y="1209770"/>
                </a:lnTo>
                <a:lnTo>
                  <a:pt x="414257" y="1231886"/>
                </a:lnTo>
                <a:lnTo>
                  <a:pt x="457553" y="1252949"/>
                </a:lnTo>
                <a:lnTo>
                  <a:pt x="502540" y="1272923"/>
                </a:lnTo>
                <a:lnTo>
                  <a:pt x="549151" y="1291769"/>
                </a:lnTo>
                <a:lnTo>
                  <a:pt x="597319" y="1309451"/>
                </a:lnTo>
                <a:lnTo>
                  <a:pt x="646978" y="1325932"/>
                </a:lnTo>
                <a:lnTo>
                  <a:pt x="698061" y="1341174"/>
                </a:lnTo>
                <a:lnTo>
                  <a:pt x="750501" y="1355141"/>
                </a:lnTo>
                <a:lnTo>
                  <a:pt x="804232" y="1367795"/>
                </a:lnTo>
                <a:lnTo>
                  <a:pt x="859186" y="1379099"/>
                </a:lnTo>
                <a:lnTo>
                  <a:pt x="915298" y="1389016"/>
                </a:lnTo>
                <a:lnTo>
                  <a:pt x="972501" y="1397510"/>
                </a:lnTo>
                <a:lnTo>
                  <a:pt x="1030727" y="1404542"/>
                </a:lnTo>
                <a:lnTo>
                  <a:pt x="1089911" y="1410077"/>
                </a:lnTo>
                <a:lnTo>
                  <a:pt x="1149985" y="1414076"/>
                </a:lnTo>
                <a:lnTo>
                  <a:pt x="1210884" y="1416502"/>
                </a:lnTo>
                <a:lnTo>
                  <a:pt x="1272539" y="1417319"/>
                </a:lnTo>
                <a:lnTo>
                  <a:pt x="1334196" y="1416502"/>
                </a:lnTo>
                <a:lnTo>
                  <a:pt x="1395096" y="1414076"/>
                </a:lnTo>
                <a:lnTo>
                  <a:pt x="1455171" y="1410077"/>
                </a:lnTo>
                <a:lnTo>
                  <a:pt x="1514355" y="1404542"/>
                </a:lnTo>
                <a:lnTo>
                  <a:pt x="1572583" y="1397510"/>
                </a:lnTo>
                <a:lnTo>
                  <a:pt x="1629786" y="1389016"/>
                </a:lnTo>
                <a:lnTo>
                  <a:pt x="1685898" y="1379099"/>
                </a:lnTo>
                <a:lnTo>
                  <a:pt x="1740853" y="1367795"/>
                </a:lnTo>
                <a:lnTo>
                  <a:pt x="1794583" y="1355141"/>
                </a:lnTo>
                <a:lnTo>
                  <a:pt x="1847024" y="1341174"/>
                </a:lnTo>
                <a:lnTo>
                  <a:pt x="1898106" y="1325932"/>
                </a:lnTo>
                <a:lnTo>
                  <a:pt x="1947765" y="1309451"/>
                </a:lnTo>
                <a:lnTo>
                  <a:pt x="1995933" y="1291769"/>
                </a:lnTo>
                <a:lnTo>
                  <a:pt x="2042544" y="1272923"/>
                </a:lnTo>
                <a:lnTo>
                  <a:pt x="2087531" y="1252949"/>
                </a:lnTo>
                <a:lnTo>
                  <a:pt x="2130827" y="1231886"/>
                </a:lnTo>
                <a:lnTo>
                  <a:pt x="2172366" y="1209770"/>
                </a:lnTo>
                <a:lnTo>
                  <a:pt x="2212081" y="1186638"/>
                </a:lnTo>
                <a:lnTo>
                  <a:pt x="2249906" y="1162527"/>
                </a:lnTo>
                <a:lnTo>
                  <a:pt x="2285773" y="1137475"/>
                </a:lnTo>
                <a:lnTo>
                  <a:pt x="2319616" y="1111518"/>
                </a:lnTo>
                <a:lnTo>
                  <a:pt x="2351369" y="1084694"/>
                </a:lnTo>
                <a:lnTo>
                  <a:pt x="2380965" y="1057040"/>
                </a:lnTo>
                <a:lnTo>
                  <a:pt x="2408337" y="1028592"/>
                </a:lnTo>
                <a:lnTo>
                  <a:pt x="2433418" y="999389"/>
                </a:lnTo>
                <a:lnTo>
                  <a:pt x="2476443" y="938863"/>
                </a:lnTo>
                <a:lnTo>
                  <a:pt x="2509505" y="875757"/>
                </a:lnTo>
                <a:lnTo>
                  <a:pt x="2532073" y="810370"/>
                </a:lnTo>
                <a:lnTo>
                  <a:pt x="2543612" y="742997"/>
                </a:lnTo>
                <a:lnTo>
                  <a:pt x="2545079" y="708660"/>
                </a:lnTo>
                <a:lnTo>
                  <a:pt x="2543612" y="674322"/>
                </a:lnTo>
                <a:lnTo>
                  <a:pt x="2532073" y="606949"/>
                </a:lnTo>
                <a:lnTo>
                  <a:pt x="2509505" y="541562"/>
                </a:lnTo>
                <a:lnTo>
                  <a:pt x="2476443" y="478456"/>
                </a:lnTo>
                <a:lnTo>
                  <a:pt x="2433418" y="417930"/>
                </a:lnTo>
                <a:lnTo>
                  <a:pt x="2408337" y="388727"/>
                </a:lnTo>
                <a:lnTo>
                  <a:pt x="2380965" y="360279"/>
                </a:lnTo>
                <a:lnTo>
                  <a:pt x="2351369" y="332625"/>
                </a:lnTo>
                <a:lnTo>
                  <a:pt x="2319616" y="305801"/>
                </a:lnTo>
                <a:lnTo>
                  <a:pt x="2285773" y="279844"/>
                </a:lnTo>
                <a:lnTo>
                  <a:pt x="2249906" y="254792"/>
                </a:lnTo>
                <a:lnTo>
                  <a:pt x="2212081" y="230681"/>
                </a:lnTo>
                <a:lnTo>
                  <a:pt x="2172366" y="207549"/>
                </a:lnTo>
                <a:lnTo>
                  <a:pt x="2130827" y="185433"/>
                </a:lnTo>
                <a:lnTo>
                  <a:pt x="2087531" y="164370"/>
                </a:lnTo>
                <a:lnTo>
                  <a:pt x="2042544" y="144396"/>
                </a:lnTo>
                <a:lnTo>
                  <a:pt x="1995933" y="125550"/>
                </a:lnTo>
                <a:lnTo>
                  <a:pt x="1947765" y="107868"/>
                </a:lnTo>
                <a:lnTo>
                  <a:pt x="1898106" y="91387"/>
                </a:lnTo>
                <a:lnTo>
                  <a:pt x="1847024" y="76145"/>
                </a:lnTo>
                <a:lnTo>
                  <a:pt x="1794583" y="62178"/>
                </a:lnTo>
                <a:lnTo>
                  <a:pt x="1740853" y="49524"/>
                </a:lnTo>
                <a:lnTo>
                  <a:pt x="1685898" y="38220"/>
                </a:lnTo>
                <a:lnTo>
                  <a:pt x="1629786" y="28303"/>
                </a:lnTo>
                <a:lnTo>
                  <a:pt x="1572583" y="19809"/>
                </a:lnTo>
                <a:lnTo>
                  <a:pt x="1514355" y="12777"/>
                </a:lnTo>
                <a:lnTo>
                  <a:pt x="1455171" y="7242"/>
                </a:lnTo>
                <a:lnTo>
                  <a:pt x="1395096" y="3243"/>
                </a:lnTo>
                <a:lnTo>
                  <a:pt x="1334196" y="817"/>
                </a:lnTo>
                <a:lnTo>
                  <a:pt x="1272539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70253" y="1530807"/>
            <a:ext cx="1383665" cy="837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215" marR="5080" lvl="0" indent="-311150" algn="l" defTabSz="914400" rtl="0" eaLnBrk="1" fontAlgn="auto" latinLnBrk="0" hangingPunct="1">
              <a:lnSpc>
                <a:spcPct val="1004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50" b="0" i="0" u="none" strike="noStrike" kern="1200" cap="none" spc="-2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</a:t>
            </a:r>
            <a:r>
              <a:rPr kumimoji="0" sz="2650" b="0" i="0" u="none" strike="noStrike" kern="1200" cap="none" spc="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er</a:t>
            </a:r>
            <a:r>
              <a:rPr kumimoji="0" sz="2650" b="0" i="0" u="none" strike="noStrike" kern="120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</a:t>
            </a:r>
            <a:r>
              <a:rPr kumimoji="0" sz="2650" b="0" i="0" u="none" strike="noStrike" kern="120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sz="2650" b="0" i="0" u="none" strike="noStrike" kern="120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</a:t>
            </a:r>
            <a:r>
              <a:rPr kumimoji="0" sz="2650" b="0" i="0" u="none" strike="noStrike" kern="1200" cap="none" spc="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</a:t>
            </a:r>
            <a:r>
              <a:rPr kumimoji="0" sz="2650" b="0" i="0" u="none" strike="noStrike" kern="1200" cap="none" spc="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rm  </a:t>
            </a:r>
            <a:r>
              <a:rPr kumimoji="0" sz="26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Block</a:t>
            </a:r>
            <a:endParaRPr kumimoji="0" sz="26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0687" y="2965704"/>
            <a:ext cx="3584575" cy="69215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5080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50" b="0" i="0" u="none" strike="noStrike" kern="1200" cap="none" spc="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Special</a:t>
            </a:r>
            <a:r>
              <a:rPr kumimoji="0" sz="1850" b="0" i="0" u="none" strike="noStrike" kern="120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block</a:t>
            </a:r>
            <a:r>
              <a:rPr kumimoji="0" sz="1850" b="0" i="0" u="none" strike="noStrike" kern="120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used</a:t>
            </a:r>
            <a:r>
              <a:rPr kumimoji="0" sz="1850" b="0" i="0" u="none" strike="noStrike" kern="120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sz="1850" b="0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configure</a:t>
            </a:r>
            <a:endParaRPr kumimoji="0" sz="1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50" b="0" i="0" u="none" strike="noStrike" kern="1200" cap="none" spc="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some</a:t>
            </a:r>
            <a:r>
              <a:rPr kumimoji="0" sz="1850" b="0" i="0" u="none" strike="noStrike" kern="120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behaviors</a:t>
            </a:r>
            <a:endParaRPr kumimoji="0" sz="1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0687" y="3892296"/>
            <a:ext cx="3584575" cy="69215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5080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50" b="0" i="0" u="none" strike="noStrike" kern="1200" cap="none" spc="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Specifying</a:t>
            </a:r>
            <a:r>
              <a:rPr kumimoji="0" sz="1850" b="0" i="0" u="none" strike="noStrike" kern="120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sz="18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required</a:t>
            </a:r>
            <a:r>
              <a:rPr kumimoji="0" sz="1850" b="0" i="0" u="none" strike="noStrike" kern="1200" cap="none" spc="-3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-2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Terraform</a:t>
            </a:r>
            <a:endParaRPr kumimoji="0" sz="1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50" b="0" i="0" u="none" strike="noStrike" kern="1200" cap="none" spc="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CLI</a:t>
            </a:r>
            <a:r>
              <a:rPr kumimoji="0" sz="1850" b="0" i="0" u="none" strike="noStrike" kern="1200" cap="none" spc="-3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-1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Version</a:t>
            </a:r>
            <a:endParaRPr kumimoji="0" sz="1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0687" y="4770120"/>
            <a:ext cx="3584575" cy="69215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52069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40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50" b="0" i="0" u="none" strike="noStrike" kern="1200" cap="none" spc="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Specifying</a:t>
            </a:r>
            <a:r>
              <a:rPr kumimoji="0" sz="1850" b="0" i="0" u="none" strike="noStrike" kern="120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Provider</a:t>
            </a:r>
            <a:r>
              <a:rPr kumimoji="0" sz="1850" b="0" i="0" u="none" strike="noStrike" kern="1200" cap="none" spc="-3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Requirements</a:t>
            </a:r>
            <a:endParaRPr kumimoji="0" sz="1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50" b="0" i="0" u="none" strike="noStrike" kern="1200" cap="none" spc="1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&amp;</a:t>
            </a:r>
            <a:r>
              <a:rPr kumimoji="0" sz="1850" b="0" i="0" u="none" strike="noStrike" kern="1200" cap="none" spc="-3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-1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Versions</a:t>
            </a:r>
            <a:endParaRPr kumimoji="0" sz="1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0687" y="5693664"/>
            <a:ext cx="3584575" cy="64325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27940" rIns="0" bIns="0" rtlCol="0">
            <a:spAutoFit/>
          </a:bodyPr>
          <a:lstStyle/>
          <a:p>
            <a:pPr marL="1905" marR="0" lvl="0" indent="0" algn="ctr" defTabSz="914400" rtl="0" eaLnBrk="1" fontAlgn="auto" latinLnBrk="0" hangingPunct="1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50" b="0" i="0" u="none" strike="noStrike" kern="1200" cap="none" spc="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Configuring</a:t>
            </a:r>
            <a:r>
              <a:rPr kumimoji="0" sz="1850" b="0" i="0" u="none" strike="noStrike" kern="1200" cap="none" spc="-8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sz="1850" b="0" i="0" u="none" strike="noStrike" kern="1200" cap="none" spc="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Backend</a:t>
            </a:r>
            <a:endParaRPr kumimoji="0" sz="1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50" b="0" i="0" u="none" strike="noStrike" kern="120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Terraform(</a:t>
            </a:r>
            <a:r>
              <a:rPr kumimoji="0" sz="1850" b="0" i="0" u="none" strike="noStrike" kern="1200" cap="none" spc="-2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Terrafom</a:t>
            </a:r>
            <a:r>
              <a:rPr kumimoji="0" sz="1850" b="0" i="0" u="none" strike="noStrike" kern="1200" cap="none" spc="1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-1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State</a:t>
            </a:r>
            <a:r>
              <a:rPr kumimoji="0" sz="1850" b="0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)</a:t>
            </a:r>
            <a:endParaRPr kumimoji="0" sz="1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693409" y="1532585"/>
            <a:ext cx="1182370" cy="837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885" marR="5080" lvl="0" indent="-210820" algn="l" defTabSz="914400" rtl="0" eaLnBrk="1" fontAlgn="auto" latinLnBrk="0" hangingPunct="1">
              <a:lnSpc>
                <a:spcPct val="100499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5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</a:t>
            </a:r>
            <a:r>
              <a:rPr kumimoji="0" sz="2650" b="0" i="0" u="none" strike="noStrike" kern="120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</a:t>
            </a:r>
            <a:r>
              <a:rPr kumimoji="0" sz="2650" b="0" i="0" u="none" strike="noStrike" kern="1200" cap="none" spc="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</a:t>
            </a:r>
            <a:r>
              <a:rPr kumimoji="0" sz="2650" b="0" i="0" u="none" strike="noStrike" kern="1200" cap="none" spc="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</a:t>
            </a:r>
            <a:r>
              <a:rPr kumimoji="0" sz="2650" b="0" i="0" u="none" strike="noStrike" kern="120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</a:t>
            </a:r>
            <a:r>
              <a:rPr kumimoji="0" sz="26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</a:t>
            </a:r>
            <a:r>
              <a:rPr kumimoji="0" sz="2650" b="0" i="0" u="none" strike="noStrike" kern="120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</a:t>
            </a:r>
            <a:r>
              <a:rPr kumimoji="0" sz="26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  Block</a:t>
            </a:r>
            <a:endParaRPr kumimoji="0" sz="26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86071" y="2993135"/>
            <a:ext cx="3733800" cy="664845"/>
          </a:xfrm>
          <a:prstGeom prst="rect">
            <a:avLst/>
          </a:prstGeom>
          <a:solidFill>
            <a:srgbClr val="00AF50"/>
          </a:solidFill>
        </p:spPr>
        <p:txBody>
          <a:bodyPr vert="horz" wrap="square" lIns="0" tIns="179070" rIns="0" bIns="0" rtlCol="0">
            <a:spAutoFit/>
          </a:bodyPr>
          <a:lstStyle/>
          <a:p>
            <a:pPr marL="920750" marR="0" lvl="0" indent="0" algn="l" defTabSz="914400" rtl="0" eaLnBrk="1" fontAlgn="auto" latinLnBrk="0" hangingPunct="1">
              <a:lnSpc>
                <a:spcPct val="100000"/>
              </a:lnSpc>
              <a:spcBef>
                <a:spcPts val="14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5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HEART</a:t>
            </a:r>
            <a:r>
              <a:rPr kumimoji="0" sz="1850" b="0" i="0" u="none" strike="noStrike" kern="1200" cap="none" spc="-1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sz="1850" b="0" i="0" u="none" strike="noStrike" kern="120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Terraform</a:t>
            </a:r>
            <a:endParaRPr kumimoji="0" sz="1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86071" y="3867911"/>
            <a:ext cx="3733800" cy="695325"/>
          </a:xfrm>
          <a:prstGeom prst="rect">
            <a:avLst/>
          </a:prstGeom>
          <a:solidFill>
            <a:srgbClr val="00AF50"/>
          </a:solidFill>
        </p:spPr>
        <p:txBody>
          <a:bodyPr vert="horz" wrap="square" lIns="0" tIns="52069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40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50" b="0" i="0" u="none" strike="noStrike" kern="120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Terraform</a:t>
            </a:r>
            <a:r>
              <a:rPr kumimoji="0" sz="1850" b="0" i="0" u="none" strike="noStrike" kern="1200" cap="none" spc="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relies</a:t>
            </a:r>
            <a:r>
              <a:rPr kumimoji="0" sz="1850" b="0" i="0" u="none" strike="noStrike" kern="1200" cap="none" spc="-5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</a:t>
            </a:r>
            <a:r>
              <a:rPr kumimoji="0" sz="1850" b="0" i="0" u="none" strike="noStrike" kern="120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providers</a:t>
            </a:r>
            <a:r>
              <a:rPr kumimoji="0" sz="1850" b="0" i="0" u="none" strike="noStrike" kern="1200" cap="none" spc="-5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endParaRPr kumimoji="0" sz="1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635" marR="0" lvl="0" indent="0" algn="ctr" defTabSz="914400" rtl="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50" b="0" i="0" u="none" strike="noStrike" kern="1200" cap="none" spc="-1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interact </a:t>
            </a:r>
            <a:r>
              <a:rPr kumimoji="0" sz="1850" b="0" i="0" u="none" strike="noStrike" kern="1200" cap="none" spc="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</a:t>
            </a:r>
            <a:r>
              <a:rPr kumimoji="0" sz="1850" b="0" i="0" u="none" strike="noStrike" kern="120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Remote</a:t>
            </a:r>
            <a:r>
              <a:rPr kumimoji="0" sz="1850" b="0" i="0" u="none" strike="noStrike" kern="120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Systems</a:t>
            </a:r>
            <a:endParaRPr kumimoji="0" sz="1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386071" y="4770120"/>
            <a:ext cx="3733800" cy="692150"/>
          </a:xfrm>
          <a:prstGeom prst="rect">
            <a:avLst/>
          </a:prstGeom>
          <a:solidFill>
            <a:srgbClr val="00AF50"/>
          </a:solidFill>
        </p:spPr>
        <p:txBody>
          <a:bodyPr vert="horz" wrap="square" lIns="0" tIns="52069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40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Declare</a:t>
            </a:r>
            <a:r>
              <a:rPr kumimoji="0" sz="1850" b="0" i="0" u="none" strike="noStrike" kern="120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providers</a:t>
            </a:r>
            <a:r>
              <a:rPr kumimoji="0" sz="1850" b="0" i="0" u="none" strike="noStrike" kern="1200" cap="none" spc="-6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</a:t>
            </a:r>
            <a:r>
              <a:rPr kumimoji="0" sz="185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Terraform</a:t>
            </a:r>
            <a:r>
              <a:rPr kumimoji="0" sz="1850" b="0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endParaRPr kumimoji="0" sz="1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5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install</a:t>
            </a:r>
            <a:r>
              <a:rPr kumimoji="0" sz="1850" b="0" i="0" u="none" strike="noStrike" kern="1200" cap="none" spc="-5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providers</a:t>
            </a:r>
            <a:r>
              <a:rPr kumimoji="0" sz="1850" b="0" i="0" u="none" strike="noStrike" kern="1200" cap="none" spc="-6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&amp;</a:t>
            </a:r>
            <a:r>
              <a:rPr kumimoji="0" sz="1850" b="0" i="0" u="none" strike="noStrike" kern="120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use</a:t>
            </a:r>
            <a:r>
              <a:rPr kumimoji="0" sz="1850" b="0" i="0" u="none" strike="noStrike" kern="120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them</a:t>
            </a:r>
            <a:endParaRPr kumimoji="0" sz="1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386071" y="5583935"/>
            <a:ext cx="3733800" cy="692150"/>
          </a:xfrm>
          <a:prstGeom prst="rect">
            <a:avLst/>
          </a:prstGeom>
          <a:solidFill>
            <a:srgbClr val="00AF50"/>
          </a:solidFill>
        </p:spPr>
        <p:txBody>
          <a:bodyPr vert="horz" wrap="square" lIns="0" tIns="5016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Provider</a:t>
            </a:r>
            <a:r>
              <a:rPr kumimoji="0" sz="1850" b="0" i="0" u="none" strike="noStrike" kern="120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configurations</a:t>
            </a:r>
            <a:r>
              <a:rPr kumimoji="0" sz="1850" b="0" i="0" u="none" strike="noStrike" kern="120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belong</a:t>
            </a:r>
            <a:r>
              <a:rPr kumimoji="0" sz="1850" b="0" i="0" u="none" strike="noStrike" kern="120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endParaRPr kumimoji="0" sz="1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50" b="0" i="0" u="none" strike="noStrike" kern="1200" cap="none" spc="-1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Root</a:t>
            </a:r>
            <a:r>
              <a:rPr kumimoji="0" sz="185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1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Module</a:t>
            </a:r>
            <a:endParaRPr kumimoji="0" sz="1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9147047" y="1261872"/>
            <a:ext cx="2621280" cy="1536700"/>
          </a:xfrm>
          <a:custGeom>
            <a:avLst/>
            <a:gdLst/>
            <a:ahLst/>
            <a:cxnLst/>
            <a:rect l="l" t="t" r="r" b="b"/>
            <a:pathLst>
              <a:path w="2621279" h="1536700">
                <a:moveTo>
                  <a:pt x="1310640" y="0"/>
                </a:moveTo>
                <a:lnTo>
                  <a:pt x="1250642" y="790"/>
                </a:lnTo>
                <a:lnTo>
                  <a:pt x="1191337" y="3139"/>
                </a:lnTo>
                <a:lnTo>
                  <a:pt x="1132782" y="7012"/>
                </a:lnTo>
                <a:lnTo>
                  <a:pt x="1075036" y="12375"/>
                </a:lnTo>
                <a:lnTo>
                  <a:pt x="1018157" y="19196"/>
                </a:lnTo>
                <a:lnTo>
                  <a:pt x="962201" y="27439"/>
                </a:lnTo>
                <a:lnTo>
                  <a:pt x="907227" y="37070"/>
                </a:lnTo>
                <a:lnTo>
                  <a:pt x="853293" y="48057"/>
                </a:lnTo>
                <a:lnTo>
                  <a:pt x="800457" y="60364"/>
                </a:lnTo>
                <a:lnTo>
                  <a:pt x="748776" y="73959"/>
                </a:lnTo>
                <a:lnTo>
                  <a:pt x="698308" y="88806"/>
                </a:lnTo>
                <a:lnTo>
                  <a:pt x="649111" y="104873"/>
                </a:lnTo>
                <a:lnTo>
                  <a:pt x="601242" y="122126"/>
                </a:lnTo>
                <a:lnTo>
                  <a:pt x="554761" y="140529"/>
                </a:lnTo>
                <a:lnTo>
                  <a:pt x="509724" y="160050"/>
                </a:lnTo>
                <a:lnTo>
                  <a:pt x="466189" y="180655"/>
                </a:lnTo>
                <a:lnTo>
                  <a:pt x="424214" y="202310"/>
                </a:lnTo>
                <a:lnTo>
                  <a:pt x="383857" y="224980"/>
                </a:lnTo>
                <a:lnTo>
                  <a:pt x="345176" y="248632"/>
                </a:lnTo>
                <a:lnTo>
                  <a:pt x="308228" y="273232"/>
                </a:lnTo>
                <a:lnTo>
                  <a:pt x="273072" y="298747"/>
                </a:lnTo>
                <a:lnTo>
                  <a:pt x="239764" y="325141"/>
                </a:lnTo>
                <a:lnTo>
                  <a:pt x="208364" y="352382"/>
                </a:lnTo>
                <a:lnTo>
                  <a:pt x="178928" y="380435"/>
                </a:lnTo>
                <a:lnTo>
                  <a:pt x="151515" y="409267"/>
                </a:lnTo>
                <a:lnTo>
                  <a:pt x="126183" y="438843"/>
                </a:lnTo>
                <a:lnTo>
                  <a:pt x="102989" y="469130"/>
                </a:lnTo>
                <a:lnTo>
                  <a:pt x="63246" y="531699"/>
                </a:lnTo>
                <a:lnTo>
                  <a:pt x="32750" y="596705"/>
                </a:lnTo>
                <a:lnTo>
                  <a:pt x="11963" y="663875"/>
                </a:lnTo>
                <a:lnTo>
                  <a:pt x="1348" y="732939"/>
                </a:lnTo>
                <a:lnTo>
                  <a:pt x="0" y="768095"/>
                </a:lnTo>
                <a:lnTo>
                  <a:pt x="1348" y="803252"/>
                </a:lnTo>
                <a:lnTo>
                  <a:pt x="11963" y="872316"/>
                </a:lnTo>
                <a:lnTo>
                  <a:pt x="32750" y="939486"/>
                </a:lnTo>
                <a:lnTo>
                  <a:pt x="63246" y="1004492"/>
                </a:lnTo>
                <a:lnTo>
                  <a:pt x="102989" y="1067061"/>
                </a:lnTo>
                <a:lnTo>
                  <a:pt x="126183" y="1097348"/>
                </a:lnTo>
                <a:lnTo>
                  <a:pt x="151515" y="1126924"/>
                </a:lnTo>
                <a:lnTo>
                  <a:pt x="178928" y="1155756"/>
                </a:lnTo>
                <a:lnTo>
                  <a:pt x="208364" y="1183809"/>
                </a:lnTo>
                <a:lnTo>
                  <a:pt x="239764" y="1211050"/>
                </a:lnTo>
                <a:lnTo>
                  <a:pt x="273072" y="1237444"/>
                </a:lnTo>
                <a:lnTo>
                  <a:pt x="308228" y="1262959"/>
                </a:lnTo>
                <a:lnTo>
                  <a:pt x="345176" y="1287559"/>
                </a:lnTo>
                <a:lnTo>
                  <a:pt x="383857" y="1311211"/>
                </a:lnTo>
                <a:lnTo>
                  <a:pt x="424214" y="1333881"/>
                </a:lnTo>
                <a:lnTo>
                  <a:pt x="466189" y="1355536"/>
                </a:lnTo>
                <a:lnTo>
                  <a:pt x="509724" y="1376141"/>
                </a:lnTo>
                <a:lnTo>
                  <a:pt x="554761" y="1395662"/>
                </a:lnTo>
                <a:lnTo>
                  <a:pt x="601242" y="1414065"/>
                </a:lnTo>
                <a:lnTo>
                  <a:pt x="649111" y="1431318"/>
                </a:lnTo>
                <a:lnTo>
                  <a:pt x="698308" y="1447385"/>
                </a:lnTo>
                <a:lnTo>
                  <a:pt x="748776" y="1462232"/>
                </a:lnTo>
                <a:lnTo>
                  <a:pt x="800457" y="1475827"/>
                </a:lnTo>
                <a:lnTo>
                  <a:pt x="853293" y="1488134"/>
                </a:lnTo>
                <a:lnTo>
                  <a:pt x="907227" y="1499121"/>
                </a:lnTo>
                <a:lnTo>
                  <a:pt x="962201" y="1508752"/>
                </a:lnTo>
                <a:lnTo>
                  <a:pt x="1018157" y="1516995"/>
                </a:lnTo>
                <a:lnTo>
                  <a:pt x="1075036" y="1523816"/>
                </a:lnTo>
                <a:lnTo>
                  <a:pt x="1132782" y="1529179"/>
                </a:lnTo>
                <a:lnTo>
                  <a:pt x="1191337" y="1533052"/>
                </a:lnTo>
                <a:lnTo>
                  <a:pt x="1250642" y="1535401"/>
                </a:lnTo>
                <a:lnTo>
                  <a:pt x="1310640" y="1536191"/>
                </a:lnTo>
                <a:lnTo>
                  <a:pt x="1370637" y="1535401"/>
                </a:lnTo>
                <a:lnTo>
                  <a:pt x="1429942" y="1533052"/>
                </a:lnTo>
                <a:lnTo>
                  <a:pt x="1488497" y="1529179"/>
                </a:lnTo>
                <a:lnTo>
                  <a:pt x="1546243" y="1523816"/>
                </a:lnTo>
                <a:lnTo>
                  <a:pt x="1603122" y="1516995"/>
                </a:lnTo>
                <a:lnTo>
                  <a:pt x="1659078" y="1508752"/>
                </a:lnTo>
                <a:lnTo>
                  <a:pt x="1714052" y="1499121"/>
                </a:lnTo>
                <a:lnTo>
                  <a:pt x="1767986" y="1488134"/>
                </a:lnTo>
                <a:lnTo>
                  <a:pt x="1820822" y="1475827"/>
                </a:lnTo>
                <a:lnTo>
                  <a:pt x="1872503" y="1462232"/>
                </a:lnTo>
                <a:lnTo>
                  <a:pt x="1922971" y="1447385"/>
                </a:lnTo>
                <a:lnTo>
                  <a:pt x="1972168" y="1431318"/>
                </a:lnTo>
                <a:lnTo>
                  <a:pt x="2020037" y="1414065"/>
                </a:lnTo>
                <a:lnTo>
                  <a:pt x="2066518" y="1395662"/>
                </a:lnTo>
                <a:lnTo>
                  <a:pt x="2111555" y="1376141"/>
                </a:lnTo>
                <a:lnTo>
                  <a:pt x="2155090" y="1355536"/>
                </a:lnTo>
                <a:lnTo>
                  <a:pt x="2197065" y="1333881"/>
                </a:lnTo>
                <a:lnTo>
                  <a:pt x="2237422" y="1311211"/>
                </a:lnTo>
                <a:lnTo>
                  <a:pt x="2276103" y="1287559"/>
                </a:lnTo>
                <a:lnTo>
                  <a:pt x="2313051" y="1262959"/>
                </a:lnTo>
                <a:lnTo>
                  <a:pt x="2348207" y="1237444"/>
                </a:lnTo>
                <a:lnTo>
                  <a:pt x="2381515" y="1211050"/>
                </a:lnTo>
                <a:lnTo>
                  <a:pt x="2412915" y="1183809"/>
                </a:lnTo>
                <a:lnTo>
                  <a:pt x="2442351" y="1155756"/>
                </a:lnTo>
                <a:lnTo>
                  <a:pt x="2469764" y="1126924"/>
                </a:lnTo>
                <a:lnTo>
                  <a:pt x="2495096" y="1097348"/>
                </a:lnTo>
                <a:lnTo>
                  <a:pt x="2518290" y="1067061"/>
                </a:lnTo>
                <a:lnTo>
                  <a:pt x="2558033" y="1004492"/>
                </a:lnTo>
                <a:lnTo>
                  <a:pt x="2588529" y="939486"/>
                </a:lnTo>
                <a:lnTo>
                  <a:pt x="2609316" y="872316"/>
                </a:lnTo>
                <a:lnTo>
                  <a:pt x="2619931" y="803252"/>
                </a:lnTo>
                <a:lnTo>
                  <a:pt x="2621279" y="768095"/>
                </a:lnTo>
                <a:lnTo>
                  <a:pt x="2619931" y="732939"/>
                </a:lnTo>
                <a:lnTo>
                  <a:pt x="2609316" y="663875"/>
                </a:lnTo>
                <a:lnTo>
                  <a:pt x="2588529" y="596705"/>
                </a:lnTo>
                <a:lnTo>
                  <a:pt x="2558033" y="531699"/>
                </a:lnTo>
                <a:lnTo>
                  <a:pt x="2518290" y="469130"/>
                </a:lnTo>
                <a:lnTo>
                  <a:pt x="2495096" y="438843"/>
                </a:lnTo>
                <a:lnTo>
                  <a:pt x="2469764" y="409267"/>
                </a:lnTo>
                <a:lnTo>
                  <a:pt x="2442351" y="380435"/>
                </a:lnTo>
                <a:lnTo>
                  <a:pt x="2412915" y="352382"/>
                </a:lnTo>
                <a:lnTo>
                  <a:pt x="2381515" y="325141"/>
                </a:lnTo>
                <a:lnTo>
                  <a:pt x="2348207" y="298747"/>
                </a:lnTo>
                <a:lnTo>
                  <a:pt x="2313051" y="273232"/>
                </a:lnTo>
                <a:lnTo>
                  <a:pt x="2276103" y="248632"/>
                </a:lnTo>
                <a:lnTo>
                  <a:pt x="2237422" y="224980"/>
                </a:lnTo>
                <a:lnTo>
                  <a:pt x="2197065" y="202310"/>
                </a:lnTo>
                <a:lnTo>
                  <a:pt x="2155090" y="180655"/>
                </a:lnTo>
                <a:lnTo>
                  <a:pt x="2111555" y="160050"/>
                </a:lnTo>
                <a:lnTo>
                  <a:pt x="2066518" y="140529"/>
                </a:lnTo>
                <a:lnTo>
                  <a:pt x="2020037" y="122126"/>
                </a:lnTo>
                <a:lnTo>
                  <a:pt x="1972168" y="104873"/>
                </a:lnTo>
                <a:lnTo>
                  <a:pt x="1922971" y="88806"/>
                </a:lnTo>
                <a:lnTo>
                  <a:pt x="1872503" y="73959"/>
                </a:lnTo>
                <a:lnTo>
                  <a:pt x="1820822" y="60364"/>
                </a:lnTo>
                <a:lnTo>
                  <a:pt x="1767986" y="48057"/>
                </a:lnTo>
                <a:lnTo>
                  <a:pt x="1714052" y="37070"/>
                </a:lnTo>
                <a:lnTo>
                  <a:pt x="1659078" y="27439"/>
                </a:lnTo>
                <a:lnTo>
                  <a:pt x="1603122" y="19196"/>
                </a:lnTo>
                <a:lnTo>
                  <a:pt x="1546243" y="12375"/>
                </a:lnTo>
                <a:lnTo>
                  <a:pt x="1488497" y="7012"/>
                </a:lnTo>
                <a:lnTo>
                  <a:pt x="1429942" y="3139"/>
                </a:lnTo>
                <a:lnTo>
                  <a:pt x="1370637" y="790"/>
                </a:lnTo>
                <a:lnTo>
                  <a:pt x="1310640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820782" y="1589988"/>
            <a:ext cx="1282065" cy="837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1780" marR="5080" lvl="0" indent="-259079" algn="l" defTabSz="914400" rtl="0" eaLnBrk="1" fontAlgn="auto" latinLnBrk="0" hangingPunct="1">
              <a:lnSpc>
                <a:spcPct val="1004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50" b="0" i="0" u="none" strike="noStrike" kern="1200" cap="none" spc="-5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</a:t>
            </a:r>
            <a:r>
              <a:rPr kumimoji="0" sz="2650" b="0" i="0" u="none" strike="noStrike" kern="1200" cap="none" spc="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</a:t>
            </a:r>
            <a:r>
              <a:rPr kumimoji="0" sz="2650" b="0" i="0" u="none" strike="noStrike" kern="120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</a:t>
            </a:r>
            <a:r>
              <a:rPr kumimoji="0" sz="2650" b="0" i="0" u="none" strike="noStrike" kern="1200" cap="none" spc="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</a:t>
            </a:r>
            <a:r>
              <a:rPr kumimoji="0" sz="26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</a:t>
            </a:r>
            <a:r>
              <a:rPr kumimoji="0" sz="2650" b="0" i="0" u="none" strike="noStrike" kern="120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</a:t>
            </a:r>
            <a:r>
              <a:rPr kumimoji="0" sz="2650" b="0" i="0" u="none" strike="noStrike" kern="1200" cap="none" spc="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ce  </a:t>
            </a:r>
            <a:r>
              <a:rPr kumimoji="0" sz="26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Block</a:t>
            </a:r>
            <a:endParaRPr kumimoji="0" sz="26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513064" y="2993135"/>
            <a:ext cx="3606165" cy="664845"/>
          </a:xfrm>
          <a:custGeom>
            <a:avLst/>
            <a:gdLst/>
            <a:ahLst/>
            <a:cxnLst/>
            <a:rect l="l" t="t" r="r" b="b"/>
            <a:pathLst>
              <a:path w="3606165" h="664845">
                <a:moveTo>
                  <a:pt x="3605783" y="0"/>
                </a:moveTo>
                <a:lnTo>
                  <a:pt x="0" y="0"/>
                </a:lnTo>
                <a:lnTo>
                  <a:pt x="0" y="664463"/>
                </a:lnTo>
                <a:lnTo>
                  <a:pt x="3605783" y="664463"/>
                </a:lnTo>
                <a:lnTo>
                  <a:pt x="3605783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636254" y="3013659"/>
            <a:ext cx="3359785" cy="5949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Each</a:t>
            </a:r>
            <a:r>
              <a:rPr kumimoji="0" sz="1850" b="0" i="0" u="none" strike="noStrike" kern="120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Resource</a:t>
            </a:r>
            <a:r>
              <a:rPr kumimoji="0" sz="1850" b="0" i="0" u="none" strike="noStrike" kern="120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Block</a:t>
            </a:r>
            <a:r>
              <a:rPr kumimoji="0" sz="185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describes</a:t>
            </a:r>
            <a:r>
              <a:rPr kumimoji="0" sz="1850" b="0" i="0" u="none" strike="noStrike" kern="1200" cap="none" spc="-7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one</a:t>
            </a:r>
            <a:endParaRPr kumimoji="0" sz="1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5080" marR="0" lvl="0" indent="0" algn="ctr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50" b="0" i="0" u="none" strike="noStrike" kern="1200" cap="none" spc="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</a:t>
            </a:r>
            <a:r>
              <a:rPr kumimoji="0" sz="185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more</a:t>
            </a:r>
            <a:r>
              <a:rPr kumimoji="0" sz="1850" b="0" i="0" u="none" strike="noStrike" kern="120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Infrastructure</a:t>
            </a:r>
            <a:r>
              <a:rPr kumimoji="0" sz="1850" b="0" i="0" u="none" strike="noStrike" kern="120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Objects</a:t>
            </a:r>
            <a:endParaRPr kumimoji="0" sz="1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513064" y="3867911"/>
            <a:ext cx="3606165" cy="695325"/>
          </a:xfrm>
          <a:custGeom>
            <a:avLst/>
            <a:gdLst/>
            <a:ahLst/>
            <a:cxnLst/>
            <a:rect l="l" t="t" r="r" b="b"/>
            <a:pathLst>
              <a:path w="3606165" h="695325">
                <a:moveTo>
                  <a:pt x="3605783" y="0"/>
                </a:moveTo>
                <a:lnTo>
                  <a:pt x="0" y="0"/>
                </a:lnTo>
                <a:lnTo>
                  <a:pt x="0" y="694944"/>
                </a:lnTo>
                <a:lnTo>
                  <a:pt x="3605783" y="694944"/>
                </a:lnTo>
                <a:lnTo>
                  <a:pt x="3605783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002394" y="3904310"/>
            <a:ext cx="2626995" cy="5949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5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Resource</a:t>
            </a:r>
            <a:r>
              <a:rPr kumimoji="0" sz="1850" b="0" i="0" u="none" strike="noStrike" kern="1200" cap="none" spc="-9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-1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Syntax:</a:t>
            </a:r>
            <a:endParaRPr kumimoji="0" sz="1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50" b="0" i="0" u="none" strike="noStrike" kern="1200" cap="none" spc="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How</a:t>
            </a:r>
            <a:r>
              <a:rPr kumimoji="0" sz="1850" b="0" i="0" u="none" strike="noStrike" kern="120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sz="18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declare</a:t>
            </a:r>
            <a:r>
              <a:rPr kumimoji="0" sz="1850" b="0" i="0" u="none" strike="noStrike" kern="120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Resources?</a:t>
            </a:r>
            <a:endParaRPr kumimoji="0" sz="1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513064" y="4776215"/>
            <a:ext cx="3606165" cy="692150"/>
          </a:xfrm>
          <a:custGeom>
            <a:avLst/>
            <a:gdLst/>
            <a:ahLst/>
            <a:cxnLst/>
            <a:rect l="l" t="t" r="r" b="b"/>
            <a:pathLst>
              <a:path w="3606165" h="692150">
                <a:moveTo>
                  <a:pt x="3605783" y="0"/>
                </a:moveTo>
                <a:lnTo>
                  <a:pt x="0" y="0"/>
                </a:lnTo>
                <a:lnTo>
                  <a:pt x="0" y="691895"/>
                </a:lnTo>
                <a:lnTo>
                  <a:pt x="3605783" y="691895"/>
                </a:lnTo>
                <a:lnTo>
                  <a:pt x="3605783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633206" y="4812284"/>
            <a:ext cx="3370579" cy="59436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5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Resource</a:t>
            </a:r>
            <a:r>
              <a:rPr kumimoji="0" sz="1850" b="0" i="0" u="none" strike="noStrike" kern="1200" cap="none" spc="-6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Behavior:</a:t>
            </a:r>
            <a:r>
              <a:rPr kumimoji="0" sz="1850" b="0" i="0" u="none" strike="noStrike" kern="1200" cap="none" spc="-1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How</a:t>
            </a:r>
            <a:r>
              <a:rPr kumimoji="0" sz="1850" b="0" i="0" u="none" strike="noStrike" kern="120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Terraform</a:t>
            </a:r>
            <a:endParaRPr kumimoji="0" sz="1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5715" marR="0" lvl="0" indent="0" algn="ctr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50" b="0" i="0" u="none" strike="noStrike" kern="1200" cap="none" spc="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handles</a:t>
            </a:r>
            <a:r>
              <a:rPr kumimoji="0" sz="1850" b="0" i="0" u="none" strike="noStrike" kern="120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resource</a:t>
            </a:r>
            <a:r>
              <a:rPr kumimoji="0" sz="1850" b="0" i="0" u="none" strike="noStrike" kern="1200" cap="none" spc="-5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declarations?</a:t>
            </a:r>
            <a:endParaRPr kumimoji="0" sz="1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513064" y="5635752"/>
            <a:ext cx="3606165" cy="692150"/>
          </a:xfrm>
          <a:custGeom>
            <a:avLst/>
            <a:gdLst/>
            <a:ahLst/>
            <a:cxnLst/>
            <a:rect l="l" t="t" r="r" b="b"/>
            <a:pathLst>
              <a:path w="3606165" h="692150">
                <a:moveTo>
                  <a:pt x="3605783" y="0"/>
                </a:moveTo>
                <a:lnTo>
                  <a:pt x="0" y="0"/>
                </a:lnTo>
                <a:lnTo>
                  <a:pt x="0" y="691896"/>
                </a:lnTo>
                <a:lnTo>
                  <a:pt x="3605783" y="691896"/>
                </a:lnTo>
                <a:lnTo>
                  <a:pt x="3605783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715502" y="5651093"/>
            <a:ext cx="3205480" cy="6343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lvl="0" indent="2540" algn="l" defTabSz="914400" rtl="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Provisioners:</a:t>
            </a:r>
            <a:r>
              <a:rPr kumimoji="0" sz="2000" b="0" i="0" u="none" strike="noStrike" kern="1200" cap="none" spc="45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</a:t>
            </a:r>
            <a:r>
              <a:rPr kumimoji="0" sz="2000" b="0" i="0" u="none" strike="noStrike" kern="1200" cap="none" spc="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can</a:t>
            </a:r>
            <a:r>
              <a:rPr kumimoji="0" sz="2000" b="0" i="0" u="none" strike="noStrike" kern="1200" cap="none" spc="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configure </a:t>
            </a:r>
            <a:r>
              <a:rPr kumimoji="0" sz="2000" b="0" i="0" u="none" strike="noStrike" kern="1200" cap="none" spc="-4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Resource</a:t>
            </a:r>
            <a:r>
              <a:rPr kumimoji="0" sz="2000" b="0" i="0" u="none" strike="noStrike" kern="1200" cap="none" spc="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post-creation</a:t>
            </a:r>
            <a:r>
              <a:rPr kumimoji="0" sz="200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actions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53390" y="6578502"/>
            <a:ext cx="1781175" cy="17526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Sans Serif"/>
                <a:ea typeface="+mn-ea"/>
                <a:cs typeface="Microsoft Sans Serif"/>
                <a:hlinkClick r:id="rId2"/>
              </a:rPr>
              <a:t>www.apexgloballearning.com</a:t>
            </a:r>
            <a:endParaRPr kumimoji="0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Sans Serif"/>
              <a:ea typeface="+mn-ea"/>
              <a:cs typeface="Microsoft Sans Serif"/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EC52F7D-3F54-BC37-B5FB-7ED92796B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CHAITANYA TRAINING AND CONSULTANCY</a:t>
            </a:r>
            <a:endParaRPr lang="en-IN" spc="-10" dirty="0"/>
          </a:p>
        </p:txBody>
      </p:sp>
      <p:sp>
        <p:nvSpPr>
          <p:cNvPr id="34" name="Slide Number Placeholder 33">
            <a:extLst>
              <a:ext uri="{FF2B5EF4-FFF2-40B4-BE49-F238E27FC236}">
                <a16:creationId xmlns:a16="http://schemas.microsoft.com/office/drawing/2014/main" id="{29CC4720-7BB0-8524-EEC6-FF431C21C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3</a:t>
            </a:fld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7998"/>
                </a:lnTo>
                <a:lnTo>
                  <a:pt x="12192000" y="6857998"/>
                </a:lnTo>
                <a:lnTo>
                  <a:pt x="12192000" y="0"/>
                </a:lnTo>
                <a:close/>
              </a:path>
            </a:pathLst>
          </a:custGeom>
          <a:solidFill>
            <a:srgbClr val="17569A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12192000" cy="299085"/>
            <a:chOff x="0" y="0"/>
            <a:chExt cx="12192000" cy="299085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4038600" cy="299085"/>
            </a:xfrm>
            <a:custGeom>
              <a:avLst/>
              <a:gdLst/>
              <a:ahLst/>
              <a:cxnLst/>
              <a:rect l="l" t="t" r="r" b="b"/>
              <a:pathLst>
                <a:path w="4038600" h="299085">
                  <a:moveTo>
                    <a:pt x="4038600" y="0"/>
                  </a:moveTo>
                  <a:lnTo>
                    <a:pt x="0" y="0"/>
                  </a:lnTo>
                  <a:lnTo>
                    <a:pt x="0" y="298703"/>
                  </a:lnTo>
                  <a:lnTo>
                    <a:pt x="4038600" y="298703"/>
                  </a:lnTo>
                  <a:lnTo>
                    <a:pt x="4038600" y="0"/>
                  </a:lnTo>
                  <a:close/>
                </a:path>
              </a:pathLst>
            </a:custGeom>
            <a:solidFill>
              <a:srgbClr val="426FB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4038600" y="0"/>
              <a:ext cx="4114800" cy="299085"/>
            </a:xfrm>
            <a:custGeom>
              <a:avLst/>
              <a:gdLst/>
              <a:ahLst/>
              <a:cxnLst/>
              <a:rect l="l" t="t" r="r" b="b"/>
              <a:pathLst>
                <a:path w="4114800" h="299085">
                  <a:moveTo>
                    <a:pt x="4114800" y="0"/>
                  </a:moveTo>
                  <a:lnTo>
                    <a:pt x="0" y="0"/>
                  </a:lnTo>
                  <a:lnTo>
                    <a:pt x="0" y="298703"/>
                  </a:lnTo>
                  <a:lnTo>
                    <a:pt x="4114800" y="298703"/>
                  </a:lnTo>
                  <a:lnTo>
                    <a:pt x="4114800" y="0"/>
                  </a:lnTo>
                  <a:close/>
                </a:path>
              </a:pathLst>
            </a:custGeom>
            <a:solidFill>
              <a:srgbClr val="175FAB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8153400" y="0"/>
              <a:ext cx="4038600" cy="299085"/>
            </a:xfrm>
            <a:custGeom>
              <a:avLst/>
              <a:gdLst/>
              <a:ahLst/>
              <a:cxnLst/>
              <a:rect l="l" t="t" r="r" b="b"/>
              <a:pathLst>
                <a:path w="4038600" h="299085">
                  <a:moveTo>
                    <a:pt x="4038600" y="0"/>
                  </a:moveTo>
                  <a:lnTo>
                    <a:pt x="0" y="0"/>
                  </a:lnTo>
                  <a:lnTo>
                    <a:pt x="0" y="298703"/>
                  </a:lnTo>
                  <a:lnTo>
                    <a:pt x="4038600" y="298703"/>
                  </a:lnTo>
                  <a:lnTo>
                    <a:pt x="4038600" y="0"/>
                  </a:lnTo>
                  <a:close/>
                </a:path>
              </a:pathLst>
            </a:custGeom>
            <a:solidFill>
              <a:srgbClr val="124A86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0" y="6568439"/>
            <a:ext cx="12192000" cy="289560"/>
            <a:chOff x="0" y="6568439"/>
            <a:chExt cx="12192000" cy="289560"/>
          </a:xfrm>
        </p:grpSpPr>
        <p:sp>
          <p:nvSpPr>
            <p:cNvPr id="9" name="object 9"/>
            <p:cNvSpPr/>
            <p:nvPr/>
          </p:nvSpPr>
          <p:spPr>
            <a:xfrm>
              <a:off x="8153400" y="6568439"/>
              <a:ext cx="4038600" cy="289560"/>
            </a:xfrm>
            <a:custGeom>
              <a:avLst/>
              <a:gdLst/>
              <a:ahLst/>
              <a:cxnLst/>
              <a:rect l="l" t="t" r="r" b="b"/>
              <a:pathLst>
                <a:path w="4038600" h="289559">
                  <a:moveTo>
                    <a:pt x="4038599" y="0"/>
                  </a:moveTo>
                  <a:lnTo>
                    <a:pt x="0" y="0"/>
                  </a:lnTo>
                  <a:lnTo>
                    <a:pt x="0" y="289558"/>
                  </a:lnTo>
                  <a:lnTo>
                    <a:pt x="4038599" y="289558"/>
                  </a:lnTo>
                  <a:lnTo>
                    <a:pt x="4038599" y="0"/>
                  </a:lnTo>
                  <a:close/>
                </a:path>
              </a:pathLst>
            </a:custGeom>
            <a:solidFill>
              <a:srgbClr val="4370A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4038600" y="6568439"/>
              <a:ext cx="4114800" cy="289560"/>
            </a:xfrm>
            <a:custGeom>
              <a:avLst/>
              <a:gdLst/>
              <a:ahLst/>
              <a:cxnLst/>
              <a:rect l="l" t="t" r="r" b="b"/>
              <a:pathLst>
                <a:path w="4114800" h="289559">
                  <a:moveTo>
                    <a:pt x="4114800" y="0"/>
                  </a:moveTo>
                  <a:lnTo>
                    <a:pt x="0" y="0"/>
                  </a:lnTo>
                  <a:lnTo>
                    <a:pt x="0" y="289558"/>
                  </a:lnTo>
                  <a:lnTo>
                    <a:pt x="4114800" y="289558"/>
                  </a:lnTo>
                  <a:lnTo>
                    <a:pt x="4114800" y="0"/>
                  </a:lnTo>
                  <a:close/>
                </a:path>
              </a:pathLst>
            </a:custGeom>
            <a:solidFill>
              <a:srgbClr val="1C60A8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6568439"/>
              <a:ext cx="4038600" cy="289560"/>
            </a:xfrm>
            <a:custGeom>
              <a:avLst/>
              <a:gdLst/>
              <a:ahLst/>
              <a:cxnLst/>
              <a:rect l="l" t="t" r="r" b="b"/>
              <a:pathLst>
                <a:path w="4038600" h="289559">
                  <a:moveTo>
                    <a:pt x="4038600" y="0"/>
                  </a:moveTo>
                  <a:lnTo>
                    <a:pt x="0" y="0"/>
                  </a:lnTo>
                  <a:lnTo>
                    <a:pt x="0" y="289558"/>
                  </a:lnTo>
                  <a:lnTo>
                    <a:pt x="4038600" y="289558"/>
                  </a:lnTo>
                  <a:lnTo>
                    <a:pt x="4038600" y="0"/>
                  </a:lnTo>
                  <a:close/>
                </a:path>
              </a:pathLst>
            </a:custGeom>
            <a:solidFill>
              <a:srgbClr val="164D8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07864" y="1124711"/>
            <a:ext cx="2176272" cy="2176272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4559553" y="3518357"/>
            <a:ext cx="3671570" cy="6769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250" spc="-25" dirty="0">
                <a:solidFill>
                  <a:srgbClr val="FFFFFF"/>
                </a:solidFill>
              </a:rPr>
              <a:t>Terraform</a:t>
            </a:r>
            <a:r>
              <a:rPr sz="4250" spc="-5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Block</a:t>
            </a:r>
            <a:endParaRPr sz="28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FBA944-45E7-28CE-9603-FFA2F148D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CHAITANYA TRAINING AND CONSULTANCY</a:t>
            </a:r>
            <a:endParaRPr lang="en-IN" spc="-10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98A6D02-FE8D-2604-E060-F969587D4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4</a:t>
            </a:fld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6082" y="453644"/>
            <a:ext cx="3659504" cy="596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35" dirty="0"/>
              <a:t>Terraform</a:t>
            </a:r>
            <a:r>
              <a:rPr spc="-95" dirty="0"/>
              <a:t> </a:t>
            </a:r>
            <a:r>
              <a:rPr spc="-10" dirty="0"/>
              <a:t>Block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7672" y="2072081"/>
            <a:ext cx="9932035" cy="18522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175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Pct val="76190"/>
              <a:buFont typeface="Microsoft Sans Serif"/>
              <a:buChar char="•"/>
              <a:tabLst>
                <a:tab pos="316865" algn="l"/>
                <a:tab pos="317500" algn="l"/>
              </a:tabLst>
              <a:defRPr/>
            </a:pP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Each</a:t>
            </a:r>
            <a:r>
              <a:rPr kumimoji="0" sz="21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terraform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block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can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contain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a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number</a:t>
            </a:r>
            <a:r>
              <a:rPr kumimoji="0" sz="21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sz="21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settings</a:t>
            </a:r>
            <a:r>
              <a:rPr kumimoji="0" sz="21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related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Terraform's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behavior.</a:t>
            </a:r>
            <a:endParaRPr kumimoji="0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icrosoft Sans Serif"/>
              <a:buChar char="•"/>
              <a:tabLst/>
              <a:defRPr/>
            </a:pPr>
            <a:endParaRPr kumimoji="0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 typeface="Microsoft Sans Serif"/>
              <a:buChar char="•"/>
              <a:tabLst/>
              <a:defRPr/>
            </a:pPr>
            <a:endParaRPr kumimoji="0" sz="1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17500" marR="5080" lvl="0" indent="-304800" algn="l" defTabSz="914400" rtl="0" eaLnBrk="1" fontAlgn="auto" latinLnBrk="0" hangingPunct="1">
              <a:lnSpc>
                <a:spcPct val="91500"/>
              </a:lnSpc>
              <a:spcBef>
                <a:spcPts val="5"/>
              </a:spcBef>
              <a:spcAft>
                <a:spcPts val="0"/>
              </a:spcAft>
              <a:buClrTx/>
              <a:buSzPct val="76190"/>
              <a:buFont typeface="Microsoft Sans Serif"/>
              <a:buChar char="•"/>
              <a:tabLst>
                <a:tab pos="316865" algn="l"/>
                <a:tab pos="317500" algn="l"/>
              </a:tabLst>
              <a:defRPr/>
            </a:pP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Within</a:t>
            </a:r>
            <a:r>
              <a:rPr kumimoji="0" sz="2100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sz="21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terraform</a:t>
            </a:r>
            <a:r>
              <a:rPr kumimoji="0" sz="21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block,</a:t>
            </a:r>
            <a:r>
              <a:rPr kumimoji="0" sz="21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only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constant</a:t>
            </a:r>
            <a:r>
              <a:rPr kumimoji="0" sz="21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values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can</a:t>
            </a:r>
            <a:r>
              <a:rPr kumimoji="0" sz="21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used;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arguments</a:t>
            </a:r>
            <a:r>
              <a:rPr kumimoji="0" sz="21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may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not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refer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sz="2100" b="0" i="0" u="none" strike="noStrike" kern="1200" cap="none" spc="-45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named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objects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such as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resources,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input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variables, etc,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may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not use 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any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Terraform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language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built-in</a:t>
            </a:r>
            <a:r>
              <a:rPr kumimoji="0" sz="2100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functions.</a:t>
            </a:r>
            <a:endParaRPr kumimoji="0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7CFCC5-395E-1C6E-4B90-179AB3E78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CHAITANYA TRAINING AND CONSULTANCY</a:t>
            </a:r>
            <a:endParaRPr lang="en-IN" spc="-1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4D30D6-1A23-E9DA-C8EB-6A7FD03C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5</a:t>
            </a:fld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6082" y="453644"/>
            <a:ext cx="7975600" cy="596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35" dirty="0"/>
              <a:t>Terraform </a:t>
            </a:r>
            <a:r>
              <a:rPr spc="-10" dirty="0"/>
              <a:t>Block</a:t>
            </a:r>
            <a:r>
              <a:rPr spc="-110" dirty="0"/>
              <a:t> </a:t>
            </a:r>
            <a:r>
              <a:rPr spc="-5" dirty="0"/>
              <a:t>from</a:t>
            </a:r>
            <a:r>
              <a:rPr spc="-40" dirty="0"/>
              <a:t> </a:t>
            </a:r>
            <a:r>
              <a:rPr spc="-5" dirty="0"/>
              <a:t>0.13</a:t>
            </a:r>
            <a:r>
              <a:rPr spc="-40" dirty="0"/>
              <a:t> </a:t>
            </a:r>
            <a:r>
              <a:rPr spc="-5" dirty="0"/>
              <a:t>onwards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7630" y="1364822"/>
            <a:ext cx="4247705" cy="401410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7046462" y="1273890"/>
            <a:ext cx="3329304" cy="5023485"/>
            <a:chOff x="7046462" y="1273890"/>
            <a:chExt cx="3329304" cy="502348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46462" y="1273890"/>
              <a:ext cx="3298449" cy="502327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085076" y="1757172"/>
              <a:ext cx="3261360" cy="2014855"/>
            </a:xfrm>
            <a:custGeom>
              <a:avLst/>
              <a:gdLst/>
              <a:ahLst/>
              <a:cxnLst/>
              <a:rect l="l" t="t" r="r" b="b"/>
              <a:pathLst>
                <a:path w="3261359" h="2014854">
                  <a:moveTo>
                    <a:pt x="0" y="2014727"/>
                  </a:moveTo>
                  <a:lnTo>
                    <a:pt x="3261360" y="2014727"/>
                  </a:lnTo>
                  <a:lnTo>
                    <a:pt x="3261360" y="0"/>
                  </a:lnTo>
                  <a:lnTo>
                    <a:pt x="0" y="0"/>
                  </a:lnTo>
                  <a:lnTo>
                    <a:pt x="0" y="2014727"/>
                  </a:lnTo>
                  <a:close/>
                </a:path>
              </a:pathLst>
            </a:custGeom>
            <a:ln w="57912">
              <a:solidFill>
                <a:srgbClr val="00AF5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" name="object 7"/>
          <p:cNvSpPr/>
          <p:nvPr/>
        </p:nvSpPr>
        <p:spPr>
          <a:xfrm>
            <a:off x="6289547" y="1217675"/>
            <a:ext cx="0" cy="4808855"/>
          </a:xfrm>
          <a:custGeom>
            <a:avLst/>
            <a:gdLst/>
            <a:ahLst/>
            <a:cxnLst/>
            <a:rect l="l" t="t" r="r" b="b"/>
            <a:pathLst>
              <a:path h="4808855">
                <a:moveTo>
                  <a:pt x="0" y="0"/>
                </a:moveTo>
                <a:lnTo>
                  <a:pt x="0" y="4808474"/>
                </a:lnTo>
              </a:path>
            </a:pathLst>
          </a:custGeom>
          <a:ln w="640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33BEE8-BB80-B987-CFF0-56F01B48E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CHAITANYA TRAINING AND CONSULTANCY</a:t>
            </a:r>
            <a:endParaRPr lang="en-IN" spc="-1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8B7DE2-CC0D-86AE-238A-F309166D0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6</a:t>
            </a:fld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922520" y="469391"/>
            <a:ext cx="6998334" cy="5352415"/>
            <a:chOff x="4922520" y="469391"/>
            <a:chExt cx="6998334" cy="53524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22520" y="819911"/>
              <a:ext cx="5867400" cy="500176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105400" y="816863"/>
              <a:ext cx="5590540" cy="4505325"/>
            </a:xfrm>
            <a:custGeom>
              <a:avLst/>
              <a:gdLst/>
              <a:ahLst/>
              <a:cxnLst/>
              <a:rect l="l" t="t" r="r" b="b"/>
              <a:pathLst>
                <a:path w="5590540" h="4505325">
                  <a:moveTo>
                    <a:pt x="0" y="484631"/>
                  </a:moveTo>
                  <a:lnTo>
                    <a:pt x="2913888" y="484631"/>
                  </a:lnTo>
                  <a:lnTo>
                    <a:pt x="2913888" y="0"/>
                  </a:lnTo>
                  <a:lnTo>
                    <a:pt x="0" y="0"/>
                  </a:lnTo>
                  <a:lnTo>
                    <a:pt x="0" y="484631"/>
                  </a:lnTo>
                  <a:close/>
                </a:path>
                <a:path w="5590540" h="4505325">
                  <a:moveTo>
                    <a:pt x="0" y="2014727"/>
                  </a:moveTo>
                  <a:lnTo>
                    <a:pt x="4535424" y="2014727"/>
                  </a:lnTo>
                  <a:lnTo>
                    <a:pt x="4535424" y="484631"/>
                  </a:lnTo>
                  <a:lnTo>
                    <a:pt x="0" y="484631"/>
                  </a:lnTo>
                  <a:lnTo>
                    <a:pt x="0" y="2014727"/>
                  </a:lnTo>
                  <a:close/>
                </a:path>
                <a:path w="5590540" h="4505325">
                  <a:moveTo>
                    <a:pt x="12191" y="3614928"/>
                  </a:moveTo>
                  <a:lnTo>
                    <a:pt x="4907280" y="3614928"/>
                  </a:lnTo>
                  <a:lnTo>
                    <a:pt x="4907280" y="2008631"/>
                  </a:lnTo>
                  <a:lnTo>
                    <a:pt x="12191" y="2008631"/>
                  </a:lnTo>
                  <a:lnTo>
                    <a:pt x="12191" y="3614928"/>
                  </a:lnTo>
                  <a:close/>
                </a:path>
                <a:path w="5590540" h="4505325">
                  <a:moveTo>
                    <a:pt x="0" y="4504944"/>
                  </a:moveTo>
                  <a:lnTo>
                    <a:pt x="5590032" y="4504944"/>
                  </a:lnTo>
                  <a:lnTo>
                    <a:pt x="5590032" y="3614928"/>
                  </a:lnTo>
                  <a:lnTo>
                    <a:pt x="0" y="3614928"/>
                  </a:lnTo>
                  <a:lnTo>
                    <a:pt x="0" y="4504944"/>
                  </a:lnTo>
                  <a:close/>
                </a:path>
              </a:pathLst>
            </a:custGeom>
            <a:ln w="3048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15671" y="150748"/>
            <a:ext cx="1320165" cy="596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750" b="1" i="0" u="none" strike="noStrike" kern="1200" cap="none" spc="-5" normalizeH="0" baseline="0" noProof="0" dirty="0">
                <a:ln>
                  <a:noFill/>
                </a:ln>
                <a:solidFill>
                  <a:srgbClr val="17569A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Block</a:t>
            </a:r>
            <a:endParaRPr kumimoji="0" sz="3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30096" y="1060703"/>
            <a:ext cx="3255645" cy="475615"/>
          </a:xfrm>
          <a:prstGeom prst="rect">
            <a:avLst/>
          </a:prstGeom>
          <a:solidFill>
            <a:srgbClr val="00AF50"/>
          </a:solidFill>
        </p:spPr>
        <p:txBody>
          <a:bodyPr vert="horz" wrap="square" lIns="0" tIns="69215" rIns="0" bIns="0" rtlCol="0">
            <a:spAutoFit/>
          </a:bodyPr>
          <a:lstStyle/>
          <a:p>
            <a:pPr marL="210185" marR="0" lvl="0" indent="0" algn="l" defTabSz="914400" rtl="0" eaLnBrk="1" fontAlgn="auto" latinLnBrk="0" hangingPunct="1">
              <a:lnSpc>
                <a:spcPct val="100000"/>
              </a:lnSpc>
              <a:spcBef>
                <a:spcPts val="5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Required</a:t>
            </a:r>
            <a:r>
              <a:rPr kumimoji="0" sz="2000" b="0" i="0" u="none" strike="noStrike" kern="1200" cap="none" spc="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Terraform</a:t>
            </a:r>
            <a:r>
              <a:rPr kumimoji="0" sz="200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Version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42288" y="1987295"/>
            <a:ext cx="3255645" cy="475615"/>
          </a:xfrm>
          <a:prstGeom prst="rect">
            <a:avLst/>
          </a:prstGeom>
          <a:solidFill>
            <a:srgbClr val="00AF50"/>
          </a:solidFill>
        </p:spPr>
        <p:txBody>
          <a:bodyPr vert="horz" wrap="square" lIns="0" tIns="69850" rIns="0" bIns="0" rtlCol="0">
            <a:spAutoFit/>
          </a:bodyPr>
          <a:lstStyle/>
          <a:p>
            <a:pPr marL="444500" marR="0" lvl="0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Provider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Requirements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42288" y="2859023"/>
            <a:ext cx="3255645" cy="533400"/>
          </a:xfrm>
          <a:custGeom>
            <a:avLst/>
            <a:gdLst/>
            <a:ahLst/>
            <a:cxnLst/>
            <a:rect l="l" t="t" r="r" b="b"/>
            <a:pathLst>
              <a:path w="3255645" h="533400">
                <a:moveTo>
                  <a:pt x="3255264" y="0"/>
                </a:moveTo>
                <a:lnTo>
                  <a:pt x="0" y="0"/>
                </a:lnTo>
                <a:lnTo>
                  <a:pt x="0" y="533400"/>
                </a:lnTo>
                <a:lnTo>
                  <a:pt x="3255264" y="533400"/>
                </a:lnTo>
                <a:lnTo>
                  <a:pt x="3255264" y="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84907" y="2946349"/>
            <a:ext cx="196532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Terraform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Backend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42288" y="3752088"/>
            <a:ext cx="3255645" cy="54610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20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Experimental</a:t>
            </a:r>
            <a:r>
              <a:rPr kumimoji="0" sz="200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Language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" marR="0" lvl="0" indent="0" algn="ctr" defTabSz="914400" rtl="0" eaLnBrk="1" fontAlgn="auto" latinLnBrk="0" hangingPunct="1">
              <a:lnSpc>
                <a:spcPts val="22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Features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72767" y="4925567"/>
            <a:ext cx="3255645" cy="53340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0" rIns="0" bIns="0" rtlCol="0">
            <a:spAutoFit/>
          </a:bodyPr>
          <a:lstStyle/>
          <a:p>
            <a:pPr marL="2540" marR="0" lvl="0" indent="0" algn="ctr" defTabSz="914400" rtl="0" eaLnBrk="1" fontAlgn="auto" latinLnBrk="0" hangingPunct="1">
              <a:lnSpc>
                <a:spcPts val="198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Passing</a:t>
            </a:r>
            <a:r>
              <a:rPr kumimoji="0" sz="2000" b="0" i="0" u="none" strike="noStrike" kern="1200" cap="none" spc="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Metadata</a:t>
            </a:r>
            <a:r>
              <a:rPr kumimoji="0" sz="2000" b="0" i="0" u="none" strike="noStrike" kern="1200" cap="none" spc="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810" marR="0" lvl="0" indent="0" algn="ctr" defTabSz="914400" rtl="0" eaLnBrk="1" fontAlgn="auto" latinLnBrk="0" hangingPunct="1"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Providers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2868167"/>
            <a:ext cx="1304925" cy="561340"/>
          </a:xfrm>
          <a:custGeom>
            <a:avLst/>
            <a:gdLst/>
            <a:ahLst/>
            <a:cxnLst/>
            <a:rect l="l" t="t" r="r" b="b"/>
            <a:pathLst>
              <a:path w="1304925" h="561339">
                <a:moveTo>
                  <a:pt x="1304544" y="0"/>
                </a:moveTo>
                <a:lnTo>
                  <a:pt x="0" y="0"/>
                </a:lnTo>
                <a:lnTo>
                  <a:pt x="0" y="560831"/>
                </a:lnTo>
                <a:lnTo>
                  <a:pt x="1304544" y="560831"/>
                </a:lnTo>
                <a:lnTo>
                  <a:pt x="1304544" y="0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3908" y="2817113"/>
            <a:ext cx="1038225" cy="6343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Terraform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Block</a:t>
            </a:r>
            <a:endParaRPr kumimoji="0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89661" y="1237487"/>
            <a:ext cx="1146175" cy="3954779"/>
          </a:xfrm>
          <a:custGeom>
            <a:avLst/>
            <a:gdLst/>
            <a:ahLst/>
            <a:cxnLst/>
            <a:rect l="l" t="t" r="r" b="b"/>
            <a:pathLst>
              <a:path w="1146175" h="3954779">
                <a:moveTo>
                  <a:pt x="853694" y="0"/>
                </a:moveTo>
                <a:lnTo>
                  <a:pt x="784606" y="49784"/>
                </a:lnTo>
                <a:lnTo>
                  <a:pt x="807516" y="61836"/>
                </a:lnTo>
                <a:lnTo>
                  <a:pt x="0" y="1603629"/>
                </a:lnTo>
                <a:lnTo>
                  <a:pt x="14516" y="1611236"/>
                </a:lnTo>
                <a:lnTo>
                  <a:pt x="12750" y="1612519"/>
                </a:lnTo>
                <a:lnTo>
                  <a:pt x="27127" y="1632204"/>
                </a:lnTo>
                <a:lnTo>
                  <a:pt x="798055" y="1069746"/>
                </a:lnTo>
                <a:lnTo>
                  <a:pt x="813308" y="1090676"/>
                </a:lnTo>
                <a:lnTo>
                  <a:pt x="838174" y="1042543"/>
                </a:lnTo>
                <a:lnTo>
                  <a:pt x="852424" y="1014984"/>
                </a:lnTo>
                <a:lnTo>
                  <a:pt x="768477" y="1029081"/>
                </a:lnTo>
                <a:lnTo>
                  <a:pt x="783729" y="1050048"/>
                </a:lnTo>
                <a:lnTo>
                  <a:pt x="29095" y="1600593"/>
                </a:lnTo>
                <a:lnTo>
                  <a:pt x="829094" y="73164"/>
                </a:lnTo>
                <a:lnTo>
                  <a:pt x="852043" y="85217"/>
                </a:lnTo>
                <a:lnTo>
                  <a:pt x="852703" y="50546"/>
                </a:lnTo>
                <a:lnTo>
                  <a:pt x="853694" y="0"/>
                </a:lnTo>
                <a:close/>
              </a:path>
              <a:path w="1146175" h="3954779">
                <a:moveTo>
                  <a:pt x="958938" y="3881170"/>
                </a:moveTo>
                <a:lnTo>
                  <a:pt x="95554" y="2228316"/>
                </a:lnTo>
                <a:lnTo>
                  <a:pt x="881735" y="2755176"/>
                </a:lnTo>
                <a:lnTo>
                  <a:pt x="867283" y="2776728"/>
                </a:lnTo>
                <a:lnTo>
                  <a:pt x="951865" y="2787523"/>
                </a:lnTo>
                <a:lnTo>
                  <a:pt x="937463" y="2762250"/>
                </a:lnTo>
                <a:lnTo>
                  <a:pt x="909701" y="2713482"/>
                </a:lnTo>
                <a:lnTo>
                  <a:pt x="895286" y="2734957"/>
                </a:lnTo>
                <a:lnTo>
                  <a:pt x="69392" y="2181352"/>
                </a:lnTo>
                <a:lnTo>
                  <a:pt x="62598" y="2191524"/>
                </a:lnTo>
                <a:lnTo>
                  <a:pt x="51803" y="2197100"/>
                </a:lnTo>
                <a:lnTo>
                  <a:pt x="937323" y="3892423"/>
                </a:lnTo>
                <a:lnTo>
                  <a:pt x="958938" y="3881170"/>
                </a:lnTo>
                <a:close/>
              </a:path>
              <a:path w="1146175" h="3954779">
                <a:moveTo>
                  <a:pt x="983361" y="3954272"/>
                </a:moveTo>
                <a:lnTo>
                  <a:pt x="982522" y="3903726"/>
                </a:lnTo>
                <a:lnTo>
                  <a:pt x="981964" y="3869182"/>
                </a:lnTo>
                <a:lnTo>
                  <a:pt x="964806" y="3878122"/>
                </a:lnTo>
                <a:lnTo>
                  <a:pt x="964806" y="3892435"/>
                </a:lnTo>
                <a:lnTo>
                  <a:pt x="943229" y="3903726"/>
                </a:lnTo>
                <a:lnTo>
                  <a:pt x="964793" y="3892435"/>
                </a:lnTo>
                <a:lnTo>
                  <a:pt x="964806" y="3878122"/>
                </a:lnTo>
                <a:lnTo>
                  <a:pt x="958938" y="3881170"/>
                </a:lnTo>
                <a:lnTo>
                  <a:pt x="937323" y="3892435"/>
                </a:lnTo>
                <a:lnTo>
                  <a:pt x="914400" y="3904361"/>
                </a:lnTo>
                <a:lnTo>
                  <a:pt x="983361" y="3954272"/>
                </a:lnTo>
                <a:close/>
              </a:path>
              <a:path w="1146175" h="3954779">
                <a:moveTo>
                  <a:pt x="1145921" y="1853184"/>
                </a:moveTo>
                <a:lnTo>
                  <a:pt x="1122070" y="1841500"/>
                </a:lnTo>
                <a:lnTo>
                  <a:pt x="1069454" y="1815719"/>
                </a:lnTo>
                <a:lnTo>
                  <a:pt x="1069670" y="1841601"/>
                </a:lnTo>
                <a:lnTo>
                  <a:pt x="714756" y="1844294"/>
                </a:lnTo>
                <a:lnTo>
                  <a:pt x="715010" y="1868678"/>
                </a:lnTo>
                <a:lnTo>
                  <a:pt x="1069873" y="1865985"/>
                </a:lnTo>
                <a:lnTo>
                  <a:pt x="1070102" y="1891919"/>
                </a:lnTo>
                <a:lnTo>
                  <a:pt x="1145921" y="18531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572212-4AEE-2367-6B34-BC58F3A8A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CHAITANYA TRAINING AND CONSULTANCY</a:t>
            </a:r>
            <a:endParaRPr lang="en-IN" spc="-10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D207365-C477-7231-B80B-A171C30AD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7</a:t>
            </a:fld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6082" y="453644"/>
            <a:ext cx="6259195" cy="596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35" dirty="0"/>
              <a:t>Terraform</a:t>
            </a:r>
            <a:r>
              <a:rPr spc="-60" dirty="0"/>
              <a:t> </a:t>
            </a:r>
            <a:r>
              <a:rPr spc="-15" dirty="0"/>
              <a:t>Language</a:t>
            </a:r>
            <a:r>
              <a:rPr spc="-110" dirty="0"/>
              <a:t> </a:t>
            </a:r>
            <a:r>
              <a:rPr spc="-5" dirty="0"/>
              <a:t>Basics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5622" y="1152591"/>
            <a:ext cx="10088137" cy="485355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3EB19B-F18B-6BE5-2DE1-E4EC84526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CHAITANYA TRAINING AND CONSULTANCY</a:t>
            </a:r>
            <a:endParaRPr lang="en-IN" spc="-1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F81973-8AA9-8897-6207-D13AD8BD2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8</a:t>
            </a:fld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4151" y="1143000"/>
            <a:ext cx="9704832" cy="5458968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456082" y="255854"/>
            <a:ext cx="6259830" cy="596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5" dirty="0"/>
              <a:t>Terraform</a:t>
            </a:r>
            <a:r>
              <a:rPr spc="-60" dirty="0"/>
              <a:t> </a:t>
            </a:r>
            <a:r>
              <a:rPr spc="-15" dirty="0"/>
              <a:t>Language</a:t>
            </a:r>
            <a:r>
              <a:rPr spc="-110" dirty="0"/>
              <a:t> </a:t>
            </a:r>
            <a:r>
              <a:rPr spc="-5" dirty="0"/>
              <a:t>Basics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815A07-913E-67E2-FA9D-E5D6DA671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CHAITANYA TRAINING AND CONSULTANCY</a:t>
            </a:r>
            <a:endParaRPr lang="en-IN" spc="-1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A53A8B-A014-67B1-60FE-716A027D7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9</a:t>
            </a:fld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2751" y="1143000"/>
            <a:ext cx="10052304" cy="5330952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456082" y="453644"/>
            <a:ext cx="3877310" cy="596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5" dirty="0"/>
              <a:t>Resource</a:t>
            </a:r>
            <a:r>
              <a:rPr spc="-80" dirty="0"/>
              <a:t> </a:t>
            </a:r>
            <a:r>
              <a:rPr spc="-15" dirty="0"/>
              <a:t>Syntax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A6F1D95-8D1A-FFB3-74DF-CBCBA6027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CHAITANYA TRAINING AND CONSULTANCY</a:t>
            </a:r>
            <a:endParaRPr lang="en-IN" spc="-1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03A02D-38C6-A2DD-3F5D-91331596C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10</a:t>
            </a:fld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6082" y="453644"/>
            <a:ext cx="4345940" cy="596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5" dirty="0"/>
              <a:t>Resource</a:t>
            </a:r>
            <a:r>
              <a:rPr spc="-65" dirty="0"/>
              <a:t> </a:t>
            </a:r>
            <a:r>
              <a:rPr spc="-20" dirty="0"/>
              <a:t>Behavior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8976" y="1493519"/>
            <a:ext cx="11628120" cy="4660184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9713F4-1AE3-313C-7969-E3E68EA62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CHAITANYA TRAINING AND CONSULTANCY</a:t>
            </a:r>
            <a:endParaRPr lang="en-IN" spc="-1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6A7C00-5BE6-0609-D589-D931A31F6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11</a:t>
            </a:fld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6082" y="453644"/>
            <a:ext cx="5304790" cy="596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35" dirty="0"/>
              <a:t>Terraform</a:t>
            </a:r>
            <a:r>
              <a:rPr spc="-45" dirty="0"/>
              <a:t> </a:t>
            </a:r>
            <a:r>
              <a:rPr spc="-5" dirty="0"/>
              <a:t>HCL</a:t>
            </a:r>
            <a:r>
              <a:rPr spc="-165" dirty="0"/>
              <a:t> </a:t>
            </a:r>
            <a:r>
              <a:rPr spc="-5" dirty="0"/>
              <a:t>-</a:t>
            </a:r>
            <a:r>
              <a:rPr spc="-35" dirty="0"/>
              <a:t> </a:t>
            </a:r>
            <a:r>
              <a:rPr spc="-10" dirty="0"/>
              <a:t>Syntax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2601" y="1455307"/>
            <a:ext cx="8498840" cy="3521075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317500" marR="0" lvl="0" indent="-305435" algn="l" defTabSz="914400" rtl="0" eaLnBrk="1" fontAlgn="auto" latinLnBrk="0" hangingPunct="1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ClrTx/>
              <a:buSzPct val="76190"/>
              <a:buFont typeface="Microsoft Sans Serif"/>
              <a:buChar char="•"/>
              <a:tabLst>
                <a:tab pos="317500" algn="l"/>
                <a:tab pos="318135" algn="l"/>
              </a:tabLst>
              <a:defRPr/>
            </a:pP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Single</a:t>
            </a:r>
            <a:r>
              <a:rPr kumimoji="0" sz="21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line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comments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start</a:t>
            </a:r>
            <a:r>
              <a:rPr kumimoji="0" sz="21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#</a:t>
            </a:r>
            <a:r>
              <a:rPr kumimoji="0" sz="21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</a:t>
            </a:r>
            <a:r>
              <a:rPr kumimoji="0" sz="21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//</a:t>
            </a:r>
            <a:endParaRPr kumimoji="0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17500" marR="0" lvl="0" indent="-305435" algn="l" defTabSz="914400" rtl="0" eaLnBrk="1" fontAlgn="auto" latinLnBrk="0" hangingPunct="1">
              <a:lnSpc>
                <a:spcPct val="100000"/>
              </a:lnSpc>
              <a:spcBef>
                <a:spcPts val="1085"/>
              </a:spcBef>
              <a:spcAft>
                <a:spcPts val="0"/>
              </a:spcAft>
              <a:buClrTx/>
              <a:buSzPct val="76190"/>
              <a:buFont typeface="Microsoft Sans Serif"/>
              <a:buChar char="•"/>
              <a:tabLst>
                <a:tab pos="317500" algn="l"/>
                <a:tab pos="318135" algn="l"/>
              </a:tabLst>
              <a:defRPr/>
            </a:pP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Multi-line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comments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wrapped</a:t>
            </a:r>
            <a:r>
              <a:rPr kumimoji="0" sz="21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sz="2100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/*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sz="21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*/</a:t>
            </a:r>
            <a:endParaRPr kumimoji="0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17500" marR="0" lvl="0" indent="-305435" algn="l" defTabSz="914400" rtl="0" eaLnBrk="1" fontAlgn="auto" latinLnBrk="0" hangingPunct="1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Tx/>
              <a:buSzPct val="76190"/>
              <a:buFont typeface="Microsoft Sans Serif"/>
              <a:buChar char="•"/>
              <a:tabLst>
                <a:tab pos="317500" algn="l"/>
                <a:tab pos="318135" algn="l"/>
              </a:tabLst>
              <a:defRPr/>
            </a:pPr>
            <a:r>
              <a:rPr kumimoji="0" sz="21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Values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</a:t>
            </a:r>
            <a:r>
              <a:rPr kumimoji="0" sz="21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assigned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</a:t>
            </a:r>
            <a:r>
              <a:rPr kumimoji="0" sz="21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syntax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key</a:t>
            </a:r>
            <a:r>
              <a:rPr kumimoji="0" sz="21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1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= </a:t>
            </a:r>
            <a:r>
              <a:rPr kumimoji="0" sz="2100" b="0" i="1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value</a:t>
            </a:r>
            <a:endParaRPr kumimoji="0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17500" marR="0" lvl="0" indent="-305435" algn="l" defTabSz="914400" rtl="0" eaLnBrk="1" fontAlgn="auto" latinLnBrk="0" hangingPunct="1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Tx/>
              <a:buSzPct val="76190"/>
              <a:buFont typeface="Microsoft Sans Serif"/>
              <a:buChar char="•"/>
              <a:tabLst>
                <a:tab pos="317500" algn="l"/>
                <a:tab pos="318135" algn="l"/>
              </a:tabLst>
              <a:defRPr/>
            </a:pP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value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can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any primitive:</a:t>
            </a:r>
            <a:r>
              <a:rPr kumimoji="0" sz="2100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string,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number,</a:t>
            </a:r>
            <a:r>
              <a:rPr kumimoji="0" sz="21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boolean,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object,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list.</a:t>
            </a:r>
            <a:endParaRPr kumimoji="0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17500" marR="0" lvl="0" indent="-305435" algn="l" defTabSz="914400" rtl="0" eaLnBrk="1" fontAlgn="auto" latinLnBrk="0" hangingPunct="1">
              <a:lnSpc>
                <a:spcPts val="2410"/>
              </a:lnSpc>
              <a:spcBef>
                <a:spcPts val="1085"/>
              </a:spcBef>
              <a:spcAft>
                <a:spcPts val="0"/>
              </a:spcAft>
              <a:buClrTx/>
              <a:buSzPct val="76190"/>
              <a:buFont typeface="Microsoft Sans Serif"/>
              <a:buChar char="•"/>
              <a:tabLst>
                <a:tab pos="317500" algn="l"/>
                <a:tab pos="318135" algn="l"/>
              </a:tabLst>
              <a:defRPr/>
            </a:pP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Strings</a:t>
            </a:r>
            <a:r>
              <a:rPr kumimoji="0" sz="21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double-quoted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and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can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contain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any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UTF-8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characters.</a:t>
            </a:r>
            <a:r>
              <a:rPr kumimoji="0" sz="21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Example:</a:t>
            </a:r>
            <a:endParaRPr kumimoji="0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17500" marR="0" lvl="0" indent="0" algn="l" defTabSz="914400" rtl="0" eaLnBrk="1" fontAlgn="auto" latinLnBrk="0" hangingPunct="1">
              <a:lnSpc>
                <a:spcPts val="24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"Hello,</a:t>
            </a:r>
            <a:r>
              <a:rPr kumimoji="0" sz="2100" b="0" i="1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World“</a:t>
            </a:r>
            <a:endParaRPr kumimoji="0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17500" marR="0" lvl="0" indent="-305435" algn="l" defTabSz="914400" rtl="0" eaLnBrk="1" fontAlgn="auto" latinLnBrk="0" hangingPunct="1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Tx/>
              <a:buSzPct val="76190"/>
              <a:buFont typeface="Microsoft Sans Serif"/>
              <a:buChar char="•"/>
              <a:tabLst>
                <a:tab pos="317500" algn="l"/>
                <a:tab pos="318135" algn="l"/>
              </a:tabLst>
              <a:defRPr/>
            </a:pP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Boolean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values: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1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true,</a:t>
            </a:r>
            <a:r>
              <a:rPr kumimoji="0" sz="2100" b="0" i="1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false</a:t>
            </a:r>
            <a:endParaRPr kumimoji="0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17500" marR="0" lvl="0" indent="-305435" algn="l" defTabSz="914400" rtl="0" eaLnBrk="1" fontAlgn="auto" latinLnBrk="0" hangingPunct="1">
              <a:lnSpc>
                <a:spcPct val="100000"/>
              </a:lnSpc>
              <a:spcBef>
                <a:spcPts val="1085"/>
              </a:spcBef>
              <a:spcAft>
                <a:spcPts val="0"/>
              </a:spcAft>
              <a:buClrTx/>
              <a:buSzPct val="76190"/>
              <a:buFont typeface="Microsoft Sans Serif"/>
              <a:buChar char="•"/>
              <a:tabLst>
                <a:tab pos="317500" algn="l"/>
                <a:tab pos="318135" algn="l"/>
              </a:tabLst>
              <a:defRPr/>
            </a:pPr>
            <a:r>
              <a:rPr kumimoji="0" sz="21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Arrays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can</a:t>
            </a:r>
            <a:r>
              <a:rPr kumimoji="0" sz="21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made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by</a:t>
            </a:r>
            <a:r>
              <a:rPr kumimoji="0" sz="21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wrapping</a:t>
            </a:r>
            <a:r>
              <a:rPr kumimoji="0" sz="21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sz="2100" b="0" i="0" u="none" strike="noStrike" kern="1200" cap="none" spc="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[].</a:t>
            </a:r>
            <a:r>
              <a:rPr kumimoji="0" sz="2100" b="0" i="1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Example: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1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["foo",</a:t>
            </a:r>
            <a:r>
              <a:rPr kumimoji="0" sz="21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1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"bar",</a:t>
            </a:r>
            <a:r>
              <a:rPr kumimoji="0" sz="2100" b="0" i="1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1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42]</a:t>
            </a:r>
            <a:endParaRPr kumimoji="0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7194BD-F396-A8EE-AEB5-9D9FE524D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CHAITANYA TRAINING AND CONSULTANCY</a:t>
            </a:r>
            <a:endParaRPr lang="en-IN" spc="-1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6713F4-4140-3455-C7D7-7FC924228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12</a:t>
            </a:fld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6082" y="453644"/>
            <a:ext cx="5304790" cy="596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35" dirty="0"/>
              <a:t>Terraform</a:t>
            </a:r>
            <a:r>
              <a:rPr spc="-45" dirty="0"/>
              <a:t> </a:t>
            </a:r>
            <a:r>
              <a:rPr spc="-5" dirty="0"/>
              <a:t>HCL</a:t>
            </a:r>
            <a:r>
              <a:rPr spc="-165" dirty="0"/>
              <a:t> </a:t>
            </a:r>
            <a:r>
              <a:rPr spc="-5" dirty="0"/>
              <a:t>-</a:t>
            </a:r>
            <a:r>
              <a:rPr spc="-35" dirty="0"/>
              <a:t> </a:t>
            </a:r>
            <a:r>
              <a:rPr spc="-10" dirty="0"/>
              <a:t>Syntax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4178" y="1563369"/>
            <a:ext cx="7465059" cy="79756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16865" marR="5080" lvl="0" indent="-304800" algn="l" defTabSz="914400" rtl="0" eaLnBrk="1" fontAlgn="auto" latinLnBrk="0" hangingPunct="1">
              <a:lnSpc>
                <a:spcPts val="2880"/>
              </a:lnSpc>
              <a:spcBef>
                <a:spcPts val="459"/>
              </a:spcBef>
              <a:spcAft>
                <a:spcPts val="0"/>
              </a:spcAft>
              <a:buClrTx/>
              <a:buSzPct val="75471"/>
              <a:buFont typeface="Microsoft Sans Serif"/>
              <a:buChar char="•"/>
              <a:tabLst>
                <a:tab pos="316865" algn="l"/>
                <a:tab pos="317500" algn="l"/>
              </a:tabLst>
              <a:defRPr/>
            </a:pPr>
            <a:r>
              <a:rPr kumimoji="0" sz="265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Lists</a:t>
            </a:r>
            <a:r>
              <a:rPr kumimoji="0" sz="265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65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sz="265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objects</a:t>
            </a:r>
            <a:r>
              <a:rPr kumimoji="0" sz="265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65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can</a:t>
            </a:r>
            <a:r>
              <a:rPr kumimoji="0" sz="265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</a:t>
            </a:r>
            <a:r>
              <a:rPr kumimoji="0" sz="265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created</a:t>
            </a:r>
            <a:r>
              <a:rPr kumimoji="0" sz="265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with</a:t>
            </a:r>
            <a:r>
              <a:rPr kumimoji="0" sz="265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65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repeated</a:t>
            </a:r>
            <a:r>
              <a:rPr kumimoji="0" sz="265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65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blocks, </a:t>
            </a:r>
            <a:r>
              <a:rPr kumimoji="0" sz="2650" b="0" i="0" u="none" strike="noStrike" kern="1200" cap="none" spc="-5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65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using</a:t>
            </a:r>
            <a:r>
              <a:rPr kumimoji="0" sz="265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65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this</a:t>
            </a:r>
            <a:r>
              <a:rPr kumimoji="0" sz="265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65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structure</a:t>
            </a:r>
            <a:endParaRPr kumimoji="0" sz="26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115311" y="2435351"/>
            <a:ext cx="7961630" cy="3481070"/>
            <a:chOff x="2115311" y="2435351"/>
            <a:chExt cx="7961630" cy="348107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24455" y="2444495"/>
              <a:ext cx="7943088" cy="346252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119883" y="2439923"/>
              <a:ext cx="7952740" cy="3472179"/>
            </a:xfrm>
            <a:custGeom>
              <a:avLst/>
              <a:gdLst/>
              <a:ahLst/>
              <a:cxnLst/>
              <a:rect l="l" t="t" r="r" b="b"/>
              <a:pathLst>
                <a:path w="7952740" h="3472179">
                  <a:moveTo>
                    <a:pt x="0" y="3471672"/>
                  </a:moveTo>
                  <a:lnTo>
                    <a:pt x="7952232" y="3471672"/>
                  </a:lnTo>
                  <a:lnTo>
                    <a:pt x="7952232" y="0"/>
                  </a:lnTo>
                  <a:lnTo>
                    <a:pt x="0" y="0"/>
                  </a:lnTo>
                  <a:lnTo>
                    <a:pt x="0" y="3471672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C13C489-30B7-11C1-456F-E708251D3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CHAITANYA TRAINING AND CONSULTANCY</a:t>
            </a:r>
            <a:endParaRPr lang="en-IN" spc="-1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2C3A22-E526-04DF-8010-1C48C7A6A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13</a:t>
            </a:fld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6082" y="453644"/>
            <a:ext cx="5304790" cy="596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35" dirty="0"/>
              <a:t>Terraform</a:t>
            </a:r>
            <a:r>
              <a:rPr spc="-45" dirty="0"/>
              <a:t> </a:t>
            </a:r>
            <a:r>
              <a:rPr spc="-5" dirty="0"/>
              <a:t>HCL</a:t>
            </a:r>
            <a:r>
              <a:rPr spc="-165" dirty="0"/>
              <a:t> </a:t>
            </a:r>
            <a:r>
              <a:rPr spc="-5" dirty="0"/>
              <a:t>-</a:t>
            </a:r>
            <a:r>
              <a:rPr spc="-35" dirty="0"/>
              <a:t> </a:t>
            </a:r>
            <a:r>
              <a:rPr spc="-10" dirty="0"/>
              <a:t>Syntax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684520" y="2865120"/>
            <a:ext cx="6044565" cy="2898775"/>
            <a:chOff x="5684520" y="2865120"/>
            <a:chExt cx="6044565" cy="28987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05141" y="2874264"/>
              <a:ext cx="6014418" cy="28803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689092" y="2869692"/>
              <a:ext cx="6035040" cy="2889885"/>
            </a:xfrm>
            <a:custGeom>
              <a:avLst/>
              <a:gdLst/>
              <a:ahLst/>
              <a:cxnLst/>
              <a:rect l="l" t="t" r="r" b="b"/>
              <a:pathLst>
                <a:path w="6035040" h="2889885">
                  <a:moveTo>
                    <a:pt x="0" y="2889504"/>
                  </a:moveTo>
                  <a:lnTo>
                    <a:pt x="6035040" y="2889504"/>
                  </a:lnTo>
                  <a:lnTo>
                    <a:pt x="6035040" y="0"/>
                  </a:lnTo>
                  <a:lnTo>
                    <a:pt x="0" y="0"/>
                  </a:lnTo>
                  <a:lnTo>
                    <a:pt x="0" y="288950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569976" y="2715767"/>
            <a:ext cx="4785360" cy="1341120"/>
            <a:chOff x="569976" y="2715767"/>
            <a:chExt cx="4785360" cy="134112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9120" y="2754527"/>
              <a:ext cx="4767072" cy="129321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74548" y="2720339"/>
              <a:ext cx="4776470" cy="1332230"/>
            </a:xfrm>
            <a:custGeom>
              <a:avLst/>
              <a:gdLst/>
              <a:ahLst/>
              <a:cxnLst/>
              <a:rect l="l" t="t" r="r" b="b"/>
              <a:pathLst>
                <a:path w="4776470" h="1332229">
                  <a:moveTo>
                    <a:pt x="0" y="1331975"/>
                  </a:moveTo>
                  <a:lnTo>
                    <a:pt x="4776216" y="1331975"/>
                  </a:lnTo>
                  <a:lnTo>
                    <a:pt x="4776216" y="0"/>
                  </a:lnTo>
                  <a:lnTo>
                    <a:pt x="0" y="0"/>
                  </a:lnTo>
                  <a:lnTo>
                    <a:pt x="0" y="1331975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50798" y="1355293"/>
            <a:ext cx="8432800" cy="1612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0" marR="0" lvl="0" indent="-304800" algn="l" defTabSz="914400" rtl="0" eaLnBrk="1" fontAlgn="auto" latinLnBrk="0" hangingPunct="1">
              <a:lnSpc>
                <a:spcPts val="2595"/>
              </a:lnSpc>
              <a:spcBef>
                <a:spcPts val="100"/>
              </a:spcBef>
              <a:spcAft>
                <a:spcPts val="0"/>
              </a:spcAft>
              <a:buClrTx/>
              <a:buSzPct val="75000"/>
              <a:buFont typeface="Microsoft Sans Serif"/>
              <a:buChar char="•"/>
              <a:tabLst>
                <a:tab pos="316865" algn="l"/>
                <a:tab pos="317500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Objects</a:t>
            </a:r>
            <a:r>
              <a:rPr kumimoji="0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sz="2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nested</a:t>
            </a:r>
            <a:r>
              <a:rPr kumimoji="0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objects</a:t>
            </a:r>
            <a:r>
              <a:rPr kumimoji="0" sz="2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 created</a:t>
            </a:r>
            <a:r>
              <a:rPr kumimoji="0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using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sz="2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structure</a:t>
            </a: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shown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17500" marR="0" lvl="0" indent="0" algn="l" defTabSz="914400" rtl="0" eaLnBrk="1" fontAlgn="auto" latinLnBrk="0" hangingPunct="1">
              <a:lnSpc>
                <a:spcPts val="24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below: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4742815" marR="0" lvl="0" indent="0" algn="l" defTabSz="914400" rtl="0" eaLnBrk="1" fontAlgn="auto" latinLnBrk="0" hangingPunct="1">
              <a:lnSpc>
                <a:spcPts val="365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Microsoft Sans Serif"/>
                <a:ea typeface="+mn-ea"/>
                <a:cs typeface="Microsoft Sans Serif"/>
              </a:rPr>
              <a:t>JSO</a:t>
            </a: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Sans Serif"/>
              <a:ea typeface="+mn-ea"/>
              <a:cs typeface="Microsoft Sans Serif"/>
            </a:endParaRPr>
          </a:p>
          <a:p>
            <a:pPr marL="474281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Microsoft Sans Serif"/>
                <a:ea typeface="+mn-ea"/>
                <a:cs typeface="Microsoft Sans Serif"/>
              </a:rPr>
              <a:t>N</a:t>
            </a: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Sans Serif"/>
              <a:ea typeface="+mn-ea"/>
              <a:cs typeface="Microsoft Sans Serif"/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1DD1923-6EB2-9AD1-AE09-91E9448B5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CHAITANYA TRAINING AND CONSULTANCY</a:t>
            </a:r>
            <a:endParaRPr lang="en-IN" spc="-10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2A3D1BB-E801-277A-8101-84F804305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14</a:t>
            </a:fld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7998"/>
                </a:lnTo>
                <a:lnTo>
                  <a:pt x="12192000" y="6857998"/>
                </a:lnTo>
                <a:lnTo>
                  <a:pt x="12192000" y="0"/>
                </a:lnTo>
                <a:close/>
              </a:path>
            </a:pathLst>
          </a:custGeom>
          <a:solidFill>
            <a:srgbClr val="17569A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12192000" cy="299085"/>
            <a:chOff x="0" y="0"/>
            <a:chExt cx="12192000" cy="299085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4038600" cy="299085"/>
            </a:xfrm>
            <a:custGeom>
              <a:avLst/>
              <a:gdLst/>
              <a:ahLst/>
              <a:cxnLst/>
              <a:rect l="l" t="t" r="r" b="b"/>
              <a:pathLst>
                <a:path w="4038600" h="299085">
                  <a:moveTo>
                    <a:pt x="4038600" y="0"/>
                  </a:moveTo>
                  <a:lnTo>
                    <a:pt x="0" y="0"/>
                  </a:lnTo>
                  <a:lnTo>
                    <a:pt x="0" y="298703"/>
                  </a:lnTo>
                  <a:lnTo>
                    <a:pt x="4038600" y="298703"/>
                  </a:lnTo>
                  <a:lnTo>
                    <a:pt x="4038600" y="0"/>
                  </a:lnTo>
                  <a:close/>
                </a:path>
              </a:pathLst>
            </a:custGeom>
            <a:solidFill>
              <a:srgbClr val="426FB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4038600" y="0"/>
              <a:ext cx="4114800" cy="299085"/>
            </a:xfrm>
            <a:custGeom>
              <a:avLst/>
              <a:gdLst/>
              <a:ahLst/>
              <a:cxnLst/>
              <a:rect l="l" t="t" r="r" b="b"/>
              <a:pathLst>
                <a:path w="4114800" h="299085">
                  <a:moveTo>
                    <a:pt x="4114800" y="0"/>
                  </a:moveTo>
                  <a:lnTo>
                    <a:pt x="0" y="0"/>
                  </a:lnTo>
                  <a:lnTo>
                    <a:pt x="0" y="298703"/>
                  </a:lnTo>
                  <a:lnTo>
                    <a:pt x="4114800" y="298703"/>
                  </a:lnTo>
                  <a:lnTo>
                    <a:pt x="4114800" y="0"/>
                  </a:lnTo>
                  <a:close/>
                </a:path>
              </a:pathLst>
            </a:custGeom>
            <a:solidFill>
              <a:srgbClr val="175FAB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8153400" y="0"/>
              <a:ext cx="4038600" cy="299085"/>
            </a:xfrm>
            <a:custGeom>
              <a:avLst/>
              <a:gdLst/>
              <a:ahLst/>
              <a:cxnLst/>
              <a:rect l="l" t="t" r="r" b="b"/>
              <a:pathLst>
                <a:path w="4038600" h="299085">
                  <a:moveTo>
                    <a:pt x="4038600" y="0"/>
                  </a:moveTo>
                  <a:lnTo>
                    <a:pt x="0" y="0"/>
                  </a:lnTo>
                  <a:lnTo>
                    <a:pt x="0" y="298703"/>
                  </a:lnTo>
                  <a:lnTo>
                    <a:pt x="4038600" y="298703"/>
                  </a:lnTo>
                  <a:lnTo>
                    <a:pt x="4038600" y="0"/>
                  </a:lnTo>
                  <a:close/>
                </a:path>
              </a:pathLst>
            </a:custGeom>
            <a:solidFill>
              <a:srgbClr val="124A86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0" y="6568439"/>
            <a:ext cx="12192000" cy="289560"/>
            <a:chOff x="0" y="6568439"/>
            <a:chExt cx="12192000" cy="289560"/>
          </a:xfrm>
        </p:grpSpPr>
        <p:sp>
          <p:nvSpPr>
            <p:cNvPr id="9" name="object 9"/>
            <p:cNvSpPr/>
            <p:nvPr/>
          </p:nvSpPr>
          <p:spPr>
            <a:xfrm>
              <a:off x="8153400" y="6568439"/>
              <a:ext cx="4038600" cy="289560"/>
            </a:xfrm>
            <a:custGeom>
              <a:avLst/>
              <a:gdLst/>
              <a:ahLst/>
              <a:cxnLst/>
              <a:rect l="l" t="t" r="r" b="b"/>
              <a:pathLst>
                <a:path w="4038600" h="289559">
                  <a:moveTo>
                    <a:pt x="4038599" y="0"/>
                  </a:moveTo>
                  <a:lnTo>
                    <a:pt x="0" y="0"/>
                  </a:lnTo>
                  <a:lnTo>
                    <a:pt x="0" y="289558"/>
                  </a:lnTo>
                  <a:lnTo>
                    <a:pt x="4038599" y="289558"/>
                  </a:lnTo>
                  <a:lnTo>
                    <a:pt x="4038599" y="0"/>
                  </a:lnTo>
                  <a:close/>
                </a:path>
              </a:pathLst>
            </a:custGeom>
            <a:solidFill>
              <a:srgbClr val="4370A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4038600" y="6568439"/>
              <a:ext cx="4114800" cy="289560"/>
            </a:xfrm>
            <a:custGeom>
              <a:avLst/>
              <a:gdLst/>
              <a:ahLst/>
              <a:cxnLst/>
              <a:rect l="l" t="t" r="r" b="b"/>
              <a:pathLst>
                <a:path w="4114800" h="289559">
                  <a:moveTo>
                    <a:pt x="4114800" y="0"/>
                  </a:moveTo>
                  <a:lnTo>
                    <a:pt x="0" y="0"/>
                  </a:lnTo>
                  <a:lnTo>
                    <a:pt x="0" y="289558"/>
                  </a:lnTo>
                  <a:lnTo>
                    <a:pt x="4114800" y="289558"/>
                  </a:lnTo>
                  <a:lnTo>
                    <a:pt x="4114800" y="0"/>
                  </a:lnTo>
                  <a:close/>
                </a:path>
              </a:pathLst>
            </a:custGeom>
            <a:solidFill>
              <a:srgbClr val="1C60A8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6568439"/>
              <a:ext cx="4038600" cy="289560"/>
            </a:xfrm>
            <a:custGeom>
              <a:avLst/>
              <a:gdLst/>
              <a:ahLst/>
              <a:cxnLst/>
              <a:rect l="l" t="t" r="r" b="b"/>
              <a:pathLst>
                <a:path w="4038600" h="289559">
                  <a:moveTo>
                    <a:pt x="4038600" y="0"/>
                  </a:moveTo>
                  <a:lnTo>
                    <a:pt x="0" y="0"/>
                  </a:lnTo>
                  <a:lnTo>
                    <a:pt x="0" y="289558"/>
                  </a:lnTo>
                  <a:lnTo>
                    <a:pt x="4038600" y="289558"/>
                  </a:lnTo>
                  <a:lnTo>
                    <a:pt x="4038600" y="0"/>
                  </a:lnTo>
                  <a:close/>
                </a:path>
              </a:pathLst>
            </a:custGeom>
            <a:solidFill>
              <a:srgbClr val="164D8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07864" y="1124711"/>
            <a:ext cx="2176272" cy="2176272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4257802" y="3518357"/>
            <a:ext cx="4272280" cy="6769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250" spc="-25" dirty="0">
                <a:solidFill>
                  <a:srgbClr val="FFFFFF"/>
                </a:solidFill>
              </a:rPr>
              <a:t>Terraform</a:t>
            </a:r>
            <a:r>
              <a:rPr sz="4250" spc="-30" dirty="0">
                <a:solidFill>
                  <a:srgbClr val="FFFFFF"/>
                </a:solidFill>
              </a:rPr>
              <a:t> </a:t>
            </a:r>
            <a:r>
              <a:rPr sz="2800" spc="-15" dirty="0">
                <a:solidFill>
                  <a:srgbClr val="FFFFFF"/>
                </a:solidFill>
              </a:rPr>
              <a:t>Variables</a:t>
            </a:r>
            <a:endParaRPr sz="28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47596C-6281-E7CB-6AC0-678B670AA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CHAITANYA TRAINING AND CONSULTANCY</a:t>
            </a:r>
            <a:endParaRPr lang="en-IN" spc="-10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60DE22B-8190-23A5-DFE0-A879CE210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15</a:t>
            </a:fld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146" y="400634"/>
            <a:ext cx="5001260" cy="596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Variables</a:t>
            </a:r>
            <a:r>
              <a:rPr spc="-80" dirty="0"/>
              <a:t> </a:t>
            </a:r>
            <a:r>
              <a:rPr spc="-5" dirty="0"/>
              <a:t>in</a:t>
            </a:r>
            <a:r>
              <a:rPr spc="-35" dirty="0"/>
              <a:t> </a:t>
            </a:r>
            <a:r>
              <a:rPr spc="-40" dirty="0"/>
              <a:t>Terraform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2678" y="1539367"/>
            <a:ext cx="9631680" cy="23031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469900" marR="36830" lvl="0" indent="-457834" algn="l" defTabSz="914400" rtl="0" eaLnBrk="1" fontAlgn="auto" latinLnBrk="0" hangingPunct="1">
              <a:lnSpc>
                <a:spcPct val="102000"/>
              </a:lnSpc>
              <a:spcBef>
                <a:spcPts val="85"/>
              </a:spcBef>
              <a:spcAft>
                <a:spcPts val="0"/>
              </a:spcAft>
              <a:buClrTx/>
              <a:buSzPct val="76190"/>
              <a:buFont typeface="Microsoft Sans Serif"/>
              <a:buChar char="•"/>
              <a:tabLst>
                <a:tab pos="469900" algn="l"/>
                <a:tab pos="470534" algn="l"/>
              </a:tabLst>
              <a:defRPr/>
            </a:pPr>
            <a:r>
              <a:rPr kumimoji="0" sz="21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Variable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symbolic 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name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associated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 a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value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whose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associated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value may </a:t>
            </a:r>
            <a:r>
              <a:rPr kumimoji="0" sz="2100" b="0" i="0" u="none" strike="noStrike" kern="1200" cap="none" spc="-45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</a:t>
            </a:r>
            <a:r>
              <a:rPr kumimoji="0" sz="21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changed</a:t>
            </a:r>
            <a:endParaRPr kumimoji="0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icrosoft Sans Serif"/>
              <a:buChar char="•"/>
              <a:tabLst/>
              <a:defRPr/>
            </a:pPr>
            <a:endParaRPr kumimoji="0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ClrTx/>
              <a:buSzTx/>
              <a:buFont typeface="Microsoft Sans Serif"/>
              <a:buChar char="•"/>
              <a:tabLst/>
              <a:defRPr/>
            </a:pPr>
            <a:endParaRPr kumimoji="0" sz="2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469900" marR="5080" lvl="0" indent="-457834" algn="l" defTabSz="914400" rtl="0" eaLnBrk="1" fontAlgn="auto" latinLnBrk="0" hangingPunct="1">
              <a:lnSpc>
                <a:spcPct val="101499"/>
              </a:lnSpc>
              <a:spcBef>
                <a:spcPts val="5"/>
              </a:spcBef>
              <a:spcAft>
                <a:spcPts val="0"/>
              </a:spcAft>
              <a:buClrTx/>
              <a:buSzPct val="76190"/>
              <a:buFont typeface="Microsoft Sans Serif"/>
              <a:buChar char="•"/>
              <a:tabLst>
                <a:tab pos="469900" algn="l"/>
                <a:tab pos="470534" algn="l"/>
              </a:tabLst>
              <a:defRPr/>
            </a:pP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Variables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in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Terraform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</a:t>
            </a:r>
            <a:r>
              <a:rPr kumimoji="0" sz="21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great 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way to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define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centrally</a:t>
            </a:r>
            <a:r>
              <a:rPr kumimoji="0" sz="2100" b="0" i="0" u="none" strike="noStrike" kern="1200" cap="none" spc="5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controlled</a:t>
            </a:r>
            <a:r>
              <a:rPr kumimoji="0" sz="21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reusable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values.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information</a:t>
            </a:r>
            <a:r>
              <a:rPr kumimoji="0" sz="2100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Terraform</a:t>
            </a:r>
            <a:r>
              <a:rPr kumimoji="0" sz="2100" b="0" i="0" u="none" strike="noStrike" kern="1200" cap="none" spc="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variables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saved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independently</a:t>
            </a:r>
            <a:r>
              <a:rPr kumimoji="0" sz="21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from</a:t>
            </a:r>
            <a:r>
              <a:rPr kumimoji="0" sz="21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deployment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plans,</a:t>
            </a:r>
            <a:r>
              <a:rPr kumimoji="0" sz="2100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which</a:t>
            </a:r>
            <a:r>
              <a:rPr kumimoji="0" sz="21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makes</a:t>
            </a:r>
            <a:r>
              <a:rPr kumimoji="0" sz="2100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values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easy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read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sz="21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edit</a:t>
            </a:r>
            <a:r>
              <a:rPr kumimoji="0" sz="2100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from</a:t>
            </a:r>
            <a:r>
              <a:rPr kumimoji="0" sz="21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single</a:t>
            </a:r>
            <a:r>
              <a:rPr kumimoji="0" sz="2100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file.</a:t>
            </a:r>
            <a:endParaRPr kumimoji="0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57DC82-0FD0-A1EF-7E1A-D31809508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CHAITANYA TRAINING AND CONSULTANCY</a:t>
            </a:r>
            <a:endParaRPr lang="en-IN" spc="-1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07FEE9-F625-881A-FE84-697F6BB11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16</a:t>
            </a:fld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5175" y="984504"/>
            <a:ext cx="11448288" cy="4047744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338FC8-CBA3-9D16-EC60-385531974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CHAITANYA TRAINING AND CONSULTANCY</a:t>
            </a:r>
            <a:endParaRPr lang="en-IN" spc="-1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437299-10C9-6637-E412-66E845721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17</a:t>
            </a:fld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0128" y="548653"/>
            <a:ext cx="8237617" cy="5602969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045EE1-3C3A-CF2E-2638-7DE266D7B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CHAITANYA TRAINING AND CONSULTANCY</a:t>
            </a:r>
            <a:endParaRPr lang="en-IN" spc="-1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F3D60-0AEB-F705-ABD2-2F6E40B75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18</a:t>
            </a:fld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146" y="442036"/>
            <a:ext cx="3401695" cy="596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Input</a:t>
            </a:r>
            <a:r>
              <a:rPr spc="-85" dirty="0"/>
              <a:t> </a:t>
            </a:r>
            <a:r>
              <a:rPr spc="-30" dirty="0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7827" y="1685035"/>
            <a:ext cx="10386695" cy="28727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265" marR="393065" lvl="0" indent="-457200" algn="l" defTabSz="914400" rtl="0" eaLnBrk="1" fontAlgn="auto" latinLnBrk="0" hangingPunct="1">
              <a:lnSpc>
                <a:spcPct val="100600"/>
              </a:lnSpc>
              <a:spcBef>
                <a:spcPts val="105"/>
              </a:spcBef>
              <a:spcAft>
                <a:spcPts val="0"/>
              </a:spcAft>
              <a:buClrTx/>
              <a:buSzPct val="75675"/>
              <a:buFont typeface="Microsoft Sans Serif"/>
              <a:buChar char="•"/>
              <a:tabLst>
                <a:tab pos="469265" algn="l"/>
                <a:tab pos="469900" algn="l"/>
              </a:tabLst>
              <a:defRPr/>
            </a:pPr>
            <a:r>
              <a:rPr kumimoji="0" sz="185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Input </a:t>
            </a:r>
            <a:r>
              <a:rPr kumimoji="0" sz="18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variables </a:t>
            </a:r>
            <a:r>
              <a:rPr kumimoji="0" sz="185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serve </a:t>
            </a:r>
            <a:r>
              <a:rPr kumimoji="0" sz="18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 </a:t>
            </a:r>
            <a:r>
              <a:rPr kumimoji="0" sz="185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parameters </a:t>
            </a:r>
            <a:r>
              <a:rPr kumimoji="0" sz="185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 </a:t>
            </a:r>
            <a:r>
              <a:rPr kumimoji="0" sz="185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sz="185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Terraform</a:t>
            </a:r>
            <a:r>
              <a:rPr kumimoji="0" sz="185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module/Terrform </a:t>
            </a:r>
            <a:r>
              <a:rPr kumimoji="0" sz="18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code, </a:t>
            </a:r>
            <a:r>
              <a:rPr kumimoji="0" sz="185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allowing aspects of </a:t>
            </a:r>
            <a:r>
              <a:rPr kumimoji="0" sz="185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sz="1850" b="0" i="0" u="none" strike="noStrike" kern="1200" cap="none" spc="-4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module/Terraform</a:t>
            </a:r>
            <a:r>
              <a:rPr kumimoji="0" sz="185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code </a:t>
            </a:r>
            <a:r>
              <a:rPr kumimoji="0" sz="185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sz="185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 </a:t>
            </a:r>
            <a:r>
              <a:rPr kumimoji="0" sz="18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customized </a:t>
            </a:r>
            <a:r>
              <a:rPr kumimoji="0" sz="185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without </a:t>
            </a:r>
            <a:r>
              <a:rPr kumimoji="0" sz="18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altering </a:t>
            </a:r>
            <a:r>
              <a:rPr kumimoji="0" sz="185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sz="185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module's </a:t>
            </a:r>
            <a:r>
              <a:rPr kumimoji="0" sz="185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own </a:t>
            </a:r>
            <a:r>
              <a:rPr kumimoji="0" sz="18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source</a:t>
            </a:r>
            <a:r>
              <a:rPr kumimoji="0" sz="185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code, </a:t>
            </a:r>
            <a:r>
              <a:rPr kumimoji="0" sz="185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</a:t>
            </a:r>
            <a:r>
              <a:rPr kumimoji="0" sz="185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allowing</a:t>
            </a:r>
            <a:r>
              <a:rPr kumimoji="0" sz="185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modules</a:t>
            </a:r>
            <a:r>
              <a:rPr kumimoji="0" sz="185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sz="185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be</a:t>
            </a:r>
            <a:r>
              <a:rPr kumimoji="0" sz="185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shared</a:t>
            </a:r>
            <a:r>
              <a:rPr kumimoji="0" sz="185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between</a:t>
            </a:r>
            <a:r>
              <a:rPr kumimoji="0" sz="185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different</a:t>
            </a:r>
            <a:r>
              <a:rPr kumimoji="0" sz="1850" b="0" i="0" u="none" strike="noStrike" kern="1200" cap="none" spc="3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configurations.</a:t>
            </a:r>
            <a:endParaRPr kumimoji="0" sz="1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icrosoft Sans Serif"/>
              <a:buChar char="•"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 typeface="Microsoft Sans Serif"/>
              <a:buChar char="•"/>
              <a:tabLst/>
              <a:defRPr/>
            </a:pPr>
            <a:endParaRPr kumimoji="0" sz="1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469265" marR="5080" lvl="0" indent="-457200" algn="l" defTabSz="914400" rtl="0" eaLnBrk="1" fontAlgn="auto" latinLnBrk="0" hangingPunct="1">
              <a:lnSpc>
                <a:spcPct val="101699"/>
              </a:lnSpc>
              <a:spcBef>
                <a:spcPts val="0"/>
              </a:spcBef>
              <a:spcAft>
                <a:spcPts val="0"/>
              </a:spcAft>
              <a:buClrTx/>
              <a:buSzPct val="75675"/>
              <a:buFont typeface="Microsoft Sans Serif"/>
              <a:buChar char="•"/>
              <a:tabLst>
                <a:tab pos="469265" algn="l"/>
                <a:tab pos="469900" algn="l"/>
              </a:tabLst>
              <a:defRPr/>
            </a:pPr>
            <a:r>
              <a:rPr kumimoji="0" sz="185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When </a:t>
            </a:r>
            <a:r>
              <a:rPr kumimoji="0" sz="185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you </a:t>
            </a:r>
            <a:r>
              <a:rPr kumimoji="0" sz="18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declare variables </a:t>
            </a:r>
            <a:r>
              <a:rPr kumimoji="0" sz="185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 </a:t>
            </a:r>
            <a:r>
              <a:rPr kumimoji="0" sz="185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sz="185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root </a:t>
            </a:r>
            <a:r>
              <a:rPr kumimoji="0" sz="185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module of </a:t>
            </a:r>
            <a:r>
              <a:rPr kumimoji="0" sz="185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your</a:t>
            </a:r>
            <a:r>
              <a:rPr kumimoji="0" sz="18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configuration, you can </a:t>
            </a:r>
            <a:r>
              <a:rPr kumimoji="0" sz="185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set </a:t>
            </a:r>
            <a:r>
              <a:rPr kumimoji="0" sz="185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their </a:t>
            </a:r>
            <a:r>
              <a:rPr kumimoji="0" sz="18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values </a:t>
            </a:r>
            <a:r>
              <a:rPr kumimoji="0" sz="185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using CLI </a:t>
            </a:r>
            <a:r>
              <a:rPr kumimoji="0" sz="1850" b="0" i="0" u="none" strike="noStrike" kern="1200" cap="none" spc="-4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options</a:t>
            </a:r>
            <a:r>
              <a:rPr kumimoji="0" sz="185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sz="1850" b="0" i="0" u="none" strike="noStrike" kern="1200" cap="none" spc="4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environment</a:t>
            </a:r>
            <a:r>
              <a:rPr kumimoji="0" sz="185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variables.</a:t>
            </a:r>
            <a:endParaRPr kumimoji="0" sz="1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icrosoft Sans Serif"/>
              <a:buChar char="•"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 typeface="Microsoft Sans Serif"/>
              <a:buChar char="•"/>
              <a:tabLst/>
              <a:defRPr/>
            </a:pPr>
            <a:endParaRPr kumimoji="0" sz="1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4699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675"/>
              <a:buFont typeface="Microsoft Sans Serif"/>
              <a:buChar char="•"/>
              <a:tabLst>
                <a:tab pos="469265" algn="l"/>
                <a:tab pos="469900" algn="l"/>
              </a:tabLst>
              <a:defRPr/>
            </a:pPr>
            <a:r>
              <a:rPr kumimoji="0" sz="185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When</a:t>
            </a:r>
            <a:r>
              <a:rPr kumimoji="0" sz="185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you</a:t>
            </a:r>
            <a:r>
              <a:rPr kumimoji="0" sz="185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declare</a:t>
            </a:r>
            <a:r>
              <a:rPr kumimoji="0" sz="185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them</a:t>
            </a:r>
            <a:r>
              <a:rPr kumimoji="0" sz="185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sz="185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child</a:t>
            </a:r>
            <a:r>
              <a:rPr kumimoji="0" sz="185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modules,</a:t>
            </a:r>
            <a:r>
              <a:rPr kumimoji="0" sz="185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sz="185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calling</a:t>
            </a:r>
            <a:r>
              <a:rPr kumimoji="0" sz="185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module</a:t>
            </a:r>
            <a:r>
              <a:rPr kumimoji="0" sz="1850" b="0" i="0" u="none" strike="noStrike" kern="1200" cap="none" spc="40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should</a:t>
            </a:r>
            <a:r>
              <a:rPr kumimoji="0" sz="185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pass</a:t>
            </a:r>
            <a:r>
              <a:rPr kumimoji="0" sz="18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values</a:t>
            </a:r>
            <a:r>
              <a:rPr kumimoji="0" sz="185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sz="185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sz="185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module</a:t>
            </a:r>
            <a:r>
              <a:rPr kumimoji="0" sz="185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block.</a:t>
            </a:r>
            <a:endParaRPr kumimoji="0" sz="1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A6E488-271C-09C7-051E-98DA5B81D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CHAITANYA TRAINING AND CONSULTANCY</a:t>
            </a:r>
            <a:endParaRPr lang="en-IN" spc="-1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EAC74D-19A2-3D13-0A08-01CE2B5B9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19</a:t>
            </a:fld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6082" y="453644"/>
            <a:ext cx="6454775" cy="596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b="0" spc="-50" dirty="0">
                <a:latin typeface="Microsoft Sans Serif"/>
                <a:cs typeface="Microsoft Sans Serif"/>
              </a:rPr>
              <a:t>Terraform</a:t>
            </a:r>
            <a:r>
              <a:rPr b="0" spc="-60" dirty="0">
                <a:latin typeface="Microsoft Sans Serif"/>
                <a:cs typeface="Microsoft Sans Serif"/>
              </a:rPr>
              <a:t> </a:t>
            </a:r>
            <a:r>
              <a:rPr b="0" spc="-5" dirty="0">
                <a:latin typeface="Microsoft Sans Serif"/>
                <a:cs typeface="Microsoft Sans Serif"/>
              </a:rPr>
              <a:t>Input </a:t>
            </a:r>
            <a:r>
              <a:rPr b="0" spc="-45" dirty="0">
                <a:latin typeface="Microsoft Sans Serif"/>
                <a:cs typeface="Microsoft Sans Serif"/>
              </a:rPr>
              <a:t>Variable</a:t>
            </a:r>
            <a:r>
              <a:rPr b="0" spc="-130" dirty="0">
                <a:latin typeface="Microsoft Sans Serif"/>
                <a:cs typeface="Microsoft Sans Serif"/>
              </a:rPr>
              <a:t> </a:t>
            </a:r>
            <a:r>
              <a:rPr b="0" spc="-55" dirty="0">
                <a:latin typeface="Microsoft Sans Serif"/>
                <a:cs typeface="Microsoft Sans Serif"/>
              </a:rPr>
              <a:t>Types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1484" y="2100072"/>
            <a:ext cx="10937700" cy="150571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BD6D-3B01-87FD-82A5-0E91E8F7A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CHAITANYA TRAINING AND CONSULTANCY</a:t>
            </a:r>
            <a:endParaRPr lang="en-IN" spc="-1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73D635-1844-9B04-9760-502A86CA9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20</a:t>
            </a:fld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6082" y="453644"/>
            <a:ext cx="7232650" cy="596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35" dirty="0"/>
              <a:t>Terraform</a:t>
            </a:r>
            <a:r>
              <a:rPr spc="-30" dirty="0"/>
              <a:t> </a:t>
            </a:r>
            <a:r>
              <a:rPr spc="-10" dirty="0"/>
              <a:t>Simple</a:t>
            </a:r>
            <a:r>
              <a:rPr spc="-40" dirty="0"/>
              <a:t> Variable</a:t>
            </a:r>
            <a:r>
              <a:rPr spc="-85" dirty="0"/>
              <a:t> </a:t>
            </a:r>
            <a:r>
              <a:rPr spc="-10" dirty="0"/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45716" y="1502155"/>
            <a:ext cx="104648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4699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Tx/>
              <a:buSzPct val="75675"/>
              <a:buFont typeface="Microsoft Sans Serif"/>
              <a:buChar char="•"/>
              <a:tabLst>
                <a:tab pos="469265" algn="l"/>
                <a:tab pos="469900" algn="l"/>
              </a:tabLst>
              <a:defRPr/>
            </a:pPr>
            <a:r>
              <a:rPr kumimoji="0" sz="185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String</a:t>
            </a:r>
            <a:endParaRPr kumimoji="0" sz="1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49470" y="1790750"/>
            <a:ext cx="1911985" cy="105918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0" marR="5080" lvl="0" indent="0" algn="r" defTabSz="914400" rtl="0" eaLnBrk="1" fontAlgn="auto" latinLnBrk="0" hangingPunct="1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5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variable</a:t>
            </a:r>
            <a:r>
              <a:rPr kumimoji="0" sz="1850" b="1" i="0" u="none" strike="noStrike" kern="1200" cap="none" spc="-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“a-string”{</a:t>
            </a:r>
            <a:endParaRPr kumimoji="0" sz="1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19050" lvl="0" indent="0" algn="r" defTabSz="914400" rtl="0" eaLnBrk="1" fontAlgn="auto" latinLnBrk="0" hangingPunct="1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5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type</a:t>
            </a:r>
            <a:r>
              <a:rPr kumimoji="0" sz="1850" b="1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=</a:t>
            </a:r>
            <a:r>
              <a:rPr kumimoji="0" sz="1850" b="1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string</a:t>
            </a:r>
            <a:endParaRPr kumimoji="0" sz="1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606425" marR="0" lvl="0" indent="0" algn="l" defTabSz="914400" rtl="0" eaLnBrk="1" fontAlgn="auto" latinLnBrk="0" hangingPunct="1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5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}</a:t>
            </a:r>
            <a:endParaRPr kumimoji="0" sz="1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45716" y="2959430"/>
            <a:ext cx="2164080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699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ClrTx/>
              <a:buSzPct val="75675"/>
              <a:buFont typeface="Microsoft Sans Serif"/>
              <a:buChar char="•"/>
              <a:tabLst>
                <a:tab pos="469265" algn="l"/>
                <a:tab pos="469900" algn="l"/>
              </a:tabLst>
              <a:defRPr/>
            </a:pPr>
            <a:r>
              <a:rPr kumimoji="0" sz="185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Number</a:t>
            </a:r>
            <a:r>
              <a:rPr kumimoji="0" sz="185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(Integer)</a:t>
            </a:r>
            <a:endParaRPr kumimoji="0" sz="1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94605" y="3242617"/>
            <a:ext cx="2566035" cy="106489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5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variable</a:t>
            </a:r>
            <a:r>
              <a:rPr kumimoji="0" sz="1850" b="1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“it</a:t>
            </a:r>
            <a:r>
              <a:rPr kumimoji="0" sz="1850" b="1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sz="1850" b="1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1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</a:t>
            </a:r>
            <a:r>
              <a:rPr kumimoji="0" sz="185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integer”{</a:t>
            </a:r>
            <a:endParaRPr kumimoji="0" sz="1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13740" marR="0" lvl="0" indent="0" algn="l" defTabSz="914400" rtl="0" eaLnBrk="1" fontAlgn="auto" latinLnBrk="0" hangingPunct="1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5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type</a:t>
            </a:r>
            <a:r>
              <a:rPr kumimoji="0" sz="1850" b="1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=</a:t>
            </a:r>
            <a:r>
              <a:rPr kumimoji="0" sz="1850" b="1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number</a:t>
            </a:r>
            <a:endParaRPr kumimoji="0" sz="1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661670" marR="0" lvl="0" indent="0" algn="l" defTabSz="914400" rtl="0" eaLnBrk="1" fontAlgn="auto" latinLnBrk="0" hangingPunct="1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5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}</a:t>
            </a:r>
            <a:endParaRPr kumimoji="0" sz="1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45716" y="4417009"/>
            <a:ext cx="2221230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699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ClrTx/>
              <a:buSzPct val="75675"/>
              <a:buFont typeface="Microsoft Sans Serif"/>
              <a:buChar char="•"/>
              <a:tabLst>
                <a:tab pos="469265" algn="l"/>
                <a:tab pos="469900" algn="l"/>
              </a:tabLst>
              <a:defRPr/>
            </a:pPr>
            <a:r>
              <a:rPr kumimoji="0" sz="185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Bool</a:t>
            </a:r>
            <a:r>
              <a:rPr kumimoji="0" sz="185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(it</a:t>
            </a:r>
            <a:r>
              <a:rPr kumimoji="0" sz="185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sz="185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Boolean</a:t>
            </a:r>
            <a:endParaRPr kumimoji="0" sz="1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11014" y="4703240"/>
            <a:ext cx="2353310" cy="106172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5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variable</a:t>
            </a:r>
            <a:r>
              <a:rPr kumimoji="0" sz="1850" b="1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“true</a:t>
            </a:r>
            <a:r>
              <a:rPr kumimoji="0" sz="1850" b="1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</a:t>
            </a:r>
            <a:r>
              <a:rPr kumimoji="0" sz="1850" b="1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false”{</a:t>
            </a:r>
            <a:endParaRPr kumimoji="0" sz="1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497205" marR="0" lvl="0" indent="0" algn="l" defTabSz="914400" rtl="0" eaLnBrk="1" fontAlgn="auto" latinLnBrk="0" hangingPunct="1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5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type</a:t>
            </a:r>
            <a:r>
              <a:rPr kumimoji="0" sz="1850" b="1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=</a:t>
            </a:r>
            <a:r>
              <a:rPr kumimoji="0" sz="1850" b="1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850" b="1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bool</a:t>
            </a:r>
            <a:endParaRPr kumimoji="0" sz="1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445134" marR="0" lvl="0" indent="0" algn="l" defTabSz="914400" rtl="0" eaLnBrk="1" fontAlgn="auto" latinLnBrk="0" hangingPunct="1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50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}</a:t>
            </a:r>
            <a:endParaRPr kumimoji="0" sz="1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A350878-3786-1692-2902-2CBD13C1EAD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CHAITANYA TRAINING AND CONSULTANCY</a:t>
            </a:r>
            <a:endParaRPr lang="en-IN" spc="-1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C4BAA8B-E790-F9B8-3975-4353A3EE89B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21</a:t>
            </a:fld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6082" y="453644"/>
            <a:ext cx="5659755" cy="596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35" dirty="0"/>
              <a:t>Terraform</a:t>
            </a:r>
            <a:r>
              <a:rPr spc="-50" dirty="0"/>
              <a:t> </a:t>
            </a:r>
            <a:r>
              <a:rPr spc="-15" dirty="0"/>
              <a:t>complex</a:t>
            </a:r>
            <a:r>
              <a:rPr spc="-45" dirty="0"/>
              <a:t> </a:t>
            </a:r>
            <a:r>
              <a:rPr spc="-10" dirty="0"/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2698" y="1713103"/>
            <a:ext cx="4933315" cy="3248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Pct val="75000"/>
              <a:buFont typeface="Microsoft Sans Serif"/>
              <a:buChar char="•"/>
              <a:tabLst>
                <a:tab pos="316865" algn="l"/>
                <a:tab pos="317500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List(type)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 typeface="Microsoft Sans Serif"/>
              <a:buChar char="•"/>
              <a:tabLst/>
              <a:defRPr/>
            </a:pPr>
            <a:endParaRPr kumimoji="0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175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 typeface="Microsoft Sans Serif"/>
              <a:buChar char="•"/>
              <a:tabLst>
                <a:tab pos="316865" algn="l"/>
                <a:tab pos="317500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Set(type)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ClrTx/>
              <a:buSzTx/>
              <a:buFont typeface="Microsoft Sans Serif"/>
              <a:buChar char="•"/>
              <a:tabLst/>
              <a:defRPr/>
            </a:pPr>
            <a:endParaRPr kumimoji="0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175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 typeface="Microsoft Sans Serif"/>
              <a:buChar char="•"/>
              <a:tabLst>
                <a:tab pos="316865" algn="l"/>
                <a:tab pos="317500" algn="l"/>
              </a:tabLst>
              <a:defRPr/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Map(type)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 typeface="Microsoft Sans Serif"/>
              <a:buChar char="•"/>
              <a:tabLst/>
              <a:defRPr/>
            </a:pPr>
            <a:endParaRPr kumimoji="0" sz="22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175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 typeface="Microsoft Sans Serif"/>
              <a:buChar char="•"/>
              <a:tabLst>
                <a:tab pos="316865" algn="l"/>
                <a:tab pos="317500" algn="l"/>
              </a:tabLst>
              <a:defRPr/>
            </a:pPr>
            <a:r>
              <a:rPr kumimoji="0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Object({&lt;ATTR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NAME&gt;</a:t>
            </a:r>
            <a:r>
              <a:rPr kumimoji="0" sz="2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=&lt;TYPE&gt;,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…..})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 typeface="Microsoft Sans Serif"/>
              <a:buChar char="•"/>
              <a:tabLst/>
              <a:defRPr/>
            </a:pPr>
            <a:endParaRPr kumimoji="0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175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 typeface="Microsoft Sans Serif"/>
              <a:buChar char="•"/>
              <a:tabLst>
                <a:tab pos="316865" algn="l"/>
                <a:tab pos="317500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TUPLE([&lt;TYPE&gt;,</a:t>
            </a:r>
            <a:r>
              <a:rPr kumimoji="0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…..])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B4B976-7375-F971-943C-FD253A36A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CHAITANYA TRAINING AND CONSULTANCY</a:t>
            </a:r>
            <a:endParaRPr lang="en-IN" spc="-1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F65C26-F531-B9AD-8745-7BC4C9F42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22</a:t>
            </a:fld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3041" y="660272"/>
            <a:ext cx="869315" cy="596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5" dirty="0"/>
              <a:t>L</a:t>
            </a:r>
            <a:r>
              <a:rPr spc="-20" dirty="0"/>
              <a:t>i</a:t>
            </a:r>
            <a:r>
              <a:rPr spc="-5" dirty="0"/>
              <a:t>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1362" y="1798924"/>
            <a:ext cx="5236845" cy="1854835"/>
          </a:xfrm>
          <a:prstGeom prst="rect">
            <a:avLst/>
          </a:prstGeom>
        </p:spPr>
        <p:txBody>
          <a:bodyPr vert="horz" wrap="square" lIns="0" tIns="148590" rIns="0" bIns="0" rtlCol="0">
            <a:spAutoFit/>
          </a:bodyPr>
          <a:lstStyle/>
          <a:p>
            <a:pPr marL="3175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1170"/>
              </a:spcBef>
              <a:spcAft>
                <a:spcPts val="0"/>
              </a:spcAft>
              <a:buClrTx/>
              <a:buSzPct val="76190"/>
              <a:buFont typeface="Microsoft Sans Serif"/>
              <a:buChar char="•"/>
              <a:tabLst>
                <a:tab pos="316865" algn="l"/>
                <a:tab pos="317500" algn="l"/>
              </a:tabLst>
              <a:defRPr/>
            </a:pP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List: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[0,1,3]</a:t>
            </a:r>
            <a:endParaRPr kumimoji="0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175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Tx/>
              <a:buSzPct val="76190"/>
              <a:buFont typeface="Microsoft Sans Serif"/>
              <a:buChar char="•"/>
              <a:tabLst>
                <a:tab pos="316865" algn="l"/>
                <a:tab pos="317500" algn="l"/>
              </a:tabLst>
              <a:defRPr/>
            </a:pP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Lists</a:t>
            </a:r>
            <a:r>
              <a:rPr kumimoji="0" sz="2100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always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return</a:t>
            </a:r>
            <a:r>
              <a:rPr kumimoji="0" sz="21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values in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Ordered 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format.</a:t>
            </a:r>
            <a:endParaRPr kumimoji="0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Example: [0,1,3]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will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not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return</a:t>
            </a:r>
            <a:r>
              <a:rPr kumimoji="0" sz="21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[3,0,1]</a:t>
            </a:r>
            <a:endParaRPr kumimoji="0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E3E409-7787-0730-7BF5-91789BF5E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CHAITANYA TRAINING AND CONSULTANCY</a:t>
            </a:r>
            <a:endParaRPr lang="en-IN" spc="-1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786756-B595-561D-F477-9FB8442D4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23</a:t>
            </a:fld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6082" y="453644"/>
            <a:ext cx="976630" cy="596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5" dirty="0"/>
              <a:t>Map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23899" y="1219276"/>
            <a:ext cx="2961005" cy="414972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17500" marR="0" lvl="0" indent="-305435" algn="l" defTabSz="914400" rtl="0" eaLnBrk="1" fontAlgn="auto" latinLnBrk="0" hangingPunct="1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ClrTx/>
              <a:buSzPct val="75471"/>
              <a:buFont typeface="Microsoft Sans Serif"/>
              <a:buChar char="•"/>
              <a:tabLst>
                <a:tab pos="316865" algn="l"/>
                <a:tab pos="318135" algn="l"/>
              </a:tabLst>
              <a:defRPr/>
            </a:pPr>
            <a:r>
              <a:rPr kumimoji="0" sz="265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Map</a:t>
            </a:r>
            <a:r>
              <a:rPr kumimoji="0" sz="265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65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{</a:t>
            </a:r>
            <a:r>
              <a:rPr kumimoji="0" sz="265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65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key:</a:t>
            </a:r>
            <a:r>
              <a:rPr kumimoji="0" sz="2650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65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value}</a:t>
            </a:r>
            <a:endParaRPr kumimoji="0" sz="26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41300" marR="193040" lvl="0" indent="-229235" algn="l" defTabSz="914400" rtl="0" eaLnBrk="1" fontAlgn="auto" latinLnBrk="0" hangingPunct="1">
              <a:lnSpc>
                <a:spcPct val="1314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5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variable</a:t>
            </a:r>
            <a:r>
              <a:rPr kumimoji="0" sz="265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65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“mymap”{ </a:t>
            </a:r>
            <a:r>
              <a:rPr kumimoji="0" sz="2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type</a:t>
            </a:r>
            <a:r>
              <a:rPr kumimoji="0" sz="265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65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=</a:t>
            </a:r>
            <a:r>
              <a:rPr kumimoji="0" sz="265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map(string) </a:t>
            </a:r>
            <a:r>
              <a:rPr kumimoji="0" sz="2650" b="0" i="0" u="none" strike="noStrike" kern="1200" cap="none" spc="-5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65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default</a:t>
            </a:r>
            <a:r>
              <a:rPr kumimoji="0" sz="265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65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=</a:t>
            </a:r>
            <a:r>
              <a:rPr kumimoji="0" sz="265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65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{</a:t>
            </a:r>
            <a:endParaRPr kumimoji="0" sz="26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41300" marR="0" lvl="0" indent="0" algn="l" defTabSz="914400" rtl="0" eaLnBrk="1" fontAlgn="auto" latinLnBrk="0" hangingPunct="1">
              <a:lnSpc>
                <a:spcPct val="100000"/>
              </a:lnSpc>
              <a:spcBef>
                <a:spcPts val="101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5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mykey</a:t>
            </a:r>
            <a:r>
              <a:rPr kumimoji="0" sz="265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65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=</a:t>
            </a:r>
            <a:r>
              <a:rPr kumimoji="0" sz="265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65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“my</a:t>
            </a:r>
            <a:r>
              <a:rPr kumimoji="0" sz="265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65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value”</a:t>
            </a:r>
            <a:endParaRPr kumimoji="0" sz="26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6510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}</a:t>
            </a:r>
            <a:endParaRPr kumimoji="0" sz="26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}</a:t>
            </a:r>
            <a:endParaRPr kumimoji="0" sz="26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8F51EC-7460-0928-D478-E169BC1CE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CHAITANYA TRAINING AND CONSULTANCY</a:t>
            </a:r>
            <a:endParaRPr lang="en-IN" spc="-1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64EE33-04FA-56C1-7C51-CE6ED2A46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24</a:t>
            </a:fld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6082" y="453644"/>
            <a:ext cx="765810" cy="596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5" dirty="0"/>
              <a:t>Set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7226" y="1634693"/>
            <a:ext cx="7520305" cy="185928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16865" marR="5080" lvl="0" indent="-304800" algn="l" defTabSz="914400" rtl="0" eaLnBrk="1" fontAlgn="auto" latinLnBrk="0" hangingPunct="1">
              <a:lnSpc>
                <a:spcPts val="2880"/>
              </a:lnSpc>
              <a:spcBef>
                <a:spcPts val="459"/>
              </a:spcBef>
              <a:spcAft>
                <a:spcPts val="0"/>
              </a:spcAft>
              <a:buClrTx/>
              <a:buSzPct val="75471"/>
              <a:buFont typeface="Microsoft Sans Serif"/>
              <a:buChar char="•"/>
              <a:tabLst>
                <a:tab pos="316865" algn="l"/>
                <a:tab pos="317500" algn="l"/>
              </a:tabLst>
              <a:defRPr/>
            </a:pPr>
            <a:r>
              <a:rPr kumimoji="0" sz="265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sz="265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65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“set”</a:t>
            </a:r>
            <a:r>
              <a:rPr kumimoji="0" sz="2650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65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sz="265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65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like</a:t>
            </a:r>
            <a:r>
              <a:rPr kumimoji="0" sz="2650" b="0" i="0" u="none" strike="noStrike" kern="120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65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sz="2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65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list,</a:t>
            </a:r>
            <a:r>
              <a:rPr kumimoji="0" sz="265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65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but</a:t>
            </a:r>
            <a:r>
              <a:rPr kumimoji="0" sz="2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65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sz="265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doesn’t</a:t>
            </a:r>
            <a:r>
              <a:rPr kumimoji="0" sz="265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65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keep</a:t>
            </a:r>
            <a:r>
              <a:rPr kumimoji="0" sz="2650" b="0" i="0" u="none" strike="noStrike" kern="120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sz="265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65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order</a:t>
            </a:r>
            <a:r>
              <a:rPr kumimoji="0" sz="265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65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you </a:t>
            </a:r>
            <a:r>
              <a:rPr kumimoji="0" sz="2650" b="0" i="0" u="none" strike="noStrike" kern="1200" cap="none" spc="-5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65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put</a:t>
            </a:r>
            <a:r>
              <a:rPr kumimoji="0" sz="265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65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sz="265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65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sz="2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and</a:t>
            </a:r>
            <a:r>
              <a:rPr kumimoji="0" sz="265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65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will</a:t>
            </a:r>
            <a:r>
              <a:rPr kumimoji="0" sz="2650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65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return</a:t>
            </a:r>
            <a:r>
              <a:rPr kumimoji="0" sz="265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only</a:t>
            </a:r>
            <a:r>
              <a:rPr kumimoji="0" sz="265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65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unique</a:t>
            </a:r>
            <a:r>
              <a:rPr kumimoji="0" sz="2650" b="0" i="0" u="none" strike="noStrike" kern="120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65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values.</a:t>
            </a:r>
            <a:endParaRPr kumimoji="0" sz="26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9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5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Example:</a:t>
            </a:r>
            <a:r>
              <a:rPr kumimoji="0" sz="265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65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[1,1,2,2]</a:t>
            </a:r>
            <a:r>
              <a:rPr kumimoji="0" sz="265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65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will</a:t>
            </a:r>
            <a:r>
              <a:rPr kumimoji="0" sz="265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65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return</a:t>
            </a:r>
            <a:r>
              <a:rPr kumimoji="0" sz="2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[1,2] </a:t>
            </a:r>
            <a:r>
              <a:rPr kumimoji="0" sz="265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only</a:t>
            </a:r>
            <a:endParaRPr kumimoji="0" sz="26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2726B4-DD23-0AF2-053F-EB701DF12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CHAITANYA TRAINING AND CONSULTANCY</a:t>
            </a:r>
            <a:endParaRPr lang="en-IN" spc="-1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33FC1F-939C-17F9-966F-628D34EE8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25</a:t>
            </a:fld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6082" y="453644"/>
            <a:ext cx="1254125" cy="596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305" dirty="0"/>
              <a:t>T</a:t>
            </a:r>
            <a:r>
              <a:rPr spc="-5" dirty="0"/>
              <a:t>u</a:t>
            </a:r>
            <a:r>
              <a:rPr spc="-20" dirty="0"/>
              <a:t>p</a:t>
            </a:r>
            <a:r>
              <a:rPr spc="-5" dirty="0"/>
              <a:t>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4682" y="1485645"/>
            <a:ext cx="8983345" cy="14928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175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ClrTx/>
              <a:buSzPct val="75471"/>
              <a:buFont typeface="Microsoft Sans Serif"/>
              <a:buChar char="•"/>
              <a:tabLst>
                <a:tab pos="316865" algn="l"/>
                <a:tab pos="317500" algn="l"/>
              </a:tabLst>
              <a:defRPr/>
            </a:pPr>
            <a:r>
              <a:rPr kumimoji="0" sz="265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sz="265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tuple</a:t>
            </a:r>
            <a:r>
              <a:rPr kumimoji="0" sz="265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65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sz="265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65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like</a:t>
            </a:r>
            <a:r>
              <a:rPr kumimoji="0" sz="2650" b="0" i="0" u="none" strike="noStrike" kern="1200" cap="none" spc="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65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sz="265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65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list,</a:t>
            </a:r>
            <a:r>
              <a:rPr kumimoji="0" sz="265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65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but</a:t>
            </a:r>
            <a:r>
              <a:rPr kumimoji="0" sz="265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each </a:t>
            </a:r>
            <a:r>
              <a:rPr kumimoji="0" sz="265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element</a:t>
            </a:r>
            <a:r>
              <a:rPr kumimoji="0" sz="265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65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can</a:t>
            </a:r>
            <a:r>
              <a:rPr kumimoji="0" sz="265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65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have</a:t>
            </a:r>
            <a:r>
              <a:rPr kumimoji="0" sz="2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65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sz="265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65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different</a:t>
            </a:r>
            <a:r>
              <a:rPr kumimoji="0" sz="2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65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type.</a:t>
            </a:r>
            <a:endParaRPr kumimoji="0" sz="26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20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5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Example:</a:t>
            </a:r>
            <a:r>
              <a:rPr kumimoji="0" sz="265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6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[0,</a:t>
            </a:r>
            <a:r>
              <a:rPr kumimoji="0" sz="265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65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“string”,</a:t>
            </a:r>
            <a:r>
              <a:rPr kumimoji="0" sz="265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65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false]</a:t>
            </a:r>
            <a:endParaRPr kumimoji="0" sz="26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7E3DC7-211C-5282-85D6-DA792EDDE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CHAITANYA TRAINING AND CONSULTANCY</a:t>
            </a:r>
            <a:endParaRPr lang="en-IN" spc="-1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FB0098-BC0C-1F1D-0BDF-35D1C7B49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26</a:t>
            </a:fld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6082" y="453644"/>
            <a:ext cx="1503680" cy="596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5" dirty="0"/>
              <a:t>O</a:t>
            </a:r>
            <a:r>
              <a:rPr spc="-20" dirty="0"/>
              <a:t>b</a:t>
            </a:r>
            <a:r>
              <a:rPr spc="-5" dirty="0"/>
              <a:t>ject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0531" y="1769109"/>
            <a:ext cx="8661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Pct val="75000"/>
              <a:buFont typeface="Microsoft Sans Serif"/>
              <a:buChar char="•"/>
              <a:tabLst>
                <a:tab pos="316865" algn="l"/>
                <a:tab pos="317500" algn="l"/>
              </a:tabLst>
              <a:defRPr/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Object</a:t>
            </a:r>
            <a:r>
              <a:rPr kumimoji="0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like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map,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but</a:t>
            </a:r>
            <a:r>
              <a:rPr kumimoji="0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each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element</a:t>
            </a:r>
            <a:r>
              <a:rPr kumimoji="0" sz="2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can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have</a:t>
            </a:r>
            <a:r>
              <a:rPr kumimoji="0" sz="24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different</a:t>
            </a:r>
            <a:r>
              <a:rPr kumimoji="0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type.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0531" y="2629713"/>
            <a:ext cx="3107055" cy="2000885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Example:</a:t>
            </a:r>
            <a:r>
              <a:rPr kumimoji="0" sz="240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{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62635" marR="0" lvl="0" indent="0" algn="l" defTabSz="914400" rtl="0" eaLnBrk="1" fontAlgn="auto" latinLnBrk="0" hangingPunct="1">
              <a:lnSpc>
                <a:spcPct val="100000"/>
              </a:lnSpc>
              <a:spcBef>
                <a:spcPts val="10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firstname</a:t>
            </a:r>
            <a:r>
              <a:rPr kumimoji="0" sz="2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=</a:t>
            </a:r>
            <a:r>
              <a:rPr kumimoji="0" sz="2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“john”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62635" marR="0" lvl="0" indent="0" algn="l" defTabSz="914400" rtl="0" eaLnBrk="1" fontAlgn="auto" latinLnBrk="0" hangingPunct="1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housenumber</a:t>
            </a:r>
            <a:r>
              <a:rPr kumimoji="0" sz="2400" b="0" i="0" u="none" strike="noStrike" kern="1200" cap="none" spc="-9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=</a:t>
            </a:r>
            <a:r>
              <a:rPr kumimoji="0" sz="24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10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698500" marR="0" lvl="0" indent="0" algn="l" defTabSz="914400" rtl="0" eaLnBrk="1" fontAlgn="auto" latinLnBrk="0" hangingPunct="1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}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21056" y="3122303"/>
            <a:ext cx="1958975" cy="1014094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33020" marR="0" lvl="0" indent="0" algn="l" defTabSz="914400" rtl="0" eaLnBrk="1" fontAlgn="auto" latinLnBrk="0" hangingPunct="1">
              <a:lnSpc>
                <a:spcPct val="100000"/>
              </a:lnSpc>
              <a:spcBef>
                <a:spcPts val="11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//</a:t>
            </a:r>
            <a:r>
              <a:rPr kumimoji="0" sz="24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</a:t>
            </a:r>
            <a:r>
              <a:rPr kumimoji="0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string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//it</a:t>
            </a:r>
            <a:r>
              <a:rPr kumimoji="0" sz="2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sz="2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number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BFABAF-326D-DD7B-879E-EE73D023A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CHAITANYA TRAINING AND CONSULTANCY</a:t>
            </a:r>
            <a:endParaRPr lang="en-IN" spc="-1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49BD23-9229-BEBC-FA5A-1734F988D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27</a:t>
            </a:fld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6082" y="453644"/>
            <a:ext cx="5467350" cy="596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35" dirty="0"/>
              <a:t>Terraform</a:t>
            </a:r>
            <a:r>
              <a:rPr spc="-60" dirty="0"/>
              <a:t> </a:t>
            </a:r>
            <a:r>
              <a:rPr spc="-10" dirty="0"/>
              <a:t>Input</a:t>
            </a:r>
            <a:r>
              <a:rPr spc="-120" dirty="0"/>
              <a:t> </a:t>
            </a:r>
            <a:r>
              <a:rPr spc="-35" dirty="0"/>
              <a:t>Variable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195" y="1258062"/>
            <a:ext cx="11804650" cy="13271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93700" marR="0" lvl="0" indent="-38100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Pct val="76190"/>
              <a:buFont typeface="Microsoft Sans Serif"/>
              <a:buChar char="•"/>
              <a:tabLst>
                <a:tab pos="393065" algn="l"/>
                <a:tab pos="393700" algn="l"/>
              </a:tabLst>
              <a:defRPr/>
            </a:pPr>
            <a:r>
              <a:rPr kumimoji="0" sz="2100" b="0" i="0" u="none" strike="noStrike" kern="1200" cap="none" spc="-5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Variable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blocks have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5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optional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arguments.</a:t>
            </a:r>
            <a:endParaRPr kumimoji="0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93700" marR="0" lvl="0" indent="-381000" algn="l" defTabSz="914400" rtl="0" eaLnBrk="1" fontAlgn="auto" latinLnBrk="0" hangingPunct="1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ClrTx/>
              <a:buSzPct val="76190"/>
              <a:buFont typeface="Microsoft Sans Serif"/>
              <a:buChar char="•"/>
              <a:tabLst>
                <a:tab pos="393065" algn="l"/>
                <a:tab pos="393700" algn="l"/>
              </a:tabLst>
              <a:defRPr/>
            </a:pPr>
            <a:r>
              <a:rPr kumimoji="0" sz="2100" b="0" i="0" u="none" strike="noStrike" kern="1200" cap="none" spc="-15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</a:t>
            </a:r>
            <a:r>
              <a:rPr kumimoji="0" sz="2100" b="0" i="0" u="none" strike="noStrike" kern="1200" cap="none" spc="25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recommend</a:t>
            </a:r>
            <a:r>
              <a:rPr kumimoji="0" sz="2100" b="0" i="0" u="none" strike="noStrike" kern="1200" cap="none" spc="-10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setting</a:t>
            </a:r>
            <a:r>
              <a:rPr kumimoji="0" sz="2100" b="0" i="0" u="none" strike="noStrike" kern="1200" cap="none" spc="-10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description</a:t>
            </a:r>
            <a:r>
              <a:rPr kumimoji="0" sz="2100" b="0" i="0" u="none" strike="noStrike" kern="1200" cap="none" spc="-10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type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-5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all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variables,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setting</a:t>
            </a:r>
            <a:r>
              <a:rPr kumimoji="0" sz="2100" b="0" i="0" u="none" strike="noStrike" kern="1200" cap="none" spc="-10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default</a:t>
            </a:r>
            <a:r>
              <a:rPr kumimoji="0" sz="2100" b="0" i="0" u="none" strike="noStrike" kern="1200" cap="none" spc="40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value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when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practic</a:t>
            </a:r>
            <a:endParaRPr kumimoji="0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93700" marR="0" lvl="0" indent="-381000" algn="l" defTabSz="914400" rtl="0" eaLnBrk="1" fontAlgn="auto" latinLnBrk="0" hangingPunct="1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Tx/>
              <a:buSzPct val="76190"/>
              <a:buFont typeface="Microsoft Sans Serif"/>
              <a:buChar char="•"/>
              <a:tabLst>
                <a:tab pos="393065" algn="l"/>
                <a:tab pos="393700" algn="l"/>
              </a:tabLst>
              <a:defRPr/>
            </a:pP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If</a:t>
            </a:r>
            <a:r>
              <a:rPr kumimoji="0" sz="2100" b="0" i="0" u="none" strike="noStrike" kern="1200" cap="none" spc="25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you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do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not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set</a:t>
            </a:r>
            <a:r>
              <a:rPr kumimoji="0" sz="2100" b="0" i="0" u="none" strike="noStrike" kern="1200" cap="none" spc="-20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default</a:t>
            </a:r>
            <a:r>
              <a:rPr kumimoji="0" sz="2100" b="0" i="0" u="none" strike="noStrike" kern="1200" cap="none" spc="35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value </a:t>
            </a:r>
            <a:r>
              <a:rPr kumimoji="0" sz="2100" b="0" i="0" u="none" strike="noStrike" kern="1200" cap="none" spc="-10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sz="2100" b="0" i="0" u="none" strike="noStrike" kern="1200" cap="none" spc="35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variable, 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you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must assign</a:t>
            </a:r>
            <a:r>
              <a:rPr kumimoji="0" sz="2100" b="0" i="0" u="none" strike="noStrike" kern="1200" cap="none" spc="-10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value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-5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before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-25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Terraform</a:t>
            </a:r>
            <a:endParaRPr kumimoji="0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93700" marR="0" lvl="0" indent="-381000" algn="l" defTabSz="914400" rtl="0" eaLnBrk="1" fontAlgn="auto" latinLnBrk="0" hangingPunct="1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ClrTx/>
              <a:buSzPct val="76190"/>
              <a:buFont typeface="Microsoft Sans Serif"/>
              <a:buChar char="•"/>
              <a:tabLst>
                <a:tab pos="393065" algn="l"/>
                <a:tab pos="393700" algn="l"/>
              </a:tabLst>
              <a:defRPr/>
            </a:pP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can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apply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configuration.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-25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Terraform</a:t>
            </a:r>
            <a:r>
              <a:rPr kumimoji="0" sz="2100" b="0" i="0" u="none" strike="noStrike" kern="1200" cap="none" spc="25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does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not</a:t>
            </a:r>
            <a:r>
              <a:rPr kumimoji="0" sz="2100" b="0" i="0" u="none" strike="noStrike" kern="1200" cap="none" spc="25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support</a:t>
            </a:r>
            <a:r>
              <a:rPr kumimoji="0" sz="2100" b="0" i="0" u="none" strike="noStrike" kern="1200" cap="none" spc="-5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unassigned</a:t>
            </a:r>
            <a:r>
              <a:rPr kumimoji="0" sz="2100" b="0" i="0" u="none" strike="noStrike" kern="1200" cap="none" spc="-10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srgbClr val="343536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variables.</a:t>
            </a:r>
            <a:endParaRPr kumimoji="0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9431" y="2840735"/>
            <a:ext cx="10988040" cy="316992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E270FD-99CE-2385-8948-EB32FC014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CHAITANYA TRAINING AND CONSULTANCY</a:t>
            </a:r>
            <a:endParaRPr lang="en-IN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64433-E3A6-1469-0D90-E5C22467B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28</a:t>
            </a:fld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6082" y="407452"/>
            <a:ext cx="9449918" cy="688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b="0" spc="-50" dirty="0">
                <a:latin typeface="Microsoft Sans Serif"/>
                <a:cs typeface="Microsoft Sans Serif"/>
              </a:rPr>
              <a:t>Terraform </a:t>
            </a:r>
            <a:r>
              <a:rPr b="0" spc="-45" dirty="0">
                <a:latin typeface="Microsoft Sans Serif"/>
                <a:cs typeface="Microsoft Sans Serif"/>
              </a:rPr>
              <a:t>Variable</a:t>
            </a:r>
            <a:r>
              <a:rPr b="0" spc="-130" dirty="0">
                <a:latin typeface="Microsoft Sans Serif"/>
                <a:cs typeface="Microsoft Sans Serif"/>
              </a:rPr>
              <a:t> </a:t>
            </a:r>
            <a:r>
              <a:rPr b="0" spc="-55" dirty="0">
                <a:latin typeface="Microsoft Sans Serif"/>
                <a:cs typeface="Microsoft Sans Serif"/>
              </a:rPr>
              <a:t>Type:</a:t>
            </a:r>
            <a:r>
              <a:rPr b="0" spc="30" dirty="0">
                <a:latin typeface="Microsoft Sans Serif"/>
                <a:cs typeface="Microsoft Sans Serif"/>
              </a:rPr>
              <a:t> </a:t>
            </a:r>
            <a:r>
              <a:rPr b="0" spc="-10" dirty="0">
                <a:latin typeface="Microsoft Sans Serif"/>
                <a:cs typeface="Microsoft Sans Serif"/>
              </a:rPr>
              <a:t>String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9839" y="1953905"/>
            <a:ext cx="6138671" cy="3015207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909626-C98B-045D-0F3D-60176FDDA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CHAITANYA TRAINING AND CONSULTANCY</a:t>
            </a:r>
            <a:endParaRPr lang="en-IN" spc="-1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5EB051-69FC-44A5-11D8-08A773307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29</a:t>
            </a:fld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6082" y="407452"/>
            <a:ext cx="8002118" cy="688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b="0" spc="-50" dirty="0">
                <a:latin typeface="Microsoft Sans Serif"/>
                <a:cs typeface="Microsoft Sans Serif"/>
              </a:rPr>
              <a:t>Terraform</a:t>
            </a:r>
            <a:r>
              <a:rPr b="0" spc="-55" dirty="0">
                <a:latin typeface="Microsoft Sans Serif"/>
                <a:cs typeface="Microsoft Sans Serif"/>
              </a:rPr>
              <a:t> </a:t>
            </a:r>
            <a:r>
              <a:rPr b="0" spc="-45" dirty="0">
                <a:latin typeface="Microsoft Sans Serif"/>
                <a:cs typeface="Microsoft Sans Serif"/>
              </a:rPr>
              <a:t>Variable</a:t>
            </a:r>
            <a:r>
              <a:rPr b="0" spc="-135" dirty="0">
                <a:latin typeface="Microsoft Sans Serif"/>
                <a:cs typeface="Microsoft Sans Serif"/>
              </a:rPr>
              <a:t> </a:t>
            </a:r>
            <a:r>
              <a:rPr b="0" spc="-55" dirty="0">
                <a:latin typeface="Microsoft Sans Serif"/>
                <a:cs typeface="Microsoft Sans Serif"/>
              </a:rPr>
              <a:t>Type:</a:t>
            </a:r>
            <a:r>
              <a:rPr b="0" spc="25" dirty="0">
                <a:latin typeface="Microsoft Sans Serif"/>
                <a:cs typeface="Microsoft Sans Serif"/>
              </a:rPr>
              <a:t> </a:t>
            </a:r>
            <a:r>
              <a:rPr b="0" spc="-10" dirty="0">
                <a:latin typeface="Microsoft Sans Serif"/>
                <a:cs typeface="Microsoft Sans Serif"/>
              </a:rPr>
              <a:t>List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7472" y="1877567"/>
            <a:ext cx="5282184" cy="155143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7472" y="4319015"/>
            <a:ext cx="4343400" cy="661416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2B96B3-232B-999F-5CA8-7EE9300F1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CHAITANYA TRAINING AND CONSULTANCY</a:t>
            </a:r>
            <a:endParaRPr lang="en-IN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C06BD3-3A06-B823-69D4-3F39A2499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30</a:t>
            </a:fld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6082" y="407452"/>
            <a:ext cx="8764118" cy="688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b="0" spc="-50" dirty="0">
                <a:latin typeface="Microsoft Sans Serif"/>
                <a:cs typeface="Microsoft Sans Serif"/>
              </a:rPr>
              <a:t>Terraform</a:t>
            </a:r>
            <a:r>
              <a:rPr b="0" spc="-55" dirty="0">
                <a:latin typeface="Microsoft Sans Serif"/>
                <a:cs typeface="Microsoft Sans Serif"/>
              </a:rPr>
              <a:t> </a:t>
            </a:r>
            <a:r>
              <a:rPr b="0" spc="-45" dirty="0">
                <a:latin typeface="Microsoft Sans Serif"/>
                <a:cs typeface="Microsoft Sans Serif"/>
              </a:rPr>
              <a:t>Variable</a:t>
            </a:r>
            <a:r>
              <a:rPr b="0" spc="-135" dirty="0">
                <a:latin typeface="Microsoft Sans Serif"/>
                <a:cs typeface="Microsoft Sans Serif"/>
              </a:rPr>
              <a:t> </a:t>
            </a:r>
            <a:r>
              <a:rPr b="0" spc="-55" dirty="0">
                <a:latin typeface="Microsoft Sans Serif"/>
                <a:cs typeface="Microsoft Sans Serif"/>
              </a:rPr>
              <a:t>Type:</a:t>
            </a:r>
            <a:r>
              <a:rPr b="0" spc="25" dirty="0">
                <a:latin typeface="Microsoft Sans Serif"/>
                <a:cs typeface="Microsoft Sans Serif"/>
              </a:rPr>
              <a:t> </a:t>
            </a:r>
            <a:r>
              <a:rPr b="0" spc="-5" dirty="0">
                <a:latin typeface="Microsoft Sans Serif"/>
                <a:cs typeface="Microsoft Sans Serif"/>
              </a:rPr>
              <a:t>Map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7472" y="1438655"/>
            <a:ext cx="5903976" cy="455066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37959" y="3026664"/>
            <a:ext cx="5394959" cy="847344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76514-3F4D-3B45-40F4-5B24A70F9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CHAITANYA TRAINING AND CONSULTANCY</a:t>
            </a:r>
            <a:endParaRPr lang="en-IN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4C1D6-4D15-C16D-A2EC-B154A0612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31</a:t>
            </a:fld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6082" y="443392"/>
            <a:ext cx="8078318" cy="688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b="0" spc="-50" dirty="0">
                <a:latin typeface="Microsoft Sans Serif"/>
                <a:cs typeface="Microsoft Sans Serif"/>
              </a:rPr>
              <a:t>Terraform</a:t>
            </a:r>
            <a:r>
              <a:rPr b="0" spc="-55" dirty="0">
                <a:latin typeface="Microsoft Sans Serif"/>
                <a:cs typeface="Microsoft Sans Serif"/>
              </a:rPr>
              <a:t> </a:t>
            </a:r>
            <a:r>
              <a:rPr b="0" spc="-45" dirty="0">
                <a:latin typeface="Microsoft Sans Serif"/>
                <a:cs typeface="Microsoft Sans Serif"/>
              </a:rPr>
              <a:t>Variable</a:t>
            </a:r>
            <a:r>
              <a:rPr b="0" spc="-135" dirty="0">
                <a:latin typeface="Microsoft Sans Serif"/>
                <a:cs typeface="Microsoft Sans Serif"/>
              </a:rPr>
              <a:t> </a:t>
            </a:r>
            <a:r>
              <a:rPr b="0" spc="-55" dirty="0">
                <a:latin typeface="Microsoft Sans Serif"/>
                <a:cs typeface="Microsoft Sans Serif"/>
              </a:rPr>
              <a:t>Type:</a:t>
            </a:r>
            <a:r>
              <a:rPr b="0" spc="25" dirty="0">
                <a:latin typeface="Microsoft Sans Serif"/>
                <a:cs typeface="Microsoft Sans Serif"/>
              </a:rPr>
              <a:t> </a:t>
            </a:r>
            <a:r>
              <a:rPr b="0" spc="-5" dirty="0">
                <a:latin typeface="Microsoft Sans Serif"/>
                <a:cs typeface="Microsoft Sans Serif"/>
              </a:rPr>
              <a:t>Map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6759" y="1179575"/>
            <a:ext cx="10533888" cy="5081016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49AFDD-D753-3F4A-9D95-5128AB7DF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CHAITANYA TRAINING AND CONSULTANCY</a:t>
            </a:r>
            <a:endParaRPr lang="en-IN" spc="-1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7E7079-0E13-EE7C-CE01-749CE1BFB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32</a:t>
            </a:fld>
            <a:endParaRPr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6082" y="407452"/>
            <a:ext cx="8611718" cy="688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b="0" spc="-50" dirty="0">
                <a:latin typeface="Microsoft Sans Serif"/>
                <a:cs typeface="Microsoft Sans Serif"/>
              </a:rPr>
              <a:t>Terraform</a:t>
            </a:r>
            <a:r>
              <a:rPr b="0" spc="-55" dirty="0">
                <a:latin typeface="Microsoft Sans Serif"/>
                <a:cs typeface="Microsoft Sans Serif"/>
              </a:rPr>
              <a:t> </a:t>
            </a:r>
            <a:r>
              <a:rPr b="0" spc="-45" dirty="0">
                <a:latin typeface="Microsoft Sans Serif"/>
                <a:cs typeface="Microsoft Sans Serif"/>
              </a:rPr>
              <a:t>Variable</a:t>
            </a:r>
            <a:r>
              <a:rPr b="0" spc="-135" dirty="0">
                <a:latin typeface="Microsoft Sans Serif"/>
                <a:cs typeface="Microsoft Sans Serif"/>
              </a:rPr>
              <a:t> </a:t>
            </a:r>
            <a:r>
              <a:rPr b="0" spc="-55" dirty="0">
                <a:latin typeface="Microsoft Sans Serif"/>
                <a:cs typeface="Microsoft Sans Serif"/>
              </a:rPr>
              <a:t>Type:</a:t>
            </a:r>
            <a:r>
              <a:rPr b="0" spc="25" dirty="0">
                <a:latin typeface="Microsoft Sans Serif"/>
                <a:cs typeface="Microsoft Sans Serif"/>
              </a:rPr>
              <a:t> </a:t>
            </a:r>
            <a:r>
              <a:rPr b="0" spc="-10" dirty="0">
                <a:latin typeface="Microsoft Sans Serif"/>
                <a:cs typeface="Microsoft Sans Serif"/>
              </a:rPr>
              <a:t>Bool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7472" y="1444752"/>
            <a:ext cx="5611368" cy="219456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3568" y="4120896"/>
            <a:ext cx="5614416" cy="886968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353568" y="1420367"/>
            <a:ext cx="11597640" cy="4883150"/>
            <a:chOff x="353568" y="1420367"/>
            <a:chExt cx="11597640" cy="488315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3568" y="5489447"/>
              <a:ext cx="5812536" cy="81381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38671" y="1420367"/>
              <a:ext cx="5812535" cy="4434840"/>
            </a:xfrm>
            <a:prstGeom prst="rect">
              <a:avLst/>
            </a:prstGeom>
          </p:spPr>
        </p:pic>
      </p:grp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3F1C98-6E61-0BE5-D08B-5FE2887C3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CHAITANYA TRAINING AND CONSULTANCY</a:t>
            </a:r>
            <a:endParaRPr lang="en-IN" spc="-1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8A9B0D-8008-9240-AF4C-B26841345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33</a:t>
            </a:fld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6082" y="453644"/>
            <a:ext cx="6016625" cy="596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35" dirty="0"/>
              <a:t>Terraform</a:t>
            </a:r>
            <a:r>
              <a:rPr spc="-45" dirty="0"/>
              <a:t> </a:t>
            </a:r>
            <a:r>
              <a:rPr spc="-35" dirty="0"/>
              <a:t>Variable:</a:t>
            </a:r>
            <a:r>
              <a:rPr spc="-130" dirty="0"/>
              <a:t> </a:t>
            </a:r>
            <a:r>
              <a:rPr spc="-10" dirty="0"/>
              <a:t>Output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2450" y="1272616"/>
            <a:ext cx="11759565" cy="45808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699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Pct val="76190"/>
              <a:buFont typeface="Microsoft Sans Serif"/>
              <a:buChar char="•"/>
              <a:tabLst>
                <a:tab pos="469265" algn="l"/>
                <a:tab pos="469900" algn="l"/>
              </a:tabLst>
              <a:defRPr/>
            </a:pPr>
            <a:r>
              <a:rPr kumimoji="0" sz="21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Terraform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will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store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hundreds</a:t>
            </a:r>
            <a:r>
              <a:rPr kumimoji="0" sz="21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even</a:t>
            </a:r>
            <a:r>
              <a:rPr kumimoji="0" sz="2100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thousands</a:t>
            </a:r>
            <a:r>
              <a:rPr kumimoji="0" sz="21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attribute</a:t>
            </a:r>
            <a:r>
              <a:rPr kumimoji="0" sz="21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values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all</a:t>
            </a:r>
            <a:r>
              <a:rPr kumimoji="0" sz="21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defined</a:t>
            </a:r>
            <a:r>
              <a:rPr kumimoji="0" sz="2100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resources</a:t>
            </a:r>
            <a:r>
              <a:rPr kumimoji="0" sz="21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sz="2100" b="0" i="0" u="none" strike="noStrike" kern="120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our</a:t>
            </a:r>
            <a:endParaRPr kumimoji="0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59079" marR="0" lvl="0" indent="0" algn="l" defTabSz="914400" rtl="0" eaLnBrk="1" fontAlgn="auto" latinLnBrk="0" hangingPunct="1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infrastructure</a:t>
            </a:r>
            <a:r>
              <a:rPr kumimoji="0" sz="21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state</a:t>
            </a:r>
            <a:r>
              <a:rPr kumimoji="0" sz="21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file.</a:t>
            </a:r>
            <a:endParaRPr kumimoji="0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469900" marR="408940" lvl="0" indent="-457200" algn="l" defTabSz="914400" rtl="0" eaLnBrk="1" fontAlgn="auto" latinLnBrk="0" hangingPunct="1">
              <a:lnSpc>
                <a:spcPct val="101499"/>
              </a:lnSpc>
              <a:spcBef>
                <a:spcPts val="0"/>
              </a:spcBef>
              <a:spcAft>
                <a:spcPts val="0"/>
              </a:spcAft>
              <a:buClrTx/>
              <a:buSzPct val="76190"/>
              <a:buFont typeface="Microsoft Sans Serif"/>
              <a:buChar char="•"/>
              <a:tabLst>
                <a:tab pos="469265" algn="l"/>
                <a:tab pos="469900" algn="l"/>
              </a:tabLst>
              <a:defRPr/>
            </a:pP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outputted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attributes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can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not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only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 used </a:t>
            </a:r>
            <a:r>
              <a:rPr kumimoji="0" sz="21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user </a:t>
            </a:r>
            <a:r>
              <a:rPr kumimoji="0" sz="21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reference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but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can also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act as 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input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other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resources</a:t>
            </a:r>
            <a:r>
              <a:rPr kumimoji="0" sz="21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being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created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via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Terraform.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can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use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output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variables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organize</a:t>
            </a:r>
            <a:r>
              <a:rPr kumimoji="0" sz="21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data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be </a:t>
            </a:r>
            <a:r>
              <a:rPr kumimoji="0" sz="2100" b="0" i="0" u="none" strike="noStrike" kern="1200" cap="none" spc="-45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easily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queried 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sz="2100" b="0" i="0" u="none" strike="noStrike" kern="1200" cap="none" spc="50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shown</a:t>
            </a:r>
            <a:r>
              <a:rPr kumimoji="0" sz="21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back</a:t>
            </a:r>
            <a:r>
              <a:rPr kumimoji="0" sz="21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Terraform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user.</a:t>
            </a:r>
            <a:endParaRPr kumimoji="0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ClrTx/>
              <a:buSzTx/>
              <a:buFont typeface="Microsoft Sans Serif"/>
              <a:buChar char="•"/>
              <a:tabLst/>
              <a:defRPr/>
            </a:pPr>
            <a:endParaRPr kumimoji="0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4699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6190"/>
              <a:buFont typeface="Microsoft Sans Serif"/>
              <a:buChar char="•"/>
              <a:tabLst>
                <a:tab pos="469265" algn="l"/>
                <a:tab pos="469900" algn="l"/>
              </a:tabLst>
              <a:defRPr/>
            </a:pP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Output</a:t>
            </a:r>
            <a:r>
              <a:rPr kumimoji="0" sz="21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values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 </a:t>
            </a:r>
            <a:r>
              <a:rPr kumimoji="0" sz="21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like</a:t>
            </a:r>
            <a:r>
              <a:rPr kumimoji="0" sz="2100" b="0" i="0" u="none" strike="noStrike" kern="1200" cap="none" spc="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return</a:t>
            </a:r>
            <a:r>
              <a:rPr kumimoji="0" sz="21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values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sz="2100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sz="21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Terraform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module,</a:t>
            </a:r>
            <a:r>
              <a:rPr kumimoji="0" sz="21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have</a:t>
            </a:r>
            <a:r>
              <a:rPr kumimoji="0" sz="21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several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uses:</a:t>
            </a:r>
            <a:endParaRPr kumimoji="0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Tx/>
              <a:buSzTx/>
              <a:buFont typeface="Microsoft Sans Serif"/>
              <a:buChar char="•"/>
              <a:tabLst/>
              <a:defRPr/>
            </a:pPr>
            <a:endParaRPr kumimoji="0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802005" marR="0" lvl="1" indent="-183515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Pct val="76190"/>
              <a:buFontTx/>
              <a:buChar char="-"/>
              <a:tabLst>
                <a:tab pos="802640" algn="l"/>
              </a:tabLst>
              <a:defRPr/>
            </a:pP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child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module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can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use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outputs 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expose</a:t>
            </a:r>
            <a:r>
              <a:rPr kumimoji="0" sz="21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subset</a:t>
            </a:r>
            <a:r>
              <a:rPr kumimoji="0" sz="21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its</a:t>
            </a:r>
            <a:r>
              <a:rPr kumimoji="0" sz="2100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resource</a:t>
            </a:r>
            <a:r>
              <a:rPr kumimoji="0" sz="21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attributes</a:t>
            </a:r>
            <a:r>
              <a:rPr kumimoji="0" sz="21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parent</a:t>
            </a:r>
            <a:r>
              <a:rPr kumimoji="0" sz="21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module.</a:t>
            </a:r>
            <a:endParaRPr kumimoji="0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802005" marR="0" lvl="1" indent="-183515" algn="l" defTabSz="914400" rtl="0" eaLnBrk="1" fontAlgn="auto" latinLnBrk="0" hangingPunct="1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ClrTx/>
              <a:buSzPct val="76190"/>
              <a:buFontTx/>
              <a:buChar char="-"/>
              <a:tabLst>
                <a:tab pos="802640" algn="l"/>
              </a:tabLst>
              <a:defRPr/>
            </a:pP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root</a:t>
            </a:r>
            <a:r>
              <a:rPr kumimoji="0" sz="21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module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can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use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outputs</a:t>
            </a:r>
            <a:r>
              <a:rPr kumimoji="0" sz="21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print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certain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values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the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CLI</a:t>
            </a:r>
            <a:r>
              <a:rPr kumimoji="0" sz="2100" b="0" i="0" u="none" strike="noStrike" kern="1200" cap="none" spc="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output</a:t>
            </a:r>
            <a:r>
              <a:rPr kumimoji="0" sz="21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after</a:t>
            </a:r>
            <a:r>
              <a:rPr kumimoji="0" sz="21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running</a:t>
            </a:r>
            <a:r>
              <a:rPr kumimoji="0" sz="21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terraform</a:t>
            </a:r>
            <a:endParaRPr kumimoji="0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802005" marR="0" lvl="0" indent="0" algn="l" defTabSz="914400" rtl="0" eaLnBrk="1" fontAlgn="auto" latinLnBrk="0" hangingPunct="1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apply.</a:t>
            </a:r>
            <a:endParaRPr kumimoji="0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485140" marR="0" lvl="0" indent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Tx/>
              <a:buNone/>
              <a:tabLst>
                <a:tab pos="743585" algn="l"/>
              </a:tabLst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	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When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using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remote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state,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root</a:t>
            </a:r>
            <a:r>
              <a:rPr kumimoji="0" sz="21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module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outputs</a:t>
            </a:r>
            <a:r>
              <a:rPr kumimoji="0" sz="21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can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be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accessed</a:t>
            </a:r>
            <a:r>
              <a:rPr kumimoji="0" sz="21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by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other</a:t>
            </a:r>
            <a:endParaRPr kumimoji="0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619125" marR="0" lvl="0" indent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configurations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via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sz="2100" b="0" i="0" u="none" strike="noStrike" kern="1200" cap="none" spc="4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terraform_remote_state</a:t>
            </a:r>
            <a:r>
              <a:rPr kumimoji="0" sz="21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data</a:t>
            </a:r>
            <a:r>
              <a:rPr kumimoji="0" sz="21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source.</a:t>
            </a:r>
            <a:endParaRPr kumimoji="0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AD1D39-1C86-608D-45EB-10C2E1D7D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CHAITANYA TRAINING AND CONSULTANCY</a:t>
            </a:r>
            <a:endParaRPr lang="en-IN" spc="-1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00274C-DCD2-A015-F41A-EE7587C9C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34</a:t>
            </a:fld>
            <a:endParaRPr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6082" y="407452"/>
            <a:ext cx="8992718" cy="688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b="0" spc="-50" dirty="0">
                <a:latin typeface="Microsoft Sans Serif"/>
                <a:cs typeface="Microsoft Sans Serif"/>
              </a:rPr>
              <a:t>Terraform</a:t>
            </a:r>
            <a:r>
              <a:rPr b="0" spc="-75" dirty="0">
                <a:latin typeface="Microsoft Sans Serif"/>
                <a:cs typeface="Microsoft Sans Serif"/>
              </a:rPr>
              <a:t> </a:t>
            </a:r>
            <a:r>
              <a:rPr b="0" spc="-40" dirty="0">
                <a:latin typeface="Microsoft Sans Serif"/>
                <a:cs typeface="Microsoft Sans Serif"/>
              </a:rPr>
              <a:t>Variable:</a:t>
            </a:r>
            <a:r>
              <a:rPr b="0" spc="-95" dirty="0">
                <a:latin typeface="Microsoft Sans Serif"/>
                <a:cs typeface="Microsoft Sans Serif"/>
              </a:rPr>
              <a:t> </a:t>
            </a:r>
            <a:r>
              <a:rPr b="0" spc="-5" dirty="0">
                <a:latin typeface="Microsoft Sans Serif"/>
                <a:cs typeface="Microsoft Sans Serif"/>
              </a:rPr>
              <a:t>Output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4424" y="1372470"/>
            <a:ext cx="5236464" cy="313247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46647" y="2148839"/>
            <a:ext cx="5769863" cy="248107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37816" y="4843271"/>
            <a:ext cx="8439912" cy="1304543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B22E3C-CC45-A3BC-FB68-5302B3663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CHAITANYA TRAINING AND CONSULTANCY</a:t>
            </a:r>
            <a:endParaRPr lang="en-IN" spc="-1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3D011C-5317-EE83-6EB9-52D454B63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35</a:t>
            </a:fld>
            <a:endParaRPr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6082" y="407452"/>
            <a:ext cx="7240118" cy="688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b="0" spc="-10" dirty="0">
                <a:latin typeface="Microsoft Sans Serif"/>
                <a:cs typeface="Microsoft Sans Serif"/>
              </a:rPr>
              <a:t>Local</a:t>
            </a:r>
            <a:r>
              <a:rPr b="0" spc="-20" dirty="0">
                <a:latin typeface="Microsoft Sans Serif"/>
                <a:cs typeface="Microsoft Sans Serif"/>
              </a:rPr>
              <a:t> </a:t>
            </a:r>
            <a:r>
              <a:rPr b="0" spc="-10" dirty="0">
                <a:latin typeface="Microsoft Sans Serif"/>
                <a:cs typeface="Microsoft Sans Serif"/>
              </a:rPr>
              <a:t>values</a:t>
            </a:r>
            <a:r>
              <a:rPr b="0" spc="-45" dirty="0">
                <a:latin typeface="Microsoft Sans Serif"/>
                <a:cs typeface="Microsoft Sans Serif"/>
              </a:rPr>
              <a:t> </a:t>
            </a:r>
            <a:r>
              <a:rPr b="0" spc="-15" dirty="0">
                <a:latin typeface="Microsoft Sans Serif"/>
                <a:cs typeface="Microsoft Sans Serif"/>
              </a:rPr>
              <a:t>in</a:t>
            </a:r>
            <a:r>
              <a:rPr b="0" spc="5" dirty="0">
                <a:latin typeface="Microsoft Sans Serif"/>
                <a:cs typeface="Microsoft Sans Serif"/>
              </a:rPr>
              <a:t> </a:t>
            </a:r>
            <a:r>
              <a:rPr b="0" spc="-5" dirty="0">
                <a:latin typeface="Microsoft Sans Serif"/>
                <a:cs typeface="Microsoft Sans Serif"/>
              </a:rPr>
              <a:t>terraform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2450" y="1468958"/>
            <a:ext cx="11108055" cy="4051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Pct val="75000"/>
              <a:buFont typeface="Microsoft Sans Serif"/>
              <a:buChar char="•"/>
              <a:tabLst>
                <a:tab pos="469265" algn="l"/>
                <a:tab pos="469900" algn="l"/>
              </a:tabLst>
              <a:defRPr/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These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are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variables</a:t>
            </a:r>
            <a:r>
              <a:rPr kumimoji="0" sz="2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that</a:t>
            </a:r>
            <a:r>
              <a:rPr kumimoji="0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are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local to</a:t>
            </a:r>
            <a:r>
              <a:rPr kumimoji="0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a</a:t>
            </a:r>
            <a:r>
              <a:rPr kumimoji="0" sz="24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module.</a:t>
            </a:r>
            <a:r>
              <a:rPr kumimoji="0" sz="2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They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are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defined,</a:t>
            </a:r>
            <a:r>
              <a:rPr kumimoji="0" sz="2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assigned,</a:t>
            </a:r>
            <a:r>
              <a:rPr kumimoji="0" sz="2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and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used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in</a:t>
            </a:r>
          </a:p>
          <a:p>
            <a:pPr marL="46990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>
                <a:tab pos="1020444" algn="l"/>
              </a:tabLst>
              <a:defRPr/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the	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same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module,</a:t>
            </a:r>
            <a:r>
              <a:rPr kumimoji="0" sz="2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and</a:t>
            </a:r>
            <a:r>
              <a:rPr kumimoji="0" sz="2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defined</a:t>
            </a:r>
            <a:r>
              <a:rPr kumimoji="0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in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the</a:t>
            </a:r>
            <a:r>
              <a:rPr kumimoji="0" sz="2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“locals”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block.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Calibri"/>
            </a:endParaRPr>
          </a:p>
          <a:p>
            <a:pPr marL="469900" marR="43180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 typeface="Microsoft Sans Serif"/>
              <a:buChar char="•"/>
              <a:tabLst>
                <a:tab pos="469265" algn="l"/>
                <a:tab pos="469900" algn="l"/>
              </a:tabLst>
              <a:defRPr/>
            </a:pP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Local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variables 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can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be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declared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once and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used 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any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number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of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times in the module. </a:t>
            </a:r>
            <a:r>
              <a:rPr kumimoji="0" sz="2400" b="0" i="0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These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can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be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accessed</a:t>
            </a:r>
            <a:r>
              <a:rPr kumimoji="0" sz="24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as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objects</a:t>
            </a:r>
            <a:r>
              <a:rPr kumimoji="0" sz="24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by</a:t>
            </a:r>
            <a:r>
              <a:rPr kumimoji="0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using</a:t>
            </a:r>
            <a:r>
              <a:rPr kumimoji="0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the</a:t>
            </a:r>
            <a:r>
              <a:rPr kumimoji="0" sz="2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format</a:t>
            </a:r>
            <a:r>
              <a:rPr kumimoji="0" sz="2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of 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"local.Variable_Name".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 typeface="Microsoft Sans Serif"/>
              <a:buChar char="•"/>
              <a:tabLst/>
              <a:defRPr/>
            </a:pPr>
            <a:endParaRPr kumimoji="0" sz="2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Calibri"/>
            </a:endParaRPr>
          </a:p>
          <a:p>
            <a:pPr marL="469900" marR="90805" lvl="0" indent="-45720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Pct val="75000"/>
              <a:buFont typeface="Microsoft Sans Serif"/>
              <a:buChar char="•"/>
              <a:tabLst>
                <a:tab pos="469265" algn="l"/>
                <a:tab pos="469900" algn="l"/>
                <a:tab pos="1390015" algn="l"/>
                <a:tab pos="2194560" algn="l"/>
                <a:tab pos="2647315" algn="l"/>
              </a:tabLst>
              <a:defRPr/>
            </a:pP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Unlike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variables found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in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programming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languages, </a:t>
            </a:r>
            <a:r>
              <a:rPr kumimoji="0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Terraform's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locals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don't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change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values	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during</a:t>
            </a:r>
            <a:r>
              <a:rPr kumimoji="0" sz="2400" b="0" i="0" u="none" strike="noStrike" kern="1200" cap="none" spc="-6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or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between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Terraform</a:t>
            </a:r>
            <a:r>
              <a:rPr kumimoji="0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runs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such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as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plan,</a:t>
            </a:r>
            <a:r>
              <a:rPr kumimoji="0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apply,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or </a:t>
            </a:r>
            <a:r>
              <a:rPr kumimoji="0" sz="2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destroy.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You</a:t>
            </a:r>
            <a:r>
              <a:rPr kumimoji="0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can</a:t>
            </a:r>
            <a:r>
              <a:rPr kumimoji="0" sz="24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use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locals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to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give	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a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name</a:t>
            </a:r>
            <a:r>
              <a:rPr kumimoji="0" sz="2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to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the</a:t>
            </a:r>
            <a:r>
              <a:rPr kumimoji="0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result</a:t>
            </a:r>
            <a:r>
              <a:rPr kumimoji="0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of</a:t>
            </a:r>
            <a:r>
              <a:rPr kumimoji="0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any </a:t>
            </a:r>
            <a:r>
              <a:rPr kumimoji="0" sz="2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Terraform</a:t>
            </a:r>
            <a:r>
              <a:rPr kumimoji="0" sz="2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expression,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and</a:t>
            </a:r>
            <a:r>
              <a:rPr kumimoji="0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re-use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that</a:t>
            </a:r>
            <a:r>
              <a:rPr kumimoji="0" sz="24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name </a:t>
            </a:r>
            <a:r>
              <a:rPr kumimoji="0" sz="2400" b="0" i="0" u="none" strike="noStrike" kern="1200" cap="none" spc="-5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throughout</a:t>
            </a:r>
            <a:r>
              <a:rPr kumimoji="0" sz="24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your	configuration. 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Unlike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input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variables, locals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are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not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set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directly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by </a:t>
            </a:r>
            <a:r>
              <a:rPr kumimoji="0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users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of</a:t>
            </a:r>
            <a:r>
              <a:rPr kumimoji="0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your	configuration.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917917-8B5F-F136-B7C1-80C9E03EE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CHAITANYA TRAINING AND CONSULTANCY</a:t>
            </a:r>
            <a:endParaRPr lang="en-IN" spc="-1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538C37-1F0C-7F9C-B95E-F7BD1ECE1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36</a:t>
            </a:fld>
            <a:endParaRPr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6082" y="407452"/>
            <a:ext cx="8611718" cy="688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b="0" spc="-5" dirty="0">
                <a:latin typeface="Microsoft Sans Serif"/>
                <a:cs typeface="Microsoft Sans Serif"/>
              </a:rPr>
              <a:t>When</a:t>
            </a:r>
            <a:r>
              <a:rPr b="0" spc="-70" dirty="0">
                <a:latin typeface="Microsoft Sans Serif"/>
                <a:cs typeface="Microsoft Sans Serif"/>
              </a:rPr>
              <a:t> </a:t>
            </a:r>
            <a:r>
              <a:rPr b="0" spc="-215" dirty="0">
                <a:latin typeface="Microsoft Sans Serif"/>
                <a:cs typeface="Microsoft Sans Serif"/>
              </a:rPr>
              <a:t>To</a:t>
            </a:r>
            <a:r>
              <a:rPr b="0" spc="5" dirty="0">
                <a:latin typeface="Microsoft Sans Serif"/>
                <a:cs typeface="Microsoft Sans Serif"/>
              </a:rPr>
              <a:t> </a:t>
            </a:r>
            <a:r>
              <a:rPr b="0" spc="-5" dirty="0">
                <a:latin typeface="Microsoft Sans Serif"/>
                <a:cs typeface="Microsoft Sans Serif"/>
              </a:rPr>
              <a:t>Use</a:t>
            </a:r>
            <a:r>
              <a:rPr b="0" spc="10" dirty="0">
                <a:latin typeface="Microsoft Sans Serif"/>
                <a:cs typeface="Microsoft Sans Serif"/>
              </a:rPr>
              <a:t> </a:t>
            </a:r>
            <a:r>
              <a:rPr b="0" spc="-10" dirty="0">
                <a:latin typeface="Microsoft Sans Serif"/>
                <a:cs typeface="Microsoft Sans Serif"/>
              </a:rPr>
              <a:t>Local</a:t>
            </a:r>
            <a:r>
              <a:rPr b="0" spc="-40" dirty="0">
                <a:latin typeface="Microsoft Sans Serif"/>
                <a:cs typeface="Microsoft Sans Serif"/>
              </a:rPr>
              <a:t> </a:t>
            </a:r>
            <a:r>
              <a:rPr b="0" spc="-50" dirty="0">
                <a:latin typeface="Microsoft Sans Serif"/>
                <a:cs typeface="Microsoft Sans Serif"/>
              </a:rPr>
              <a:t>Values?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3390" y="6578502"/>
            <a:ext cx="1781175" cy="17526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Sans Serif"/>
                <a:ea typeface="+mn-ea"/>
                <a:cs typeface="Microsoft Sans Serif"/>
                <a:hlinkClick r:id="rId2"/>
              </a:rPr>
              <a:t>www.apexgloballearning.com</a:t>
            </a:r>
            <a:endParaRPr kumimoji="0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Sans Serif"/>
              <a:ea typeface="+mn-ea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4123" y="1213231"/>
            <a:ext cx="11043920" cy="524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6240" marR="5080" lvl="0" indent="-384175" algn="l" defTabSz="914400" rtl="0" eaLnBrk="1" fontAlgn="auto" latinLnBrk="0" hangingPunct="1">
              <a:lnSpc>
                <a:spcPct val="101499"/>
              </a:lnSpc>
              <a:spcBef>
                <a:spcPts val="95"/>
              </a:spcBef>
              <a:spcAft>
                <a:spcPts val="0"/>
              </a:spcAft>
              <a:buClrTx/>
              <a:buSzPct val="76190"/>
              <a:buFont typeface="Microsoft Sans Serif"/>
              <a:buChar char="•"/>
              <a:tabLst>
                <a:tab pos="396240" algn="l"/>
                <a:tab pos="396875" algn="l"/>
              </a:tabLst>
              <a:defRPr/>
            </a:pP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Local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values</a:t>
            </a:r>
            <a:r>
              <a:rPr kumimoji="0" sz="2100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can</a:t>
            </a:r>
            <a:r>
              <a:rPr kumimoji="0" sz="21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be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helpful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to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avoid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repeating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the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same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values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or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expressions</a:t>
            </a:r>
            <a:r>
              <a:rPr kumimoji="0" sz="21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multiple</a:t>
            </a:r>
            <a:r>
              <a:rPr kumimoji="0" sz="2100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times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in</a:t>
            </a:r>
            <a:r>
              <a:rPr kumimoji="0" sz="2100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a </a:t>
            </a:r>
            <a:r>
              <a:rPr kumimoji="0" sz="2100" b="0" i="0" u="none" strike="noStrike" kern="1200" cap="none" spc="-45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configuration,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but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if</a:t>
            </a:r>
            <a:r>
              <a:rPr kumimoji="0" sz="21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overused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they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can also 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make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a 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configuration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hard</a:t>
            </a:r>
            <a:r>
              <a:rPr kumimoji="0" sz="21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to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read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by</a:t>
            </a:r>
            <a:r>
              <a:rPr kumimoji="0" sz="2100" b="0" i="0" u="none" strike="noStrike" kern="1200" cap="none" spc="48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future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maintainers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by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hiding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the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actual</a:t>
            </a:r>
            <a:r>
              <a:rPr kumimoji="0" sz="21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values</a:t>
            </a:r>
            <a:r>
              <a:rPr kumimoji="0" sz="2100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used.</a:t>
            </a: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ClrTx/>
              <a:buSzTx/>
              <a:buFont typeface="Microsoft Sans Serif"/>
              <a:buChar char="•"/>
              <a:tabLst/>
              <a:defRPr/>
            </a:pPr>
            <a:endParaRPr kumimoji="0" sz="2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Calibri"/>
            </a:endParaRPr>
          </a:p>
          <a:p>
            <a:pPr marL="396240" marR="128270" lvl="0" indent="-384175" algn="just" defTabSz="914400" rtl="0" eaLnBrk="1" fontAlgn="auto" latinLnBrk="0" hangingPunct="1">
              <a:lnSpc>
                <a:spcPct val="101499"/>
              </a:lnSpc>
              <a:spcBef>
                <a:spcPts val="0"/>
              </a:spcBef>
              <a:spcAft>
                <a:spcPts val="0"/>
              </a:spcAft>
              <a:buClrTx/>
              <a:buSzPct val="76190"/>
              <a:buFont typeface="Microsoft Sans Serif"/>
              <a:buChar char="•"/>
              <a:tabLst>
                <a:tab pos="396875" algn="l"/>
              </a:tabLst>
              <a:defRPr/>
            </a:pP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Use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local values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only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in moderation, in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situations where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a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single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value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or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result is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used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in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many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places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and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that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value 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is </a:t>
            </a:r>
            <a:r>
              <a:rPr kumimoji="0" sz="21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likely 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to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be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changed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in future.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The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ability 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to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easily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change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the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value in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a </a:t>
            </a:r>
            <a:r>
              <a:rPr kumimoji="0" sz="2100" b="0" i="0" u="none" strike="noStrike" kern="1200" cap="none" spc="-45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central</a:t>
            </a:r>
            <a:r>
              <a:rPr kumimoji="0" sz="21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place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is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the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key</a:t>
            </a:r>
            <a:r>
              <a:rPr kumimoji="0" sz="2100" b="0" i="0" u="none" strike="noStrike" kern="120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advantage</a:t>
            </a:r>
            <a:r>
              <a:rPr kumimoji="0" sz="21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of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local</a:t>
            </a:r>
            <a:r>
              <a:rPr kumimoji="0" sz="21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values.</a:t>
            </a: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Tx/>
              <a:buSzTx/>
              <a:buFont typeface="Microsoft Sans Serif"/>
              <a:buChar char="•"/>
              <a:tabLst/>
              <a:defRPr/>
            </a:pP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Calibri"/>
            </a:endParaRPr>
          </a:p>
          <a:p>
            <a:pPr marL="396240" marR="600075" lvl="0" indent="-384175" algn="l" defTabSz="914400" rtl="0" eaLnBrk="1" fontAlgn="auto" latinLnBrk="0" hangingPunct="1">
              <a:lnSpc>
                <a:spcPct val="101299"/>
              </a:lnSpc>
              <a:spcBef>
                <a:spcPts val="0"/>
              </a:spcBef>
              <a:spcAft>
                <a:spcPts val="0"/>
              </a:spcAft>
              <a:buClrTx/>
              <a:buSzPct val="76190"/>
              <a:buFont typeface="Microsoft Sans Serif"/>
              <a:buChar char="•"/>
              <a:tabLst>
                <a:tab pos="396240" algn="l"/>
                <a:tab pos="396875" algn="l"/>
              </a:tabLst>
              <a:defRPr/>
            </a:pP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Each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locals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block can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have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as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many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locals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as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needed, 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and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there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can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be 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any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number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of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locals </a:t>
            </a:r>
            <a:r>
              <a:rPr kumimoji="0" sz="2100" b="0" i="0" u="none" strike="noStrike" kern="1200" cap="none" spc="-45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blocks</a:t>
            </a:r>
            <a:r>
              <a:rPr kumimoji="0" sz="2100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within</a:t>
            </a:r>
            <a:r>
              <a:rPr kumimoji="0" sz="21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a</a:t>
            </a:r>
            <a:r>
              <a:rPr kumimoji="0" sz="2100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module.</a:t>
            </a:r>
            <a:r>
              <a:rPr kumimoji="0" sz="21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The</a:t>
            </a:r>
            <a:r>
              <a:rPr kumimoji="0" sz="21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names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given</a:t>
            </a:r>
            <a:r>
              <a:rPr kumimoji="0" sz="2100" b="0" i="0" u="none" strike="noStrike" kern="1200" cap="none" spc="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for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the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items in</a:t>
            </a:r>
            <a:r>
              <a:rPr kumimoji="0" sz="2100" b="0" i="0" u="none" strike="noStrike" kern="1200" cap="none" spc="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the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local</a:t>
            </a:r>
            <a:r>
              <a:rPr kumimoji="0" sz="21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block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must</a:t>
            </a:r>
            <a:r>
              <a:rPr kumimoji="0" sz="21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be</a:t>
            </a:r>
            <a:r>
              <a:rPr kumimoji="0" sz="21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unique 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throughout a module.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The 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given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value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can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be 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any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expression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that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is 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valid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within the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current </a:t>
            </a:r>
            <a:r>
              <a:rPr kumimoji="0" sz="2100" b="0" i="0" u="none" strike="noStrike" kern="1200" cap="none" spc="-45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module.</a:t>
            </a: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 typeface="Microsoft Sans Serif"/>
              <a:buChar char="•"/>
              <a:tabLst/>
              <a:defRPr/>
            </a:pP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Calibri"/>
            </a:endParaRPr>
          </a:p>
          <a:p>
            <a:pPr marL="396240" marR="379095" lvl="0" indent="-384175" algn="just" defTabSz="914400" rtl="0" eaLnBrk="1" fontAlgn="auto" latinLnBrk="0" hangingPunct="1">
              <a:lnSpc>
                <a:spcPct val="101499"/>
              </a:lnSpc>
              <a:spcBef>
                <a:spcPts val="5"/>
              </a:spcBef>
              <a:spcAft>
                <a:spcPts val="0"/>
              </a:spcAft>
              <a:buClrTx/>
              <a:buSzPct val="76190"/>
              <a:buFont typeface="Microsoft Sans Serif"/>
              <a:buChar char="•"/>
              <a:tabLst>
                <a:tab pos="396875" algn="l"/>
              </a:tabLst>
              <a:defRPr/>
            </a:pP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The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expression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of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a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local value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can </a:t>
            </a:r>
            <a:r>
              <a:rPr kumimoji="0" sz="21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refer 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to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other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locals,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but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as usual </a:t>
            </a:r>
            <a:r>
              <a:rPr kumimoji="0" sz="21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reference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cycles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are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not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allowed. That is,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a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local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cannot </a:t>
            </a:r>
            <a:r>
              <a:rPr kumimoji="0" sz="21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refer 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to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itself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or 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to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a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variable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that </a:t>
            </a:r>
            <a:r>
              <a:rPr kumimoji="0" sz="21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refers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(directly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or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indirectly) </a:t>
            </a:r>
            <a:r>
              <a:rPr kumimoji="0" sz="2100" b="0" i="0" u="none" strike="noStrike" kern="1200" cap="none" spc="-45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back</a:t>
            </a:r>
            <a:r>
              <a:rPr kumimoji="0" sz="21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to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Calibri"/>
              </a:rPr>
              <a:t> it.</a:t>
            </a: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Calibri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C11C7-837F-F9DF-EAA4-189CBF079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CHAITANYA TRAINING AND CONSULTANCY</a:t>
            </a:r>
            <a:endParaRPr lang="en-IN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F1211-F6C8-C389-4BB5-734BC9B37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37</a:t>
            </a:fld>
            <a:endParaRPr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7998"/>
                </a:lnTo>
                <a:lnTo>
                  <a:pt x="12192000" y="6857998"/>
                </a:lnTo>
                <a:lnTo>
                  <a:pt x="12192000" y="0"/>
                </a:lnTo>
                <a:close/>
              </a:path>
            </a:pathLst>
          </a:custGeom>
          <a:solidFill>
            <a:srgbClr val="17569A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12192000" cy="299085"/>
            <a:chOff x="0" y="0"/>
            <a:chExt cx="12192000" cy="299085"/>
          </a:xfrm>
        </p:grpSpPr>
        <p:sp>
          <p:nvSpPr>
            <p:cNvPr id="5" name="object 5"/>
            <p:cNvSpPr/>
            <p:nvPr/>
          </p:nvSpPr>
          <p:spPr>
            <a:xfrm>
              <a:off x="0" y="0"/>
              <a:ext cx="4038600" cy="299085"/>
            </a:xfrm>
            <a:custGeom>
              <a:avLst/>
              <a:gdLst/>
              <a:ahLst/>
              <a:cxnLst/>
              <a:rect l="l" t="t" r="r" b="b"/>
              <a:pathLst>
                <a:path w="4038600" h="299085">
                  <a:moveTo>
                    <a:pt x="4038600" y="0"/>
                  </a:moveTo>
                  <a:lnTo>
                    <a:pt x="0" y="0"/>
                  </a:lnTo>
                  <a:lnTo>
                    <a:pt x="0" y="298703"/>
                  </a:lnTo>
                  <a:lnTo>
                    <a:pt x="4038600" y="298703"/>
                  </a:lnTo>
                  <a:lnTo>
                    <a:pt x="4038600" y="0"/>
                  </a:lnTo>
                  <a:close/>
                </a:path>
              </a:pathLst>
            </a:custGeom>
            <a:solidFill>
              <a:srgbClr val="426FB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4038600" y="0"/>
              <a:ext cx="4114800" cy="299085"/>
            </a:xfrm>
            <a:custGeom>
              <a:avLst/>
              <a:gdLst/>
              <a:ahLst/>
              <a:cxnLst/>
              <a:rect l="l" t="t" r="r" b="b"/>
              <a:pathLst>
                <a:path w="4114800" h="299085">
                  <a:moveTo>
                    <a:pt x="4114800" y="0"/>
                  </a:moveTo>
                  <a:lnTo>
                    <a:pt x="0" y="0"/>
                  </a:lnTo>
                  <a:lnTo>
                    <a:pt x="0" y="298703"/>
                  </a:lnTo>
                  <a:lnTo>
                    <a:pt x="4114800" y="298703"/>
                  </a:lnTo>
                  <a:lnTo>
                    <a:pt x="4114800" y="0"/>
                  </a:lnTo>
                  <a:close/>
                </a:path>
              </a:pathLst>
            </a:custGeom>
            <a:solidFill>
              <a:srgbClr val="175FAB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8153400" y="0"/>
              <a:ext cx="4038600" cy="299085"/>
            </a:xfrm>
            <a:custGeom>
              <a:avLst/>
              <a:gdLst/>
              <a:ahLst/>
              <a:cxnLst/>
              <a:rect l="l" t="t" r="r" b="b"/>
              <a:pathLst>
                <a:path w="4038600" h="299085">
                  <a:moveTo>
                    <a:pt x="4038600" y="0"/>
                  </a:moveTo>
                  <a:lnTo>
                    <a:pt x="0" y="0"/>
                  </a:lnTo>
                  <a:lnTo>
                    <a:pt x="0" y="298703"/>
                  </a:lnTo>
                  <a:lnTo>
                    <a:pt x="4038600" y="298703"/>
                  </a:lnTo>
                  <a:lnTo>
                    <a:pt x="4038600" y="0"/>
                  </a:lnTo>
                  <a:close/>
                </a:path>
              </a:pathLst>
            </a:custGeom>
            <a:solidFill>
              <a:srgbClr val="124A86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0" y="6568439"/>
            <a:ext cx="12192000" cy="289560"/>
            <a:chOff x="0" y="6568439"/>
            <a:chExt cx="12192000" cy="289560"/>
          </a:xfrm>
        </p:grpSpPr>
        <p:sp>
          <p:nvSpPr>
            <p:cNvPr id="9" name="object 9"/>
            <p:cNvSpPr/>
            <p:nvPr/>
          </p:nvSpPr>
          <p:spPr>
            <a:xfrm>
              <a:off x="8153400" y="6568439"/>
              <a:ext cx="4038600" cy="289560"/>
            </a:xfrm>
            <a:custGeom>
              <a:avLst/>
              <a:gdLst/>
              <a:ahLst/>
              <a:cxnLst/>
              <a:rect l="l" t="t" r="r" b="b"/>
              <a:pathLst>
                <a:path w="4038600" h="289559">
                  <a:moveTo>
                    <a:pt x="4038599" y="0"/>
                  </a:moveTo>
                  <a:lnTo>
                    <a:pt x="0" y="0"/>
                  </a:lnTo>
                  <a:lnTo>
                    <a:pt x="0" y="289558"/>
                  </a:lnTo>
                  <a:lnTo>
                    <a:pt x="4038599" y="289558"/>
                  </a:lnTo>
                  <a:lnTo>
                    <a:pt x="4038599" y="0"/>
                  </a:lnTo>
                  <a:close/>
                </a:path>
              </a:pathLst>
            </a:custGeom>
            <a:solidFill>
              <a:srgbClr val="4370AE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4038600" y="6568439"/>
              <a:ext cx="4114800" cy="289560"/>
            </a:xfrm>
            <a:custGeom>
              <a:avLst/>
              <a:gdLst/>
              <a:ahLst/>
              <a:cxnLst/>
              <a:rect l="l" t="t" r="r" b="b"/>
              <a:pathLst>
                <a:path w="4114800" h="289559">
                  <a:moveTo>
                    <a:pt x="4114800" y="0"/>
                  </a:moveTo>
                  <a:lnTo>
                    <a:pt x="0" y="0"/>
                  </a:lnTo>
                  <a:lnTo>
                    <a:pt x="0" y="289558"/>
                  </a:lnTo>
                  <a:lnTo>
                    <a:pt x="4114800" y="289558"/>
                  </a:lnTo>
                  <a:lnTo>
                    <a:pt x="4114800" y="0"/>
                  </a:lnTo>
                  <a:close/>
                </a:path>
              </a:pathLst>
            </a:custGeom>
            <a:solidFill>
              <a:srgbClr val="1C60A8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6568439"/>
              <a:ext cx="4038600" cy="289560"/>
            </a:xfrm>
            <a:custGeom>
              <a:avLst/>
              <a:gdLst/>
              <a:ahLst/>
              <a:cxnLst/>
              <a:rect l="l" t="t" r="r" b="b"/>
              <a:pathLst>
                <a:path w="4038600" h="289559">
                  <a:moveTo>
                    <a:pt x="4038600" y="0"/>
                  </a:moveTo>
                  <a:lnTo>
                    <a:pt x="0" y="0"/>
                  </a:lnTo>
                  <a:lnTo>
                    <a:pt x="0" y="289558"/>
                  </a:lnTo>
                  <a:lnTo>
                    <a:pt x="4038600" y="289558"/>
                  </a:lnTo>
                  <a:lnTo>
                    <a:pt x="4038600" y="0"/>
                  </a:lnTo>
                  <a:close/>
                </a:path>
              </a:pathLst>
            </a:custGeom>
            <a:solidFill>
              <a:srgbClr val="164D85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07864" y="1124711"/>
            <a:ext cx="2176272" cy="2176272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3818635" y="3518357"/>
            <a:ext cx="5003800" cy="6769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250" spc="15" dirty="0">
                <a:solidFill>
                  <a:srgbClr val="FFFFFF"/>
                </a:solidFill>
              </a:rPr>
              <a:t>Resource</a:t>
            </a:r>
            <a:r>
              <a:rPr sz="4250" spc="-80" dirty="0">
                <a:solidFill>
                  <a:srgbClr val="FFFFFF"/>
                </a:solidFill>
              </a:rPr>
              <a:t> </a:t>
            </a:r>
            <a:r>
              <a:rPr sz="4250" spc="10" dirty="0">
                <a:solidFill>
                  <a:srgbClr val="FFFFFF"/>
                </a:solidFill>
              </a:rPr>
              <a:t>Metadata</a:t>
            </a:r>
            <a:endParaRPr sz="425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33B83B-A356-5C4B-F693-354F83AA0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CHAITANYA TRAINING AND CONSULTANCY</a:t>
            </a:r>
            <a:endParaRPr lang="en-IN" spc="-10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A965CCF-D407-FEFB-13C3-CF15DAF13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38</a:t>
            </a:fld>
            <a:endParaRPr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84447" y="917447"/>
            <a:ext cx="3934967" cy="5023104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3CC26B-F66F-F647-2EF8-36EFE02EF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CHAITANYA TRAINING AND CONSULTANCY</a:t>
            </a:r>
            <a:endParaRPr lang="en-IN" spc="-1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DDE28D-847E-CAC4-0EC6-552E99BD9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39</a:t>
            </a:fld>
            <a:endParaRPr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6082" y="407452"/>
            <a:ext cx="8840318" cy="688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b="0" spc="-5" dirty="0">
                <a:latin typeface="Microsoft Sans Serif"/>
                <a:cs typeface="Microsoft Sans Serif"/>
              </a:rPr>
              <a:t>Resource</a:t>
            </a:r>
            <a:r>
              <a:rPr b="0" spc="-75" dirty="0">
                <a:latin typeface="Microsoft Sans Serif"/>
                <a:cs typeface="Microsoft Sans Serif"/>
              </a:rPr>
              <a:t> </a:t>
            </a:r>
            <a:r>
              <a:rPr b="0" spc="-5" dirty="0">
                <a:latin typeface="Microsoft Sans Serif"/>
                <a:cs typeface="Microsoft Sans Serif"/>
              </a:rPr>
              <a:t>Meta</a:t>
            </a:r>
            <a:r>
              <a:rPr b="0" spc="-195" dirty="0">
                <a:latin typeface="Microsoft Sans Serif"/>
                <a:cs typeface="Microsoft Sans Serif"/>
              </a:rPr>
              <a:t> </a:t>
            </a:r>
            <a:r>
              <a:rPr b="0" spc="-5" dirty="0">
                <a:latin typeface="Microsoft Sans Serif"/>
                <a:cs typeface="Microsoft Sans Serif"/>
              </a:rPr>
              <a:t>Arg:</a:t>
            </a:r>
            <a:r>
              <a:rPr b="0" spc="-10" dirty="0">
                <a:latin typeface="Microsoft Sans Serif"/>
                <a:cs typeface="Microsoft Sans Serif"/>
              </a:rPr>
              <a:t> </a:t>
            </a:r>
            <a:r>
              <a:rPr b="0" spc="-5" dirty="0">
                <a:latin typeface="Microsoft Sans Serif"/>
                <a:cs typeface="Microsoft Sans Serif"/>
              </a:rPr>
              <a:t>depends_on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0583" y="2105914"/>
            <a:ext cx="10524490" cy="2599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2300" marR="1668780" lvl="0" indent="-610235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Pct val="75000"/>
              <a:buFont typeface="Microsoft Sans Serif"/>
              <a:buChar char="•"/>
              <a:tabLst>
                <a:tab pos="622300" algn="l"/>
                <a:tab pos="622935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Use</a:t>
            </a:r>
            <a:r>
              <a:rPr kumimoji="0" sz="24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depends_on</a:t>
            </a:r>
            <a:r>
              <a:rPr kumimoji="0" sz="2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meta-argument</a:t>
            </a:r>
            <a:r>
              <a:rPr kumimoji="0" sz="2400" b="0" i="0" u="none" strike="noStrike" kern="1200" cap="none" spc="-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handle</a:t>
            </a:r>
            <a:r>
              <a:rPr kumimoji="0" sz="2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hidden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resource</a:t>
            </a:r>
            <a:r>
              <a:rPr kumimoji="0" sz="2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 </a:t>
            </a:r>
            <a:r>
              <a:rPr kumimoji="0" sz="2400" b="0" i="0" u="none" strike="noStrike" kern="1200" cap="none" spc="-5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module</a:t>
            </a:r>
            <a:r>
              <a:rPr kumimoji="0" sz="2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dependencies</a:t>
            </a: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that</a:t>
            </a:r>
            <a:r>
              <a:rPr kumimoji="0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Terraform</a:t>
            </a:r>
            <a:r>
              <a:rPr kumimoji="0" sz="2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can't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automatically</a:t>
            </a:r>
            <a:r>
              <a:rPr kumimoji="0" sz="24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infer.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icrosoft Sans Serif"/>
              <a:buChar char="•"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icrosoft Sans Serif"/>
              <a:buChar char="•"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622300" marR="5080" lvl="0" indent="-61023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5000"/>
              <a:buFont typeface="Microsoft Sans Serif"/>
              <a:buChar char="•"/>
              <a:tabLst>
                <a:tab pos="622300" algn="l"/>
                <a:tab pos="622935" algn="l"/>
                <a:tab pos="8643620" algn="l"/>
                <a:tab pos="9561195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</a:t>
            </a:r>
            <a:r>
              <a:rPr kumimoji="0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li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</a:t>
            </a:r>
            <a:r>
              <a:rPr kumimoji="0" sz="24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ly</a:t>
            </a:r>
            <a:r>
              <a:rPr kumimoji="0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</a:t>
            </a:r>
            <a:r>
              <a:rPr kumimoji="0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eci</a:t>
            </a:r>
            <a:r>
              <a:rPr kumimoji="0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</a:t>
            </a:r>
            <a:r>
              <a:rPr kumimoji="0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</a:t>
            </a:r>
            <a:r>
              <a:rPr kumimoji="0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</a:t>
            </a:r>
            <a:r>
              <a:rPr kumimoji="0" sz="24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</a:t>
            </a:r>
            <a:r>
              <a:rPr kumimoji="0" sz="24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</a:t>
            </a:r>
            <a:r>
              <a:rPr kumimoji="0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</a:t>
            </a:r>
            <a:r>
              <a:rPr kumimoji="0" sz="24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</a:t>
            </a:r>
            <a:r>
              <a:rPr kumimoji="0" sz="24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</a:t>
            </a:r>
            <a:r>
              <a:rPr kumimoji="0" sz="24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ly</a:t>
            </a:r>
            <a:r>
              <a:rPr kumimoji="0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ecessary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</a:t>
            </a:r>
            <a:r>
              <a:rPr kumimoji="0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en a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es</a:t>
            </a:r>
            <a:r>
              <a:rPr kumimoji="0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ou</a:t>
            </a:r>
            <a:r>
              <a:rPr kumimoji="0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</a:t>
            </a:r>
            <a:r>
              <a:rPr kumimoji="0" sz="24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	m</a:t>
            </a:r>
            <a:r>
              <a:rPr kumimoji="0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odu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le 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relies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some</a:t>
            </a:r>
            <a:r>
              <a:rPr kumimoji="0" sz="24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other</a:t>
            </a:r>
            <a:r>
              <a:rPr kumimoji="0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resource's</a:t>
            </a:r>
            <a:r>
              <a:rPr kumimoji="0" sz="24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behavior</a:t>
            </a:r>
            <a:r>
              <a:rPr kumimoji="0" sz="24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but</a:t>
            </a:r>
            <a:r>
              <a:rPr kumimoji="0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doesn't</a:t>
            </a:r>
            <a:r>
              <a:rPr kumimoji="0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access</a:t>
            </a:r>
            <a:r>
              <a:rPr kumimoji="0" sz="24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any	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that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resource's</a:t>
            </a:r>
            <a:r>
              <a:rPr kumimoji="0" sz="24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data</a:t>
            </a:r>
            <a:r>
              <a:rPr kumimoji="0" sz="24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its</a:t>
            </a:r>
            <a:r>
              <a:rPr kumimoji="0" sz="24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arguments.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F1FD6E-DFD3-7B17-A68D-9658E41F4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CHAITANYA TRAINING AND CONSULTANCY</a:t>
            </a:r>
            <a:endParaRPr lang="en-IN" spc="-1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0583A7-5624-B3E2-1CCE-063070CF1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40</a:t>
            </a:fld>
            <a:endParaRPr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6082" y="444817"/>
            <a:ext cx="11431118" cy="613181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 marR="5080">
              <a:lnSpc>
                <a:spcPts val="4029"/>
              </a:lnSpc>
              <a:spcBef>
                <a:spcPts val="620"/>
              </a:spcBef>
              <a:tabLst>
                <a:tab pos="7600950" algn="l"/>
              </a:tabLst>
            </a:pPr>
            <a:r>
              <a:rPr b="0" spc="-5" dirty="0">
                <a:cs typeface="Microsoft Sans Serif"/>
              </a:rPr>
              <a:t>R</a:t>
            </a:r>
            <a:r>
              <a:rPr b="0" dirty="0">
                <a:cs typeface="Microsoft Sans Serif"/>
              </a:rPr>
              <a:t>e</a:t>
            </a:r>
            <a:r>
              <a:rPr b="0" spc="-5" dirty="0">
                <a:cs typeface="Microsoft Sans Serif"/>
              </a:rPr>
              <a:t>source</a:t>
            </a:r>
            <a:r>
              <a:rPr b="0" spc="-50" dirty="0">
                <a:cs typeface="Microsoft Sans Serif"/>
              </a:rPr>
              <a:t> </a:t>
            </a:r>
            <a:r>
              <a:rPr b="0" spc="-5" dirty="0">
                <a:cs typeface="Microsoft Sans Serif"/>
              </a:rPr>
              <a:t>Meta</a:t>
            </a:r>
            <a:r>
              <a:rPr b="0" spc="-180" dirty="0">
                <a:cs typeface="Microsoft Sans Serif"/>
              </a:rPr>
              <a:t> </a:t>
            </a:r>
            <a:r>
              <a:rPr b="0" spc="-5" dirty="0">
                <a:cs typeface="Microsoft Sans Serif"/>
              </a:rPr>
              <a:t>Arg:</a:t>
            </a:r>
            <a:r>
              <a:rPr b="0" dirty="0">
                <a:cs typeface="Microsoft Sans Serif"/>
              </a:rPr>
              <a:t> </a:t>
            </a:r>
            <a:r>
              <a:rPr b="0" spc="-5" dirty="0" err="1">
                <a:cs typeface="Microsoft Sans Serif"/>
              </a:rPr>
              <a:t>de</a:t>
            </a:r>
            <a:r>
              <a:rPr b="0" spc="5" dirty="0" err="1">
                <a:cs typeface="Microsoft Sans Serif"/>
              </a:rPr>
              <a:t>p</a:t>
            </a:r>
            <a:r>
              <a:rPr b="0" spc="-5" dirty="0" err="1">
                <a:cs typeface="Microsoft Sans Serif"/>
              </a:rPr>
              <a:t>en</a:t>
            </a:r>
            <a:r>
              <a:rPr b="0" spc="5" dirty="0" err="1">
                <a:cs typeface="Microsoft Sans Serif"/>
              </a:rPr>
              <a:t>d</a:t>
            </a:r>
            <a:r>
              <a:rPr b="0" spc="-35" dirty="0" err="1">
                <a:cs typeface="Microsoft Sans Serif"/>
              </a:rPr>
              <a:t>s</a:t>
            </a:r>
            <a:r>
              <a:rPr b="0" spc="5" dirty="0" err="1">
                <a:cs typeface="Microsoft Sans Serif"/>
              </a:rPr>
              <a:t>_</a:t>
            </a:r>
            <a:r>
              <a:rPr b="0" spc="-10" dirty="0" err="1">
                <a:cs typeface="Microsoft Sans Serif"/>
              </a:rPr>
              <a:t>o</a:t>
            </a:r>
            <a:r>
              <a:rPr b="0" spc="-5" dirty="0" err="1">
                <a:cs typeface="Microsoft Sans Serif"/>
              </a:rPr>
              <a:t>n</a:t>
            </a:r>
            <a:r>
              <a:rPr b="0" spc="-5" dirty="0">
                <a:cs typeface="Microsoft Sans Serif"/>
              </a:rPr>
              <a:t> </a:t>
            </a:r>
            <a:r>
              <a:rPr b="0" spc="980" dirty="0">
                <a:cs typeface="Microsoft Sans Serif"/>
              </a:rPr>
              <a:t>–</a:t>
            </a:r>
            <a:r>
              <a:rPr b="0" spc="-50" dirty="0">
                <a:cs typeface="Microsoft Sans Serif"/>
              </a:rPr>
              <a:t>w</a:t>
            </a:r>
            <a:r>
              <a:rPr b="0" spc="-10" dirty="0">
                <a:cs typeface="Microsoft Sans Serif"/>
              </a:rPr>
              <a:t>ith  </a:t>
            </a:r>
            <a:r>
              <a:rPr b="0" spc="-5" dirty="0">
                <a:cs typeface="Microsoft Sans Serif"/>
              </a:rPr>
              <a:t>resource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0360" y="1216152"/>
            <a:ext cx="6918959" cy="520903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53390" y="6578502"/>
            <a:ext cx="1781175" cy="17526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Sans Serif"/>
                <a:ea typeface="+mn-ea"/>
                <a:cs typeface="Microsoft Sans Serif"/>
                <a:hlinkClick r:id="rId3"/>
              </a:rPr>
              <a:t>www.apexgloballearning.com</a:t>
            </a:r>
            <a:endParaRPr kumimoji="0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Sans Serif"/>
              <a:ea typeface="+mn-ea"/>
              <a:cs typeface="Microsoft Sans Serif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180FF5-051D-E4AD-6FD5-87566518E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CHAITANYA TRAINING AND CONSULTANCY</a:t>
            </a:r>
            <a:endParaRPr lang="en-IN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EEFADA-66CA-730F-16BC-764F8617C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41</a:t>
            </a:fld>
            <a:endParaRPr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6082" y="407452"/>
            <a:ext cx="7087718" cy="688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b="0" spc="-5" dirty="0">
                <a:latin typeface="Microsoft Sans Serif"/>
                <a:cs typeface="Microsoft Sans Serif"/>
              </a:rPr>
              <a:t>Resource</a:t>
            </a:r>
            <a:r>
              <a:rPr b="0" spc="-70" dirty="0">
                <a:latin typeface="Microsoft Sans Serif"/>
                <a:cs typeface="Microsoft Sans Serif"/>
              </a:rPr>
              <a:t> </a:t>
            </a:r>
            <a:r>
              <a:rPr b="0" spc="-5" dirty="0">
                <a:latin typeface="Microsoft Sans Serif"/>
                <a:cs typeface="Microsoft Sans Serif"/>
              </a:rPr>
              <a:t>Meta</a:t>
            </a:r>
            <a:r>
              <a:rPr b="0" spc="-195" dirty="0">
                <a:latin typeface="Microsoft Sans Serif"/>
                <a:cs typeface="Microsoft Sans Serif"/>
              </a:rPr>
              <a:t> </a:t>
            </a:r>
            <a:r>
              <a:rPr b="0" spc="-5" dirty="0">
                <a:latin typeface="Microsoft Sans Serif"/>
                <a:cs typeface="Microsoft Sans Serif"/>
              </a:rPr>
              <a:t>Arg: count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2450" y="1399108"/>
            <a:ext cx="5151755" cy="39287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610870" lvl="0" indent="-457200" algn="l" defTabSz="914400" rtl="0" eaLnBrk="1" fontAlgn="auto" latinLnBrk="0" hangingPunct="1">
              <a:lnSpc>
                <a:spcPct val="101699"/>
              </a:lnSpc>
              <a:spcBef>
                <a:spcPts val="95"/>
              </a:spcBef>
              <a:spcAft>
                <a:spcPts val="0"/>
              </a:spcAft>
              <a:buClrTx/>
              <a:buSzPct val="76190"/>
              <a:buFont typeface="Microsoft Sans Serif"/>
              <a:buChar char="•"/>
              <a:tabLst>
                <a:tab pos="469265" algn="l"/>
                <a:tab pos="469900" algn="l"/>
              </a:tabLst>
              <a:defRPr/>
            </a:pP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count is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meta-argument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defined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by </a:t>
            </a:r>
            <a:r>
              <a:rPr kumimoji="0" sz="2100" b="0" i="0" u="none" strike="noStrike" kern="1200" cap="none" spc="-45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Terraform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language. 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can be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used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modules and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every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resource</a:t>
            </a:r>
            <a:r>
              <a:rPr kumimoji="0" sz="2100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type.</a:t>
            </a:r>
            <a:endParaRPr kumimoji="0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 typeface="Microsoft Sans Serif"/>
              <a:buChar char="•"/>
              <a:tabLst/>
              <a:defRPr/>
            </a:pPr>
            <a:endParaRPr kumimoji="0" sz="2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469900" marR="5080" lvl="0" indent="-457200" algn="l" defTabSz="914400" rtl="0" eaLnBrk="1" fontAlgn="auto" latinLnBrk="0" hangingPunct="1">
              <a:lnSpc>
                <a:spcPct val="101600"/>
              </a:lnSpc>
              <a:spcBef>
                <a:spcPts val="0"/>
              </a:spcBef>
              <a:spcAft>
                <a:spcPts val="0"/>
              </a:spcAft>
              <a:buClrTx/>
              <a:buSzPct val="76190"/>
              <a:buFont typeface="Microsoft Sans Serif"/>
              <a:buChar char="•"/>
              <a:tabLst>
                <a:tab pos="469265" algn="l"/>
                <a:tab pos="469900" algn="l"/>
              </a:tabLst>
              <a:defRPr/>
            </a:pP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sz="21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count</a:t>
            </a:r>
            <a:r>
              <a:rPr kumimoji="0" sz="2100" b="0" i="0" u="none" strike="noStrike" kern="1200" cap="none" spc="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meta-argument</a:t>
            </a:r>
            <a:r>
              <a:rPr kumimoji="0" sz="2100" b="0" i="0" u="none" strike="noStrike" kern="1200" cap="none" spc="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accepts</a:t>
            </a:r>
            <a:r>
              <a:rPr kumimoji="0" sz="2100" b="0" i="0" u="none" strike="noStrike" kern="1200" cap="none" spc="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whole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number, 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creates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that many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instances</a:t>
            </a:r>
            <a:r>
              <a:rPr kumimoji="0" sz="21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sz="2100" b="0" i="0" u="none" strike="noStrike" kern="1200" cap="none" spc="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resource</a:t>
            </a:r>
            <a:r>
              <a:rPr kumimoji="0" sz="21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module.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Each </a:t>
            </a:r>
            <a:r>
              <a:rPr kumimoji="0" sz="2100" b="0" i="0" u="none" strike="noStrike" kern="1200" cap="none" spc="-45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instance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has a 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distinct infrastructure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object associated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it, 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each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separately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created,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updated,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 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destroyed </a:t>
            </a:r>
            <a:r>
              <a:rPr kumimoji="0" sz="2100" b="0" i="0" u="none" strike="noStrike" kern="1200" cap="none" spc="-45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when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configuration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sz="2100" b="0" i="0" u="none" strike="noStrike" kern="1200" cap="none" spc="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applied.</a:t>
            </a:r>
            <a:endParaRPr kumimoji="0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50991" y="1414272"/>
            <a:ext cx="5925312" cy="348386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53390" y="6578502"/>
            <a:ext cx="1781175" cy="17526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Sans Serif"/>
                <a:ea typeface="+mn-ea"/>
                <a:cs typeface="Microsoft Sans Serif"/>
                <a:hlinkClick r:id="rId3"/>
              </a:rPr>
              <a:t>www.apexgloballearning.com</a:t>
            </a:r>
            <a:endParaRPr kumimoji="0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Sans Serif"/>
              <a:ea typeface="+mn-ea"/>
              <a:cs typeface="Microsoft Sans Serif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5F7869-467F-30BF-9136-45EB0C89F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CHAITANYA TRAINING AND CONSULTANCY</a:t>
            </a:r>
            <a:endParaRPr lang="en-IN" spc="-1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B0FB31-A1BD-64F1-2F26-1D062450E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42</a:t>
            </a:fld>
            <a:endParaRPr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6082" y="407452"/>
            <a:ext cx="8459318" cy="688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b="0" spc="-5" dirty="0">
                <a:latin typeface="Microsoft Sans Serif"/>
                <a:cs typeface="Microsoft Sans Serif"/>
              </a:rPr>
              <a:t>Resource</a:t>
            </a:r>
            <a:r>
              <a:rPr b="0" spc="-65" dirty="0">
                <a:latin typeface="Microsoft Sans Serif"/>
                <a:cs typeface="Microsoft Sans Serif"/>
              </a:rPr>
              <a:t> </a:t>
            </a:r>
            <a:r>
              <a:rPr b="0" spc="-5" dirty="0">
                <a:latin typeface="Microsoft Sans Serif"/>
                <a:cs typeface="Microsoft Sans Serif"/>
              </a:rPr>
              <a:t>Meta</a:t>
            </a:r>
            <a:r>
              <a:rPr b="0" spc="-185" dirty="0">
                <a:latin typeface="Microsoft Sans Serif"/>
                <a:cs typeface="Microsoft Sans Serif"/>
              </a:rPr>
              <a:t> </a:t>
            </a:r>
            <a:r>
              <a:rPr b="0" spc="-5" dirty="0">
                <a:latin typeface="Microsoft Sans Serif"/>
                <a:cs typeface="Microsoft Sans Serif"/>
              </a:rPr>
              <a:t>Arg:</a:t>
            </a:r>
            <a:r>
              <a:rPr b="0" dirty="0">
                <a:latin typeface="Microsoft Sans Serif"/>
                <a:cs typeface="Microsoft Sans Serif"/>
              </a:rPr>
              <a:t> </a:t>
            </a:r>
            <a:r>
              <a:rPr b="0" spc="-5" dirty="0">
                <a:latin typeface="Microsoft Sans Serif"/>
                <a:cs typeface="Microsoft Sans Serif"/>
              </a:rPr>
              <a:t>for_each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2231" y="1427175"/>
            <a:ext cx="4536440" cy="4581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131445" lvl="0" indent="-457200" algn="l" defTabSz="914400" rtl="0" eaLnBrk="1" fontAlgn="auto" latinLnBrk="0" hangingPunct="1">
              <a:lnSpc>
                <a:spcPct val="101699"/>
              </a:lnSpc>
              <a:spcBef>
                <a:spcPts val="95"/>
              </a:spcBef>
              <a:spcAft>
                <a:spcPts val="0"/>
              </a:spcAft>
              <a:buClrTx/>
              <a:buSzPct val="76190"/>
              <a:buFont typeface="Microsoft Sans Serif"/>
              <a:buChar char="•"/>
              <a:tabLst>
                <a:tab pos="469265" algn="l"/>
                <a:tab pos="469900" algn="l"/>
              </a:tabLst>
              <a:defRPr/>
            </a:pP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for_each is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meta-argument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defined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by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sz="2100" b="0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Terraform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language. </a:t>
            </a:r>
            <a:r>
              <a:rPr kumimoji="0" sz="2100" b="0" i="0" u="none" strike="noStrike" kern="1200" cap="none" spc="-45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can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 used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 modules and 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every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resource</a:t>
            </a:r>
            <a:r>
              <a:rPr kumimoji="0" sz="2100" b="0" i="0" u="none" strike="noStrike" kern="1200" cap="none" spc="4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type.</a:t>
            </a:r>
            <a:endParaRPr kumimoji="0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ClrTx/>
              <a:buSzTx/>
              <a:buFont typeface="Microsoft Sans Serif"/>
              <a:buChar char="•"/>
              <a:tabLst/>
              <a:defRPr/>
            </a:pPr>
            <a:endParaRPr kumimoji="0" sz="2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469900" marR="5080" lvl="0" indent="-457200" algn="l" defTabSz="914400" rtl="0" eaLnBrk="1" fontAlgn="auto" latinLnBrk="0" hangingPunct="1">
              <a:lnSpc>
                <a:spcPct val="101699"/>
              </a:lnSpc>
              <a:spcBef>
                <a:spcPts val="5"/>
              </a:spcBef>
              <a:spcAft>
                <a:spcPts val="0"/>
              </a:spcAft>
              <a:buClrTx/>
              <a:buSzPct val="76190"/>
              <a:buFont typeface="Microsoft Sans Serif"/>
              <a:buChar char="•"/>
              <a:tabLst>
                <a:tab pos="469265" algn="l"/>
                <a:tab pos="469900" algn="l"/>
              </a:tabLst>
              <a:defRPr/>
            </a:pP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sz="2100" b="0" i="0" u="none" strike="noStrike" kern="1200" cap="none" spc="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for_each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meta-argument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accepts a  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map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set of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strings,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creates 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 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instance </a:t>
            </a:r>
            <a:r>
              <a:rPr kumimoji="0" sz="21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each 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item in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that 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map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set.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Each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instance</a:t>
            </a:r>
            <a:r>
              <a:rPr kumimoji="0" sz="21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has</a:t>
            </a:r>
            <a:r>
              <a:rPr kumimoji="0" sz="21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distinct</a:t>
            </a:r>
            <a:r>
              <a:rPr kumimoji="0" sz="2100" b="0" i="0" u="none" strike="noStrike" kern="1200" cap="none" spc="4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infrastructure </a:t>
            </a:r>
            <a:r>
              <a:rPr kumimoji="0" sz="2100" b="0" i="0" u="none" strike="noStrike" kern="1200" cap="none" spc="-45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object</a:t>
            </a:r>
            <a:r>
              <a:rPr kumimoji="0" sz="2100" b="0" i="0" u="none" strike="noStrike" kern="1200" cap="none" spc="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associated</a:t>
            </a:r>
            <a:r>
              <a:rPr kumimoji="0" sz="2100" b="0" i="0" u="none" strike="noStrike" kern="1200" cap="none" spc="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</a:t>
            </a:r>
            <a:r>
              <a:rPr kumimoji="0" sz="2100" b="0" i="0" u="none" strike="noStrike" kern="1200" cap="none" spc="8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it, </a:t>
            </a:r>
            <a:r>
              <a:rPr kumimoji="0" sz="2100" b="0" i="0" u="none" strike="noStrike" kern="1200" cap="none" spc="9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sz="2100" b="0" i="0" u="none" strike="noStrike" kern="1200" cap="none" spc="7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each 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 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separately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created,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updated,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destroyed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when the 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configuration is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applied.</a:t>
            </a:r>
            <a:endParaRPr kumimoji="0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56503" y="1362455"/>
            <a:ext cx="5910072" cy="277672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99176" y="4361688"/>
            <a:ext cx="6592823" cy="186842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53390" y="6578502"/>
            <a:ext cx="1781175" cy="17526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Sans Serif"/>
                <a:ea typeface="+mn-ea"/>
                <a:cs typeface="Microsoft Sans Serif"/>
                <a:hlinkClick r:id="rId4"/>
              </a:rPr>
              <a:t>www.apexgloballearning.com</a:t>
            </a:r>
            <a:endParaRPr kumimoji="0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Sans Serif"/>
              <a:ea typeface="+mn-ea"/>
              <a:cs typeface="Microsoft Sans Serif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DC602C9-8F23-08D2-8A62-6F0A9C21A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CHAITANYA TRAINING AND CONSULTANCY</a:t>
            </a:r>
            <a:endParaRPr lang="en-IN" spc="-1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AFB782A-6D20-FB26-F0EA-474BC2165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43</a:t>
            </a:fld>
            <a:endParaRPr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6082" y="453644"/>
            <a:ext cx="6489065" cy="596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pc="-5" dirty="0"/>
              <a:t>Resource</a:t>
            </a:r>
            <a:r>
              <a:rPr spc="-30" dirty="0"/>
              <a:t> </a:t>
            </a:r>
            <a:r>
              <a:rPr spc="-10" dirty="0"/>
              <a:t>Meta</a:t>
            </a:r>
            <a:r>
              <a:rPr spc="-225" dirty="0"/>
              <a:t> </a:t>
            </a:r>
            <a:r>
              <a:rPr spc="-5" dirty="0"/>
              <a:t>Arg:</a:t>
            </a:r>
            <a:r>
              <a:rPr spc="-55" dirty="0"/>
              <a:t> </a:t>
            </a:r>
            <a:r>
              <a:rPr spc="-10" dirty="0"/>
              <a:t>lifecycle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0285" y="1383030"/>
            <a:ext cx="5241290" cy="36048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ct val="1016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lifecycle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nested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block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that</a:t>
            </a:r>
            <a:r>
              <a:rPr kumimoji="0" sz="21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can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appear 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within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resource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block. The </a:t>
            </a:r>
            <a:r>
              <a:rPr kumimoji="0" sz="21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lifecycle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block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 </a:t>
            </a:r>
            <a:r>
              <a:rPr kumimoji="0" sz="2100" b="0" i="0" u="none" strike="noStrike" kern="1200" cap="none" spc="-459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its 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contents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meta-arguments,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available </a:t>
            </a:r>
            <a:r>
              <a:rPr kumimoji="0" sz="21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for </a:t>
            </a:r>
            <a:r>
              <a:rPr kumimoji="0" sz="21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all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resource</a:t>
            </a:r>
            <a:r>
              <a:rPr kumimoji="0" sz="21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blocks 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regardless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type.</a:t>
            </a:r>
            <a:endParaRPr kumimoji="0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following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arguments</a:t>
            </a:r>
            <a:r>
              <a:rPr kumimoji="0" sz="21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can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</a:t>
            </a:r>
            <a:r>
              <a:rPr kumimoji="0" sz="2100" b="0" i="0" u="none" strike="noStrike" kern="1200" cap="none" spc="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used</a:t>
            </a:r>
            <a:endParaRPr kumimoji="0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within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lifecycle</a:t>
            </a: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block:</a:t>
            </a:r>
            <a:endParaRPr kumimoji="0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4699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76190"/>
              <a:buFont typeface="Microsoft Sans Serif"/>
              <a:buChar char="•"/>
              <a:tabLst>
                <a:tab pos="469265" algn="l"/>
                <a:tab pos="469900" algn="l"/>
              </a:tabLst>
              <a:defRPr/>
            </a:pPr>
            <a:r>
              <a:rPr kumimoji="0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create_before_destroy</a:t>
            </a:r>
            <a:endParaRPr kumimoji="0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4699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Pct val="76190"/>
              <a:buFont typeface="Microsoft Sans Serif"/>
              <a:buChar char="•"/>
              <a:tabLst>
                <a:tab pos="469265" algn="l"/>
                <a:tab pos="469900" algn="l"/>
              </a:tabLst>
              <a:defRPr/>
            </a:pPr>
            <a:r>
              <a:rPr kumimoji="0" sz="2100" b="0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prevent_destroy</a:t>
            </a:r>
            <a:endParaRPr kumimoji="0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4699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Pct val="76190"/>
              <a:buFont typeface="Microsoft Sans Serif"/>
              <a:buChar char="•"/>
              <a:tabLst>
                <a:tab pos="469265" algn="l"/>
                <a:tab pos="469900" algn="l"/>
              </a:tabLst>
              <a:defRPr/>
            </a:pPr>
            <a:r>
              <a:rPr kumimoji="0" sz="21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ignore_changes</a:t>
            </a:r>
            <a:endParaRPr kumimoji="0" sz="2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49240" y="2429255"/>
            <a:ext cx="6595871" cy="337718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53390" y="6578502"/>
            <a:ext cx="1781175" cy="17526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Sans Serif"/>
                <a:ea typeface="+mn-ea"/>
                <a:cs typeface="Microsoft Sans Serif"/>
                <a:hlinkClick r:id="rId3"/>
              </a:rPr>
              <a:t>www.apexgloballearning.com</a:t>
            </a:r>
            <a:endParaRPr kumimoji="0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Sans Serif"/>
              <a:ea typeface="+mn-ea"/>
              <a:cs typeface="Microsoft Sans Serif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09396B-CEB2-C70D-EE06-B2A98D908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CHAITANYA TRAINING AND CONSULTANCY</a:t>
            </a:r>
            <a:endParaRPr lang="en-IN" spc="-1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40BD1D-64D0-EC18-CE12-B68974812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44</a:t>
            </a:fld>
            <a:endParaRPr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646170" y="2867685"/>
            <a:ext cx="4902200" cy="1123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200" spc="-5" dirty="0"/>
              <a:t>Thank</a:t>
            </a:r>
            <a:r>
              <a:rPr sz="7200" spc="-80" dirty="0"/>
              <a:t> </a:t>
            </a:r>
            <a:r>
              <a:rPr sz="7200" dirty="0"/>
              <a:t>you!</a:t>
            </a:r>
            <a:endParaRPr sz="72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6027286-CD97-80C3-6864-36E9F2912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CHAITANYA TRAINING AND CONSULTANCY</a:t>
            </a:r>
            <a:endParaRPr lang="en-IN" spc="-1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9E9DFD-17BB-51C6-B688-1F4080BB1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/>
              <a:t>©</a:t>
            </a:r>
            <a:r>
              <a:rPr lang="en-IN" spc="5"/>
              <a:t> </a:t>
            </a:r>
            <a:r>
              <a:rPr lang="en-IN" spc="-5"/>
              <a:t>APEX</a:t>
            </a:r>
            <a:r>
              <a:rPr lang="en-IN" spc="80"/>
              <a:t> </a:t>
            </a:r>
            <a:r>
              <a:rPr lang="en-IN" spc="-5"/>
              <a:t>Global</a:t>
            </a:r>
            <a:r>
              <a:rPr lang="en-IN" spc="20"/>
              <a:t> </a:t>
            </a:r>
            <a:r>
              <a:rPr lang="en-IN"/>
              <a:t>|</a:t>
            </a:r>
            <a:r>
              <a:rPr lang="en-IN" spc="5"/>
              <a:t> </a:t>
            </a:r>
            <a:fld id="{81D60167-4931-47E6-BA6A-407CBD079E47}" type="slidenum">
              <a:rPr smtClean="0"/>
              <a:t>45</a:t>
            </a:fld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2028</Words>
  <Application>Microsoft Office PowerPoint</Application>
  <PresentationFormat>Widescreen</PresentationFormat>
  <Paragraphs>302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Arial</vt:lpstr>
      <vt:lpstr>Calibri</vt:lpstr>
      <vt:lpstr>Calibri Light</vt:lpstr>
      <vt:lpstr>Microsoft Sans Serif</vt:lpstr>
      <vt:lpstr>1_Office Theme</vt:lpstr>
      <vt:lpstr>Terraform Code</vt:lpstr>
      <vt:lpstr>Terraform Block</vt:lpstr>
      <vt:lpstr>Terraform Basic Blocks</vt:lpstr>
      <vt:lpstr>Terraform Block</vt:lpstr>
      <vt:lpstr>Terraform Block</vt:lpstr>
      <vt:lpstr>Terraform Block from 0.13 onwards</vt:lpstr>
      <vt:lpstr>PowerPoint Presentation</vt:lpstr>
      <vt:lpstr>Terraform Language Basics</vt:lpstr>
      <vt:lpstr>Terraform Language Basics</vt:lpstr>
      <vt:lpstr>Resource Syntax</vt:lpstr>
      <vt:lpstr>Resource Behavior</vt:lpstr>
      <vt:lpstr>Terraform HCL - Syntax</vt:lpstr>
      <vt:lpstr>Terraform HCL - Syntax</vt:lpstr>
      <vt:lpstr>Terraform HCL - Syntax</vt:lpstr>
      <vt:lpstr>Terraform Variables</vt:lpstr>
      <vt:lpstr>Variables in Terraform</vt:lpstr>
      <vt:lpstr>PowerPoint Presentation</vt:lpstr>
      <vt:lpstr>PowerPoint Presentation</vt:lpstr>
      <vt:lpstr>Input Variables</vt:lpstr>
      <vt:lpstr>Terraform Input Variable Types</vt:lpstr>
      <vt:lpstr>Terraform Simple Variable types</vt:lpstr>
      <vt:lpstr>Terraform complex types</vt:lpstr>
      <vt:lpstr>List</vt:lpstr>
      <vt:lpstr>Map</vt:lpstr>
      <vt:lpstr>Set</vt:lpstr>
      <vt:lpstr>Tuple</vt:lpstr>
      <vt:lpstr>Object</vt:lpstr>
      <vt:lpstr>Terraform Input Variable</vt:lpstr>
      <vt:lpstr>Terraform Variable Type: String</vt:lpstr>
      <vt:lpstr>Terraform Variable Type: List</vt:lpstr>
      <vt:lpstr>Terraform Variable Type: Map</vt:lpstr>
      <vt:lpstr>Terraform Variable Type: Map</vt:lpstr>
      <vt:lpstr>Terraform Variable Type: Bool</vt:lpstr>
      <vt:lpstr>Terraform Variable: Output</vt:lpstr>
      <vt:lpstr>Terraform Variable: Output</vt:lpstr>
      <vt:lpstr>Local values in terraform</vt:lpstr>
      <vt:lpstr>When To Use Local Values?</vt:lpstr>
      <vt:lpstr>Resource Metadata</vt:lpstr>
      <vt:lpstr>PowerPoint Presentation</vt:lpstr>
      <vt:lpstr>Resource Meta Arg: depends_on</vt:lpstr>
      <vt:lpstr>Resource Meta Arg: depends_on –with  resource</vt:lpstr>
      <vt:lpstr>Resource Meta Arg: count</vt:lpstr>
      <vt:lpstr>Resource Meta Arg: for_each</vt:lpstr>
      <vt:lpstr>Resource Meta Arg: lifecycle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Terraform Code</dc:title>
  <dc:creator>Chaitanya Gaajula</dc:creator>
  <cp:lastModifiedBy>Chaitanya Gaajula</cp:lastModifiedBy>
  <cp:revision>3</cp:revision>
  <dcterms:created xsi:type="dcterms:W3CDTF">2024-03-08T13:52:01Z</dcterms:created>
  <dcterms:modified xsi:type="dcterms:W3CDTF">2025-10-17T15:25:41Z</dcterms:modified>
</cp:coreProperties>
</file>