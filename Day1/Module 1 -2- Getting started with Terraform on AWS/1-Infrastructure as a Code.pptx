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13"/>
  </p:notesMasterIdLst>
  <p:sldIdLst>
    <p:sldId id="433" r:id="rId2"/>
    <p:sldId id="298" r:id="rId3"/>
    <p:sldId id="299" r:id="rId4"/>
    <p:sldId id="300" r:id="rId5"/>
    <p:sldId id="434" r:id="rId6"/>
    <p:sldId id="302" r:id="rId7"/>
    <p:sldId id="303" r:id="rId8"/>
    <p:sldId id="304" r:id="rId9"/>
    <p:sldId id="305" r:id="rId10"/>
    <p:sldId id="306" r:id="rId11"/>
    <p:sldId id="432" r:id="rId1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xN2RUkavTPc51CrBGatKXQ==" hashData="qyhQ1bDvVOUrD9jp6Qws1Ki8rgChYqTKwYs0EMuYWWlDImY0FfQZL5CKkleUpiCEifsxXjCoKVrdf6lSgnm+GQ=="/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D47892-4186-45F5-AFE9-6645F3F3F584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BD8CE2-9AA7-40E4-B0BE-306AD6F72A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935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B85C9-8ADA-494B-B309-66062B37C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E0B143-BC03-E380-C0B0-4FBDBC1C40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40891-A94F-A3DD-C5F3-29E58F8F0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3FC9-B6F1-49F5-A80E-85A0DED0DD9D}" type="datetime1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F12EA-BD5C-236A-2941-86638F4CB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 </a:t>
            </a:r>
            <a:r>
              <a:rPr lang="en-IN" spc="-5"/>
              <a:t>APEX</a:t>
            </a:r>
            <a:r>
              <a:rPr lang="en-IN" spc="75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r>
              <a:rPr lang="en-IN" spc="-10"/>
              <a:t>2023</a:t>
            </a:r>
            <a:endParaRPr lang="en-IN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9151F-A868-B582-FA22-E52473415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61971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36CE7-CED4-6410-5393-359C93023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4F3C3-FCDF-A8CC-B5FB-4EA71FC48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1AAF0-00A7-57F7-A5EE-D0012E6F4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9D79-1437-4EE1-90CE-CA0059B83E7F}" type="datetime1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750AB-4B83-0172-CEA4-FF798C28B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 </a:t>
            </a:r>
            <a:r>
              <a:rPr lang="en-IN" spc="-5"/>
              <a:t>APEX</a:t>
            </a:r>
            <a:r>
              <a:rPr lang="en-IN" spc="75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r>
              <a:rPr lang="en-IN" spc="-10"/>
              <a:t>2023</a:t>
            </a:r>
            <a:endParaRPr lang="en-IN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4356C-CC33-0EE7-6BB6-F194DCFF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85420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284AB-E2AD-AD53-3721-37B365193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BAD99-8842-A0F4-6791-9B9C9BDAE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E76E3-02C6-D0FD-187A-89D2C7DA9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EB6D7-E288-48A5-9B7B-2D623AF7B1FD}" type="datetime1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C12C9-A166-DE97-28A4-AAFF17860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 </a:t>
            </a:r>
            <a:r>
              <a:rPr lang="en-IN" spc="-5"/>
              <a:t>APEX</a:t>
            </a:r>
            <a:r>
              <a:rPr lang="en-IN" spc="75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r>
              <a:rPr lang="en-IN" spc="-10"/>
              <a:t>2023</a:t>
            </a:r>
            <a:endParaRPr lang="en-IN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C0DD2-C29B-7FAD-F2B3-CA3B38F72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3957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D4903-9FB1-0890-ECFE-4E210EF97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FE2C6-7CC9-32D9-F9C7-8B1FD99DE4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F386DF-CC35-0068-8A38-7C118017A1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0AB66A-C380-CF99-67D0-E3006A04B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B06F1-B458-4BA9-AAEB-7B3B86DA5E22}" type="datetime1">
              <a:rPr lang="en-US" smtClean="0"/>
              <a:t>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46B6B2-48B1-B24A-8D8A-468B06083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 </a:t>
            </a:r>
            <a:r>
              <a:rPr lang="en-IN" spc="-5"/>
              <a:t>APEX</a:t>
            </a:r>
            <a:r>
              <a:rPr lang="en-IN" spc="75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r>
              <a:rPr lang="en-IN" spc="-10"/>
              <a:t>2023</a:t>
            </a:r>
            <a:endParaRPr lang="en-IN" spc="-1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99B0FB-74D0-CFF5-7FED-B69CE2E3C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8547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55B28-AD1D-F3B1-AB07-B2275EDF2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0C281-4662-AF8C-2C4D-BD5A778CC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E7ED7A-CA27-50A2-92C7-3EC23E083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79BA51-5E46-CF38-DC48-A6FAB7D0A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5D4575-E094-8D89-192E-A30E5F7AA1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33E76-EB22-23D2-7663-1BFDAE1D8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4698-6980-4162-BD57-BFE5D78A6E40}" type="datetime1">
              <a:rPr lang="en-US" smtClean="0"/>
              <a:t>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D0AADF-6E1E-6EF5-5390-CCDBF35DB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 </a:t>
            </a:r>
            <a:r>
              <a:rPr lang="en-IN" spc="-5"/>
              <a:t>APEX</a:t>
            </a:r>
            <a:r>
              <a:rPr lang="en-IN" spc="75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r>
              <a:rPr lang="en-IN" spc="-10"/>
              <a:t>2023</a:t>
            </a:r>
            <a:endParaRPr lang="en-IN" spc="-1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CA71FC-0963-946B-2820-4E244D7D0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79528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46D8B-30A8-AA6B-449D-5C7AFF125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137003-A50E-BFEF-9D4D-952285375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EC9E7-6EEC-4CE2-8852-76ED4D7DA7B4}" type="datetime1">
              <a:rPr lang="en-US" smtClean="0"/>
              <a:t>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FAFC6F-A4A6-2206-42F8-F215917D9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 </a:t>
            </a:r>
            <a:r>
              <a:rPr lang="en-IN" spc="-5"/>
              <a:t>APEX</a:t>
            </a:r>
            <a:r>
              <a:rPr lang="en-IN" spc="75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r>
              <a:rPr lang="en-IN" spc="-10"/>
              <a:t>2023</a:t>
            </a:r>
            <a:endParaRPr lang="en-IN" spc="-1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1E034-9980-D83E-7F10-0B0AEE2C2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2995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6DA1DF-C270-6CAA-2095-3B1D8B7A1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48C23-C978-4EC1-854B-F3C1A4690450}" type="datetime1">
              <a:rPr lang="en-US" smtClean="0"/>
              <a:t>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807242-8EE8-01B5-61E6-69D850E42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 </a:t>
            </a:r>
            <a:r>
              <a:rPr lang="en-IN" spc="-5"/>
              <a:t>APEX</a:t>
            </a:r>
            <a:r>
              <a:rPr lang="en-IN" spc="75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r>
              <a:rPr lang="en-IN" spc="-10"/>
              <a:t>2023</a:t>
            </a:r>
            <a:endParaRPr lang="en-IN" spc="-1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F67B8-171F-2928-A2CF-AADC8607D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4441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CE4AC-2EF9-E3D0-E913-3D6284BE3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4B94F-2426-9F25-D1EC-D2FA781CC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F13BAA-5CFF-06E0-80EC-1239529E3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7AB19E-4F30-2F03-5FA3-3B218595A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BE461-2029-4766-A320-250342D1585B}" type="datetime1">
              <a:rPr lang="en-US" smtClean="0"/>
              <a:t>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FC973-4768-EA62-0F75-B17A6697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 </a:t>
            </a:r>
            <a:r>
              <a:rPr lang="en-IN" spc="-5"/>
              <a:t>APEX</a:t>
            </a:r>
            <a:r>
              <a:rPr lang="en-IN" spc="75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r>
              <a:rPr lang="en-IN" spc="-10"/>
              <a:t>2023</a:t>
            </a:r>
            <a:endParaRPr lang="en-IN" spc="-1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798CA-1417-4A1F-B482-12FF182F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94886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B815A-37C4-4E6A-90CC-54679182D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D3AF3D-9BD9-CBF5-7EA5-A7D772C055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531EC6-04C4-50AC-5E10-D9CC873FE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07CC55-688C-8DC6-7D0A-5EC6EC6E9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44B58-8097-4481-942A-BE5E28003BA9}" type="datetime1">
              <a:rPr lang="en-US" smtClean="0"/>
              <a:t>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9D96C-95A6-B97F-FECB-2F4F364EB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 </a:t>
            </a:r>
            <a:r>
              <a:rPr lang="en-IN" spc="-5"/>
              <a:t>APEX</a:t>
            </a:r>
            <a:r>
              <a:rPr lang="en-IN" spc="75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r>
              <a:rPr lang="en-IN" spc="-10"/>
              <a:t>2023</a:t>
            </a:r>
            <a:endParaRPr lang="en-IN" spc="-1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A1D85-60E5-1999-4FD1-0BDDD0A3B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9361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88774-CE98-C459-82E2-5C5C47DEF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A9B8BE-8AEA-D918-F487-6AEE4C7B4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8FF30-5007-2CBE-A9B0-E514EB406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74A71-932C-4630-BB50-8EF565489FC1}" type="datetime1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590C5-0871-4AF9-5531-207F672A3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 </a:t>
            </a:r>
            <a:r>
              <a:rPr lang="en-IN" spc="-5"/>
              <a:t>APEX</a:t>
            </a:r>
            <a:r>
              <a:rPr lang="en-IN" spc="75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r>
              <a:rPr lang="en-IN" spc="-10"/>
              <a:t>2023</a:t>
            </a:r>
            <a:endParaRPr lang="en-IN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03D57-A94A-C445-6BF9-7F1445B9F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9333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E4901C-C934-384B-BAA8-39C3179A52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F79C9-A678-B8DC-8C2F-17A711455C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76B26-008F-6E53-9AD6-2A6A10F17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66D1-124E-4D25-AB03-EE8DF05CCF9A}" type="datetime1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B13B7-7833-3AF6-0D28-982B309F0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 </a:t>
            </a:r>
            <a:r>
              <a:rPr lang="en-IN" spc="-5"/>
              <a:t>APEX</a:t>
            </a:r>
            <a:r>
              <a:rPr lang="en-IN" spc="75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r>
              <a:rPr lang="en-IN" spc="-10"/>
              <a:t>2023</a:t>
            </a:r>
            <a:endParaRPr lang="en-IN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89BEB-AE91-4F43-2F5E-3BA1FECC8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14954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78AD3B-9552-436C-264E-96190BAE4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2F3AD-C580-CA1B-09DD-931FE2545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DD192-A3EF-E756-AF97-47DC958CA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4CCF6B-755C-41B0-8528-5E04725B7990}" type="datetime1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10B01-0A96-5A69-E349-420A00725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 </a:t>
            </a:r>
            <a:r>
              <a:rPr lang="en-IN" spc="-5"/>
              <a:t>APEX</a:t>
            </a:r>
            <a:r>
              <a:rPr lang="en-IN" spc="75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r>
              <a:rPr lang="en-IN" spc="-10"/>
              <a:t>2023</a:t>
            </a:r>
            <a:endParaRPr lang="en-IN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7F5A7-DB76-99FD-44CA-390C7CE72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2348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4DDB2-0105-3341-0857-E329D7F8D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4780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4400" dirty="0"/>
          </a:p>
          <a:p>
            <a:pPr marL="0" indent="0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5400" dirty="0"/>
              <a:t>Infrastructure as a Code</a:t>
            </a:r>
          </a:p>
        </p:txBody>
      </p:sp>
    </p:spTree>
    <p:extLst>
      <p:ext uri="{BB962C8B-B14F-4D97-AF65-F5344CB8AC3E}">
        <p14:creationId xmlns:p14="http://schemas.microsoft.com/office/powerpoint/2010/main" val="3351132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456" y="391533"/>
            <a:ext cx="7221855" cy="5655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600" b="1" spc="-10" dirty="0"/>
              <a:t>Infrastructure</a:t>
            </a:r>
            <a:r>
              <a:rPr sz="3600" b="1" spc="-30" dirty="0"/>
              <a:t> </a:t>
            </a:r>
            <a:r>
              <a:rPr sz="3600" b="1" spc="-5" dirty="0"/>
              <a:t>as</a:t>
            </a:r>
            <a:r>
              <a:rPr sz="3600" b="1" spc="-90" dirty="0"/>
              <a:t> </a:t>
            </a:r>
            <a:r>
              <a:rPr sz="3600" b="1" spc="-5" dirty="0"/>
              <a:t>a</a:t>
            </a:r>
            <a:r>
              <a:rPr sz="3600" b="1" spc="-35" dirty="0"/>
              <a:t> </a:t>
            </a:r>
            <a:r>
              <a:rPr sz="3600" b="1" spc="-5" dirty="0"/>
              <a:t>Code</a:t>
            </a:r>
            <a:endParaRPr sz="3600" b="1" spc="-7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3120" y="957072"/>
            <a:ext cx="6419087" cy="32095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63456" y="4267200"/>
            <a:ext cx="11499944" cy="235904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0" marR="5080" indent="-342900">
              <a:lnSpc>
                <a:spcPct val="101699"/>
              </a:lnSpc>
              <a:spcBef>
                <a:spcPts val="90"/>
              </a:spcBef>
              <a:buFont typeface="Wingdings" panose="05000000000000000000" pitchFamily="2" charset="2"/>
              <a:buChar char="§"/>
            </a:pPr>
            <a:r>
              <a:rPr sz="2100" spc="5" dirty="0">
                <a:solidFill>
                  <a:srgbClr val="171717"/>
                </a:solidFill>
                <a:latin typeface="Calibri"/>
                <a:cs typeface="Calibri"/>
              </a:rPr>
              <a:t>Infrastructure </a:t>
            </a:r>
            <a:r>
              <a:rPr sz="2100" spc="15" dirty="0">
                <a:solidFill>
                  <a:srgbClr val="171717"/>
                </a:solidFill>
                <a:latin typeface="Calibri"/>
                <a:cs typeface="Calibri"/>
              </a:rPr>
              <a:t>as Code </a:t>
            </a:r>
            <a:r>
              <a:rPr sz="2100" spc="5" dirty="0">
                <a:solidFill>
                  <a:srgbClr val="171717"/>
                </a:solidFill>
                <a:latin typeface="Calibri"/>
                <a:cs typeface="Calibri"/>
              </a:rPr>
              <a:t>(IaC) </a:t>
            </a:r>
            <a:r>
              <a:rPr sz="2100" dirty="0">
                <a:solidFill>
                  <a:srgbClr val="171717"/>
                </a:solidFill>
                <a:latin typeface="Calibri"/>
                <a:cs typeface="Calibri"/>
              </a:rPr>
              <a:t>is </a:t>
            </a:r>
            <a:r>
              <a:rPr sz="2100" spc="15" dirty="0">
                <a:solidFill>
                  <a:srgbClr val="171717"/>
                </a:solidFill>
                <a:latin typeface="Calibri"/>
                <a:cs typeface="Calibri"/>
              </a:rPr>
              <a:t>the </a:t>
            </a:r>
            <a:r>
              <a:rPr sz="2100" spc="10" dirty="0">
                <a:solidFill>
                  <a:srgbClr val="171717"/>
                </a:solidFill>
                <a:latin typeface="Calibri"/>
                <a:cs typeface="Calibri"/>
              </a:rPr>
              <a:t>management of </a:t>
            </a:r>
            <a:r>
              <a:rPr sz="2100" spc="5" dirty="0">
                <a:solidFill>
                  <a:srgbClr val="171717"/>
                </a:solidFill>
                <a:latin typeface="Calibri"/>
                <a:cs typeface="Calibri"/>
              </a:rPr>
              <a:t>infrastructure (networks, </a:t>
            </a:r>
            <a:r>
              <a:rPr sz="2100" spc="10" dirty="0">
                <a:solidFill>
                  <a:srgbClr val="171717"/>
                </a:solidFill>
                <a:latin typeface="Calibri"/>
                <a:cs typeface="Calibri"/>
              </a:rPr>
              <a:t>virtual machines, </a:t>
            </a:r>
            <a:r>
              <a:rPr sz="2100" spc="15" dirty="0">
                <a:solidFill>
                  <a:srgbClr val="171717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171717"/>
                </a:solidFill>
                <a:latin typeface="Calibri"/>
                <a:cs typeface="Calibri"/>
              </a:rPr>
              <a:t>load </a:t>
            </a:r>
            <a:r>
              <a:rPr sz="2100" spc="5" dirty="0">
                <a:solidFill>
                  <a:srgbClr val="171717"/>
                </a:solidFill>
                <a:latin typeface="Calibri"/>
                <a:cs typeface="Calibri"/>
              </a:rPr>
              <a:t>balancers,</a:t>
            </a:r>
            <a:r>
              <a:rPr sz="2100" spc="15" dirty="0">
                <a:solidFill>
                  <a:srgbClr val="171717"/>
                </a:solidFill>
                <a:latin typeface="Calibri"/>
                <a:cs typeface="Calibri"/>
              </a:rPr>
              <a:t> and</a:t>
            </a:r>
            <a:r>
              <a:rPr sz="2100" spc="10" dirty="0">
                <a:solidFill>
                  <a:srgbClr val="171717"/>
                </a:solidFill>
                <a:latin typeface="Calibri"/>
                <a:cs typeface="Calibri"/>
              </a:rPr>
              <a:t> connection</a:t>
            </a:r>
            <a:r>
              <a:rPr sz="2100" spc="-5" dirty="0">
                <a:solidFill>
                  <a:srgbClr val="171717"/>
                </a:solidFill>
                <a:latin typeface="Calibri"/>
                <a:cs typeface="Calibri"/>
              </a:rPr>
              <a:t> </a:t>
            </a:r>
            <a:r>
              <a:rPr sz="2100" spc="5" dirty="0">
                <a:solidFill>
                  <a:srgbClr val="171717"/>
                </a:solidFill>
                <a:latin typeface="Calibri"/>
                <a:cs typeface="Calibri"/>
              </a:rPr>
              <a:t>topology)</a:t>
            </a:r>
            <a:r>
              <a:rPr sz="2100" spc="10" dirty="0">
                <a:solidFill>
                  <a:srgbClr val="171717"/>
                </a:solidFill>
                <a:latin typeface="Calibri"/>
                <a:cs typeface="Calibri"/>
              </a:rPr>
              <a:t> </a:t>
            </a:r>
            <a:r>
              <a:rPr sz="2100" spc="5" dirty="0">
                <a:solidFill>
                  <a:srgbClr val="171717"/>
                </a:solidFill>
                <a:latin typeface="Calibri"/>
                <a:cs typeface="Calibri"/>
              </a:rPr>
              <a:t>in</a:t>
            </a:r>
            <a:r>
              <a:rPr sz="2100" spc="15" dirty="0">
                <a:solidFill>
                  <a:srgbClr val="171717"/>
                </a:solidFill>
                <a:latin typeface="Calibri"/>
                <a:cs typeface="Calibri"/>
              </a:rPr>
              <a:t> a</a:t>
            </a:r>
            <a:r>
              <a:rPr sz="2100" spc="25" dirty="0">
                <a:solidFill>
                  <a:srgbClr val="171717"/>
                </a:solidFill>
                <a:latin typeface="Calibri"/>
                <a:cs typeface="Calibri"/>
              </a:rPr>
              <a:t> </a:t>
            </a:r>
            <a:r>
              <a:rPr sz="2100" spc="5" dirty="0">
                <a:solidFill>
                  <a:srgbClr val="171717"/>
                </a:solidFill>
                <a:latin typeface="Calibri"/>
                <a:cs typeface="Calibri"/>
              </a:rPr>
              <a:t>descriptive </a:t>
            </a:r>
            <a:r>
              <a:rPr sz="2100" spc="10" dirty="0">
                <a:solidFill>
                  <a:srgbClr val="171717"/>
                </a:solidFill>
                <a:latin typeface="Calibri"/>
                <a:cs typeface="Calibri"/>
              </a:rPr>
              <a:t>model,</a:t>
            </a:r>
            <a:r>
              <a:rPr sz="2100" spc="30" dirty="0">
                <a:solidFill>
                  <a:srgbClr val="171717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171717"/>
                </a:solidFill>
                <a:latin typeface="Calibri"/>
                <a:cs typeface="Calibri"/>
              </a:rPr>
              <a:t>using </a:t>
            </a:r>
            <a:r>
              <a:rPr sz="2100" spc="15" dirty="0">
                <a:solidFill>
                  <a:srgbClr val="171717"/>
                </a:solidFill>
                <a:latin typeface="Calibri"/>
                <a:cs typeface="Calibri"/>
              </a:rPr>
              <a:t>the</a:t>
            </a:r>
            <a:r>
              <a:rPr sz="2100" spc="10" dirty="0">
                <a:solidFill>
                  <a:srgbClr val="171717"/>
                </a:solidFill>
                <a:latin typeface="Calibri"/>
                <a:cs typeface="Calibri"/>
              </a:rPr>
              <a:t> </a:t>
            </a:r>
            <a:r>
              <a:rPr sz="2100" spc="20" dirty="0">
                <a:solidFill>
                  <a:srgbClr val="171717"/>
                </a:solidFill>
                <a:latin typeface="Calibri"/>
                <a:cs typeface="Calibri"/>
              </a:rPr>
              <a:t>same</a:t>
            </a:r>
            <a:r>
              <a:rPr sz="2100" dirty="0">
                <a:solidFill>
                  <a:srgbClr val="171717"/>
                </a:solidFill>
                <a:latin typeface="Calibri"/>
                <a:cs typeface="Calibri"/>
              </a:rPr>
              <a:t> versioning</a:t>
            </a:r>
            <a:r>
              <a:rPr sz="2100" spc="35" dirty="0">
                <a:solidFill>
                  <a:srgbClr val="171717"/>
                </a:solidFill>
                <a:latin typeface="Calibri"/>
                <a:cs typeface="Calibri"/>
              </a:rPr>
              <a:t> </a:t>
            </a:r>
            <a:r>
              <a:rPr sz="2100" spc="15" dirty="0">
                <a:solidFill>
                  <a:srgbClr val="171717"/>
                </a:solidFill>
                <a:latin typeface="Calibri"/>
                <a:cs typeface="Calibri"/>
              </a:rPr>
              <a:t>as </a:t>
            </a:r>
            <a:r>
              <a:rPr sz="2100" spc="20" dirty="0">
                <a:solidFill>
                  <a:srgbClr val="171717"/>
                </a:solidFill>
                <a:latin typeface="Calibri"/>
                <a:cs typeface="Calibri"/>
              </a:rPr>
              <a:t> </a:t>
            </a:r>
            <a:r>
              <a:rPr sz="2100" spc="15" dirty="0">
                <a:solidFill>
                  <a:srgbClr val="171717"/>
                </a:solidFill>
                <a:latin typeface="Calibri"/>
                <a:cs typeface="Calibri"/>
              </a:rPr>
              <a:t>DevOps </a:t>
            </a:r>
            <a:r>
              <a:rPr sz="2100" spc="10" dirty="0">
                <a:solidFill>
                  <a:srgbClr val="171717"/>
                </a:solidFill>
                <a:latin typeface="Calibri"/>
                <a:cs typeface="Calibri"/>
              </a:rPr>
              <a:t>team uses </a:t>
            </a:r>
            <a:r>
              <a:rPr sz="2100" spc="-10" dirty="0">
                <a:solidFill>
                  <a:srgbClr val="171717"/>
                </a:solidFill>
                <a:latin typeface="Calibri"/>
                <a:cs typeface="Calibri"/>
              </a:rPr>
              <a:t>for </a:t>
            </a:r>
            <a:r>
              <a:rPr sz="2100" spc="10" dirty="0">
                <a:solidFill>
                  <a:srgbClr val="171717"/>
                </a:solidFill>
                <a:latin typeface="Calibri"/>
                <a:cs typeface="Calibri"/>
              </a:rPr>
              <a:t>source code. </a:t>
            </a:r>
            <a:endParaRPr lang="en-IN" sz="2100" spc="10" dirty="0">
              <a:solidFill>
                <a:srgbClr val="171717"/>
              </a:solidFill>
              <a:latin typeface="Calibri"/>
              <a:cs typeface="Calibri"/>
            </a:endParaRPr>
          </a:p>
          <a:p>
            <a:pPr marL="355600" marR="5080" indent="-342900">
              <a:lnSpc>
                <a:spcPct val="101699"/>
              </a:lnSpc>
              <a:spcBef>
                <a:spcPts val="90"/>
              </a:spcBef>
              <a:buFont typeface="Wingdings" panose="05000000000000000000" pitchFamily="2" charset="2"/>
              <a:buChar char="§"/>
            </a:pPr>
            <a:endParaRPr lang="en-IN" sz="2100" spc="10" dirty="0">
              <a:solidFill>
                <a:srgbClr val="171717"/>
              </a:solidFill>
              <a:latin typeface="Calibri"/>
              <a:cs typeface="Calibri"/>
            </a:endParaRPr>
          </a:p>
          <a:p>
            <a:pPr marL="355600" marR="5080" indent="-342900">
              <a:lnSpc>
                <a:spcPct val="101699"/>
              </a:lnSpc>
              <a:spcBef>
                <a:spcPts val="90"/>
              </a:spcBef>
              <a:buFont typeface="Wingdings" panose="05000000000000000000" pitchFamily="2" charset="2"/>
              <a:buChar char="§"/>
            </a:pPr>
            <a:r>
              <a:rPr sz="2100" spc="10" dirty="0" err="1">
                <a:solidFill>
                  <a:srgbClr val="171717"/>
                </a:solidFill>
                <a:latin typeface="Calibri"/>
                <a:cs typeface="Calibri"/>
              </a:rPr>
              <a:t>IaC</a:t>
            </a:r>
            <a:r>
              <a:rPr sz="2100" spc="10" dirty="0">
                <a:solidFill>
                  <a:srgbClr val="171717"/>
                </a:solidFill>
                <a:latin typeface="Calibri"/>
                <a:cs typeface="Calibri"/>
              </a:rPr>
              <a:t> </a:t>
            </a:r>
            <a:r>
              <a:rPr sz="2100" spc="15" dirty="0">
                <a:solidFill>
                  <a:srgbClr val="171717"/>
                </a:solidFill>
                <a:latin typeface="Calibri"/>
                <a:cs typeface="Calibri"/>
              </a:rPr>
              <a:t>model </a:t>
            </a:r>
            <a:r>
              <a:rPr sz="2100" dirty="0">
                <a:solidFill>
                  <a:srgbClr val="171717"/>
                </a:solidFill>
                <a:latin typeface="Calibri"/>
                <a:cs typeface="Calibri"/>
              </a:rPr>
              <a:t>generates </a:t>
            </a:r>
            <a:r>
              <a:rPr sz="2100" spc="15" dirty="0">
                <a:solidFill>
                  <a:srgbClr val="171717"/>
                </a:solidFill>
                <a:latin typeface="Calibri"/>
                <a:cs typeface="Calibri"/>
              </a:rPr>
              <a:t>the </a:t>
            </a:r>
            <a:r>
              <a:rPr sz="2100" spc="20" dirty="0">
                <a:solidFill>
                  <a:srgbClr val="171717"/>
                </a:solidFill>
                <a:latin typeface="Calibri"/>
                <a:cs typeface="Calibri"/>
              </a:rPr>
              <a:t>same </a:t>
            </a:r>
            <a:r>
              <a:rPr sz="2100" spc="5" dirty="0">
                <a:solidFill>
                  <a:srgbClr val="171717"/>
                </a:solidFill>
                <a:latin typeface="Calibri"/>
                <a:cs typeface="Calibri"/>
              </a:rPr>
              <a:t>environment every </a:t>
            </a:r>
            <a:r>
              <a:rPr sz="2100" spc="15" dirty="0">
                <a:solidFill>
                  <a:srgbClr val="171717"/>
                </a:solidFill>
                <a:latin typeface="Calibri"/>
                <a:cs typeface="Calibri"/>
              </a:rPr>
              <a:t>time </a:t>
            </a:r>
            <a:r>
              <a:rPr sz="2100" dirty="0">
                <a:solidFill>
                  <a:srgbClr val="171717"/>
                </a:solidFill>
                <a:latin typeface="Calibri"/>
                <a:cs typeface="Calibri"/>
              </a:rPr>
              <a:t>it </a:t>
            </a:r>
            <a:r>
              <a:rPr sz="2100" spc="5" dirty="0">
                <a:solidFill>
                  <a:srgbClr val="171717"/>
                </a:solidFill>
                <a:latin typeface="Calibri"/>
                <a:cs typeface="Calibri"/>
              </a:rPr>
              <a:t>is </a:t>
            </a:r>
            <a:r>
              <a:rPr sz="2100" spc="10" dirty="0">
                <a:solidFill>
                  <a:srgbClr val="171717"/>
                </a:solidFill>
                <a:latin typeface="Calibri"/>
                <a:cs typeface="Calibri"/>
              </a:rPr>
              <a:t>applied.</a:t>
            </a:r>
            <a:endParaRPr lang="en-IN" sz="2100" spc="10" dirty="0">
              <a:solidFill>
                <a:srgbClr val="171717"/>
              </a:solidFill>
              <a:latin typeface="Calibri"/>
              <a:cs typeface="Calibri"/>
            </a:endParaRPr>
          </a:p>
          <a:p>
            <a:pPr marL="355600" marR="5080" indent="-342900">
              <a:lnSpc>
                <a:spcPct val="101699"/>
              </a:lnSpc>
              <a:spcBef>
                <a:spcPts val="90"/>
              </a:spcBef>
              <a:buFont typeface="Wingdings" panose="05000000000000000000" pitchFamily="2" charset="2"/>
              <a:buChar char="§"/>
            </a:pPr>
            <a:endParaRPr lang="en-IN" sz="2100" spc="10" dirty="0">
              <a:solidFill>
                <a:srgbClr val="171717"/>
              </a:solidFill>
              <a:latin typeface="Calibri"/>
              <a:cs typeface="Calibri"/>
            </a:endParaRPr>
          </a:p>
          <a:p>
            <a:pPr marL="355600" marR="5080" indent="-342900">
              <a:lnSpc>
                <a:spcPct val="101699"/>
              </a:lnSpc>
              <a:spcBef>
                <a:spcPts val="90"/>
              </a:spcBef>
              <a:buFont typeface="Wingdings" panose="05000000000000000000" pitchFamily="2" charset="2"/>
              <a:buChar char="§"/>
            </a:pPr>
            <a:r>
              <a:rPr sz="2100" spc="10" dirty="0">
                <a:solidFill>
                  <a:srgbClr val="171717"/>
                </a:solidFill>
                <a:latin typeface="Calibri"/>
                <a:cs typeface="Calibri"/>
              </a:rPr>
              <a:t> IaC </a:t>
            </a:r>
            <a:r>
              <a:rPr sz="2100" dirty="0">
                <a:solidFill>
                  <a:srgbClr val="171717"/>
                </a:solidFill>
                <a:latin typeface="Calibri"/>
                <a:cs typeface="Calibri"/>
              </a:rPr>
              <a:t>is </a:t>
            </a:r>
            <a:r>
              <a:rPr sz="2100" spc="15" dirty="0">
                <a:solidFill>
                  <a:srgbClr val="171717"/>
                </a:solidFill>
                <a:latin typeface="Calibri"/>
                <a:cs typeface="Calibri"/>
              </a:rPr>
              <a:t>a </a:t>
            </a:r>
            <a:r>
              <a:rPr sz="2100" spc="-25" dirty="0">
                <a:solidFill>
                  <a:srgbClr val="171717"/>
                </a:solidFill>
                <a:latin typeface="Calibri"/>
                <a:cs typeface="Calibri"/>
              </a:rPr>
              <a:t>key </a:t>
            </a:r>
            <a:r>
              <a:rPr sz="2100" spc="-459" dirty="0">
                <a:solidFill>
                  <a:srgbClr val="171717"/>
                </a:solidFill>
                <a:latin typeface="Calibri"/>
                <a:cs typeface="Calibri"/>
              </a:rPr>
              <a:t> </a:t>
            </a:r>
            <a:r>
              <a:rPr sz="2100" spc="15" dirty="0">
                <a:solidFill>
                  <a:srgbClr val="171717"/>
                </a:solidFill>
                <a:latin typeface="Calibri"/>
                <a:cs typeface="Calibri"/>
              </a:rPr>
              <a:t>DevOps</a:t>
            </a:r>
            <a:r>
              <a:rPr sz="2100" spc="-20" dirty="0">
                <a:solidFill>
                  <a:srgbClr val="171717"/>
                </a:solidFill>
                <a:latin typeface="Calibri"/>
                <a:cs typeface="Calibri"/>
              </a:rPr>
              <a:t> </a:t>
            </a:r>
            <a:r>
              <a:rPr sz="2100" spc="5" dirty="0">
                <a:solidFill>
                  <a:srgbClr val="171717"/>
                </a:solidFill>
                <a:latin typeface="Calibri"/>
                <a:cs typeface="Calibri"/>
              </a:rPr>
              <a:t>practice</a:t>
            </a:r>
            <a:r>
              <a:rPr sz="2100" spc="-30" dirty="0">
                <a:solidFill>
                  <a:srgbClr val="171717"/>
                </a:solidFill>
                <a:latin typeface="Calibri"/>
                <a:cs typeface="Calibri"/>
              </a:rPr>
              <a:t> </a:t>
            </a:r>
            <a:r>
              <a:rPr sz="2100" spc="20" dirty="0">
                <a:solidFill>
                  <a:srgbClr val="171717"/>
                </a:solidFill>
                <a:latin typeface="Calibri"/>
                <a:cs typeface="Calibri"/>
              </a:rPr>
              <a:t>and</a:t>
            </a:r>
            <a:r>
              <a:rPr sz="2100" spc="10" dirty="0">
                <a:solidFill>
                  <a:srgbClr val="17171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171717"/>
                </a:solidFill>
                <a:latin typeface="Calibri"/>
                <a:cs typeface="Calibri"/>
              </a:rPr>
              <a:t>is</a:t>
            </a:r>
            <a:r>
              <a:rPr sz="2100" spc="30" dirty="0">
                <a:solidFill>
                  <a:srgbClr val="171717"/>
                </a:solidFill>
                <a:latin typeface="Calibri"/>
                <a:cs typeface="Calibri"/>
              </a:rPr>
              <a:t> </a:t>
            </a:r>
            <a:r>
              <a:rPr sz="2100" spc="15" dirty="0">
                <a:solidFill>
                  <a:srgbClr val="171717"/>
                </a:solidFill>
                <a:latin typeface="Calibri"/>
                <a:cs typeface="Calibri"/>
              </a:rPr>
              <a:t>used</a:t>
            </a:r>
            <a:r>
              <a:rPr sz="2100" spc="5" dirty="0">
                <a:solidFill>
                  <a:srgbClr val="171717"/>
                </a:solidFill>
                <a:latin typeface="Calibri"/>
                <a:cs typeface="Calibri"/>
              </a:rPr>
              <a:t> in</a:t>
            </a:r>
            <a:r>
              <a:rPr sz="2100" spc="10" dirty="0">
                <a:solidFill>
                  <a:srgbClr val="171717"/>
                </a:solidFill>
                <a:latin typeface="Calibri"/>
                <a:cs typeface="Calibri"/>
              </a:rPr>
              <a:t> conjunction</a:t>
            </a:r>
            <a:r>
              <a:rPr sz="2100" spc="-15" dirty="0">
                <a:solidFill>
                  <a:srgbClr val="171717"/>
                </a:solidFill>
                <a:latin typeface="Calibri"/>
                <a:cs typeface="Calibri"/>
              </a:rPr>
              <a:t> </a:t>
            </a:r>
            <a:r>
              <a:rPr sz="2100" spc="15" dirty="0">
                <a:solidFill>
                  <a:srgbClr val="171717"/>
                </a:solidFill>
                <a:latin typeface="Calibri"/>
                <a:cs typeface="Calibri"/>
              </a:rPr>
              <a:t>with</a:t>
            </a:r>
            <a:r>
              <a:rPr sz="2100" spc="70" dirty="0">
                <a:solidFill>
                  <a:srgbClr val="171717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uFill>
                  <a:solidFill>
                    <a:srgbClr val="0462C1"/>
                  </a:solidFill>
                </a:uFill>
                <a:latin typeface="Calibri"/>
                <a:cs typeface="Calibri"/>
              </a:rPr>
              <a:t>continuous</a:t>
            </a:r>
            <a:r>
              <a:rPr sz="2100" spc="5" dirty="0">
                <a:uFill>
                  <a:solidFill>
                    <a:srgbClr val="0462C1"/>
                  </a:solidFill>
                </a:uFill>
                <a:latin typeface="Calibri"/>
                <a:cs typeface="Calibri"/>
              </a:rPr>
              <a:t> </a:t>
            </a:r>
            <a:r>
              <a:rPr sz="2100" spc="-10" dirty="0">
                <a:uFill>
                  <a:solidFill>
                    <a:srgbClr val="0462C1"/>
                  </a:solidFill>
                </a:uFill>
                <a:latin typeface="Calibri"/>
                <a:cs typeface="Calibri"/>
              </a:rPr>
              <a:t>delivery</a:t>
            </a:r>
            <a:r>
              <a:rPr sz="2100" u="sng" spc="-10" dirty="0">
                <a:latin typeface="Calibri"/>
                <a:cs typeface="Calibri"/>
              </a:rPr>
              <a:t>.</a:t>
            </a:r>
            <a:endParaRPr sz="2100" u="sng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69007"/>
            <a:ext cx="1903095" cy="5655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600" b="1" spc="-5" dirty="0"/>
              <a:t>B</a:t>
            </a:r>
            <a:r>
              <a:rPr sz="3600" b="1" spc="5" dirty="0"/>
              <a:t>e</a:t>
            </a:r>
            <a:r>
              <a:rPr sz="3600" b="1" spc="-5" dirty="0"/>
              <a:t>nefits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0" y="1295400"/>
            <a:ext cx="10794086" cy="4951997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2000" b="1" dirty="0">
                <a:latin typeface="Calibri"/>
                <a:cs typeface="Calibri"/>
              </a:rPr>
              <a:t>Consistency</a:t>
            </a:r>
            <a:endParaRPr sz="2000" dirty="0">
              <a:latin typeface="Calibri"/>
              <a:cs typeface="Calibri"/>
            </a:endParaRPr>
          </a:p>
          <a:p>
            <a:pPr marL="317500" indent="-304800">
              <a:lnSpc>
                <a:spcPct val="100000"/>
              </a:lnSpc>
              <a:spcBef>
                <a:spcPts val="1120"/>
              </a:spcBef>
              <a:buSzPct val="75675"/>
              <a:buFont typeface="Microsoft Sans Serif"/>
              <a:buChar char="•"/>
              <a:tabLst>
                <a:tab pos="316865" algn="l"/>
                <a:tab pos="317500" algn="l"/>
              </a:tabLst>
            </a:pPr>
            <a:r>
              <a:rPr sz="2000" dirty="0">
                <a:latin typeface="Calibri"/>
                <a:cs typeface="Calibri"/>
              </a:rPr>
              <a:t>Consistently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achieve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standardized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provisioning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or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deployment</a:t>
            </a:r>
            <a:endParaRPr lang="en-IN" sz="2000" spc="5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  <a:buSzPct val="75675"/>
              <a:tabLst>
                <a:tab pos="316865" algn="l"/>
                <a:tab pos="317500" algn="l"/>
              </a:tabLst>
            </a:pP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2000" b="1" dirty="0">
                <a:latin typeface="Calibri"/>
                <a:cs typeface="Calibri"/>
              </a:rPr>
              <a:t>Accelerating</a:t>
            </a:r>
            <a:endParaRPr sz="2000" dirty="0">
              <a:latin typeface="Calibri"/>
              <a:cs typeface="Calibri"/>
            </a:endParaRPr>
          </a:p>
          <a:p>
            <a:pPr marL="317500" indent="-304800">
              <a:lnSpc>
                <a:spcPct val="100000"/>
              </a:lnSpc>
              <a:spcBef>
                <a:spcPts val="1090"/>
              </a:spcBef>
              <a:buSzPct val="75675"/>
              <a:buFont typeface="Microsoft Sans Serif"/>
              <a:buChar char="•"/>
              <a:tabLst>
                <a:tab pos="316865" algn="l"/>
                <a:tab pos="317500" algn="l"/>
              </a:tabLst>
            </a:pPr>
            <a:r>
              <a:rPr sz="2000" dirty="0">
                <a:latin typeface="Calibri"/>
                <a:cs typeface="Calibri"/>
              </a:rPr>
              <a:t>Accelerating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provisioning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or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deployment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rapidly</a:t>
            </a:r>
            <a:endParaRPr lang="en-IN" sz="2000" spc="-5" dirty="0">
              <a:latin typeface="Calibri"/>
              <a:cs typeface="Calibri"/>
            </a:endParaRPr>
          </a:p>
          <a:p>
            <a:pPr marL="317500" indent="-304800">
              <a:lnSpc>
                <a:spcPct val="100000"/>
              </a:lnSpc>
              <a:spcBef>
                <a:spcPts val="1090"/>
              </a:spcBef>
              <a:buSzPct val="75675"/>
              <a:buFont typeface="Microsoft Sans Serif"/>
              <a:buChar char="•"/>
              <a:tabLst>
                <a:tab pos="316865" algn="l"/>
                <a:tab pos="317500" algn="l"/>
              </a:tabLst>
            </a:pP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2000" b="1" spc="5" dirty="0">
                <a:latin typeface="Calibri"/>
                <a:cs typeface="Calibri"/>
              </a:rPr>
              <a:t>Reusability</a:t>
            </a:r>
            <a:endParaRPr sz="2000" dirty="0">
              <a:latin typeface="Calibri"/>
              <a:cs typeface="Calibri"/>
            </a:endParaRPr>
          </a:p>
          <a:p>
            <a:pPr marL="317500" indent="-304800">
              <a:lnSpc>
                <a:spcPct val="100000"/>
              </a:lnSpc>
              <a:spcBef>
                <a:spcPts val="1095"/>
              </a:spcBef>
              <a:buSzPct val="75675"/>
              <a:buFont typeface="Microsoft Sans Serif"/>
              <a:buChar char="•"/>
              <a:tabLst>
                <a:tab pos="316865" algn="l"/>
                <a:tab pos="317500" algn="l"/>
              </a:tabLst>
            </a:pPr>
            <a:r>
              <a:rPr sz="2000" spc="5" dirty="0">
                <a:latin typeface="Calibri"/>
                <a:cs typeface="Calibri"/>
              </a:rPr>
              <a:t>Reusable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JSON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code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repeatable </a:t>
            </a:r>
            <a:r>
              <a:rPr sz="2000" spc="5" dirty="0">
                <a:latin typeface="Calibri"/>
                <a:cs typeface="Calibri"/>
              </a:rPr>
              <a:t>or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similar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provisioning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or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deployment</a:t>
            </a:r>
            <a:endParaRPr lang="en-IN" sz="2000" spc="5" dirty="0">
              <a:latin typeface="Calibri"/>
              <a:cs typeface="Calibri"/>
            </a:endParaRPr>
          </a:p>
          <a:p>
            <a:pPr marL="317500" indent="-304800">
              <a:lnSpc>
                <a:spcPct val="100000"/>
              </a:lnSpc>
              <a:spcBef>
                <a:spcPts val="1095"/>
              </a:spcBef>
              <a:buSzPct val="75675"/>
              <a:buFont typeface="Microsoft Sans Serif"/>
              <a:buChar char="•"/>
              <a:tabLst>
                <a:tab pos="316865" algn="l"/>
                <a:tab pos="317500" algn="l"/>
              </a:tabLst>
            </a:pP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2000" b="1" dirty="0">
                <a:latin typeface="Calibri"/>
                <a:cs typeface="Calibri"/>
              </a:rPr>
              <a:t>Extensibility</a:t>
            </a:r>
            <a:endParaRPr sz="2000" dirty="0">
              <a:latin typeface="Calibri"/>
              <a:cs typeface="Calibri"/>
            </a:endParaRPr>
          </a:p>
          <a:p>
            <a:pPr marL="317500" indent="-304800">
              <a:lnSpc>
                <a:spcPct val="100000"/>
              </a:lnSpc>
              <a:spcBef>
                <a:spcPts val="1095"/>
              </a:spcBef>
              <a:buSzPct val="75675"/>
              <a:buFont typeface="Microsoft Sans Serif"/>
              <a:buChar char="•"/>
              <a:tabLst>
                <a:tab pos="316865" algn="l"/>
                <a:tab pos="317500" algn="l"/>
              </a:tabLst>
            </a:pPr>
            <a:r>
              <a:rPr sz="2000" spc="5" dirty="0">
                <a:latin typeface="Calibri"/>
                <a:cs typeface="Calibri"/>
              </a:rPr>
              <a:t>Extensible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JSON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code </a:t>
            </a:r>
            <a:r>
              <a:rPr sz="2000" spc="-10" dirty="0">
                <a:latin typeface="Calibri"/>
                <a:cs typeface="Calibri"/>
              </a:rPr>
              <a:t>for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incorporating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with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additional items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29075"/>
            <a:ext cx="8459318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b="1" spc="-5" dirty="0"/>
              <a:t>Manage</a:t>
            </a:r>
            <a:r>
              <a:rPr sz="3600" b="1" spc="-70" dirty="0"/>
              <a:t> </a:t>
            </a:r>
            <a:r>
              <a:rPr sz="3600" b="1" spc="-10" dirty="0"/>
              <a:t>Multiple</a:t>
            </a:r>
            <a:r>
              <a:rPr sz="3600" b="1" spc="-45" dirty="0"/>
              <a:t> </a:t>
            </a:r>
            <a:r>
              <a:rPr sz="3600" b="1" spc="-15" dirty="0"/>
              <a:t>Environments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600" y="1371600"/>
            <a:ext cx="11354918" cy="469872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0"/>
              </a:spcBef>
            </a:pPr>
            <a:r>
              <a:rPr lang="en-US" sz="1850" b="1" dirty="0">
                <a:latin typeface="Calibri"/>
                <a:cs typeface="Calibri"/>
              </a:rPr>
              <a:t>Managing Environments :</a:t>
            </a:r>
          </a:p>
          <a:p>
            <a:pPr marL="12700" algn="just">
              <a:lnSpc>
                <a:spcPct val="100000"/>
              </a:lnSpc>
              <a:spcBef>
                <a:spcPts val="120"/>
              </a:spcBef>
            </a:pPr>
            <a:r>
              <a:rPr lang="en-US" sz="1850" dirty="0">
                <a:latin typeface="Calibri"/>
                <a:cs typeface="Calibri"/>
              </a:rPr>
              <a:t>Organizations often face challenges with inconsistencies between non-production and production environments. Infrastructure as Code (</a:t>
            </a:r>
            <a:r>
              <a:rPr lang="en-US" sz="1850" dirty="0" err="1">
                <a:latin typeface="Calibri"/>
                <a:cs typeface="Calibri"/>
              </a:rPr>
              <a:t>IaC</a:t>
            </a:r>
            <a:r>
              <a:rPr lang="en-US" sz="1850" dirty="0">
                <a:latin typeface="Calibri"/>
                <a:cs typeface="Calibri"/>
              </a:rPr>
              <a:t>) ensures uniformity by using the same configuration files for all environments, creating near-identical setups.  </a:t>
            </a:r>
          </a:p>
          <a:p>
            <a:pPr marL="12700" algn="just">
              <a:lnSpc>
                <a:spcPct val="100000"/>
              </a:lnSpc>
              <a:spcBef>
                <a:spcPts val="120"/>
              </a:spcBef>
            </a:pPr>
            <a:endParaRPr lang="en-US" sz="185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20"/>
              </a:spcBef>
            </a:pPr>
            <a:r>
              <a:rPr lang="en-US" sz="1850" b="1" dirty="0">
                <a:latin typeface="Calibri"/>
                <a:cs typeface="Calibri"/>
              </a:rPr>
              <a:t>Dynamic Environment Provisioning  :</a:t>
            </a:r>
          </a:p>
          <a:p>
            <a:pPr marL="12700" algn="just">
              <a:lnSpc>
                <a:spcPct val="100000"/>
              </a:lnSpc>
              <a:spcBef>
                <a:spcPts val="120"/>
              </a:spcBef>
            </a:pPr>
            <a:r>
              <a:rPr lang="en-US" sz="1850" dirty="0" err="1">
                <a:latin typeface="Calibri"/>
                <a:cs typeface="Calibri"/>
              </a:rPr>
              <a:t>IaC</a:t>
            </a:r>
            <a:r>
              <a:rPr lang="en-US" sz="1850" dirty="0">
                <a:latin typeface="Calibri"/>
                <a:cs typeface="Calibri"/>
              </a:rPr>
              <a:t> enables efficient provisioning of new environments, ideal for testing, debugging, or load testing. For instance, duplicating a production environment for security or performance testing becomes quick and reliable.  </a:t>
            </a:r>
          </a:p>
          <a:p>
            <a:pPr marL="12700" algn="just">
              <a:lnSpc>
                <a:spcPct val="100000"/>
              </a:lnSpc>
              <a:spcBef>
                <a:spcPts val="120"/>
              </a:spcBef>
            </a:pPr>
            <a:endParaRPr lang="en-US" sz="185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20"/>
              </a:spcBef>
            </a:pPr>
            <a:r>
              <a:rPr lang="en-US" sz="1850" b="1" dirty="0">
                <a:latin typeface="Calibri"/>
                <a:cs typeface="Calibri"/>
              </a:rPr>
              <a:t>Scaling Production Environments :</a:t>
            </a:r>
          </a:p>
          <a:p>
            <a:pPr marL="12700" algn="just">
              <a:lnSpc>
                <a:spcPct val="100000"/>
              </a:lnSpc>
              <a:spcBef>
                <a:spcPts val="120"/>
              </a:spcBef>
            </a:pPr>
            <a:r>
              <a:rPr lang="en-US" sz="1850" dirty="0" err="1">
                <a:latin typeface="Calibri"/>
                <a:cs typeface="Calibri"/>
              </a:rPr>
              <a:t>IaC</a:t>
            </a:r>
            <a:r>
              <a:rPr lang="en-US" sz="1850" dirty="0">
                <a:latin typeface="Calibri"/>
                <a:cs typeface="Calibri"/>
              </a:rPr>
              <a:t> supports scaling by deploying consistent instances, facilitating geographic service expansion or specific deployment patterns.  </a:t>
            </a:r>
          </a:p>
          <a:p>
            <a:pPr marL="12700" algn="just">
              <a:lnSpc>
                <a:spcPct val="100000"/>
              </a:lnSpc>
              <a:spcBef>
                <a:spcPts val="120"/>
              </a:spcBef>
            </a:pPr>
            <a:endParaRPr lang="en-US" sz="185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20"/>
              </a:spcBef>
            </a:pPr>
            <a:r>
              <a:rPr lang="en-US" sz="1850" b="1" dirty="0">
                <a:latin typeface="Calibri"/>
                <a:cs typeface="Calibri"/>
              </a:rPr>
              <a:t>Disaster Recovery : </a:t>
            </a:r>
          </a:p>
          <a:p>
            <a:pPr marL="12700" algn="just">
              <a:lnSpc>
                <a:spcPct val="100000"/>
              </a:lnSpc>
              <a:spcBef>
                <a:spcPts val="120"/>
              </a:spcBef>
            </a:pPr>
            <a:r>
              <a:rPr lang="en-US" sz="1850" dirty="0" err="1">
                <a:latin typeface="Calibri"/>
                <a:cs typeface="Calibri"/>
              </a:rPr>
              <a:t>IaC</a:t>
            </a:r>
            <a:r>
              <a:rPr lang="en-US" sz="1850" dirty="0">
                <a:latin typeface="Calibri"/>
                <a:cs typeface="Calibri"/>
              </a:rPr>
              <a:t> simplifies disaster recovery by recreating infrastructure in different regions, ensuring business continuity during downtime.</a:t>
            </a:r>
            <a:endParaRPr sz="18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C563A-6A3F-D4CD-C067-B263B68CA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2400"/>
            <a:ext cx="10515600" cy="701675"/>
          </a:xfrm>
        </p:spPr>
        <p:txBody>
          <a:bodyPr>
            <a:normAutofit/>
          </a:bodyPr>
          <a:lstStyle/>
          <a:p>
            <a:r>
              <a:rPr lang="en-IN" sz="3600" b="1" spc="-5" dirty="0"/>
              <a:t>Understand </a:t>
            </a:r>
            <a:r>
              <a:rPr lang="en-IN" sz="3600" b="1" spc="-10" dirty="0"/>
              <a:t>Cloud</a:t>
            </a:r>
            <a:r>
              <a:rPr lang="en-IN" sz="3600" b="1" spc="-70" dirty="0"/>
              <a:t> </a:t>
            </a:r>
            <a:r>
              <a:rPr lang="en-IN" sz="3600" b="1" spc="-10" dirty="0"/>
              <a:t>Resources</a:t>
            </a:r>
            <a:endParaRPr lang="en-IN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5F6735-B2BB-DBDF-44E8-D55D07A120CB}"/>
              </a:ext>
            </a:extLst>
          </p:cNvPr>
          <p:cNvSpPr txBox="1"/>
          <p:nvPr/>
        </p:nvSpPr>
        <p:spPr>
          <a:xfrm>
            <a:off x="381000" y="1447800"/>
            <a:ext cx="116586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Audit Changes  </a:t>
            </a:r>
          </a:p>
          <a:p>
            <a:r>
              <a:rPr lang="en-US" dirty="0" err="1"/>
              <a:t>IaC</a:t>
            </a:r>
            <a:r>
              <a:rPr lang="en-US" dirty="0"/>
              <a:t> configurations are version-controlled, allowing you to track, review, and understand changes, including who made them and when. This aids in identifying why resources are configured in specific ways. 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Metadata for Clarity  </a:t>
            </a:r>
          </a:p>
          <a:p>
            <a:r>
              <a:rPr lang="en-US" dirty="0" err="1"/>
              <a:t>IaC</a:t>
            </a:r>
            <a:r>
              <a:rPr lang="en-US" dirty="0"/>
              <a:t> supports metadata like comments, enabling clear documentation of infrastructure decisions. Organizations should adopt the same documentation principles for </a:t>
            </a:r>
            <a:r>
              <a:rPr lang="en-US" dirty="0" err="1"/>
              <a:t>IaC</a:t>
            </a:r>
            <a:r>
              <a:rPr lang="en-US" dirty="0"/>
              <a:t> as for application code. 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Unified Codebase  </a:t>
            </a:r>
          </a:p>
          <a:p>
            <a:r>
              <a:rPr lang="en-US" dirty="0"/>
              <a:t>Combining application and infrastructure code helps developers better understand their relationship, especially when changes are grouped in feature branches or pull requests. 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Deep Cloud Insights  </a:t>
            </a:r>
          </a:p>
          <a:p>
            <a:r>
              <a:rPr lang="en-US" dirty="0"/>
              <a:t>Using </a:t>
            </a:r>
            <a:r>
              <a:rPr lang="en-US" dirty="0" err="1"/>
              <a:t>IaC</a:t>
            </a:r>
            <a:r>
              <a:rPr lang="en-US" dirty="0"/>
              <a:t> reveals Cloud's underlying resource models, offering explicit control and deeper understanding for configuration and troubleshooting compared to the getting information of the resources console/portal.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6833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A9F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52600" y="1938655"/>
            <a:ext cx="7522845" cy="298069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065" marR="5080" indent="67310" algn="ctr">
              <a:lnSpc>
                <a:spcPct val="101299"/>
              </a:lnSpc>
              <a:spcBef>
                <a:spcPts val="25"/>
              </a:spcBef>
            </a:pPr>
            <a:r>
              <a:rPr sz="4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Provisioning</a:t>
            </a:r>
            <a:r>
              <a:rPr sz="480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infrastructure </a:t>
            </a:r>
            <a:r>
              <a:rPr sz="4800" dirty="0">
                <a:solidFill>
                  <a:srgbClr val="FFFFFF"/>
                </a:solidFill>
                <a:latin typeface="Microsoft Sans Serif"/>
                <a:cs typeface="Microsoft Sans Serif"/>
              </a:rPr>
              <a:t> through</a:t>
            </a:r>
            <a:r>
              <a:rPr sz="4800" spc="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8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icrosoft Sans Serif"/>
                <a:cs typeface="Microsoft Sans Serif"/>
              </a:rPr>
              <a:t>software</a:t>
            </a:r>
            <a:r>
              <a:rPr sz="4800" spc="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800" dirty="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sz="480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n-IN" sz="4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achieve </a:t>
            </a:r>
            <a:r>
              <a:rPr lang="en-IN" sz="4800" spc="-12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n-IN" sz="4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consistent</a:t>
            </a:r>
            <a:r>
              <a:rPr lang="en-IN" sz="4800" spc="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n-IN" sz="480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4800" dirty="0" err="1">
                <a:solidFill>
                  <a:srgbClr val="FFFFFF"/>
                </a:solidFill>
                <a:latin typeface="Microsoft Sans Serif"/>
                <a:cs typeface="Microsoft Sans Serif"/>
              </a:rPr>
              <a:t>nd</a:t>
            </a:r>
            <a:r>
              <a:rPr sz="480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predictable </a:t>
            </a:r>
            <a:r>
              <a:rPr sz="4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environments.</a:t>
            </a:r>
            <a:endParaRPr sz="4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69007"/>
            <a:ext cx="3401060" cy="5655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600" b="1" spc="-5" dirty="0"/>
              <a:t>Core</a:t>
            </a:r>
            <a:r>
              <a:rPr sz="3600" b="1" spc="-130" dirty="0"/>
              <a:t> </a:t>
            </a:r>
            <a:r>
              <a:rPr sz="3600" b="1" spc="-5" dirty="0"/>
              <a:t>Concepts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996172"/>
            <a:ext cx="2682240" cy="719455"/>
          </a:xfrm>
          <a:prstGeom prst="rect">
            <a:avLst/>
          </a:prstGeom>
          <a:solidFill>
            <a:srgbClr val="2A9FBA"/>
          </a:solidFill>
        </p:spPr>
        <p:txBody>
          <a:bodyPr vert="horz" wrap="square" lIns="0" tIns="0" rIns="0" bIns="0" rtlCol="0">
            <a:spAutoFit/>
          </a:bodyPr>
          <a:lstStyle/>
          <a:p>
            <a:pPr marL="220979">
              <a:lnSpc>
                <a:spcPts val="3100"/>
              </a:lnSpc>
            </a:pPr>
            <a:r>
              <a:rPr sz="2650" b="1" dirty="0">
                <a:latin typeface="Calibri"/>
                <a:cs typeface="Calibri"/>
              </a:rPr>
              <a:t>Defined</a:t>
            </a:r>
            <a:r>
              <a:rPr sz="2650" b="1" spc="-40" dirty="0">
                <a:latin typeface="Calibri"/>
                <a:cs typeface="Calibri"/>
              </a:rPr>
              <a:t> </a:t>
            </a:r>
            <a:r>
              <a:rPr sz="2650" b="1" spc="5" dirty="0">
                <a:latin typeface="Calibri"/>
                <a:cs typeface="Calibri"/>
              </a:rPr>
              <a:t>in</a:t>
            </a:r>
            <a:r>
              <a:rPr sz="2650" b="1" spc="-40" dirty="0">
                <a:latin typeface="Calibri"/>
                <a:cs typeface="Calibri"/>
              </a:rPr>
              <a:t> </a:t>
            </a:r>
            <a:r>
              <a:rPr sz="2650" b="1" spc="5" dirty="0">
                <a:latin typeface="Calibri"/>
                <a:cs typeface="Calibri"/>
              </a:rPr>
              <a:t>Code</a:t>
            </a:r>
            <a:endParaRPr sz="26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91000" y="1961155"/>
            <a:ext cx="2941320" cy="829310"/>
          </a:xfrm>
          <a:prstGeom prst="rect">
            <a:avLst/>
          </a:prstGeom>
          <a:solidFill>
            <a:srgbClr val="E26C09"/>
          </a:solidFill>
          <a:ln w="9144">
            <a:solidFill>
              <a:srgbClr val="6FAC46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972819" marR="331470" indent="-634365">
              <a:lnSpc>
                <a:spcPts val="3190"/>
              </a:lnSpc>
              <a:spcBef>
                <a:spcPts val="5"/>
              </a:spcBef>
            </a:pPr>
            <a:r>
              <a:rPr sz="2650" b="1" spc="-10" dirty="0">
                <a:latin typeface="Calibri"/>
                <a:cs typeface="Calibri"/>
              </a:rPr>
              <a:t>Stored </a:t>
            </a:r>
            <a:r>
              <a:rPr sz="2650" b="1" dirty="0">
                <a:latin typeface="Calibri"/>
                <a:cs typeface="Calibri"/>
              </a:rPr>
              <a:t>in </a:t>
            </a:r>
            <a:r>
              <a:rPr sz="2650" b="1" spc="-10" dirty="0">
                <a:latin typeface="Calibri"/>
                <a:cs typeface="Calibri"/>
              </a:rPr>
              <a:t>source </a:t>
            </a:r>
            <a:r>
              <a:rPr sz="2650" b="1" spc="-590" dirty="0">
                <a:latin typeface="Calibri"/>
                <a:cs typeface="Calibri"/>
              </a:rPr>
              <a:t> </a:t>
            </a:r>
            <a:r>
              <a:rPr sz="2650" b="1" spc="-10" dirty="0">
                <a:latin typeface="Calibri"/>
                <a:cs typeface="Calibri"/>
              </a:rPr>
              <a:t>control</a:t>
            </a:r>
            <a:endParaRPr sz="26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19013" y="1961155"/>
            <a:ext cx="2682240" cy="829310"/>
          </a:xfrm>
          <a:prstGeom prst="rect">
            <a:avLst/>
          </a:prstGeom>
          <a:solidFill>
            <a:srgbClr val="00AF50"/>
          </a:solidFill>
        </p:spPr>
        <p:txBody>
          <a:bodyPr vert="horz" wrap="square" lIns="0" tIns="1270" rIns="0" bIns="0" rtlCol="0">
            <a:spAutoFit/>
          </a:bodyPr>
          <a:lstStyle/>
          <a:p>
            <a:pPr marL="581025" marR="354330" indent="-216535">
              <a:lnSpc>
                <a:spcPts val="3190"/>
              </a:lnSpc>
              <a:spcBef>
                <a:spcPts val="10"/>
              </a:spcBef>
            </a:pPr>
            <a:r>
              <a:rPr sz="2650" b="1" spc="-10" dirty="0">
                <a:latin typeface="Calibri"/>
                <a:cs typeface="Calibri"/>
              </a:rPr>
              <a:t>Declarative</a:t>
            </a:r>
            <a:r>
              <a:rPr sz="2650" b="1" spc="-90" dirty="0">
                <a:latin typeface="Calibri"/>
                <a:cs typeface="Calibri"/>
              </a:rPr>
              <a:t> </a:t>
            </a:r>
            <a:r>
              <a:rPr sz="2650" b="1" spc="5" dirty="0">
                <a:latin typeface="Calibri"/>
                <a:cs typeface="Calibri"/>
              </a:rPr>
              <a:t>or </a:t>
            </a:r>
            <a:r>
              <a:rPr sz="2650" b="1" spc="-585" dirty="0">
                <a:latin typeface="Calibri"/>
                <a:cs typeface="Calibri"/>
              </a:rPr>
              <a:t> </a:t>
            </a:r>
            <a:r>
              <a:rPr sz="2650" b="1" spc="-10" dirty="0">
                <a:latin typeface="Calibri"/>
                <a:cs typeface="Calibri"/>
              </a:rPr>
              <a:t>Imperative</a:t>
            </a:r>
            <a:endParaRPr sz="265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5000" y="4047870"/>
            <a:ext cx="3615054" cy="829310"/>
          </a:xfrm>
          <a:prstGeom prst="rect">
            <a:avLst/>
          </a:prstGeom>
          <a:solidFill>
            <a:srgbClr val="EC7C30"/>
          </a:solidFill>
        </p:spPr>
        <p:txBody>
          <a:bodyPr vert="horz" wrap="square" lIns="0" tIns="635" rIns="0" bIns="0" rtlCol="0">
            <a:spAutoFit/>
          </a:bodyPr>
          <a:lstStyle/>
          <a:p>
            <a:pPr marL="1092835" marR="667385" indent="-421005">
              <a:lnSpc>
                <a:spcPts val="3190"/>
              </a:lnSpc>
              <a:spcBef>
                <a:spcPts val="5"/>
              </a:spcBef>
            </a:pPr>
            <a:r>
              <a:rPr sz="2650" b="1" dirty="0">
                <a:latin typeface="Calibri"/>
                <a:cs typeface="Calibri"/>
              </a:rPr>
              <a:t>Idempotent</a:t>
            </a:r>
            <a:r>
              <a:rPr sz="2650" b="1" spc="-120" dirty="0">
                <a:latin typeface="Calibri"/>
                <a:cs typeface="Calibri"/>
              </a:rPr>
              <a:t> </a:t>
            </a:r>
            <a:r>
              <a:rPr sz="2650" b="1" spc="10" dirty="0">
                <a:latin typeface="Calibri"/>
                <a:cs typeface="Calibri"/>
              </a:rPr>
              <a:t>and </a:t>
            </a:r>
            <a:r>
              <a:rPr sz="2650" b="1" spc="-585" dirty="0">
                <a:latin typeface="Calibri"/>
                <a:cs typeface="Calibri"/>
              </a:rPr>
              <a:t> </a:t>
            </a:r>
            <a:r>
              <a:rPr sz="2650" b="1" spc="-10" dirty="0">
                <a:latin typeface="Calibri"/>
                <a:cs typeface="Calibri"/>
              </a:rPr>
              <a:t>consistent</a:t>
            </a:r>
            <a:endParaRPr sz="265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58000" y="4067535"/>
            <a:ext cx="2685415" cy="719455"/>
          </a:xfrm>
          <a:prstGeom prst="rect">
            <a:avLst/>
          </a:prstGeom>
          <a:solidFill>
            <a:srgbClr val="9B8D68"/>
          </a:solidFill>
        </p:spPr>
        <p:txBody>
          <a:bodyPr vert="horz" wrap="square" lIns="0" tIns="0" rIns="0" bIns="0" rtlCol="0">
            <a:spAutoFit/>
          </a:bodyPr>
          <a:lstStyle/>
          <a:p>
            <a:pPr marL="511809">
              <a:lnSpc>
                <a:spcPts val="3100"/>
              </a:lnSpc>
            </a:pPr>
            <a:r>
              <a:rPr sz="2650" b="1" dirty="0">
                <a:latin typeface="Calibri"/>
                <a:cs typeface="Calibri"/>
              </a:rPr>
              <a:t>Push</a:t>
            </a:r>
            <a:r>
              <a:rPr sz="2650" b="1" spc="-40" dirty="0">
                <a:latin typeface="Calibri"/>
                <a:cs typeface="Calibri"/>
              </a:rPr>
              <a:t> </a:t>
            </a:r>
            <a:r>
              <a:rPr sz="2650" b="1" spc="5" dirty="0">
                <a:latin typeface="Calibri"/>
                <a:cs typeface="Calibri"/>
              </a:rPr>
              <a:t>or</a:t>
            </a:r>
            <a:r>
              <a:rPr sz="2650" b="1" spc="-5" dirty="0">
                <a:latin typeface="Calibri"/>
                <a:cs typeface="Calibri"/>
              </a:rPr>
              <a:t> </a:t>
            </a:r>
            <a:r>
              <a:rPr sz="2650" b="1" spc="5" dirty="0">
                <a:latin typeface="Calibri"/>
                <a:cs typeface="Calibri"/>
              </a:rPr>
              <a:t>pull</a:t>
            </a:r>
            <a:endParaRPr sz="26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5468111" y="1155191"/>
            <a:ext cx="0" cy="5504815"/>
          </a:xfrm>
          <a:custGeom>
            <a:avLst/>
            <a:gdLst/>
            <a:ahLst/>
            <a:cxnLst/>
            <a:rect l="l" t="t" r="r" b="b"/>
            <a:pathLst>
              <a:path h="5504815">
                <a:moveTo>
                  <a:pt x="0" y="0"/>
                </a:moveTo>
                <a:lnTo>
                  <a:pt x="0" y="5504192"/>
                </a:lnTo>
              </a:path>
            </a:pathLst>
          </a:custGeom>
          <a:ln w="24384">
            <a:solidFill>
              <a:srgbClr val="EE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56081" y="469007"/>
            <a:ext cx="7697307" cy="5655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600" b="1" spc="-5" dirty="0">
                <a:cs typeface="Microsoft Sans Serif"/>
              </a:rPr>
              <a:t>Infrastructure</a:t>
            </a:r>
            <a:r>
              <a:rPr sz="3600" b="1" spc="-75" dirty="0">
                <a:cs typeface="Microsoft Sans Serif"/>
              </a:rPr>
              <a:t> </a:t>
            </a:r>
            <a:r>
              <a:rPr sz="3600" b="1" spc="-5" dirty="0">
                <a:cs typeface="Microsoft Sans Serif"/>
              </a:rPr>
              <a:t>as</a:t>
            </a:r>
            <a:r>
              <a:rPr sz="3600" b="1" spc="20" dirty="0">
                <a:cs typeface="Microsoft Sans Serif"/>
              </a:rPr>
              <a:t> </a:t>
            </a:r>
            <a:r>
              <a:rPr sz="3600" b="1" spc="-5" dirty="0">
                <a:cs typeface="Microsoft Sans Serif"/>
              </a:rPr>
              <a:t>Code</a:t>
            </a:r>
            <a:r>
              <a:rPr sz="3600" b="1" spc="-30" dirty="0">
                <a:cs typeface="Microsoft Sans Serif"/>
              </a:rPr>
              <a:t> </a:t>
            </a:r>
            <a:r>
              <a:rPr sz="3600" b="1" spc="-5" dirty="0">
                <a:cs typeface="Microsoft Sans Serif"/>
              </a:rPr>
              <a:t>Benefits</a:t>
            </a: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367" y="1889760"/>
            <a:ext cx="3898900" cy="34671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761735" y="1935388"/>
            <a:ext cx="5007610" cy="3566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45000"/>
              </a:lnSpc>
              <a:spcBef>
                <a:spcPts val="95"/>
              </a:spcBef>
              <a:buFont typeface="Wingdings" panose="05000000000000000000" pitchFamily="2" charset="2"/>
              <a:buChar char="§"/>
              <a:tabLst>
                <a:tab pos="3522345" algn="l"/>
              </a:tabLst>
            </a:pPr>
            <a:r>
              <a:rPr lang="en-IN" sz="2650" dirty="0">
                <a:latin typeface="Calibri"/>
                <a:cs typeface="Calibri"/>
              </a:rPr>
              <a:t>Automated deployment</a:t>
            </a:r>
          </a:p>
          <a:p>
            <a:pPr marL="469900" marR="5080" indent="-457200">
              <a:lnSpc>
                <a:spcPct val="145000"/>
              </a:lnSpc>
              <a:spcBef>
                <a:spcPts val="95"/>
              </a:spcBef>
              <a:buFont typeface="Wingdings" panose="05000000000000000000" pitchFamily="2" charset="2"/>
              <a:buChar char="§"/>
              <a:tabLst>
                <a:tab pos="3522345" algn="l"/>
              </a:tabLst>
            </a:pPr>
            <a:r>
              <a:rPr lang="en-IN" sz="2650" dirty="0">
                <a:latin typeface="Calibri"/>
                <a:cs typeface="Calibri"/>
              </a:rPr>
              <a:t>Consistent  environments</a:t>
            </a:r>
          </a:p>
          <a:p>
            <a:pPr marL="469900" marR="5080" indent="-457200">
              <a:lnSpc>
                <a:spcPct val="145000"/>
              </a:lnSpc>
              <a:spcBef>
                <a:spcPts val="95"/>
              </a:spcBef>
              <a:buFont typeface="Wingdings" panose="05000000000000000000" pitchFamily="2" charset="2"/>
              <a:buChar char="§"/>
              <a:tabLst>
                <a:tab pos="3522345" algn="l"/>
              </a:tabLst>
            </a:pPr>
            <a:r>
              <a:rPr lang="en-IN" sz="2650" dirty="0">
                <a:latin typeface="Calibri"/>
                <a:cs typeface="Calibri"/>
              </a:rPr>
              <a:t>Repeatable process	</a:t>
            </a:r>
          </a:p>
          <a:p>
            <a:pPr marL="469900" marR="5080" indent="-457200">
              <a:lnSpc>
                <a:spcPct val="145000"/>
              </a:lnSpc>
              <a:spcBef>
                <a:spcPts val="95"/>
              </a:spcBef>
              <a:buFont typeface="Wingdings" panose="05000000000000000000" pitchFamily="2" charset="2"/>
              <a:buChar char="§"/>
              <a:tabLst>
                <a:tab pos="3522345" algn="l"/>
              </a:tabLst>
            </a:pPr>
            <a:r>
              <a:rPr lang="en-IN" sz="2650" dirty="0">
                <a:latin typeface="Calibri"/>
                <a:cs typeface="Calibri"/>
              </a:rPr>
              <a:t>Reusable  components</a:t>
            </a:r>
          </a:p>
          <a:p>
            <a:pPr marL="469900" marR="5080" indent="-457200">
              <a:lnSpc>
                <a:spcPct val="145000"/>
              </a:lnSpc>
              <a:spcBef>
                <a:spcPts val="95"/>
              </a:spcBef>
              <a:buFont typeface="Wingdings" panose="05000000000000000000" pitchFamily="2" charset="2"/>
              <a:buChar char="§"/>
              <a:tabLst>
                <a:tab pos="3522345" algn="l"/>
              </a:tabLst>
            </a:pPr>
            <a:r>
              <a:rPr lang="en-IN" sz="2650" dirty="0">
                <a:latin typeface="Calibri"/>
                <a:cs typeface="Calibri"/>
              </a:rPr>
              <a:t>Documented architecture</a:t>
            </a:r>
          </a:p>
          <a:p>
            <a:pPr marL="469900" marR="5080" indent="-457200">
              <a:lnSpc>
                <a:spcPct val="145000"/>
              </a:lnSpc>
              <a:spcBef>
                <a:spcPts val="95"/>
              </a:spcBef>
              <a:buFont typeface="Wingdings" panose="05000000000000000000" pitchFamily="2" charset="2"/>
              <a:buChar char="§"/>
              <a:tabLst>
                <a:tab pos="3522345" algn="l"/>
              </a:tabLst>
            </a:pPr>
            <a:endParaRPr sz="26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69007"/>
            <a:ext cx="8713470" cy="5655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600" b="1" spc="-5" dirty="0"/>
              <a:t>Automating</a:t>
            </a:r>
            <a:r>
              <a:rPr sz="3600" b="1" spc="-105" dirty="0"/>
              <a:t> </a:t>
            </a:r>
            <a:r>
              <a:rPr sz="3600" b="1" spc="-10" dirty="0"/>
              <a:t>Infrastructure</a:t>
            </a:r>
            <a:r>
              <a:rPr sz="3600" b="1" spc="-80" dirty="0"/>
              <a:t> </a:t>
            </a:r>
            <a:r>
              <a:rPr sz="3600" b="1" spc="-10" dirty="0"/>
              <a:t>Deployment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1928" y="1505711"/>
            <a:ext cx="2456687" cy="24780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15639" y="1432560"/>
            <a:ext cx="2554224" cy="26334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50680" y="1432560"/>
            <a:ext cx="2554224" cy="269443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5071" y="1426463"/>
            <a:ext cx="2639567" cy="255727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73455" y="4590414"/>
            <a:ext cx="2067560" cy="828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0"/>
              </a:spcBef>
            </a:pPr>
            <a:r>
              <a:rPr sz="2650" spc="5" dirty="0">
                <a:latin typeface="+mj-lt"/>
                <a:cs typeface="Arial Black"/>
              </a:rPr>
              <a:t>P</a:t>
            </a:r>
            <a:r>
              <a:rPr sz="2650" spc="35" dirty="0">
                <a:latin typeface="+mj-lt"/>
                <a:cs typeface="Arial Black"/>
              </a:rPr>
              <a:t>r</a:t>
            </a:r>
            <a:r>
              <a:rPr sz="2650" spc="-95" dirty="0">
                <a:latin typeface="+mj-lt"/>
                <a:cs typeface="Arial Black"/>
              </a:rPr>
              <a:t>o</a:t>
            </a:r>
            <a:r>
              <a:rPr sz="2650" spc="5" dirty="0">
                <a:latin typeface="+mj-lt"/>
                <a:cs typeface="Arial Black"/>
              </a:rPr>
              <a:t>vi</a:t>
            </a:r>
            <a:r>
              <a:rPr sz="2650" spc="10" dirty="0">
                <a:latin typeface="+mj-lt"/>
                <a:cs typeface="Arial Black"/>
              </a:rPr>
              <a:t>s</a:t>
            </a:r>
            <a:r>
              <a:rPr sz="2650" spc="5" dirty="0">
                <a:latin typeface="+mj-lt"/>
                <a:cs typeface="Arial Black"/>
              </a:rPr>
              <a:t>ionin</a:t>
            </a:r>
            <a:r>
              <a:rPr sz="2650" spc="10" dirty="0">
                <a:latin typeface="+mj-lt"/>
                <a:cs typeface="Arial Black"/>
              </a:rPr>
              <a:t>g</a:t>
            </a:r>
            <a:endParaRPr sz="2650" dirty="0">
              <a:latin typeface="+mj-lt"/>
              <a:cs typeface="Arial Black"/>
            </a:endParaRPr>
          </a:p>
          <a:p>
            <a:pPr marL="189230" marR="126364">
              <a:lnSpc>
                <a:spcPct val="100400"/>
              </a:lnSpc>
              <a:spcBef>
                <a:spcPts val="25"/>
              </a:spcBef>
            </a:pPr>
            <a:r>
              <a:rPr sz="2650" spc="-70" dirty="0">
                <a:latin typeface="+mj-lt"/>
                <a:cs typeface="Arial Black"/>
              </a:rPr>
              <a:t>R</a:t>
            </a:r>
            <a:r>
              <a:rPr sz="2650" spc="5" dirty="0">
                <a:latin typeface="+mj-lt"/>
                <a:cs typeface="Arial Black"/>
              </a:rPr>
              <a:t>esou</a:t>
            </a:r>
            <a:r>
              <a:rPr sz="2650" spc="45" dirty="0">
                <a:latin typeface="+mj-lt"/>
                <a:cs typeface="Arial Black"/>
              </a:rPr>
              <a:t>r</a:t>
            </a:r>
            <a:r>
              <a:rPr sz="2650" spc="5" dirty="0">
                <a:latin typeface="+mj-lt"/>
                <a:cs typeface="Arial Black"/>
              </a:rPr>
              <a:t>ce</a:t>
            </a:r>
            <a:r>
              <a:rPr lang="en-IN" sz="2650" spc="5" dirty="0">
                <a:latin typeface="+mj-lt"/>
                <a:cs typeface="Arial Black"/>
              </a:rPr>
              <a:t>s</a:t>
            </a:r>
            <a:endParaRPr sz="2650" dirty="0">
              <a:latin typeface="+mj-lt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93933" y="4554423"/>
            <a:ext cx="1397635" cy="822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90"/>
              </a:spcBef>
            </a:pPr>
            <a:r>
              <a:rPr sz="2650" dirty="0">
                <a:latin typeface="+mj-lt"/>
                <a:cs typeface="Arial Black"/>
              </a:rPr>
              <a:t>Plannin</a:t>
            </a:r>
            <a:r>
              <a:rPr sz="2650" spc="10" dirty="0">
                <a:latin typeface="+mj-lt"/>
                <a:cs typeface="Arial Black"/>
              </a:rPr>
              <a:t>g </a:t>
            </a:r>
            <a:r>
              <a:rPr sz="2650" spc="15" dirty="0">
                <a:latin typeface="+mj-lt"/>
                <a:cs typeface="Arial Black"/>
              </a:rPr>
              <a:t> </a:t>
            </a:r>
            <a:r>
              <a:rPr sz="2650" dirty="0">
                <a:latin typeface="+mj-lt"/>
                <a:cs typeface="Arial Black"/>
              </a:rPr>
              <a:t>Update</a:t>
            </a:r>
            <a:r>
              <a:rPr sz="2650" spc="-869" dirty="0">
                <a:latin typeface="+mj-lt"/>
                <a:cs typeface="Arial Black"/>
              </a:rPr>
              <a:t> </a:t>
            </a:r>
            <a:r>
              <a:rPr sz="2650" spc="10" dirty="0">
                <a:latin typeface="+mj-lt"/>
                <a:cs typeface="Arial Black"/>
              </a:rPr>
              <a:t>s</a:t>
            </a:r>
            <a:endParaRPr sz="2650" dirty="0">
              <a:latin typeface="+mj-lt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43600" y="4381377"/>
            <a:ext cx="3225952" cy="41017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-5715" algn="ctr">
              <a:lnSpc>
                <a:spcPct val="100800"/>
              </a:lnSpc>
              <a:spcBef>
                <a:spcPts val="90"/>
              </a:spcBef>
            </a:pPr>
            <a:r>
              <a:rPr sz="2650" spc="5" dirty="0">
                <a:solidFill>
                  <a:srgbClr val="3C3C3C"/>
                </a:solidFill>
                <a:latin typeface="+mj-lt"/>
                <a:cs typeface="Arial Black"/>
              </a:rPr>
              <a:t>Using </a:t>
            </a:r>
            <a:r>
              <a:rPr sz="2650" spc="10" dirty="0">
                <a:solidFill>
                  <a:srgbClr val="3C3C3C"/>
                </a:solidFill>
                <a:latin typeface="+mj-lt"/>
                <a:cs typeface="Arial Black"/>
              </a:rPr>
              <a:t> Source </a:t>
            </a:r>
            <a:r>
              <a:rPr sz="2650" spc="-869" dirty="0">
                <a:solidFill>
                  <a:srgbClr val="3C3C3C"/>
                </a:solidFill>
                <a:latin typeface="+mj-lt"/>
                <a:cs typeface="Arial Black"/>
              </a:rPr>
              <a:t> </a:t>
            </a:r>
            <a:r>
              <a:rPr sz="2650" spc="-5" dirty="0">
                <a:solidFill>
                  <a:srgbClr val="3C3C3C"/>
                </a:solidFill>
                <a:latin typeface="+mj-lt"/>
                <a:cs typeface="Arial Black"/>
              </a:rPr>
              <a:t>C</a:t>
            </a:r>
            <a:r>
              <a:rPr sz="2650" spc="10" dirty="0">
                <a:solidFill>
                  <a:srgbClr val="3C3C3C"/>
                </a:solidFill>
                <a:latin typeface="+mj-lt"/>
                <a:cs typeface="Arial Black"/>
              </a:rPr>
              <a:t>on</a:t>
            </a:r>
            <a:r>
              <a:rPr sz="2650" spc="-10" dirty="0">
                <a:solidFill>
                  <a:srgbClr val="3C3C3C"/>
                </a:solidFill>
                <a:latin typeface="+mj-lt"/>
                <a:cs typeface="Arial Black"/>
              </a:rPr>
              <a:t>t</a:t>
            </a:r>
            <a:r>
              <a:rPr sz="2650" spc="40" dirty="0">
                <a:solidFill>
                  <a:srgbClr val="3C3C3C"/>
                </a:solidFill>
                <a:latin typeface="+mj-lt"/>
                <a:cs typeface="Arial Black"/>
              </a:rPr>
              <a:t>r</a:t>
            </a:r>
            <a:r>
              <a:rPr sz="2650" spc="5" dirty="0">
                <a:solidFill>
                  <a:srgbClr val="3C3C3C"/>
                </a:solidFill>
                <a:latin typeface="+mj-lt"/>
                <a:cs typeface="Arial Black"/>
              </a:rPr>
              <a:t>ol</a:t>
            </a:r>
            <a:endParaRPr sz="2650" dirty="0">
              <a:latin typeface="+mj-lt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06836" y="4603355"/>
            <a:ext cx="1746250" cy="822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88595" algn="just">
              <a:lnSpc>
                <a:spcPct val="100800"/>
              </a:lnSpc>
              <a:spcBef>
                <a:spcPts val="90"/>
              </a:spcBef>
            </a:pPr>
            <a:r>
              <a:rPr sz="2650" spc="-5" dirty="0">
                <a:solidFill>
                  <a:srgbClr val="3C3C3C"/>
                </a:solidFill>
                <a:latin typeface="+mj-lt"/>
                <a:cs typeface="Arial Black"/>
              </a:rPr>
              <a:t>Reusing </a:t>
            </a:r>
            <a:r>
              <a:rPr sz="2650" spc="-875" dirty="0">
                <a:solidFill>
                  <a:srgbClr val="3C3C3C"/>
                </a:solidFill>
                <a:latin typeface="+mj-lt"/>
                <a:cs typeface="Arial Black"/>
              </a:rPr>
              <a:t> </a:t>
            </a:r>
            <a:r>
              <a:rPr sz="2650" spc="-165" dirty="0">
                <a:solidFill>
                  <a:srgbClr val="3C3C3C"/>
                </a:solidFill>
                <a:latin typeface="+mj-lt"/>
                <a:cs typeface="Arial Black"/>
              </a:rPr>
              <a:t>T</a:t>
            </a:r>
            <a:r>
              <a:rPr sz="2650" spc="10" dirty="0">
                <a:solidFill>
                  <a:srgbClr val="3C3C3C"/>
                </a:solidFill>
                <a:latin typeface="+mj-lt"/>
                <a:cs typeface="Arial Black"/>
              </a:rPr>
              <a:t>empl</a:t>
            </a:r>
            <a:r>
              <a:rPr sz="2650" spc="-50" dirty="0">
                <a:solidFill>
                  <a:srgbClr val="3C3C3C"/>
                </a:solidFill>
                <a:latin typeface="+mj-lt"/>
                <a:cs typeface="Arial Black"/>
              </a:rPr>
              <a:t>a</a:t>
            </a:r>
            <a:r>
              <a:rPr sz="2650" spc="5" dirty="0">
                <a:solidFill>
                  <a:srgbClr val="3C3C3C"/>
                </a:solidFill>
                <a:latin typeface="+mj-lt"/>
                <a:cs typeface="Arial Black"/>
              </a:rPr>
              <a:t>tes</a:t>
            </a:r>
            <a:endParaRPr sz="2650" dirty="0">
              <a:latin typeface="+mj-lt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69007"/>
            <a:ext cx="3776345" cy="5655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600" b="1" spc="-5" dirty="0"/>
              <a:t>IaC</a:t>
            </a:r>
            <a:r>
              <a:rPr sz="3600" b="1" spc="-55" dirty="0"/>
              <a:t> </a:t>
            </a:r>
            <a:r>
              <a:rPr sz="3600" b="1" spc="-10" dirty="0"/>
              <a:t>tools</a:t>
            </a:r>
            <a:r>
              <a:rPr sz="3600" b="1" spc="-60" dirty="0"/>
              <a:t> </a:t>
            </a:r>
            <a:r>
              <a:rPr sz="3600" b="1" spc="-5" dirty="0"/>
              <a:t>in</a:t>
            </a:r>
            <a:r>
              <a:rPr sz="3600" b="1" spc="-165" dirty="0"/>
              <a:t> </a:t>
            </a:r>
            <a:r>
              <a:rPr sz="3600" b="1" spc="-75" dirty="0"/>
              <a:t>AWS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0" y="1752600"/>
            <a:ext cx="11582400" cy="41190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17145" indent="-457200">
              <a:lnSpc>
                <a:spcPct val="100699"/>
              </a:lnSpc>
              <a:spcBef>
                <a:spcPts val="95"/>
              </a:spcBef>
              <a:buFont typeface="Wingdings" panose="05000000000000000000" pitchFamily="2" charset="2"/>
              <a:buChar char="§"/>
            </a:pPr>
            <a:r>
              <a:rPr sz="2650" b="1" spc="-10" dirty="0">
                <a:latin typeface="Calibri"/>
                <a:cs typeface="Calibri"/>
              </a:rPr>
              <a:t>Imperative</a:t>
            </a:r>
            <a:r>
              <a:rPr sz="2650" b="1" spc="-25" dirty="0">
                <a:latin typeface="Calibri"/>
                <a:cs typeface="Calibri"/>
              </a:rPr>
              <a:t> </a:t>
            </a:r>
            <a:r>
              <a:rPr sz="2650" b="1" spc="5" dirty="0">
                <a:latin typeface="Calibri"/>
                <a:cs typeface="Calibri"/>
              </a:rPr>
              <a:t>IaC</a:t>
            </a:r>
            <a:r>
              <a:rPr sz="2650" b="1" dirty="0">
                <a:latin typeface="Calibri"/>
                <a:cs typeface="Calibri"/>
              </a:rPr>
              <a:t> </a:t>
            </a:r>
            <a:r>
              <a:rPr sz="2650" spc="-10" dirty="0">
                <a:latin typeface="Calibri"/>
                <a:cs typeface="Calibri"/>
              </a:rPr>
              <a:t>involves</a:t>
            </a:r>
            <a:r>
              <a:rPr sz="2650" spc="40" dirty="0">
                <a:latin typeface="Calibri"/>
                <a:cs typeface="Calibri"/>
              </a:rPr>
              <a:t> </a:t>
            </a:r>
            <a:r>
              <a:rPr sz="2650" dirty="0">
                <a:latin typeface="Calibri"/>
                <a:cs typeface="Calibri"/>
              </a:rPr>
              <a:t>writing</a:t>
            </a:r>
            <a:r>
              <a:rPr sz="2650" spc="40" dirty="0">
                <a:latin typeface="Calibri"/>
                <a:cs typeface="Calibri"/>
              </a:rPr>
              <a:t> </a:t>
            </a:r>
            <a:r>
              <a:rPr sz="2650" dirty="0">
                <a:latin typeface="Calibri"/>
                <a:cs typeface="Calibri"/>
              </a:rPr>
              <a:t>scripts in</a:t>
            </a:r>
            <a:r>
              <a:rPr sz="2650" spc="15" dirty="0">
                <a:latin typeface="Calibri"/>
                <a:cs typeface="Calibri"/>
              </a:rPr>
              <a:t> </a:t>
            </a:r>
            <a:r>
              <a:rPr sz="2650" spc="5" dirty="0">
                <a:latin typeface="Calibri"/>
                <a:cs typeface="Calibri"/>
              </a:rPr>
              <a:t>a </a:t>
            </a:r>
            <a:r>
              <a:rPr sz="2650" spc="-5" dirty="0">
                <a:latin typeface="Calibri"/>
                <a:cs typeface="Calibri"/>
              </a:rPr>
              <a:t>language</a:t>
            </a:r>
            <a:r>
              <a:rPr sz="2650" spc="50" dirty="0">
                <a:latin typeface="Calibri"/>
                <a:cs typeface="Calibri"/>
              </a:rPr>
              <a:t> </a:t>
            </a:r>
            <a:r>
              <a:rPr sz="2650" spc="-30" dirty="0">
                <a:latin typeface="Calibri"/>
                <a:cs typeface="Calibri"/>
              </a:rPr>
              <a:t>like</a:t>
            </a:r>
            <a:r>
              <a:rPr sz="2650" spc="50" dirty="0">
                <a:latin typeface="Calibri"/>
                <a:cs typeface="Calibri"/>
              </a:rPr>
              <a:t> </a:t>
            </a:r>
            <a:r>
              <a:rPr sz="2650" dirty="0">
                <a:latin typeface="Calibri"/>
                <a:cs typeface="Calibri"/>
              </a:rPr>
              <a:t>Bash,</a:t>
            </a:r>
            <a:r>
              <a:rPr sz="2650" spc="30" dirty="0">
                <a:latin typeface="Calibri"/>
                <a:cs typeface="Calibri"/>
              </a:rPr>
              <a:t> </a:t>
            </a:r>
            <a:r>
              <a:rPr sz="2650" spc="-5" dirty="0">
                <a:latin typeface="Calibri"/>
                <a:cs typeface="Calibri"/>
              </a:rPr>
              <a:t>PowerShell,</a:t>
            </a:r>
            <a:r>
              <a:rPr sz="2650" spc="40" dirty="0">
                <a:latin typeface="Calibri"/>
                <a:cs typeface="Calibri"/>
              </a:rPr>
              <a:t> </a:t>
            </a:r>
            <a:r>
              <a:rPr sz="2650" dirty="0">
                <a:latin typeface="Calibri"/>
                <a:cs typeface="Calibri"/>
              </a:rPr>
              <a:t>C# </a:t>
            </a:r>
            <a:r>
              <a:rPr sz="2650" spc="5" dirty="0">
                <a:latin typeface="Calibri"/>
                <a:cs typeface="Calibri"/>
              </a:rPr>
              <a:t> </a:t>
            </a:r>
            <a:r>
              <a:rPr sz="2650" dirty="0">
                <a:latin typeface="Calibri"/>
                <a:cs typeface="Calibri"/>
              </a:rPr>
              <a:t>script </a:t>
            </a:r>
            <a:r>
              <a:rPr sz="2650" spc="-5" dirty="0">
                <a:latin typeface="Calibri"/>
                <a:cs typeface="Calibri"/>
              </a:rPr>
              <a:t>files,</a:t>
            </a:r>
            <a:r>
              <a:rPr sz="2650" spc="30" dirty="0">
                <a:latin typeface="Calibri"/>
                <a:cs typeface="Calibri"/>
              </a:rPr>
              <a:t> </a:t>
            </a:r>
            <a:r>
              <a:rPr sz="2650" spc="5" dirty="0">
                <a:latin typeface="Calibri"/>
                <a:cs typeface="Calibri"/>
              </a:rPr>
              <a:t>or</a:t>
            </a:r>
            <a:r>
              <a:rPr sz="2650" spc="-10" dirty="0">
                <a:latin typeface="Calibri"/>
                <a:cs typeface="Calibri"/>
              </a:rPr>
              <a:t> </a:t>
            </a:r>
            <a:r>
              <a:rPr sz="2650" spc="5" dirty="0">
                <a:latin typeface="Calibri"/>
                <a:cs typeface="Calibri"/>
              </a:rPr>
              <a:t>Python.</a:t>
            </a:r>
            <a:r>
              <a:rPr sz="2650" spc="15" dirty="0">
                <a:latin typeface="Calibri"/>
                <a:cs typeface="Calibri"/>
              </a:rPr>
              <a:t> </a:t>
            </a:r>
            <a:r>
              <a:rPr sz="2650" spc="-5" dirty="0">
                <a:latin typeface="Calibri"/>
                <a:cs typeface="Calibri"/>
              </a:rPr>
              <a:t>These</a:t>
            </a:r>
            <a:r>
              <a:rPr sz="2650" spc="20" dirty="0">
                <a:latin typeface="Calibri"/>
                <a:cs typeface="Calibri"/>
              </a:rPr>
              <a:t> </a:t>
            </a:r>
            <a:r>
              <a:rPr sz="2650" spc="-10" dirty="0">
                <a:latin typeface="Calibri"/>
                <a:cs typeface="Calibri"/>
              </a:rPr>
              <a:t>programmatically</a:t>
            </a:r>
            <a:r>
              <a:rPr sz="2650" spc="20" dirty="0">
                <a:latin typeface="Calibri"/>
                <a:cs typeface="Calibri"/>
              </a:rPr>
              <a:t> </a:t>
            </a:r>
            <a:r>
              <a:rPr sz="2650" spc="-20" dirty="0">
                <a:latin typeface="Calibri"/>
                <a:cs typeface="Calibri"/>
              </a:rPr>
              <a:t>execute</a:t>
            </a:r>
            <a:r>
              <a:rPr sz="2650" spc="20" dirty="0">
                <a:latin typeface="Calibri"/>
                <a:cs typeface="Calibri"/>
              </a:rPr>
              <a:t> </a:t>
            </a:r>
            <a:r>
              <a:rPr sz="2650" spc="5" dirty="0">
                <a:latin typeface="Calibri"/>
                <a:cs typeface="Calibri"/>
              </a:rPr>
              <a:t>a </a:t>
            </a:r>
            <a:r>
              <a:rPr sz="2650" spc="-5" dirty="0">
                <a:latin typeface="Calibri"/>
                <a:cs typeface="Calibri"/>
              </a:rPr>
              <a:t>series</a:t>
            </a:r>
            <a:r>
              <a:rPr sz="2650" spc="10" dirty="0">
                <a:latin typeface="Calibri"/>
                <a:cs typeface="Calibri"/>
              </a:rPr>
              <a:t> </a:t>
            </a:r>
            <a:r>
              <a:rPr sz="2650" spc="5" dirty="0">
                <a:latin typeface="Calibri"/>
                <a:cs typeface="Calibri"/>
              </a:rPr>
              <a:t>of </a:t>
            </a:r>
            <a:r>
              <a:rPr sz="2650" spc="-15" dirty="0">
                <a:latin typeface="Calibri"/>
                <a:cs typeface="Calibri"/>
              </a:rPr>
              <a:t>steps</a:t>
            </a:r>
            <a:r>
              <a:rPr sz="2650" spc="15" dirty="0">
                <a:latin typeface="Calibri"/>
                <a:cs typeface="Calibri"/>
              </a:rPr>
              <a:t> </a:t>
            </a:r>
            <a:r>
              <a:rPr sz="2650" spc="-10" dirty="0">
                <a:latin typeface="Calibri"/>
                <a:cs typeface="Calibri"/>
              </a:rPr>
              <a:t>to create </a:t>
            </a:r>
            <a:r>
              <a:rPr sz="2650" spc="-585" dirty="0">
                <a:latin typeface="Calibri"/>
                <a:cs typeface="Calibri"/>
              </a:rPr>
              <a:t> </a:t>
            </a:r>
            <a:r>
              <a:rPr sz="2650" spc="5" dirty="0">
                <a:latin typeface="Calibri"/>
                <a:cs typeface="Calibri"/>
              </a:rPr>
              <a:t>or</a:t>
            </a:r>
            <a:r>
              <a:rPr sz="2650" spc="-20" dirty="0">
                <a:latin typeface="Calibri"/>
                <a:cs typeface="Calibri"/>
              </a:rPr>
              <a:t> </a:t>
            </a:r>
            <a:r>
              <a:rPr sz="2650" spc="5" dirty="0">
                <a:latin typeface="Calibri"/>
                <a:cs typeface="Calibri"/>
              </a:rPr>
              <a:t>modify</a:t>
            </a:r>
            <a:r>
              <a:rPr sz="2650" spc="20" dirty="0">
                <a:latin typeface="Calibri"/>
                <a:cs typeface="Calibri"/>
              </a:rPr>
              <a:t> </a:t>
            </a:r>
            <a:r>
              <a:rPr sz="2650" spc="-5" dirty="0">
                <a:latin typeface="Calibri"/>
                <a:cs typeface="Calibri"/>
              </a:rPr>
              <a:t>your</a:t>
            </a:r>
            <a:r>
              <a:rPr sz="2650" spc="5" dirty="0">
                <a:latin typeface="Calibri"/>
                <a:cs typeface="Calibri"/>
              </a:rPr>
              <a:t> </a:t>
            </a:r>
            <a:r>
              <a:rPr sz="2650" spc="-10" dirty="0">
                <a:latin typeface="Calibri"/>
                <a:cs typeface="Calibri"/>
              </a:rPr>
              <a:t>resources.</a:t>
            </a:r>
            <a:r>
              <a:rPr sz="2650" spc="5" dirty="0">
                <a:latin typeface="Calibri"/>
                <a:cs typeface="Calibri"/>
              </a:rPr>
              <a:t> When</a:t>
            </a:r>
            <a:r>
              <a:rPr sz="2650" spc="-5" dirty="0">
                <a:latin typeface="Calibri"/>
                <a:cs typeface="Calibri"/>
              </a:rPr>
              <a:t> using</a:t>
            </a:r>
            <a:r>
              <a:rPr sz="2650" spc="30" dirty="0">
                <a:latin typeface="Calibri"/>
                <a:cs typeface="Calibri"/>
              </a:rPr>
              <a:t> </a:t>
            </a:r>
            <a:r>
              <a:rPr sz="2650" spc="-10" dirty="0">
                <a:latin typeface="Calibri"/>
                <a:cs typeface="Calibri"/>
              </a:rPr>
              <a:t>imperative</a:t>
            </a:r>
            <a:r>
              <a:rPr sz="2650" spc="20" dirty="0">
                <a:latin typeface="Calibri"/>
                <a:cs typeface="Calibri"/>
              </a:rPr>
              <a:t> </a:t>
            </a:r>
            <a:r>
              <a:rPr sz="2650" spc="-5" dirty="0">
                <a:latin typeface="Calibri"/>
                <a:cs typeface="Calibri"/>
              </a:rPr>
              <a:t>deployments,</a:t>
            </a:r>
            <a:r>
              <a:rPr sz="2650" spc="55" dirty="0">
                <a:latin typeface="Calibri"/>
                <a:cs typeface="Calibri"/>
              </a:rPr>
              <a:t> </a:t>
            </a:r>
            <a:r>
              <a:rPr sz="2650" spc="-5" dirty="0">
                <a:latin typeface="Calibri"/>
                <a:cs typeface="Calibri"/>
              </a:rPr>
              <a:t>it</a:t>
            </a:r>
            <a:r>
              <a:rPr sz="2650" spc="5" dirty="0">
                <a:latin typeface="Calibri"/>
                <a:cs typeface="Calibri"/>
              </a:rPr>
              <a:t> </a:t>
            </a:r>
            <a:r>
              <a:rPr sz="2650" spc="-5" dirty="0">
                <a:latin typeface="Calibri"/>
                <a:cs typeface="Calibri"/>
              </a:rPr>
              <a:t>is</a:t>
            </a:r>
            <a:r>
              <a:rPr sz="2650" spc="15" dirty="0">
                <a:latin typeface="Calibri"/>
                <a:cs typeface="Calibri"/>
              </a:rPr>
              <a:t> </a:t>
            </a:r>
            <a:r>
              <a:rPr sz="2650" spc="5" dirty="0">
                <a:latin typeface="Calibri"/>
                <a:cs typeface="Calibri"/>
              </a:rPr>
              <a:t>up</a:t>
            </a:r>
            <a:r>
              <a:rPr sz="2650" spc="-10" dirty="0">
                <a:latin typeface="Calibri"/>
                <a:cs typeface="Calibri"/>
              </a:rPr>
              <a:t> </a:t>
            </a:r>
            <a:r>
              <a:rPr sz="2650" spc="-15" dirty="0">
                <a:latin typeface="Calibri"/>
                <a:cs typeface="Calibri"/>
              </a:rPr>
              <a:t>to</a:t>
            </a:r>
            <a:r>
              <a:rPr sz="2650" spc="15" dirty="0">
                <a:latin typeface="Calibri"/>
                <a:cs typeface="Calibri"/>
              </a:rPr>
              <a:t> </a:t>
            </a:r>
            <a:r>
              <a:rPr sz="2650" spc="-5" dirty="0">
                <a:latin typeface="Calibri"/>
                <a:cs typeface="Calibri"/>
              </a:rPr>
              <a:t>you</a:t>
            </a:r>
            <a:r>
              <a:rPr sz="2650" spc="15" dirty="0">
                <a:latin typeface="Calibri"/>
                <a:cs typeface="Calibri"/>
              </a:rPr>
              <a:t> </a:t>
            </a:r>
            <a:r>
              <a:rPr sz="2650" spc="-10" dirty="0">
                <a:latin typeface="Calibri"/>
                <a:cs typeface="Calibri"/>
              </a:rPr>
              <a:t>to </a:t>
            </a:r>
            <a:r>
              <a:rPr sz="2650" spc="-585" dirty="0">
                <a:latin typeface="Calibri"/>
                <a:cs typeface="Calibri"/>
              </a:rPr>
              <a:t> </a:t>
            </a:r>
            <a:r>
              <a:rPr sz="2650" dirty="0">
                <a:latin typeface="Calibri"/>
                <a:cs typeface="Calibri"/>
              </a:rPr>
              <a:t>manage</a:t>
            </a:r>
            <a:r>
              <a:rPr sz="2650" spc="20" dirty="0">
                <a:latin typeface="Calibri"/>
                <a:cs typeface="Calibri"/>
              </a:rPr>
              <a:t> </a:t>
            </a:r>
            <a:r>
              <a:rPr sz="2650" spc="-5" dirty="0">
                <a:latin typeface="Calibri"/>
                <a:cs typeface="Calibri"/>
              </a:rPr>
              <a:t>things</a:t>
            </a:r>
            <a:r>
              <a:rPr sz="2650" spc="20" dirty="0">
                <a:latin typeface="Calibri"/>
                <a:cs typeface="Calibri"/>
              </a:rPr>
              <a:t> </a:t>
            </a:r>
            <a:r>
              <a:rPr sz="2650" spc="-30" dirty="0">
                <a:latin typeface="Calibri"/>
                <a:cs typeface="Calibri"/>
              </a:rPr>
              <a:t>like</a:t>
            </a:r>
            <a:r>
              <a:rPr sz="2650" spc="45" dirty="0">
                <a:latin typeface="Calibri"/>
                <a:cs typeface="Calibri"/>
              </a:rPr>
              <a:t> </a:t>
            </a:r>
            <a:r>
              <a:rPr sz="2650" spc="-5" dirty="0">
                <a:latin typeface="Calibri"/>
                <a:cs typeface="Calibri"/>
              </a:rPr>
              <a:t>dependency</a:t>
            </a:r>
            <a:r>
              <a:rPr sz="2650" spc="70" dirty="0">
                <a:latin typeface="Calibri"/>
                <a:cs typeface="Calibri"/>
              </a:rPr>
              <a:t> </a:t>
            </a:r>
            <a:r>
              <a:rPr sz="2650" spc="-5" dirty="0">
                <a:latin typeface="Calibri"/>
                <a:cs typeface="Calibri"/>
              </a:rPr>
              <a:t>sequencing,</a:t>
            </a:r>
            <a:r>
              <a:rPr sz="2650" spc="55" dirty="0">
                <a:latin typeface="Calibri"/>
                <a:cs typeface="Calibri"/>
              </a:rPr>
              <a:t> </a:t>
            </a:r>
            <a:r>
              <a:rPr sz="2650" spc="-5" dirty="0">
                <a:latin typeface="Calibri"/>
                <a:cs typeface="Calibri"/>
              </a:rPr>
              <a:t>error</a:t>
            </a:r>
            <a:r>
              <a:rPr sz="2650" spc="-10" dirty="0">
                <a:latin typeface="Calibri"/>
                <a:cs typeface="Calibri"/>
              </a:rPr>
              <a:t> control,</a:t>
            </a:r>
            <a:r>
              <a:rPr sz="2650" spc="10" dirty="0">
                <a:latin typeface="Calibri"/>
                <a:cs typeface="Calibri"/>
              </a:rPr>
              <a:t> </a:t>
            </a:r>
            <a:r>
              <a:rPr sz="2650" dirty="0">
                <a:latin typeface="Calibri"/>
                <a:cs typeface="Calibri"/>
              </a:rPr>
              <a:t>and</a:t>
            </a:r>
            <a:r>
              <a:rPr sz="2650" spc="20" dirty="0">
                <a:latin typeface="Calibri"/>
                <a:cs typeface="Calibri"/>
              </a:rPr>
              <a:t> </a:t>
            </a:r>
            <a:r>
              <a:rPr sz="2650" spc="-5" dirty="0">
                <a:latin typeface="Calibri"/>
                <a:cs typeface="Calibri"/>
              </a:rPr>
              <a:t>resource</a:t>
            </a:r>
            <a:r>
              <a:rPr sz="2650" spc="-30" dirty="0">
                <a:latin typeface="Calibri"/>
                <a:cs typeface="Calibri"/>
              </a:rPr>
              <a:t> </a:t>
            </a:r>
            <a:r>
              <a:rPr sz="2650" spc="-10" dirty="0">
                <a:latin typeface="Calibri"/>
                <a:cs typeface="Calibri"/>
              </a:rPr>
              <a:t>updates.</a:t>
            </a:r>
            <a:endParaRPr lang="en-IN" sz="2650" spc="-10" dirty="0">
              <a:latin typeface="Calibri"/>
              <a:cs typeface="Calibri"/>
            </a:endParaRPr>
          </a:p>
          <a:p>
            <a:pPr marL="469900" marR="17145" indent="-457200">
              <a:lnSpc>
                <a:spcPct val="100699"/>
              </a:lnSpc>
              <a:spcBef>
                <a:spcPts val="95"/>
              </a:spcBef>
              <a:buFont typeface="Wingdings" panose="05000000000000000000" pitchFamily="2" charset="2"/>
              <a:buChar char="§"/>
            </a:pPr>
            <a:endParaRPr sz="2650" dirty="0">
              <a:latin typeface="Calibri"/>
              <a:cs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30"/>
              </a:spcBef>
              <a:buFont typeface="Wingdings" panose="05000000000000000000" pitchFamily="2" charset="2"/>
              <a:buChar char="§"/>
            </a:pPr>
            <a:endParaRPr sz="2600" dirty="0">
              <a:latin typeface="Calibri"/>
              <a:cs typeface="Calibri"/>
            </a:endParaRPr>
          </a:p>
          <a:p>
            <a:pPr marL="469900" marR="5080" indent="-457200">
              <a:lnSpc>
                <a:spcPct val="100699"/>
              </a:lnSpc>
              <a:spcBef>
                <a:spcPts val="5"/>
              </a:spcBef>
              <a:buFont typeface="Wingdings" panose="05000000000000000000" pitchFamily="2" charset="2"/>
              <a:buChar char="§"/>
            </a:pPr>
            <a:r>
              <a:rPr sz="2650" b="1" spc="-10" dirty="0">
                <a:latin typeface="Calibri"/>
                <a:cs typeface="Calibri"/>
              </a:rPr>
              <a:t>Declarative</a:t>
            </a:r>
            <a:r>
              <a:rPr sz="2650" b="1" spc="-20" dirty="0">
                <a:latin typeface="Calibri"/>
                <a:cs typeface="Calibri"/>
              </a:rPr>
              <a:t> </a:t>
            </a:r>
            <a:r>
              <a:rPr sz="2650" b="1" spc="5" dirty="0">
                <a:latin typeface="Calibri"/>
                <a:cs typeface="Calibri"/>
              </a:rPr>
              <a:t>IaC</a:t>
            </a:r>
            <a:r>
              <a:rPr sz="2650" b="1" spc="20" dirty="0">
                <a:latin typeface="Calibri"/>
                <a:cs typeface="Calibri"/>
              </a:rPr>
              <a:t> </a:t>
            </a:r>
            <a:r>
              <a:rPr sz="2650" spc="-15" dirty="0">
                <a:latin typeface="Calibri"/>
                <a:cs typeface="Calibri"/>
              </a:rPr>
              <a:t>involves</a:t>
            </a:r>
            <a:r>
              <a:rPr sz="2650" spc="10" dirty="0">
                <a:latin typeface="Calibri"/>
                <a:cs typeface="Calibri"/>
              </a:rPr>
              <a:t> </a:t>
            </a:r>
            <a:r>
              <a:rPr sz="2650" spc="-5" dirty="0">
                <a:latin typeface="Calibri"/>
                <a:cs typeface="Calibri"/>
              </a:rPr>
              <a:t>writing</a:t>
            </a:r>
            <a:r>
              <a:rPr sz="2650" spc="30" dirty="0">
                <a:latin typeface="Calibri"/>
                <a:cs typeface="Calibri"/>
              </a:rPr>
              <a:t> </a:t>
            </a:r>
            <a:r>
              <a:rPr sz="2650" spc="5" dirty="0">
                <a:latin typeface="Calibri"/>
                <a:cs typeface="Calibri"/>
              </a:rPr>
              <a:t>a</a:t>
            </a:r>
            <a:r>
              <a:rPr sz="2650" spc="10" dirty="0">
                <a:latin typeface="Calibri"/>
                <a:cs typeface="Calibri"/>
              </a:rPr>
              <a:t> </a:t>
            </a:r>
            <a:r>
              <a:rPr sz="2650" spc="-10" dirty="0">
                <a:latin typeface="Calibri"/>
                <a:cs typeface="Calibri"/>
              </a:rPr>
              <a:t>definition</a:t>
            </a:r>
            <a:r>
              <a:rPr sz="2650" spc="70" dirty="0">
                <a:latin typeface="Calibri"/>
                <a:cs typeface="Calibri"/>
              </a:rPr>
              <a:t> </a:t>
            </a:r>
            <a:r>
              <a:rPr sz="2650" spc="5" dirty="0">
                <a:latin typeface="Calibri"/>
                <a:cs typeface="Calibri"/>
              </a:rPr>
              <a:t>of</a:t>
            </a:r>
            <a:r>
              <a:rPr sz="2650" spc="-20" dirty="0">
                <a:latin typeface="Calibri"/>
                <a:cs typeface="Calibri"/>
              </a:rPr>
              <a:t> </a:t>
            </a:r>
            <a:r>
              <a:rPr sz="2650" spc="5" dirty="0">
                <a:latin typeface="Calibri"/>
                <a:cs typeface="Calibri"/>
              </a:rPr>
              <a:t>how</a:t>
            </a:r>
            <a:r>
              <a:rPr sz="2650" spc="15" dirty="0">
                <a:latin typeface="Calibri"/>
                <a:cs typeface="Calibri"/>
              </a:rPr>
              <a:t> </a:t>
            </a:r>
            <a:r>
              <a:rPr sz="2650" spc="-5" dirty="0">
                <a:latin typeface="Calibri"/>
                <a:cs typeface="Calibri"/>
              </a:rPr>
              <a:t>you</a:t>
            </a:r>
            <a:r>
              <a:rPr sz="2650" dirty="0">
                <a:latin typeface="Calibri"/>
                <a:cs typeface="Calibri"/>
              </a:rPr>
              <a:t> </a:t>
            </a:r>
            <a:r>
              <a:rPr sz="2650" spc="-15" dirty="0">
                <a:latin typeface="Calibri"/>
                <a:cs typeface="Calibri"/>
              </a:rPr>
              <a:t>want</a:t>
            </a:r>
            <a:r>
              <a:rPr sz="2650" spc="20" dirty="0">
                <a:latin typeface="Calibri"/>
                <a:cs typeface="Calibri"/>
              </a:rPr>
              <a:t> </a:t>
            </a:r>
            <a:r>
              <a:rPr sz="2650" spc="-5" dirty="0">
                <a:latin typeface="Calibri"/>
                <a:cs typeface="Calibri"/>
              </a:rPr>
              <a:t>your</a:t>
            </a:r>
            <a:r>
              <a:rPr sz="2650" spc="10" dirty="0">
                <a:latin typeface="Calibri"/>
                <a:cs typeface="Calibri"/>
              </a:rPr>
              <a:t> </a:t>
            </a:r>
            <a:r>
              <a:rPr sz="2650" spc="-10" dirty="0">
                <a:latin typeface="Calibri"/>
                <a:cs typeface="Calibri"/>
              </a:rPr>
              <a:t>environment </a:t>
            </a:r>
            <a:r>
              <a:rPr sz="2650" spc="-5" dirty="0">
                <a:latin typeface="Calibri"/>
                <a:cs typeface="Calibri"/>
              </a:rPr>
              <a:t> </a:t>
            </a:r>
            <a:r>
              <a:rPr sz="2650" spc="-10" dirty="0">
                <a:latin typeface="Calibri"/>
                <a:cs typeface="Calibri"/>
              </a:rPr>
              <a:t>to</a:t>
            </a:r>
            <a:r>
              <a:rPr sz="2650" spc="10" dirty="0">
                <a:latin typeface="Calibri"/>
                <a:cs typeface="Calibri"/>
              </a:rPr>
              <a:t> </a:t>
            </a:r>
            <a:r>
              <a:rPr sz="2650" dirty="0">
                <a:latin typeface="Calibri"/>
                <a:cs typeface="Calibri"/>
              </a:rPr>
              <a:t>look;</a:t>
            </a:r>
            <a:r>
              <a:rPr sz="2650" spc="10" dirty="0">
                <a:latin typeface="Calibri"/>
                <a:cs typeface="Calibri"/>
              </a:rPr>
              <a:t> </a:t>
            </a:r>
            <a:r>
              <a:rPr sz="2650" spc="5" dirty="0">
                <a:latin typeface="Calibri"/>
                <a:cs typeface="Calibri"/>
              </a:rPr>
              <a:t>the </a:t>
            </a:r>
            <a:r>
              <a:rPr sz="2650" spc="-5" dirty="0">
                <a:latin typeface="Calibri"/>
                <a:cs typeface="Calibri"/>
              </a:rPr>
              <a:t>tooling</a:t>
            </a:r>
            <a:r>
              <a:rPr sz="2650" spc="10" dirty="0">
                <a:latin typeface="Calibri"/>
                <a:cs typeface="Calibri"/>
              </a:rPr>
              <a:t> </a:t>
            </a:r>
            <a:r>
              <a:rPr sz="2650" dirty="0">
                <a:latin typeface="Calibri"/>
                <a:cs typeface="Calibri"/>
              </a:rPr>
              <a:t>then</a:t>
            </a:r>
            <a:r>
              <a:rPr sz="2650" spc="5" dirty="0">
                <a:latin typeface="Calibri"/>
                <a:cs typeface="Calibri"/>
              </a:rPr>
              <a:t> </a:t>
            </a:r>
            <a:r>
              <a:rPr sz="2650" spc="-5" dirty="0">
                <a:latin typeface="Calibri"/>
                <a:cs typeface="Calibri"/>
              </a:rPr>
              <a:t>figures</a:t>
            </a:r>
            <a:r>
              <a:rPr sz="2650" spc="-10" dirty="0">
                <a:latin typeface="Calibri"/>
                <a:cs typeface="Calibri"/>
              </a:rPr>
              <a:t> </a:t>
            </a:r>
            <a:r>
              <a:rPr sz="2650" spc="5" dirty="0">
                <a:latin typeface="Calibri"/>
                <a:cs typeface="Calibri"/>
              </a:rPr>
              <a:t>out</a:t>
            </a:r>
            <a:r>
              <a:rPr sz="2650" spc="-10" dirty="0">
                <a:latin typeface="Calibri"/>
                <a:cs typeface="Calibri"/>
              </a:rPr>
              <a:t> </a:t>
            </a:r>
            <a:r>
              <a:rPr sz="2650" spc="5" dirty="0">
                <a:latin typeface="Calibri"/>
                <a:cs typeface="Calibri"/>
              </a:rPr>
              <a:t>how</a:t>
            </a:r>
            <a:r>
              <a:rPr sz="2650" spc="10" dirty="0">
                <a:latin typeface="Calibri"/>
                <a:cs typeface="Calibri"/>
              </a:rPr>
              <a:t> </a:t>
            </a:r>
            <a:r>
              <a:rPr sz="2650" spc="-10" dirty="0">
                <a:latin typeface="Calibri"/>
                <a:cs typeface="Calibri"/>
              </a:rPr>
              <a:t>to </a:t>
            </a:r>
            <a:r>
              <a:rPr sz="2650" spc="-20" dirty="0">
                <a:latin typeface="Calibri"/>
                <a:cs typeface="Calibri"/>
              </a:rPr>
              <a:t>make</a:t>
            </a:r>
            <a:r>
              <a:rPr sz="2650" spc="15" dirty="0">
                <a:latin typeface="Calibri"/>
                <a:cs typeface="Calibri"/>
              </a:rPr>
              <a:t> </a:t>
            </a:r>
            <a:r>
              <a:rPr sz="2650" spc="-5" dirty="0">
                <a:latin typeface="Calibri"/>
                <a:cs typeface="Calibri"/>
              </a:rPr>
              <a:t>this</a:t>
            </a:r>
            <a:r>
              <a:rPr sz="2650" spc="15" dirty="0">
                <a:latin typeface="Calibri"/>
                <a:cs typeface="Calibri"/>
              </a:rPr>
              <a:t> </a:t>
            </a:r>
            <a:r>
              <a:rPr sz="2650" dirty="0">
                <a:latin typeface="Calibri"/>
                <a:cs typeface="Calibri"/>
              </a:rPr>
              <a:t>happen</a:t>
            </a:r>
            <a:r>
              <a:rPr sz="2650" spc="35" dirty="0">
                <a:latin typeface="Calibri"/>
                <a:cs typeface="Calibri"/>
              </a:rPr>
              <a:t> </a:t>
            </a:r>
            <a:r>
              <a:rPr sz="2650" spc="-15" dirty="0">
                <a:latin typeface="Calibri"/>
                <a:cs typeface="Calibri"/>
              </a:rPr>
              <a:t>by</a:t>
            </a:r>
            <a:r>
              <a:rPr sz="2650" spc="15" dirty="0">
                <a:latin typeface="Calibri"/>
                <a:cs typeface="Calibri"/>
              </a:rPr>
              <a:t> </a:t>
            </a:r>
            <a:r>
              <a:rPr sz="2650" spc="-5" dirty="0">
                <a:latin typeface="Calibri"/>
                <a:cs typeface="Calibri"/>
              </a:rPr>
              <a:t>inspecting</a:t>
            </a:r>
            <a:r>
              <a:rPr sz="2650" spc="60" dirty="0">
                <a:latin typeface="Calibri"/>
                <a:cs typeface="Calibri"/>
              </a:rPr>
              <a:t> </a:t>
            </a:r>
            <a:r>
              <a:rPr sz="2650" spc="-5" dirty="0">
                <a:latin typeface="Calibri"/>
                <a:cs typeface="Calibri"/>
              </a:rPr>
              <a:t>your </a:t>
            </a:r>
            <a:r>
              <a:rPr sz="2650" dirty="0">
                <a:latin typeface="Calibri"/>
                <a:cs typeface="Calibri"/>
              </a:rPr>
              <a:t> </a:t>
            </a:r>
            <a:r>
              <a:rPr sz="2650" spc="-5" dirty="0">
                <a:latin typeface="Calibri"/>
                <a:cs typeface="Calibri"/>
              </a:rPr>
              <a:t>current</a:t>
            </a:r>
            <a:r>
              <a:rPr sz="2650" spc="-30" dirty="0">
                <a:latin typeface="Calibri"/>
                <a:cs typeface="Calibri"/>
              </a:rPr>
              <a:t> </a:t>
            </a:r>
            <a:r>
              <a:rPr sz="2650" spc="-15" dirty="0">
                <a:latin typeface="Calibri"/>
                <a:cs typeface="Calibri"/>
              </a:rPr>
              <a:t>state,</a:t>
            </a:r>
            <a:r>
              <a:rPr sz="2650" spc="10" dirty="0">
                <a:latin typeface="Calibri"/>
                <a:cs typeface="Calibri"/>
              </a:rPr>
              <a:t> </a:t>
            </a:r>
            <a:r>
              <a:rPr sz="2650" dirty="0">
                <a:latin typeface="Calibri"/>
                <a:cs typeface="Calibri"/>
              </a:rPr>
              <a:t>comparing</a:t>
            </a:r>
            <a:r>
              <a:rPr sz="2650" spc="-10" dirty="0">
                <a:latin typeface="Calibri"/>
                <a:cs typeface="Calibri"/>
              </a:rPr>
              <a:t> </a:t>
            </a:r>
            <a:r>
              <a:rPr sz="2650" spc="-5" dirty="0">
                <a:latin typeface="Calibri"/>
                <a:cs typeface="Calibri"/>
              </a:rPr>
              <a:t>it</a:t>
            </a:r>
            <a:r>
              <a:rPr sz="2650" spc="5" dirty="0">
                <a:latin typeface="Calibri"/>
                <a:cs typeface="Calibri"/>
              </a:rPr>
              <a:t> </a:t>
            </a:r>
            <a:r>
              <a:rPr sz="2650" spc="-15" dirty="0">
                <a:latin typeface="Calibri"/>
                <a:cs typeface="Calibri"/>
              </a:rPr>
              <a:t>to</a:t>
            </a:r>
            <a:r>
              <a:rPr sz="2650" spc="20" dirty="0">
                <a:latin typeface="Calibri"/>
                <a:cs typeface="Calibri"/>
              </a:rPr>
              <a:t> </a:t>
            </a:r>
            <a:r>
              <a:rPr sz="2650" dirty="0">
                <a:latin typeface="Calibri"/>
                <a:cs typeface="Calibri"/>
              </a:rPr>
              <a:t>the</a:t>
            </a:r>
            <a:r>
              <a:rPr sz="2650" spc="20" dirty="0">
                <a:latin typeface="Calibri"/>
                <a:cs typeface="Calibri"/>
              </a:rPr>
              <a:t> </a:t>
            </a:r>
            <a:r>
              <a:rPr sz="2650" spc="-20" dirty="0">
                <a:latin typeface="Calibri"/>
                <a:cs typeface="Calibri"/>
              </a:rPr>
              <a:t>target</a:t>
            </a:r>
            <a:r>
              <a:rPr sz="2650" spc="5" dirty="0">
                <a:latin typeface="Calibri"/>
                <a:cs typeface="Calibri"/>
              </a:rPr>
              <a:t> </a:t>
            </a:r>
            <a:r>
              <a:rPr sz="2650" spc="-25" dirty="0">
                <a:latin typeface="Calibri"/>
                <a:cs typeface="Calibri"/>
              </a:rPr>
              <a:t>state</a:t>
            </a:r>
            <a:r>
              <a:rPr sz="2650" dirty="0">
                <a:latin typeface="Calibri"/>
                <a:cs typeface="Calibri"/>
              </a:rPr>
              <a:t> </a:t>
            </a:r>
            <a:r>
              <a:rPr sz="2650" spc="-5" dirty="0">
                <a:latin typeface="Calibri"/>
                <a:cs typeface="Calibri"/>
              </a:rPr>
              <a:t>you've</a:t>
            </a:r>
            <a:r>
              <a:rPr sz="2650" dirty="0">
                <a:latin typeface="Calibri"/>
                <a:cs typeface="Calibri"/>
              </a:rPr>
              <a:t> </a:t>
            </a:r>
            <a:r>
              <a:rPr sz="2650" spc="-10" dirty="0">
                <a:latin typeface="Calibri"/>
                <a:cs typeface="Calibri"/>
              </a:rPr>
              <a:t>requested,</a:t>
            </a:r>
            <a:r>
              <a:rPr sz="2650" spc="10" dirty="0">
                <a:latin typeface="Calibri"/>
                <a:cs typeface="Calibri"/>
              </a:rPr>
              <a:t> </a:t>
            </a:r>
            <a:r>
              <a:rPr sz="2650" dirty="0">
                <a:latin typeface="Calibri"/>
                <a:cs typeface="Calibri"/>
              </a:rPr>
              <a:t>and</a:t>
            </a:r>
            <a:r>
              <a:rPr sz="2650" spc="15" dirty="0">
                <a:latin typeface="Calibri"/>
                <a:cs typeface="Calibri"/>
              </a:rPr>
              <a:t> </a:t>
            </a:r>
            <a:r>
              <a:rPr sz="2650" spc="-5" dirty="0">
                <a:latin typeface="Calibri"/>
                <a:cs typeface="Calibri"/>
              </a:rPr>
              <a:t>applying</a:t>
            </a:r>
            <a:r>
              <a:rPr sz="2650" spc="55" dirty="0">
                <a:latin typeface="Calibri"/>
                <a:cs typeface="Calibri"/>
              </a:rPr>
              <a:t> </a:t>
            </a:r>
            <a:r>
              <a:rPr sz="2650" dirty="0">
                <a:latin typeface="Calibri"/>
                <a:cs typeface="Calibri"/>
              </a:rPr>
              <a:t>the </a:t>
            </a:r>
            <a:r>
              <a:rPr sz="2650" spc="-585" dirty="0">
                <a:latin typeface="Calibri"/>
                <a:cs typeface="Calibri"/>
              </a:rPr>
              <a:t> </a:t>
            </a:r>
            <a:r>
              <a:rPr sz="2650" spc="-10" dirty="0">
                <a:latin typeface="Calibri"/>
                <a:cs typeface="Calibri"/>
              </a:rPr>
              <a:t>differences.</a:t>
            </a:r>
            <a:endParaRPr sz="26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46170" y="2961262"/>
            <a:ext cx="4902200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0" spc="-5" dirty="0"/>
              <a:t>Thank</a:t>
            </a:r>
            <a:r>
              <a:rPr sz="6000" spc="-80" dirty="0"/>
              <a:t> </a:t>
            </a:r>
            <a:r>
              <a:rPr sz="6000" dirty="0"/>
              <a:t>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</TotalTime>
  <Words>530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Microsoft Sans Serif</vt:lpstr>
      <vt:lpstr>Wingdings</vt:lpstr>
      <vt:lpstr>Office Theme</vt:lpstr>
      <vt:lpstr>PowerPoint Presentation</vt:lpstr>
      <vt:lpstr>Infrastructure as a Code</vt:lpstr>
      <vt:lpstr>Benefits</vt:lpstr>
      <vt:lpstr>Manage Multiple Environments</vt:lpstr>
      <vt:lpstr>Understand Cloud Resources</vt:lpstr>
      <vt:lpstr>PowerPoint Presentation</vt:lpstr>
      <vt:lpstr>Core Concepts</vt:lpstr>
      <vt:lpstr>Infrastructure as Code Benefits</vt:lpstr>
      <vt:lpstr>Automating Infrastructure Deployment</vt:lpstr>
      <vt:lpstr>IaC tools in AWS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Gentle Reminders</dc:title>
  <dc:creator>Chaitanya Gaajula</dc:creator>
  <cp:lastModifiedBy>Chaitanya Gaajula</cp:lastModifiedBy>
  <cp:revision>14</cp:revision>
  <dcterms:created xsi:type="dcterms:W3CDTF">2023-06-22T11:43:37Z</dcterms:created>
  <dcterms:modified xsi:type="dcterms:W3CDTF">2025-01-18T09:27:28Z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2023-06-22T00:00:00Z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2023-06-22T00:00:00Z</vt:filetime>
  </property>
</Properties>
</file>